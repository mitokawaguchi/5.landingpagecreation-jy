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302" r:id="rId3"/>
    <p:sldId id="304" r:id="rId4"/>
    <p:sldId id="305" r:id="rId5"/>
    <p:sldId id="306" r:id="rId6"/>
    <p:sldId id="307" r:id="rId7"/>
    <p:sldId id="303" r:id="rId8"/>
    <p:sldId id="275" r:id="rId9"/>
    <p:sldId id="301" r:id="rId10"/>
    <p:sldId id="308" r:id="rId29"/>
    <p:sldId id="309" r:id="rId30"/>
    <p:sldId id="310" r:id="rId31"/>
    <p:sldId id="311" r:id="rId32"/>
    <p:sldId id="312" r:id="rId33"/>
    <p:sldId id="313" r:id="rId34"/>
    <p:sldId id="314" r:id="rId35"/>
    <p:sldId id="315" r:id="rId36"/>
    <p:sldId id="316" r:id="rId37"/>
    <p:sldId id="317" r:id="rId38"/>
    <p:sldId id="318" r:id="rId39"/>
    <p:sldId id="319" r:id="rId40"/>
    <p:sldId id="320" r:id="rId41"/>
    <p:sldId id="321" r:id="rId42"/>
    <p:sldId id="322" r:id="rId43"/>
    <p:sldId id="323" r:id="rId44"/>
    <p:sldId id="324" r:id="rId45"/>
    <p:sldId id="325" r:id="rId46"/>
    <p:sldId id="326" r:id="rId47"/>
    <p:sldId id="327" r:id="rId48"/>
    <p:sldId id="328" r:id="rId49"/>
    <p:sldId id="329" r:id="rId50"/>
    <p:sldId id="330" r:id="rId51"/>
    <p:sldId id="331" r:id="rId52"/>
    <p:sldId id="332" r:id="rId53"/>
    <p:sldId id="333" r:id="rId54"/>
    <p:sldId id="334" r:id="rId55"/>
    <p:sldId id="335" r:id="rId56"/>
    <p:sldId id="336" r:id="rId57"/>
    <p:sldId id="337" r:id="rId58"/>
    <p:sldId id="338" r:id="rId59"/>
    <p:sldId id="339" r:id="rId60"/>
    <p:sldId id="340" r:id="rId61"/>
    <p:sldId id="341" r:id="rId62"/>
    <p:sldId id="342" r:id="rId63"/>
    <p:sldId id="343" r:id="rId64"/>
    <p:sldId id="344" r:id="rId65"/>
    <p:sldId id="345" r:id="rId66"/>
    <p:sldId id="346" r:id="rId67"/>
    <p:sldId id="347" r:id="rId68"/>
    <p:sldId id="348" r:id="rId69"/>
    <p:sldId id="349" r:id="rId70"/>
    <p:sldId id="350" r:id="rId71"/>
    <p:sldId id="351" r:id="rId72"/>
    <p:sldId id="352" r:id="rId73"/>
    <p:sldId id="353" r:id="rId74"/>
    <p:sldId id="354" r:id="rId75"/>
    <p:sldId id="355" r:id="rId76"/>
    <p:sldId id="356" r:id="rId77"/>
    <p:sldId id="357" r:id="rId78"/>
    <p:sldId id="358" r:id="rId79"/>
    <p:sldId id="359" r:id="rId80"/>
    <p:sldId id="360" r:id="rId81"/>
    <p:sldId id="361" r:id="rId82"/>
    <p:sldId id="362" r:id="rId83"/>
    <p:sldId id="363" r:id="rId84"/>
    <p:sldId id="364" r:id="rId85"/>
    <p:sldId id="365" r:id="rId86"/>
    <p:sldId id="289" r:id="rId11"/>
    <p:sldId id="281" r:id="rId12"/>
    <p:sldId id="279" r:id="rId13"/>
    <p:sldId id="282" r:id="rId14"/>
    <p:sldId id="294" r:id="rId15"/>
    <p:sldId id="284" r:id="rId16"/>
    <p:sldId id="295" r:id="rId17"/>
    <p:sldId id="278" r:id="rId18"/>
    <p:sldId id="292" r:id="rId19"/>
    <p:sldId id="293" r:id="rId2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9A8E8675-EC99-4447-94FB-A693C27FEB74}">
          <p14:sldIdLst>
            <p14:sldId id="256"/>
            <p14:sldId id="302"/>
            <p14:sldId id="304"/>
            <p14:sldId id="305"/>
            <p14:sldId id="306"/>
            <p14:sldId id="307"/>
            <p14:sldId id="303"/>
            <p14:sldId id="275"/>
            <p14:sldId id="301"/>
            <p14:sldId id="289"/>
            <p14:sldId id="281"/>
            <p14:sldId id="279"/>
            <p14:sldId id="282"/>
            <p14:sldId id="294"/>
            <p14:sldId id="284"/>
            <p14:sldId id="295"/>
            <p14:sldId id="278"/>
            <p14:sldId id="292"/>
            <p14:sldId id="29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B34C72-C259-14C1-7EEE-5B80AD31B290}" name="Fujiyama Tomoyuki (External)" initials="TF" userId="S::Tomoyuki.Fujiyama@ucb.com::bb5a8f6e-fdc7-4007-91cf-967cc99429cd" providerId="AD"/>
  <p188:author id="{301150CA-1C14-305E-CBCA-904AEC586E69}" name="心音 河口" initials="心河" userId="7e915dd52734961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97077"/>
    <a:srgbClr val="E86F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D59871-3009-437D-8B40-7F0EB4D67BD3}" v="278" dt="2026-04-02T12:15:34.004"/>
  </p1510:revLst>
</p1510:revInfo>
</file>

<file path=ppt/tableStyles.xml><?xml version="1.0" encoding="utf-8"?>
<a:tblStyleLst xmlns:a="http://schemas.openxmlformats.org/drawingml/2006/main" def="{5C22544A-7EE6-4342-B048-85BDC9FD1C3A}">
  <a:tblStyle styleId="{10A1B5D5-9B99-4C35-A422-299274C87663}" styleName="中間スタイル 1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03" autoAdjust="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 Id="rId27" Type="http://schemas.microsoft.com/office/2015/10/relationships/revisionInfo" Target="revisionInfo.xml"/><Relationship Id="rId28" Type="http://schemas.microsoft.com/office/2018/10/relationships/authors" Target="authors.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 Id="rId86" Type="http://schemas.openxmlformats.org/officeDocument/2006/relationships/slide" Target="slides/slide7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心音 河口" userId="7e915dd52734961e" providerId="LiveId" clId="{308405E0-AEE4-4A44-9448-0AA64B23AC35}"/>
    <pc:docChg chg="undo redo custSel addSld delSld modSld sldOrd modMainMaster modSection">
      <pc:chgData name="心音 河口" userId="7e915dd52734961e" providerId="LiveId" clId="{308405E0-AEE4-4A44-9448-0AA64B23AC35}" dt="2026-04-02T12:15:02.026" v="5267" actId="692"/>
      <pc:docMkLst>
        <pc:docMk/>
      </pc:docMkLst>
      <pc:sldChg chg="addSp delSp modSp mod">
        <pc:chgData name="心音 河口" userId="7e915dd52734961e" providerId="LiveId" clId="{308405E0-AEE4-4A44-9448-0AA64B23AC35}" dt="2026-04-02T08:58:59.362" v="2661" actId="255"/>
        <pc:sldMkLst>
          <pc:docMk/>
          <pc:sldMk cId="30165899" sldId="256"/>
        </pc:sldMkLst>
        <pc:spChg chg="mod">
          <ac:chgData name="心音 河口" userId="7e915dd52734961e" providerId="LiveId" clId="{308405E0-AEE4-4A44-9448-0AA64B23AC35}" dt="2026-04-01T13:24:43.138" v="2409" actId="20577"/>
          <ac:spMkLst>
            <pc:docMk/>
            <pc:sldMk cId="30165899" sldId="256"/>
            <ac:spMk id="2" creationId="{DBDACA08-6B7C-A8A5-BBDC-F5D3D22D9112}"/>
          </ac:spMkLst>
        </pc:spChg>
        <pc:spChg chg="mod">
          <ac:chgData name="心音 河口" userId="7e915dd52734961e" providerId="LiveId" clId="{308405E0-AEE4-4A44-9448-0AA64B23AC35}" dt="2026-04-02T08:58:00.525" v="2546" actId="1076"/>
          <ac:spMkLst>
            <pc:docMk/>
            <pc:sldMk cId="30165899" sldId="256"/>
            <ac:spMk id="3" creationId="{D135051A-8F71-3F33-4032-D4923538E3B7}"/>
          </ac:spMkLst>
        </pc:spChg>
        <pc:spChg chg="mod">
          <ac:chgData name="心音 河口" userId="7e915dd52734961e" providerId="LiveId" clId="{308405E0-AEE4-4A44-9448-0AA64B23AC35}" dt="2026-04-01T13:24:30.496" v="2398" actId="14100"/>
          <ac:spMkLst>
            <pc:docMk/>
            <pc:sldMk cId="30165899" sldId="256"/>
            <ac:spMk id="4" creationId="{12F322CB-A552-7850-F6E1-9BAF15CF2655}"/>
          </ac:spMkLst>
        </pc:spChg>
        <pc:spChg chg="del mod">
          <ac:chgData name="心音 河口" userId="7e915dd52734961e" providerId="LiveId" clId="{308405E0-AEE4-4A44-9448-0AA64B23AC35}" dt="2026-04-01T13:24:55.900" v="2410" actId="478"/>
          <ac:spMkLst>
            <pc:docMk/>
            <pc:sldMk cId="30165899" sldId="256"/>
            <ac:spMk id="5" creationId="{98E0668C-8D49-4FB9-002D-91FD24B4FA27}"/>
          </ac:spMkLst>
        </pc:spChg>
        <pc:spChg chg="add mod">
          <ac:chgData name="心音 河口" userId="7e915dd52734961e" providerId="LiveId" clId="{308405E0-AEE4-4A44-9448-0AA64B23AC35}" dt="2026-04-02T08:58:59.362" v="2661" actId="255"/>
          <ac:spMkLst>
            <pc:docMk/>
            <pc:sldMk cId="30165899" sldId="256"/>
            <ac:spMk id="6" creationId="{D28CB126-9012-8BB8-68F7-B1F57514F605}"/>
          </ac:spMkLst>
        </pc:spChg>
      </pc:sldChg>
      <pc:sldChg chg="add del setBg">
        <pc:chgData name="心音 河口" userId="7e915dd52734961e" providerId="LiveId" clId="{308405E0-AEE4-4A44-9448-0AA64B23AC35}" dt="2026-04-01T13:25:51.470" v="2437"/>
        <pc:sldMkLst>
          <pc:docMk/>
          <pc:sldMk cId="2614807895" sldId="274"/>
        </pc:sldMkLst>
      </pc:sldChg>
      <pc:sldChg chg="addSp delSp modSp add del mod">
        <pc:chgData name="心音 河口" userId="7e915dd52734961e" providerId="LiveId" clId="{308405E0-AEE4-4A44-9448-0AA64B23AC35}" dt="2026-04-02T11:09:24.366" v="5036" actId="20577"/>
        <pc:sldMkLst>
          <pc:docMk/>
          <pc:sldMk cId="385948512" sldId="275"/>
        </pc:sldMkLst>
        <pc:spChg chg="mod">
          <ac:chgData name="心音 河口" userId="7e915dd52734961e" providerId="LiveId" clId="{308405E0-AEE4-4A44-9448-0AA64B23AC35}" dt="2026-04-02T11:09:14.856" v="5004" actId="20577"/>
          <ac:spMkLst>
            <pc:docMk/>
            <pc:sldMk cId="385948512" sldId="275"/>
            <ac:spMk id="2" creationId="{E1A00EF4-CA58-0EDD-3B9B-CAD5C8DC06FA}"/>
          </ac:spMkLst>
        </pc:spChg>
        <pc:graphicFrameChg chg="mod modGraphic">
          <ac:chgData name="心音 河口" userId="7e915dd52734961e" providerId="LiveId" clId="{308405E0-AEE4-4A44-9448-0AA64B23AC35}" dt="2026-04-02T11:09:24.366" v="5036" actId="20577"/>
          <ac:graphicFrameMkLst>
            <pc:docMk/>
            <pc:sldMk cId="385948512" sldId="275"/>
            <ac:graphicFrameMk id="7" creationId="{2FA4BBA4-E292-F6D4-5B74-884167E3CDD3}"/>
          </ac:graphicFrameMkLst>
        </pc:graphicFrameChg>
        <pc:graphicFrameChg chg="add mod">
          <ac:chgData name="心音 河口" userId="7e915dd52734961e" providerId="LiveId" clId="{308405E0-AEE4-4A44-9448-0AA64B23AC35}" dt="2026-04-02T11:07:10.697" v="4897" actId="1076"/>
          <ac:graphicFrameMkLst>
            <pc:docMk/>
            <pc:sldMk cId="385948512" sldId="275"/>
            <ac:graphicFrameMk id="11" creationId="{D1B3008A-AD3A-A723-BF2A-C2BCE75F23DB}"/>
          </ac:graphicFrameMkLst>
        </pc:graphicFrameChg>
      </pc:sldChg>
      <pc:sldChg chg="add del setBg">
        <pc:chgData name="心音 河口" userId="7e915dd52734961e" providerId="LiveId" clId="{308405E0-AEE4-4A44-9448-0AA64B23AC35}" dt="2026-04-01T13:25:51.470" v="2437"/>
        <pc:sldMkLst>
          <pc:docMk/>
          <pc:sldMk cId="2306146983" sldId="276"/>
        </pc:sldMkLst>
      </pc:sldChg>
      <pc:sldChg chg="add del setBg">
        <pc:chgData name="心音 河口" userId="7e915dd52734961e" providerId="LiveId" clId="{308405E0-AEE4-4A44-9448-0AA64B23AC35}" dt="2026-04-01T13:25:51.470" v="2437"/>
        <pc:sldMkLst>
          <pc:docMk/>
          <pc:sldMk cId="3236401757" sldId="277"/>
        </pc:sldMkLst>
      </pc:sldChg>
      <pc:sldChg chg="addSp modSp mod ord">
        <pc:chgData name="心音 河口" userId="7e915dd52734961e" providerId="LiveId" clId="{308405E0-AEE4-4A44-9448-0AA64B23AC35}" dt="2026-03-04T05:33:00.986" v="2328"/>
        <pc:sldMkLst>
          <pc:docMk/>
          <pc:sldMk cId="3597940676" sldId="278"/>
        </pc:sldMkLst>
        <pc:graphicFrameChg chg="mod modGraphic">
          <ac:chgData name="心音 河口" userId="7e915dd52734961e" providerId="LiveId" clId="{308405E0-AEE4-4A44-9448-0AA64B23AC35}" dt="2026-03-03T09:15:36.671" v="1452" actId="20577"/>
          <ac:graphicFrameMkLst>
            <pc:docMk/>
            <pc:sldMk cId="3597940676" sldId="278"/>
            <ac:graphicFrameMk id="6" creationId="{33E04CFE-1C6D-8BE4-E174-C7AE918E17BA}"/>
          </ac:graphicFrameMkLst>
        </pc:graphicFrameChg>
      </pc:sldChg>
      <pc:sldChg chg="add del">
        <pc:chgData name="心音 河口" userId="7e915dd52734961e" providerId="LiveId" clId="{308405E0-AEE4-4A44-9448-0AA64B23AC35}" dt="2026-04-01T13:25:51.470" v="2437"/>
        <pc:sldMkLst>
          <pc:docMk/>
          <pc:sldMk cId="254119938" sldId="280"/>
        </pc:sldMkLst>
      </pc:sldChg>
      <pc:sldChg chg="modSp mod">
        <pc:chgData name="心音 河口" userId="7e915dd52734961e" providerId="LiveId" clId="{308405E0-AEE4-4A44-9448-0AA64B23AC35}" dt="2026-03-03T10:09:07.421" v="1533" actId="20577"/>
        <pc:sldMkLst>
          <pc:docMk/>
          <pc:sldMk cId="4189137435" sldId="281"/>
        </pc:sldMkLst>
        <pc:graphicFrameChg chg="mod modGraphic">
          <ac:chgData name="心音 河口" userId="7e915dd52734961e" providerId="LiveId" clId="{308405E0-AEE4-4A44-9448-0AA64B23AC35}" dt="2026-03-03T10:08:43.632" v="1527" actId="20577"/>
          <ac:graphicFrameMkLst>
            <pc:docMk/>
            <pc:sldMk cId="4189137435" sldId="281"/>
            <ac:graphicFrameMk id="10" creationId="{08903698-B64E-8626-3368-681258B75569}"/>
          </ac:graphicFrameMkLst>
        </pc:graphicFrameChg>
        <pc:graphicFrameChg chg="mod modGraphic">
          <ac:chgData name="心音 河口" userId="7e915dd52734961e" providerId="LiveId" clId="{308405E0-AEE4-4A44-9448-0AA64B23AC35}" dt="2026-03-03T10:09:07.421" v="1533" actId="20577"/>
          <ac:graphicFrameMkLst>
            <pc:docMk/>
            <pc:sldMk cId="4189137435" sldId="281"/>
            <ac:graphicFrameMk id="11" creationId="{5164815A-5F5B-4043-36AD-0BFC4C863BAD}"/>
          </ac:graphicFrameMkLst>
        </pc:graphicFrameChg>
      </pc:sldChg>
      <pc:sldChg chg="modSp mod">
        <pc:chgData name="心音 河口" userId="7e915dd52734961e" providerId="LiveId" clId="{308405E0-AEE4-4A44-9448-0AA64B23AC35}" dt="2026-03-03T10:12:21.953" v="1589" actId="1036"/>
        <pc:sldMkLst>
          <pc:docMk/>
          <pc:sldMk cId="2699965689" sldId="282"/>
        </pc:sldMkLst>
        <pc:graphicFrameChg chg="mod modGraphic">
          <ac:chgData name="心音 河口" userId="7e915dd52734961e" providerId="LiveId" clId="{308405E0-AEE4-4A44-9448-0AA64B23AC35}" dt="2026-03-03T10:12:21.953" v="1589" actId="1036"/>
          <ac:graphicFrameMkLst>
            <pc:docMk/>
            <pc:sldMk cId="2699965689" sldId="282"/>
            <ac:graphicFrameMk id="6" creationId="{7F581457-C917-D7D0-55F7-9B6E28E597A2}"/>
          </ac:graphicFrameMkLst>
        </pc:graphicFrameChg>
        <pc:graphicFrameChg chg="mod modGraphic">
          <ac:chgData name="心音 河口" userId="7e915dd52734961e" providerId="LiveId" clId="{308405E0-AEE4-4A44-9448-0AA64B23AC35}" dt="2026-03-03T10:12:21.953" v="1589" actId="1036"/>
          <ac:graphicFrameMkLst>
            <pc:docMk/>
            <pc:sldMk cId="2699965689" sldId="282"/>
            <ac:graphicFrameMk id="7" creationId="{EC7CCD34-71D2-BB62-59B5-71E359EF34FA}"/>
          </ac:graphicFrameMkLst>
        </pc:graphicFrameChg>
      </pc:sldChg>
      <pc:sldChg chg="add del">
        <pc:chgData name="心音 河口" userId="7e915dd52734961e" providerId="LiveId" clId="{308405E0-AEE4-4A44-9448-0AA64B23AC35}" dt="2026-04-01T13:25:51.470" v="2437"/>
        <pc:sldMkLst>
          <pc:docMk/>
          <pc:sldMk cId="3409711078" sldId="283"/>
        </pc:sldMkLst>
      </pc:sldChg>
      <pc:sldChg chg="modSp mod">
        <pc:chgData name="心音 河口" userId="7e915dd52734961e" providerId="LiveId" clId="{308405E0-AEE4-4A44-9448-0AA64B23AC35}" dt="2026-03-03T10:14:40.021" v="1600"/>
        <pc:sldMkLst>
          <pc:docMk/>
          <pc:sldMk cId="4182019658" sldId="284"/>
        </pc:sldMkLst>
        <pc:graphicFrameChg chg="mod">
          <ac:chgData name="心音 河口" userId="7e915dd52734961e" providerId="LiveId" clId="{308405E0-AEE4-4A44-9448-0AA64B23AC35}" dt="2026-03-03T10:14:40.021" v="1600"/>
          <ac:graphicFrameMkLst>
            <pc:docMk/>
            <pc:sldMk cId="4182019658" sldId="284"/>
            <ac:graphicFrameMk id="4" creationId="{998F0616-3EAD-35AE-6D35-C202A80614B0}"/>
          </ac:graphicFrameMkLst>
        </pc:graphicFrameChg>
      </pc:sldChg>
      <pc:sldChg chg="add del">
        <pc:chgData name="心音 河口" userId="7e915dd52734961e" providerId="LiveId" clId="{308405E0-AEE4-4A44-9448-0AA64B23AC35}" dt="2026-04-01T13:25:51.470" v="2437"/>
        <pc:sldMkLst>
          <pc:docMk/>
          <pc:sldMk cId="2679793216" sldId="285"/>
        </pc:sldMkLst>
      </pc:sldChg>
      <pc:sldChg chg="add del">
        <pc:chgData name="心音 河口" userId="7e915dd52734961e" providerId="LiveId" clId="{308405E0-AEE4-4A44-9448-0AA64B23AC35}" dt="2026-04-01T13:25:51.470" v="2437"/>
        <pc:sldMkLst>
          <pc:docMk/>
          <pc:sldMk cId="200163888" sldId="286"/>
        </pc:sldMkLst>
      </pc:sldChg>
      <pc:sldChg chg="add del">
        <pc:chgData name="心音 河口" userId="7e915dd52734961e" providerId="LiveId" clId="{308405E0-AEE4-4A44-9448-0AA64B23AC35}" dt="2026-04-01T13:25:51.470" v="2437"/>
        <pc:sldMkLst>
          <pc:docMk/>
          <pc:sldMk cId="2033322940" sldId="287"/>
        </pc:sldMkLst>
      </pc:sldChg>
      <pc:sldChg chg="add del">
        <pc:chgData name="心音 河口" userId="7e915dd52734961e" providerId="LiveId" clId="{308405E0-AEE4-4A44-9448-0AA64B23AC35}" dt="2026-04-01T13:25:51.470" v="2437"/>
        <pc:sldMkLst>
          <pc:docMk/>
          <pc:sldMk cId="2888375509" sldId="288"/>
        </pc:sldMkLst>
      </pc:sldChg>
      <pc:sldChg chg="addSp delSp modSp mod">
        <pc:chgData name="心音 河口" userId="7e915dd52734961e" providerId="LiveId" clId="{308405E0-AEE4-4A44-9448-0AA64B23AC35}" dt="2026-03-04T05:36:21.650" v="2390"/>
        <pc:sldMkLst>
          <pc:docMk/>
          <pc:sldMk cId="1569556654" sldId="289"/>
        </pc:sldMkLst>
        <pc:graphicFrameChg chg="add mod modGraphic">
          <ac:chgData name="心音 河口" userId="7e915dd52734961e" providerId="LiveId" clId="{308405E0-AEE4-4A44-9448-0AA64B23AC35}" dt="2026-03-04T05:36:21.650" v="2390"/>
          <ac:graphicFrameMkLst>
            <pc:docMk/>
            <pc:sldMk cId="1569556654" sldId="289"/>
            <ac:graphicFrameMk id="6" creationId="{97633572-1A71-52F3-E4E4-34AB6826F33C}"/>
          </ac:graphicFrameMkLst>
        </pc:graphicFrameChg>
      </pc:sldChg>
      <pc:sldChg chg="add del">
        <pc:chgData name="心音 河口" userId="7e915dd52734961e" providerId="LiveId" clId="{308405E0-AEE4-4A44-9448-0AA64B23AC35}" dt="2026-04-01T13:25:51.470" v="2437"/>
        <pc:sldMkLst>
          <pc:docMk/>
          <pc:sldMk cId="1106187063" sldId="290"/>
        </pc:sldMkLst>
      </pc:sldChg>
      <pc:sldChg chg="addSp delSp modSp mod ord">
        <pc:chgData name="心音 河口" userId="7e915dd52734961e" providerId="LiveId" clId="{308405E0-AEE4-4A44-9448-0AA64B23AC35}" dt="2026-03-04T05:33:28.274" v="2335" actId="20577"/>
        <pc:sldMkLst>
          <pc:docMk/>
          <pc:sldMk cId="935119947" sldId="292"/>
        </pc:sldMkLst>
        <pc:spChg chg="mod">
          <ac:chgData name="心音 河口" userId="7e915dd52734961e" providerId="LiveId" clId="{308405E0-AEE4-4A44-9448-0AA64B23AC35}" dt="2026-03-04T05:33:28.274" v="2335" actId="20577"/>
          <ac:spMkLst>
            <pc:docMk/>
            <pc:sldMk cId="935119947" sldId="292"/>
            <ac:spMk id="9" creationId="{18C8858D-63BB-5AE2-4738-0F2B2AC174BB}"/>
          </ac:spMkLst>
        </pc:spChg>
      </pc:sldChg>
      <pc:sldChg chg="addSp delSp modSp add mod ord">
        <pc:chgData name="心音 河口" userId="7e915dd52734961e" providerId="LiveId" clId="{308405E0-AEE4-4A44-9448-0AA64B23AC35}" dt="2026-03-04T05:32:30.168" v="2326"/>
        <pc:sldMkLst>
          <pc:docMk/>
          <pc:sldMk cId="3542099411" sldId="293"/>
        </pc:sldMkLst>
        <pc:spChg chg="mod">
          <ac:chgData name="心音 河口" userId="7e915dd52734961e" providerId="LiveId" clId="{308405E0-AEE4-4A44-9448-0AA64B23AC35}" dt="2026-03-04T04:17:41.084" v="2036" actId="12788"/>
          <ac:spMkLst>
            <pc:docMk/>
            <pc:sldMk cId="3542099411" sldId="293"/>
            <ac:spMk id="8" creationId="{39C815B9-8B6D-6AB2-0329-253ED03B091D}"/>
          </ac:spMkLst>
        </pc:spChg>
        <pc:spChg chg="add mod">
          <ac:chgData name="心音 河口" userId="7e915dd52734961e" providerId="LiveId" clId="{308405E0-AEE4-4A44-9448-0AA64B23AC35}" dt="2026-03-04T04:33:42.817" v="2288"/>
          <ac:spMkLst>
            <pc:docMk/>
            <pc:sldMk cId="3542099411" sldId="293"/>
            <ac:spMk id="11" creationId="{032A5E37-E907-D8EB-2A19-8CF41E27EE22}"/>
          </ac:spMkLst>
        </pc:spChg>
        <pc:spChg chg="add mod">
          <ac:chgData name="心音 河口" userId="7e915dd52734961e" providerId="LiveId" clId="{308405E0-AEE4-4A44-9448-0AA64B23AC35}" dt="2026-03-04T04:34:18.106" v="2314" actId="14100"/>
          <ac:spMkLst>
            <pc:docMk/>
            <pc:sldMk cId="3542099411" sldId="293"/>
            <ac:spMk id="12" creationId="{EF39C314-E235-AA97-6DB4-4F3F60790D14}"/>
          </ac:spMkLst>
        </pc:spChg>
        <pc:graphicFrameChg chg="add mod">
          <ac:chgData name="心音 河口" userId="7e915dd52734961e" providerId="LiveId" clId="{308405E0-AEE4-4A44-9448-0AA64B23AC35}" dt="2026-03-04T04:32:39.569" v="2269" actId="207"/>
          <ac:graphicFrameMkLst>
            <pc:docMk/>
            <pc:sldMk cId="3542099411" sldId="293"/>
            <ac:graphicFrameMk id="7" creationId="{B73E9526-5F48-F2F8-B04F-CE09CC001922}"/>
          </ac:graphicFrameMkLst>
        </pc:graphicFrameChg>
        <pc:graphicFrameChg chg="add mod modGraphic">
          <ac:chgData name="心音 河口" userId="7e915dd52734961e" providerId="LiveId" clId="{308405E0-AEE4-4A44-9448-0AA64B23AC35}" dt="2026-03-04T04:33:36.897" v="2287" actId="1076"/>
          <ac:graphicFrameMkLst>
            <pc:docMk/>
            <pc:sldMk cId="3542099411" sldId="293"/>
            <ac:graphicFrameMk id="9" creationId="{F7FC6922-9171-13E7-C879-B91130586084}"/>
          </ac:graphicFrameMkLst>
        </pc:graphicFrameChg>
        <pc:graphicFrameChg chg="add mod modGraphic">
          <ac:chgData name="心音 河口" userId="7e915dd52734961e" providerId="LiveId" clId="{308405E0-AEE4-4A44-9448-0AA64B23AC35}" dt="2026-03-04T04:33:36.897" v="2287" actId="1076"/>
          <ac:graphicFrameMkLst>
            <pc:docMk/>
            <pc:sldMk cId="3542099411" sldId="293"/>
            <ac:graphicFrameMk id="10" creationId="{B257308D-AFF4-F375-E1DD-87067D25EB00}"/>
          </ac:graphicFrameMkLst>
        </pc:graphicFrameChg>
      </pc:sldChg>
      <pc:sldChg chg="modSp add mod">
        <pc:chgData name="心音 河口" userId="7e915dd52734961e" providerId="LiveId" clId="{308405E0-AEE4-4A44-9448-0AA64B23AC35}" dt="2026-03-03T10:22:22.435" v="1635" actId="20577"/>
        <pc:sldMkLst>
          <pc:docMk/>
          <pc:sldMk cId="1019207363" sldId="295"/>
        </pc:sldMkLst>
        <pc:graphicFrameChg chg="mod modGraphic">
          <ac:chgData name="心音 河口" userId="7e915dd52734961e" providerId="LiveId" clId="{308405E0-AEE4-4A44-9448-0AA64B23AC35}" dt="2026-03-03T10:22:22.435" v="1635" actId="20577"/>
          <ac:graphicFrameMkLst>
            <pc:docMk/>
            <pc:sldMk cId="1019207363" sldId="295"/>
            <ac:graphicFrameMk id="4" creationId="{9CE8C90A-C934-B446-6792-56B6A7AAAD6C}"/>
          </ac:graphicFrameMkLst>
        </pc:graphicFrameChg>
      </pc:sldChg>
      <pc:sldChg chg="add del">
        <pc:chgData name="心音 河口" userId="7e915dd52734961e" providerId="LiveId" clId="{308405E0-AEE4-4A44-9448-0AA64B23AC35}" dt="2026-04-01T13:25:51.470" v="2437"/>
        <pc:sldMkLst>
          <pc:docMk/>
          <pc:sldMk cId="2534419075" sldId="298"/>
        </pc:sldMkLst>
      </pc:sldChg>
      <pc:sldChg chg="add del">
        <pc:chgData name="心音 河口" userId="7e915dd52734961e" providerId="LiveId" clId="{308405E0-AEE4-4A44-9448-0AA64B23AC35}" dt="2026-04-01T13:25:51.470" v="2437"/>
        <pc:sldMkLst>
          <pc:docMk/>
          <pc:sldMk cId="3992588250" sldId="299"/>
        </pc:sldMkLst>
      </pc:sldChg>
      <pc:sldChg chg="add del">
        <pc:chgData name="心音 河口" userId="7e915dd52734961e" providerId="LiveId" clId="{308405E0-AEE4-4A44-9448-0AA64B23AC35}" dt="2026-04-01T13:25:51.470" v="2437"/>
        <pc:sldMkLst>
          <pc:docMk/>
          <pc:sldMk cId="2123712106" sldId="300"/>
        </pc:sldMkLst>
      </pc:sldChg>
      <pc:sldChg chg="addSp delSp modSp add mod">
        <pc:chgData name="心音 河口" userId="7e915dd52734961e" providerId="LiveId" clId="{308405E0-AEE4-4A44-9448-0AA64B23AC35}" dt="2026-04-02T12:15:02.026" v="5267" actId="692"/>
        <pc:sldMkLst>
          <pc:docMk/>
          <pc:sldMk cId="2400485404" sldId="301"/>
        </pc:sldMkLst>
        <pc:spChg chg="mod">
          <ac:chgData name="心音 河口" userId="7e915dd52734961e" providerId="LiveId" clId="{308405E0-AEE4-4A44-9448-0AA64B23AC35}" dt="2026-04-02T11:16:00.193" v="5041" actId="1076"/>
          <ac:spMkLst>
            <pc:docMk/>
            <pc:sldMk cId="2400485404" sldId="301"/>
            <ac:spMk id="8" creationId="{980F8A25-1C96-8522-C5BE-71104A79085E}"/>
          </ac:spMkLst>
        </pc:spChg>
        <pc:graphicFrameChg chg="del">
          <ac:chgData name="心音 河口" userId="7e915dd52734961e" providerId="LiveId" clId="{308405E0-AEE4-4A44-9448-0AA64B23AC35}" dt="2026-04-02T11:19:40.687" v="5042" actId="478"/>
          <ac:graphicFrameMkLst>
            <pc:docMk/>
            <pc:sldMk cId="2400485404" sldId="301"/>
            <ac:graphicFrameMk id="3" creationId="{2B8F1D6F-68CE-D49B-6900-9C6D87594ABC}"/>
          </ac:graphicFrameMkLst>
        </pc:graphicFrameChg>
        <pc:graphicFrameChg chg="del">
          <ac:chgData name="心音 河口" userId="7e915dd52734961e" providerId="LiveId" clId="{308405E0-AEE4-4A44-9448-0AA64B23AC35}" dt="2026-04-02T11:19:46.419" v="5043" actId="478"/>
          <ac:graphicFrameMkLst>
            <pc:docMk/>
            <pc:sldMk cId="2400485404" sldId="301"/>
            <ac:graphicFrameMk id="4" creationId="{7C074F89-9AC8-F156-EEB2-6A7999193FE1}"/>
          </ac:graphicFrameMkLst>
        </pc:graphicFrameChg>
        <pc:graphicFrameChg chg="add del">
          <ac:chgData name="心音 河口" userId="7e915dd52734961e" providerId="LiveId" clId="{308405E0-AEE4-4A44-9448-0AA64B23AC35}" dt="2026-04-02T11:24:35.697" v="5048" actId="478"/>
          <ac:graphicFrameMkLst>
            <pc:docMk/>
            <pc:sldMk cId="2400485404" sldId="301"/>
            <ac:graphicFrameMk id="6" creationId="{B07855FC-6075-4E0B-C867-056B5FAB59C6}"/>
          </ac:graphicFrameMkLst>
        </pc:graphicFrameChg>
        <pc:graphicFrameChg chg="add del">
          <ac:chgData name="心音 河口" userId="7e915dd52734961e" providerId="LiveId" clId="{308405E0-AEE4-4A44-9448-0AA64B23AC35}" dt="2026-04-02T11:25:00.388" v="5050" actId="478"/>
          <ac:graphicFrameMkLst>
            <pc:docMk/>
            <pc:sldMk cId="2400485404" sldId="301"/>
            <ac:graphicFrameMk id="10" creationId="{389D11DB-AA00-F967-4C9E-7F431141C7BE}"/>
          </ac:graphicFrameMkLst>
        </pc:graphicFrameChg>
        <pc:graphicFrameChg chg="add del">
          <ac:chgData name="心音 河口" userId="7e915dd52734961e" providerId="LiveId" clId="{308405E0-AEE4-4A44-9448-0AA64B23AC35}" dt="2026-04-02T11:48:00.016" v="5052" actId="478"/>
          <ac:graphicFrameMkLst>
            <pc:docMk/>
            <pc:sldMk cId="2400485404" sldId="301"/>
            <ac:graphicFrameMk id="13" creationId="{7E953A59-EA3F-5A4B-EAA3-B9858624B6AC}"/>
          </ac:graphicFrameMkLst>
        </pc:graphicFrameChg>
        <pc:graphicFrameChg chg="add mod">
          <ac:chgData name="心音 河口" userId="7e915dd52734961e" providerId="LiveId" clId="{308405E0-AEE4-4A44-9448-0AA64B23AC35}" dt="2026-04-02T12:15:02.026" v="5267" actId="692"/>
          <ac:graphicFrameMkLst>
            <pc:docMk/>
            <pc:sldMk cId="2400485404" sldId="301"/>
            <ac:graphicFrameMk id="16" creationId="{DD962376-B5EA-E05C-580E-C2D21A12C58E}"/>
          </ac:graphicFrameMkLst>
        </pc:graphicFrameChg>
      </pc:sldChg>
      <pc:sldChg chg="addSp delSp modSp add del mod">
        <pc:chgData name="心音 河口" userId="7e915dd52734961e" providerId="LiveId" clId="{308405E0-AEE4-4A44-9448-0AA64B23AC35}" dt="2026-04-02T10:56:11.361" v="4776"/>
        <pc:sldMkLst>
          <pc:docMk/>
          <pc:sldMk cId="53118496" sldId="302"/>
        </pc:sldMkLst>
        <pc:spChg chg="del mod">
          <ac:chgData name="心音 河口" userId="7e915dd52734961e" providerId="LiveId" clId="{308405E0-AEE4-4A44-9448-0AA64B23AC35}" dt="2026-04-02T09:01:51.175" v="2664" actId="478"/>
          <ac:spMkLst>
            <pc:docMk/>
            <pc:sldMk cId="53118496" sldId="302"/>
            <ac:spMk id="2" creationId="{2C0BD273-5791-AD23-1F91-BB748DEC8691}"/>
          </ac:spMkLst>
        </pc:spChg>
        <pc:spChg chg="add del mod">
          <ac:chgData name="心音 河口" userId="7e915dd52734961e" providerId="LiveId" clId="{308405E0-AEE4-4A44-9448-0AA64B23AC35}" dt="2026-04-02T10:23:11.200" v="3864" actId="478"/>
          <ac:spMkLst>
            <pc:docMk/>
            <pc:sldMk cId="53118496" sldId="302"/>
            <ac:spMk id="6" creationId="{C59E1D4A-55DC-D486-9AF7-C84AC3976D13}"/>
          </ac:spMkLst>
        </pc:spChg>
        <pc:spChg chg="add mod">
          <ac:chgData name="心音 河口" userId="7e915dd52734961e" providerId="LiveId" clId="{308405E0-AEE4-4A44-9448-0AA64B23AC35}" dt="2026-04-02T10:24:35.976" v="3885" actId="20577"/>
          <ac:spMkLst>
            <pc:docMk/>
            <pc:sldMk cId="53118496" sldId="302"/>
            <ac:spMk id="12" creationId="{0E445A21-03D5-8227-8065-F73339A51CFE}"/>
          </ac:spMkLst>
        </pc:spChg>
        <pc:spChg chg="add mod">
          <ac:chgData name="心音 河口" userId="7e915dd52734961e" providerId="LiveId" clId="{308405E0-AEE4-4A44-9448-0AA64B23AC35}" dt="2026-04-02T10:29:17.170" v="4201" actId="1076"/>
          <ac:spMkLst>
            <pc:docMk/>
            <pc:sldMk cId="53118496" sldId="302"/>
            <ac:spMk id="14" creationId="{C522C489-5529-F0EC-3927-274DC1B791B9}"/>
          </ac:spMkLst>
        </pc:spChg>
        <pc:spChg chg="add mod">
          <ac:chgData name="心音 河口" userId="7e915dd52734961e" providerId="LiveId" clId="{308405E0-AEE4-4A44-9448-0AA64B23AC35}" dt="2026-04-02T10:28:56.560" v="4196"/>
          <ac:spMkLst>
            <pc:docMk/>
            <pc:sldMk cId="53118496" sldId="302"/>
            <ac:spMk id="16" creationId="{0D8F979D-153E-A468-7EED-B654C1BD79F9}"/>
          </ac:spMkLst>
        </pc:spChg>
        <pc:spChg chg="add mod">
          <ac:chgData name="心音 河口" userId="7e915dd52734961e" providerId="LiveId" clId="{308405E0-AEE4-4A44-9448-0AA64B23AC35}" dt="2026-04-02T10:29:20.836" v="4203" actId="20577"/>
          <ac:spMkLst>
            <pc:docMk/>
            <pc:sldMk cId="53118496" sldId="302"/>
            <ac:spMk id="18" creationId="{59D9A200-655F-F3F9-FABF-7EB88670ECB3}"/>
          </ac:spMkLst>
        </pc:spChg>
        <pc:spChg chg="add mod">
          <ac:chgData name="心音 河口" userId="7e915dd52734961e" providerId="LiveId" clId="{308405E0-AEE4-4A44-9448-0AA64B23AC35}" dt="2026-04-02T10:32:52.269" v="4241" actId="14100"/>
          <ac:spMkLst>
            <pc:docMk/>
            <pc:sldMk cId="53118496" sldId="302"/>
            <ac:spMk id="19" creationId="{DE9368EA-324E-F85C-D3B7-5A8E4336D8E2}"/>
          </ac:spMkLst>
        </pc:spChg>
        <pc:graphicFrameChg chg="del mod">
          <ac:chgData name="心音 河口" userId="7e915dd52734961e" providerId="LiveId" clId="{308405E0-AEE4-4A44-9448-0AA64B23AC35}" dt="2026-04-01T13:44:28.891" v="2493" actId="478"/>
          <ac:graphicFrameMkLst>
            <pc:docMk/>
            <pc:sldMk cId="53118496" sldId="302"/>
            <ac:graphicFrameMk id="3" creationId="{D29FA334-CAE8-0422-BC6D-2C3BC87212DC}"/>
          </ac:graphicFrameMkLst>
        </pc:graphicFrameChg>
        <pc:graphicFrameChg chg="add mod">
          <ac:chgData name="心音 河口" userId="7e915dd52734961e" providerId="LiveId" clId="{308405E0-AEE4-4A44-9448-0AA64B23AC35}" dt="2026-04-01T13:44:10.017" v="2490"/>
          <ac:graphicFrameMkLst>
            <pc:docMk/>
            <pc:sldMk cId="53118496" sldId="302"/>
            <ac:graphicFrameMk id="4" creationId="{15118C1D-8663-280D-D31D-4DD142AA10CC}"/>
          </ac:graphicFrameMkLst>
        </pc:graphicFrameChg>
        <pc:graphicFrameChg chg="add del mod modGraphic">
          <ac:chgData name="心音 河口" userId="7e915dd52734961e" providerId="LiveId" clId="{308405E0-AEE4-4A44-9448-0AA64B23AC35}" dt="2026-04-02T10:23:23.144" v="3881" actId="478"/>
          <ac:graphicFrameMkLst>
            <pc:docMk/>
            <pc:sldMk cId="53118496" sldId="302"/>
            <ac:graphicFrameMk id="11" creationId="{3052AC70-430A-BE24-0510-2FBB1A276B88}"/>
          </ac:graphicFrameMkLst>
        </pc:graphicFrameChg>
        <pc:graphicFrameChg chg="add mod modGraphic">
          <ac:chgData name="心音 河口" userId="7e915dd52734961e" providerId="LiveId" clId="{308405E0-AEE4-4A44-9448-0AA64B23AC35}" dt="2026-04-02T10:56:11.361" v="4776"/>
          <ac:graphicFrameMkLst>
            <pc:docMk/>
            <pc:sldMk cId="53118496" sldId="302"/>
            <ac:graphicFrameMk id="13" creationId="{908660FD-5CBC-69A4-1235-95004077360D}"/>
          </ac:graphicFrameMkLst>
        </pc:graphicFrameChg>
        <pc:graphicFrameChg chg="add mod">
          <ac:chgData name="心音 河口" userId="7e915dd52734961e" providerId="LiveId" clId="{308405E0-AEE4-4A44-9448-0AA64B23AC35}" dt="2026-04-02T10:28:56.560" v="4196"/>
          <ac:graphicFrameMkLst>
            <pc:docMk/>
            <pc:sldMk cId="53118496" sldId="302"/>
            <ac:graphicFrameMk id="15" creationId="{95559E2D-1CF0-B6FC-C45E-B5288E46BCBD}"/>
          </ac:graphicFrameMkLst>
        </pc:graphicFrameChg>
        <pc:graphicFrameChg chg="add mod modGraphic">
          <ac:chgData name="心音 河口" userId="7e915dd52734961e" providerId="LiveId" clId="{308405E0-AEE4-4A44-9448-0AA64B23AC35}" dt="2026-04-02T10:56:07.842" v="4775"/>
          <ac:graphicFrameMkLst>
            <pc:docMk/>
            <pc:sldMk cId="53118496" sldId="302"/>
            <ac:graphicFrameMk id="17" creationId="{767E2A39-B0BF-D77D-C3CB-DCEB41ABF618}"/>
          </ac:graphicFrameMkLst>
        </pc:graphicFrameChg>
        <pc:picChg chg="add del mod">
          <ac:chgData name="心音 河口" userId="7e915dd52734961e" providerId="LiveId" clId="{308405E0-AEE4-4A44-9448-0AA64B23AC35}" dt="2026-04-01T13:46:30.045" v="2519" actId="478"/>
          <ac:picMkLst>
            <pc:docMk/>
            <pc:sldMk cId="53118496" sldId="302"/>
            <ac:picMk id="8" creationId="{B09A88C9-BF8C-30F8-3BE5-3E8285E89D17}"/>
          </ac:picMkLst>
        </pc:picChg>
        <pc:picChg chg="add del mod">
          <ac:chgData name="心音 河口" userId="7e915dd52734961e" providerId="LiveId" clId="{308405E0-AEE4-4A44-9448-0AA64B23AC35}" dt="2026-04-01T13:46:59.758" v="2528" actId="22"/>
          <ac:picMkLst>
            <pc:docMk/>
            <pc:sldMk cId="53118496" sldId="302"/>
            <ac:picMk id="10" creationId="{22E669A8-0601-C087-B265-715939544245}"/>
          </ac:picMkLst>
        </pc:picChg>
      </pc:sldChg>
      <pc:sldChg chg="add del">
        <pc:chgData name="心音 河口" userId="7e915dd52734961e" providerId="LiveId" clId="{308405E0-AEE4-4A44-9448-0AA64B23AC35}" dt="2026-04-01T13:25:51.470" v="2437"/>
        <pc:sldMkLst>
          <pc:docMk/>
          <pc:sldMk cId="2444355833" sldId="303"/>
        </pc:sldMkLst>
      </pc:sldChg>
      <pc:sldChg chg="addSp delSp modSp add mod">
        <pc:chgData name="心音 河口" userId="7e915dd52734961e" providerId="LiveId" clId="{308405E0-AEE4-4A44-9448-0AA64B23AC35}" dt="2026-04-02T10:55:41.009" v="4771" actId="207"/>
        <pc:sldMkLst>
          <pc:docMk/>
          <pc:sldMk cId="4048233019" sldId="303"/>
        </pc:sldMkLst>
        <pc:spChg chg="mod">
          <ac:chgData name="心音 河口" userId="7e915dd52734961e" providerId="LiveId" clId="{308405E0-AEE4-4A44-9448-0AA64B23AC35}" dt="2026-04-02T09:12:05.407" v="3054" actId="20577"/>
          <ac:spMkLst>
            <pc:docMk/>
            <pc:sldMk cId="4048233019" sldId="303"/>
            <ac:spMk id="2" creationId="{85628CBF-8696-C227-4161-2BBA4F42C4C0}"/>
          </ac:spMkLst>
        </pc:spChg>
        <pc:spChg chg="add mod">
          <ac:chgData name="心音 河口" userId="7e915dd52734961e" providerId="LiveId" clId="{308405E0-AEE4-4A44-9448-0AA64B23AC35}" dt="2026-04-02T10:22:57.374" v="3861" actId="14100"/>
          <ac:spMkLst>
            <pc:docMk/>
            <pc:sldMk cId="4048233019" sldId="303"/>
            <ac:spMk id="4" creationId="{ECA17BA9-19B6-8910-5E98-C7666BB9B982}"/>
          </ac:spMkLst>
        </pc:spChg>
        <pc:graphicFrameChg chg="del">
          <ac:chgData name="心音 河口" userId="7e915dd52734961e" providerId="LiveId" clId="{308405E0-AEE4-4A44-9448-0AA64B23AC35}" dt="2026-04-02T09:04:35.949" v="2731" actId="478"/>
          <ac:graphicFrameMkLst>
            <pc:docMk/>
            <pc:sldMk cId="4048233019" sldId="303"/>
            <ac:graphicFrameMk id="3" creationId="{7F5443E8-FAFF-2C8B-11F9-79AB903D0E51}"/>
          </ac:graphicFrameMkLst>
        </pc:graphicFrameChg>
        <pc:graphicFrameChg chg="add del mod modGraphic">
          <ac:chgData name="心音 河口" userId="7e915dd52734961e" providerId="LiveId" clId="{308405E0-AEE4-4A44-9448-0AA64B23AC35}" dt="2026-04-02T10:55:41.009" v="4771" actId="207"/>
          <ac:graphicFrameMkLst>
            <pc:docMk/>
            <pc:sldMk cId="4048233019" sldId="303"/>
            <ac:graphicFrameMk id="5" creationId="{187F4088-0303-C905-C77A-04FA1BA0E286}"/>
          </ac:graphicFrameMkLst>
        </pc:graphicFrameChg>
      </pc:sldChg>
      <pc:sldChg chg="add del">
        <pc:chgData name="心音 河口" userId="7e915dd52734961e" providerId="LiveId" clId="{308405E0-AEE4-4A44-9448-0AA64B23AC35}" dt="2026-04-01T13:25:51.470" v="2437"/>
        <pc:sldMkLst>
          <pc:docMk/>
          <pc:sldMk cId="1101169619" sldId="304"/>
        </pc:sldMkLst>
      </pc:sldChg>
      <pc:sldChg chg="modSp add del mod">
        <pc:chgData name="心音 河口" userId="7e915dd52734961e" providerId="LiveId" clId="{308405E0-AEE4-4A44-9448-0AA64B23AC35}" dt="2026-04-02T10:22:22.656" v="3834" actId="47"/>
        <pc:sldMkLst>
          <pc:docMk/>
          <pc:sldMk cId="1469883103" sldId="304"/>
        </pc:sldMkLst>
        <pc:spChg chg="mod">
          <ac:chgData name="心音 河口" userId="7e915dd52734961e" providerId="LiveId" clId="{308405E0-AEE4-4A44-9448-0AA64B23AC35}" dt="2026-04-02T09:49:26.922" v="3595" actId="12788"/>
          <ac:spMkLst>
            <pc:docMk/>
            <pc:sldMk cId="1469883103" sldId="304"/>
            <ac:spMk id="6" creationId="{17ADDFFC-590A-C15F-B4AE-ECAAC109C133}"/>
          </ac:spMkLst>
        </pc:spChg>
        <pc:graphicFrameChg chg="mod modGraphic">
          <ac:chgData name="心音 河口" userId="7e915dd52734961e" providerId="LiveId" clId="{308405E0-AEE4-4A44-9448-0AA64B23AC35}" dt="2026-04-02T09:42:25.118" v="3291"/>
          <ac:graphicFrameMkLst>
            <pc:docMk/>
            <pc:sldMk cId="1469883103" sldId="304"/>
            <ac:graphicFrameMk id="11" creationId="{1804EE1E-BEA6-FA55-DC78-3ABB95A13E9E}"/>
          </ac:graphicFrameMkLst>
        </pc:graphicFrameChg>
      </pc:sldChg>
      <pc:sldChg chg="addSp delSp modSp add mod ord">
        <pc:chgData name="心音 河口" userId="7e915dd52734961e" providerId="LiveId" clId="{308405E0-AEE4-4A44-9448-0AA64B23AC35}" dt="2026-04-02T10:55:57.775" v="4774" actId="478"/>
        <pc:sldMkLst>
          <pc:docMk/>
          <pc:sldMk cId="1548591790" sldId="304"/>
        </pc:sldMkLst>
        <pc:spChg chg="del">
          <ac:chgData name="心音 河口" userId="7e915dd52734961e" providerId="LiveId" clId="{308405E0-AEE4-4A44-9448-0AA64B23AC35}" dt="2026-04-02T10:55:57.775" v="4774" actId="478"/>
          <ac:spMkLst>
            <pc:docMk/>
            <pc:sldMk cId="1548591790" sldId="304"/>
            <ac:spMk id="2" creationId="{B6DF389A-E921-AF9A-8162-062D49671497}"/>
          </ac:spMkLst>
        </pc:spChg>
        <pc:spChg chg="mod">
          <ac:chgData name="心音 河口" userId="7e915dd52734961e" providerId="LiveId" clId="{308405E0-AEE4-4A44-9448-0AA64B23AC35}" dt="2026-04-02T10:41:30.611" v="4560" actId="1076"/>
          <ac:spMkLst>
            <pc:docMk/>
            <pc:sldMk cId="1548591790" sldId="304"/>
            <ac:spMk id="4" creationId="{E5459935-24FB-EB06-2D89-466519A84F94}"/>
          </ac:spMkLst>
        </pc:spChg>
        <pc:spChg chg="add mod">
          <ac:chgData name="心音 河口" userId="7e915dd52734961e" providerId="LiveId" clId="{308405E0-AEE4-4A44-9448-0AA64B23AC35}" dt="2026-04-02T10:43:35.633" v="4617" actId="1037"/>
          <ac:spMkLst>
            <pc:docMk/>
            <pc:sldMk cId="1548591790" sldId="304"/>
            <ac:spMk id="8" creationId="{1823ABD1-6CF4-F508-0F04-85E525403511}"/>
          </ac:spMkLst>
        </pc:spChg>
        <pc:spChg chg="add mod">
          <ac:chgData name="心音 河口" userId="7e915dd52734961e" providerId="LiveId" clId="{308405E0-AEE4-4A44-9448-0AA64B23AC35}" dt="2026-04-02T10:43:35.633" v="4617" actId="1037"/>
          <ac:spMkLst>
            <pc:docMk/>
            <pc:sldMk cId="1548591790" sldId="304"/>
            <ac:spMk id="9" creationId="{032E6A00-CCB0-3E63-B7D4-B86DC8F955AE}"/>
          </ac:spMkLst>
        </pc:spChg>
        <pc:graphicFrameChg chg="add del mod">
          <ac:chgData name="心音 河口" userId="7e915dd52734961e" providerId="LiveId" clId="{308405E0-AEE4-4A44-9448-0AA64B23AC35}" dt="2026-04-02T10:35:14.411" v="4341" actId="478"/>
          <ac:graphicFrameMkLst>
            <pc:docMk/>
            <pc:sldMk cId="1548591790" sldId="304"/>
            <ac:graphicFrameMk id="3" creationId="{87941E5E-9866-01C8-BF98-4AC8EB1E52C9}"/>
          </ac:graphicFrameMkLst>
        </pc:graphicFrameChg>
        <pc:graphicFrameChg chg="del modGraphic">
          <ac:chgData name="心音 河口" userId="7e915dd52734961e" providerId="LiveId" clId="{308405E0-AEE4-4A44-9448-0AA64B23AC35}" dt="2026-04-02T10:35:08.986" v="4339" actId="478"/>
          <ac:graphicFrameMkLst>
            <pc:docMk/>
            <pc:sldMk cId="1548591790" sldId="304"/>
            <ac:graphicFrameMk id="5" creationId="{4EEDEF12-0F29-97C3-EC46-8C3C6751BE49}"/>
          </ac:graphicFrameMkLst>
        </pc:graphicFrameChg>
        <pc:graphicFrameChg chg="add mod modGraphic">
          <ac:chgData name="心音 河口" userId="7e915dd52734961e" providerId="LiveId" clId="{308405E0-AEE4-4A44-9448-0AA64B23AC35}" dt="2026-04-02T10:40:56.535" v="4552" actId="242"/>
          <ac:graphicFrameMkLst>
            <pc:docMk/>
            <pc:sldMk cId="1548591790" sldId="304"/>
            <ac:graphicFrameMk id="6" creationId="{651B8389-5E16-EEAF-91B8-DE69DE638ECC}"/>
          </ac:graphicFrameMkLst>
        </pc:graphicFrameChg>
        <pc:graphicFrameChg chg="add mod modGraphic">
          <ac:chgData name="心音 河口" userId="7e915dd52734961e" providerId="LiveId" clId="{308405E0-AEE4-4A44-9448-0AA64B23AC35}" dt="2026-04-02T10:41:21.977" v="4559" actId="113"/>
          <ac:graphicFrameMkLst>
            <pc:docMk/>
            <pc:sldMk cId="1548591790" sldId="304"/>
            <ac:graphicFrameMk id="7" creationId="{0DAD10F4-E4A9-8E66-1EF3-DDBAD755B4BF}"/>
          </ac:graphicFrameMkLst>
        </pc:graphicFrameChg>
      </pc:sldChg>
      <pc:sldChg chg="add del">
        <pc:chgData name="心音 河口" userId="7e915dd52734961e" providerId="LiveId" clId="{308405E0-AEE4-4A44-9448-0AA64B23AC35}" dt="2026-04-01T13:25:51.470" v="2437"/>
        <pc:sldMkLst>
          <pc:docMk/>
          <pc:sldMk cId="2253924448" sldId="305"/>
        </pc:sldMkLst>
      </pc:sldChg>
      <pc:sldChg chg="addSp delSp modSp add del mod">
        <pc:chgData name="心音 河口" userId="7e915dd52734961e" providerId="LiveId" clId="{308405E0-AEE4-4A44-9448-0AA64B23AC35}" dt="2026-04-02T10:22:22.656" v="3834" actId="47"/>
        <pc:sldMkLst>
          <pc:docMk/>
          <pc:sldMk cId="2393492069" sldId="305"/>
        </pc:sldMkLst>
        <pc:spChg chg="mod">
          <ac:chgData name="心音 河口" userId="7e915dd52734961e" providerId="LiveId" clId="{308405E0-AEE4-4A44-9448-0AA64B23AC35}" dt="2026-04-02T09:49:07.470" v="3576" actId="20577"/>
          <ac:spMkLst>
            <pc:docMk/>
            <pc:sldMk cId="2393492069" sldId="305"/>
            <ac:spMk id="4" creationId="{730C3494-0343-8130-1E9B-EEE40CD11171}"/>
          </ac:spMkLst>
        </pc:spChg>
        <pc:graphicFrameChg chg="add mod modGraphic">
          <ac:chgData name="心音 河口" userId="7e915dd52734961e" providerId="LiveId" clId="{308405E0-AEE4-4A44-9448-0AA64B23AC35}" dt="2026-04-02T10:01:23.014" v="3801" actId="207"/>
          <ac:graphicFrameMkLst>
            <pc:docMk/>
            <pc:sldMk cId="2393492069" sldId="305"/>
            <ac:graphicFrameMk id="3" creationId="{EEA8E966-DC8E-A503-C8B9-7C5F1B46E2DC}"/>
          </ac:graphicFrameMkLst>
        </pc:graphicFrameChg>
        <pc:graphicFrameChg chg="del mod modGraphic">
          <ac:chgData name="心音 河口" userId="7e915dd52734961e" providerId="LiveId" clId="{308405E0-AEE4-4A44-9448-0AA64B23AC35}" dt="2026-04-02T09:57:28.196" v="3675" actId="478"/>
          <ac:graphicFrameMkLst>
            <pc:docMk/>
            <pc:sldMk cId="2393492069" sldId="305"/>
            <ac:graphicFrameMk id="5" creationId="{61DC4FE5-25ED-BA9C-26F8-27DB026FFAFD}"/>
          </ac:graphicFrameMkLst>
        </pc:graphicFrameChg>
      </pc:sldChg>
      <pc:sldChg chg="addSp modSp add mod">
        <pc:chgData name="心音 河口" userId="7e915dd52734961e" providerId="LiveId" clId="{308405E0-AEE4-4A44-9448-0AA64B23AC35}" dt="2026-04-02T10:51:48.034" v="4769" actId="404"/>
        <pc:sldMkLst>
          <pc:docMk/>
          <pc:sldMk cId="3344898600" sldId="305"/>
        </pc:sldMkLst>
        <pc:spChg chg="mod">
          <ac:chgData name="心音 河口" userId="7e915dd52734961e" providerId="LiveId" clId="{308405E0-AEE4-4A44-9448-0AA64B23AC35}" dt="2026-04-02T10:51:10.555" v="4765" actId="14100"/>
          <ac:spMkLst>
            <pc:docMk/>
            <pc:sldMk cId="3344898600" sldId="305"/>
            <ac:spMk id="2" creationId="{2E79AA4F-C1EB-2887-3C13-51B1E017D0B9}"/>
          </ac:spMkLst>
        </pc:spChg>
        <pc:spChg chg="add mod">
          <ac:chgData name="心音 河口" userId="7e915dd52734961e" providerId="LiveId" clId="{308405E0-AEE4-4A44-9448-0AA64B23AC35}" dt="2026-04-02T10:51:35.757" v="4768" actId="1076"/>
          <ac:spMkLst>
            <pc:docMk/>
            <pc:sldMk cId="3344898600" sldId="305"/>
            <ac:spMk id="3" creationId="{3C1994CD-F04B-A075-A237-0FC8672C529F}"/>
          </ac:spMkLst>
        </pc:spChg>
        <pc:spChg chg="mod">
          <ac:chgData name="心音 河口" userId="7e915dd52734961e" providerId="LiveId" clId="{308405E0-AEE4-4A44-9448-0AA64B23AC35}" dt="2026-04-02T10:43:46.717" v="4631" actId="20577"/>
          <ac:spMkLst>
            <pc:docMk/>
            <pc:sldMk cId="3344898600" sldId="305"/>
            <ac:spMk id="8" creationId="{51ECF8A7-D9A8-8E66-2F03-8DAD74782486}"/>
          </ac:spMkLst>
        </pc:spChg>
        <pc:spChg chg="mod">
          <ac:chgData name="心音 河口" userId="7e915dd52734961e" providerId="LiveId" clId="{308405E0-AEE4-4A44-9448-0AA64B23AC35}" dt="2026-04-02T10:43:50.299" v="4641" actId="20577"/>
          <ac:spMkLst>
            <pc:docMk/>
            <pc:sldMk cId="3344898600" sldId="305"/>
            <ac:spMk id="9" creationId="{A5937426-6BFB-9750-E1E9-DB494AB617D9}"/>
          </ac:spMkLst>
        </pc:spChg>
        <pc:graphicFrameChg chg="mod modGraphic">
          <ac:chgData name="心音 河口" userId="7e915dd52734961e" providerId="LiveId" clId="{308405E0-AEE4-4A44-9448-0AA64B23AC35}" dt="2026-04-02T10:51:48.034" v="4769" actId="404"/>
          <ac:graphicFrameMkLst>
            <pc:docMk/>
            <pc:sldMk cId="3344898600" sldId="305"/>
            <ac:graphicFrameMk id="6" creationId="{E35695DF-EC22-B7EF-CBD4-F32B32424396}"/>
          </ac:graphicFrameMkLst>
        </pc:graphicFrameChg>
        <pc:graphicFrameChg chg="mod modGraphic">
          <ac:chgData name="心音 河口" userId="7e915dd52734961e" providerId="LiveId" clId="{308405E0-AEE4-4A44-9448-0AA64B23AC35}" dt="2026-04-02T10:50:55.393" v="4763" actId="14100"/>
          <ac:graphicFrameMkLst>
            <pc:docMk/>
            <pc:sldMk cId="3344898600" sldId="305"/>
            <ac:graphicFrameMk id="7" creationId="{F1DE1F48-CE5D-1707-94FF-448952DFB271}"/>
          </ac:graphicFrameMkLst>
        </pc:graphicFrameChg>
      </pc:sldChg>
      <pc:sldChg chg="delSp modSp add mod">
        <pc:chgData name="心音 河口" userId="7e915dd52734961e" providerId="LiveId" clId="{308405E0-AEE4-4A44-9448-0AA64B23AC35}" dt="2026-04-02T10:55:52.175" v="4773" actId="478"/>
        <pc:sldMkLst>
          <pc:docMk/>
          <pc:sldMk cId="2180535291" sldId="306"/>
        </pc:sldMkLst>
        <pc:spChg chg="del">
          <ac:chgData name="心音 河口" userId="7e915dd52734961e" providerId="LiveId" clId="{308405E0-AEE4-4A44-9448-0AA64B23AC35}" dt="2026-04-02T10:55:52.175" v="4773" actId="478"/>
          <ac:spMkLst>
            <pc:docMk/>
            <pc:sldMk cId="2180535291" sldId="306"/>
            <ac:spMk id="2" creationId="{720D9AAC-25F1-41E0-22B5-37F65352212D}"/>
          </ac:spMkLst>
        </pc:spChg>
        <pc:spChg chg="mod">
          <ac:chgData name="心音 河口" userId="7e915dd52734961e" providerId="LiveId" clId="{308405E0-AEE4-4A44-9448-0AA64B23AC35}" dt="2026-04-02T10:46:15.833" v="4689" actId="1076"/>
          <ac:spMkLst>
            <pc:docMk/>
            <pc:sldMk cId="2180535291" sldId="306"/>
            <ac:spMk id="8" creationId="{5B8734FE-A69F-3387-D2D9-553FBCFDC358}"/>
          </ac:spMkLst>
        </pc:spChg>
        <pc:spChg chg="mod">
          <ac:chgData name="心音 河口" userId="7e915dd52734961e" providerId="LiveId" clId="{308405E0-AEE4-4A44-9448-0AA64B23AC35}" dt="2026-04-02T10:46:15.833" v="4689" actId="1076"/>
          <ac:spMkLst>
            <pc:docMk/>
            <pc:sldMk cId="2180535291" sldId="306"/>
            <ac:spMk id="9" creationId="{085B2455-C01F-A4E7-BEB5-7DC36CFA2722}"/>
          </ac:spMkLst>
        </pc:spChg>
        <pc:graphicFrameChg chg="mod modGraphic">
          <ac:chgData name="心音 河口" userId="7e915dd52734961e" providerId="LiveId" clId="{308405E0-AEE4-4A44-9448-0AA64B23AC35}" dt="2026-04-02T10:46:37.913" v="4702" actId="2711"/>
          <ac:graphicFrameMkLst>
            <pc:docMk/>
            <pc:sldMk cId="2180535291" sldId="306"/>
            <ac:graphicFrameMk id="6" creationId="{040DED9B-33FD-6BDB-8101-7479769C039C}"/>
          </ac:graphicFrameMkLst>
        </pc:graphicFrameChg>
        <pc:graphicFrameChg chg="mod modGraphic">
          <ac:chgData name="心音 河口" userId="7e915dd52734961e" providerId="LiveId" clId="{308405E0-AEE4-4A44-9448-0AA64B23AC35}" dt="2026-04-02T10:46:53.935" v="4708" actId="255"/>
          <ac:graphicFrameMkLst>
            <pc:docMk/>
            <pc:sldMk cId="2180535291" sldId="306"/>
            <ac:graphicFrameMk id="7" creationId="{D506FA21-F450-DA02-3AF7-F336E90E8F0E}"/>
          </ac:graphicFrameMkLst>
        </pc:graphicFrameChg>
      </pc:sldChg>
      <pc:sldChg chg="add del">
        <pc:chgData name="心音 河口" userId="7e915dd52734961e" providerId="LiveId" clId="{308405E0-AEE4-4A44-9448-0AA64B23AC35}" dt="2026-04-01T13:25:51.470" v="2437"/>
        <pc:sldMkLst>
          <pc:docMk/>
          <pc:sldMk cId="4009376079" sldId="306"/>
        </pc:sldMkLst>
      </pc:sldChg>
      <pc:sldChg chg="add del">
        <pc:chgData name="心音 河口" userId="7e915dd52734961e" providerId="LiveId" clId="{308405E0-AEE4-4A44-9448-0AA64B23AC35}" dt="2026-04-01T13:25:51.470" v="2437"/>
        <pc:sldMkLst>
          <pc:docMk/>
          <pc:sldMk cId="184587424" sldId="307"/>
        </pc:sldMkLst>
      </pc:sldChg>
      <pc:sldChg chg="add del">
        <pc:chgData name="心音 河口" userId="7e915dd52734961e" providerId="LiveId" clId="{308405E0-AEE4-4A44-9448-0AA64B23AC35}" dt="2026-04-02T10:47:11.621" v="4712"/>
        <pc:sldMkLst>
          <pc:docMk/>
          <pc:sldMk cId="3048746608" sldId="307"/>
        </pc:sldMkLst>
      </pc:sldChg>
      <pc:sldChg chg="delSp modSp add mod">
        <pc:chgData name="心音 河口" userId="7e915dd52734961e" providerId="LiveId" clId="{308405E0-AEE4-4A44-9448-0AA64B23AC35}" dt="2026-04-02T10:55:48.235" v="4772" actId="478"/>
        <pc:sldMkLst>
          <pc:docMk/>
          <pc:sldMk cId="3344606087" sldId="307"/>
        </pc:sldMkLst>
        <pc:spChg chg="del">
          <ac:chgData name="心音 河口" userId="7e915dd52734961e" providerId="LiveId" clId="{308405E0-AEE4-4A44-9448-0AA64B23AC35}" dt="2026-04-02T10:55:48.235" v="4772" actId="478"/>
          <ac:spMkLst>
            <pc:docMk/>
            <pc:sldMk cId="3344606087" sldId="307"/>
            <ac:spMk id="2" creationId="{CA482618-2FE1-D99E-1568-F5E336138C9B}"/>
          </ac:spMkLst>
        </pc:spChg>
        <pc:spChg chg="mod">
          <ac:chgData name="心音 河口" userId="7e915dd52734961e" providerId="LiveId" clId="{308405E0-AEE4-4A44-9448-0AA64B23AC35}" dt="2026-04-02T10:48:21.188" v="4757" actId="20577"/>
          <ac:spMkLst>
            <pc:docMk/>
            <pc:sldMk cId="3344606087" sldId="307"/>
            <ac:spMk id="8" creationId="{B197DC51-6B96-5289-8684-C3F7E81CD509}"/>
          </ac:spMkLst>
        </pc:spChg>
        <pc:spChg chg="del">
          <ac:chgData name="心音 河口" userId="7e915dd52734961e" providerId="LiveId" clId="{308405E0-AEE4-4A44-9448-0AA64B23AC35}" dt="2026-04-02T10:47:18.564" v="4714" actId="478"/>
          <ac:spMkLst>
            <pc:docMk/>
            <pc:sldMk cId="3344606087" sldId="307"/>
            <ac:spMk id="9" creationId="{A0E806A8-E5A1-8877-628A-B1FD08EBE730}"/>
          </ac:spMkLst>
        </pc:spChg>
        <pc:graphicFrameChg chg="mod modGraphic">
          <ac:chgData name="心音 河口" userId="7e915dd52734961e" providerId="LiveId" clId="{308405E0-AEE4-4A44-9448-0AA64B23AC35}" dt="2026-04-02T10:48:10.892" v="4726" actId="1076"/>
          <ac:graphicFrameMkLst>
            <pc:docMk/>
            <pc:sldMk cId="3344606087" sldId="307"/>
            <ac:graphicFrameMk id="6" creationId="{2D04CF3C-2B72-9384-0ADA-F9C01318865C}"/>
          </ac:graphicFrameMkLst>
        </pc:graphicFrameChg>
        <pc:graphicFrameChg chg="del">
          <ac:chgData name="心音 河口" userId="7e915dd52734961e" providerId="LiveId" clId="{308405E0-AEE4-4A44-9448-0AA64B23AC35}" dt="2026-04-02T10:47:18.564" v="4714" actId="478"/>
          <ac:graphicFrameMkLst>
            <pc:docMk/>
            <pc:sldMk cId="3344606087" sldId="307"/>
            <ac:graphicFrameMk id="7" creationId="{7D2D9519-0362-4B2B-0938-DD65E9F603F4}"/>
          </ac:graphicFrameMkLst>
        </pc:graphicFrameChg>
      </pc:sldChg>
      <pc:sldChg chg="add del">
        <pc:chgData name="心音 河口" userId="7e915dd52734961e" providerId="LiveId" clId="{308405E0-AEE4-4A44-9448-0AA64B23AC35}" dt="2026-04-01T13:25:51.470" v="2437"/>
        <pc:sldMkLst>
          <pc:docMk/>
          <pc:sldMk cId="576674332" sldId="308"/>
        </pc:sldMkLst>
      </pc:sldChg>
      <pc:sldChg chg="add del">
        <pc:chgData name="心音 河口" userId="7e915dd52734961e" providerId="LiveId" clId="{308405E0-AEE4-4A44-9448-0AA64B23AC35}" dt="2026-04-01T13:25:51.470" v="2437"/>
        <pc:sldMkLst>
          <pc:docMk/>
          <pc:sldMk cId="4152082320" sldId="309"/>
        </pc:sldMkLst>
      </pc:sldChg>
      <pc:sldChg chg="add del">
        <pc:chgData name="心音 河口" userId="7e915dd52734961e" providerId="LiveId" clId="{308405E0-AEE4-4A44-9448-0AA64B23AC35}" dt="2026-04-01T13:25:51.470" v="2437"/>
        <pc:sldMkLst>
          <pc:docMk/>
          <pc:sldMk cId="190515298" sldId="310"/>
        </pc:sldMkLst>
      </pc:sldChg>
      <pc:sldChg chg="add del">
        <pc:chgData name="心音 河口" userId="7e915dd52734961e" providerId="LiveId" clId="{308405E0-AEE4-4A44-9448-0AA64B23AC35}" dt="2026-04-01T13:25:51.470" v="2437"/>
        <pc:sldMkLst>
          <pc:docMk/>
          <pc:sldMk cId="3222893955" sldId="311"/>
        </pc:sldMkLst>
      </pc:sldChg>
      <pc:sldChg chg="add del">
        <pc:chgData name="心音 河口" userId="7e915dd52734961e" providerId="LiveId" clId="{308405E0-AEE4-4A44-9448-0AA64B23AC35}" dt="2026-04-01T13:25:51.470" v="2437"/>
        <pc:sldMkLst>
          <pc:docMk/>
          <pc:sldMk cId="1413418064" sldId="312"/>
        </pc:sldMkLst>
      </pc:sldChg>
      <pc:sldChg chg="add del">
        <pc:chgData name="心音 河口" userId="7e915dd52734961e" providerId="LiveId" clId="{308405E0-AEE4-4A44-9448-0AA64B23AC35}" dt="2026-04-01T13:25:51.470" v="2437"/>
        <pc:sldMkLst>
          <pc:docMk/>
          <pc:sldMk cId="2862622759" sldId="313"/>
        </pc:sldMkLst>
      </pc:sldChg>
      <pc:sldChg chg="add del">
        <pc:chgData name="心音 河口" userId="7e915dd52734961e" providerId="LiveId" clId="{308405E0-AEE4-4A44-9448-0AA64B23AC35}" dt="2026-04-01T13:25:51.470" v="2437"/>
        <pc:sldMkLst>
          <pc:docMk/>
          <pc:sldMk cId="1824421569" sldId="314"/>
        </pc:sldMkLst>
      </pc:sldChg>
      <pc:sldChg chg="add del">
        <pc:chgData name="心音 河口" userId="7e915dd52734961e" providerId="LiveId" clId="{308405E0-AEE4-4A44-9448-0AA64B23AC35}" dt="2026-04-01T13:25:51.470" v="2437"/>
        <pc:sldMkLst>
          <pc:docMk/>
          <pc:sldMk cId="1711092023" sldId="315"/>
        </pc:sldMkLst>
      </pc:sldChg>
      <pc:sldChg chg="add del">
        <pc:chgData name="心音 河口" userId="7e915dd52734961e" providerId="LiveId" clId="{308405E0-AEE4-4A44-9448-0AA64B23AC35}" dt="2026-04-01T13:25:51.470" v="2437"/>
        <pc:sldMkLst>
          <pc:docMk/>
          <pc:sldMk cId="2071340474" sldId="316"/>
        </pc:sldMkLst>
      </pc:sldChg>
      <pc:sldMasterChg chg="modSldLayout">
        <pc:chgData name="心音 河口" userId="7e915dd52734961e" providerId="LiveId" clId="{308405E0-AEE4-4A44-9448-0AA64B23AC35}" dt="2026-04-02T09:41:46.063" v="3269" actId="1076"/>
        <pc:sldMasterMkLst>
          <pc:docMk/>
          <pc:sldMasterMk cId="3671671764" sldId="2147483648"/>
        </pc:sldMasterMkLst>
        <pc:sldLayoutChg chg="addSp modSp mod">
          <pc:chgData name="心音 河口" userId="7e915dd52734961e" providerId="LiveId" clId="{308405E0-AEE4-4A44-9448-0AA64B23AC35}" dt="2026-04-02T09:41:46.063" v="3269" actId="1076"/>
          <pc:sldLayoutMkLst>
            <pc:docMk/>
            <pc:sldMasterMk cId="3671671764" sldId="2147483648"/>
            <pc:sldLayoutMk cId="4075818439" sldId="2147483655"/>
          </pc:sldLayoutMkLst>
          <pc:spChg chg="add mod">
            <ac:chgData name="心音 河口" userId="7e915dd52734961e" providerId="LiveId" clId="{308405E0-AEE4-4A44-9448-0AA64B23AC35}" dt="2026-04-02T09:41:46.063" v="3269" actId="1076"/>
            <ac:spMkLst>
              <pc:docMk/>
              <pc:sldMasterMk cId="3671671764" sldId="2147483648"/>
              <pc:sldLayoutMk cId="4075818439" sldId="2147483655"/>
              <ac:spMk id="5" creationId="{716CC6D0-972B-DC11-AF6F-E7788B159AB5}"/>
            </ac:spMkLst>
          </pc:spChg>
        </pc:sldLayoutChg>
      </pc:sldMaster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https://d.docs.live.net/7e915dd52734961e/FFN-J&#22996;&#21729;&#20250;&#38306;&#36899;/PT&#37096;&#20250;/&#12304;FFN-J&#12363;&#12425;&#35519;&#26619;&#12398;&#12362;&#39000;&#12356;&#12305;&#31532;2&#22238;&#22823;&#33151;&#39592;&#36817;&#20301;&#37096;&#39592;&#25240;&#27835;&#30274;&#12398;&#24613;&#24615;&#26399;&#12395;&#12362;&#12369;&#12427;&#12522;&#12495;&#12499;&#12522;&#12486;&#12540;&#12471;&#12519;&#12531;&#20307;&#21046;&#12362;&#12424;&#12403;&#35413;&#20385;&#12539;&#36899;&#25658;&#12395;&#38306;&#12377;&#12427;&#35519;&#26619;&#65288;&#22238;&#31572;&#65289;.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933526082677166"/>
          <c:y val="0.11990624262387779"/>
          <c:w val="0.5269544783464567"/>
          <c:h val="0.79043166889568961"/>
        </c:manualLayout>
      </c:layout>
      <c:pieChart>
        <c:varyColors val="1"/>
        <c:ser>
          <c:idx val="0"/>
          <c:order val="0"/>
          <c:tx>
            <c:strRef>
              <c:f>Sheet1!$B$1</c:f>
              <c:strCache>
                <c:ptCount val="1"/>
                <c:pt idx="0">
                  <c:v>割合</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8F7-44D7-B803-511B9EA3968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8F7-44D7-B803-511B9EA3968E}"/>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bg1"/>
                    </a:solidFill>
                    <a:latin typeface="+mn-lt"/>
                    <a:ea typeface="+mn-ea"/>
                    <a:cs typeface="+mn-cs"/>
                  </a:defRPr>
                </a:pPr>
                <a:endParaRPr lang="ja-JP"/>
              </a:p>
            </c:txPr>
            <c:dLblPos val="ct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リハビリテーション科（部・室・課・センター等も含む）</c:v>
                </c:pt>
                <c:pt idx="1">
                  <c:v>理学療法士</c:v>
                </c:pt>
                <c:pt idx="2">
                  <c:v>作業療法士</c:v>
                </c:pt>
                <c:pt idx="3">
                  <c:v>その他</c:v>
                </c:pt>
              </c:strCache>
            </c:strRef>
          </c:cat>
          <c:val>
            <c:numRef>
              <c:f>Sheet1!$B$2:$B$5</c:f>
              <c:numCache>
                <c:formatCode>General</c:formatCode>
                <c:ptCount val="4"/>
                <c:pt idx="0">
                  <c:v>140</c:v>
                </c:pt>
                <c:pt idx="1">
                  <c:v>106</c:v>
                </c:pt>
                <c:pt idx="2">
                  <c:v>9</c:v>
                </c:pt>
                <c:pt idx="3">
                  <c:v>34</c:v>
                </c:pt>
              </c:numCache>
            </c:numRef>
          </c:val>
          <c:extLst>
            <c:ext xmlns:c16="http://schemas.microsoft.com/office/drawing/2014/chart" uri="{C3380CC4-5D6E-409C-BE32-E72D297353CC}">
              <c16:uniqueId val="{00000000-3520-4F8D-A232-0784563AE8DE}"/>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79974052657480321"/>
          <c:y val="0.42640007219487747"/>
          <c:w val="0.10807197342519687"/>
          <c:h val="0.14757467103994396"/>
        </c:manualLayout>
      </c:layout>
      <c:overlay val="0"/>
      <c:spPr>
        <a:noFill/>
        <a:ln>
          <a:noFill/>
        </a:ln>
        <a:effectLst/>
      </c:spPr>
      <c:txPr>
        <a:bodyPr rot="0" spcFirstLastPara="1" vertOverflow="ellipsis" vert="horz" wrap="square" anchor="ctr" anchorCtr="1"/>
        <a:lstStyle/>
        <a:p>
          <a:pPr>
            <a:defRPr sz="2000" b="1"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施設数</c:v>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ja-JP"/>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グラフ作成用シート!$I$27:$I$39</c:f>
              <c:strCache>
                <c:ptCount val="13"/>
                <c:pt idx="0">
                  <c:v>~25</c:v>
                </c:pt>
                <c:pt idx="1">
                  <c:v>25~50</c:v>
                </c:pt>
                <c:pt idx="2">
                  <c:v>50~75</c:v>
                </c:pt>
                <c:pt idx="3">
                  <c:v>75~100</c:v>
                </c:pt>
                <c:pt idx="4">
                  <c:v>100~125</c:v>
                </c:pt>
                <c:pt idx="5">
                  <c:v>125~150</c:v>
                </c:pt>
                <c:pt idx="6">
                  <c:v>150~175</c:v>
                </c:pt>
                <c:pt idx="7">
                  <c:v>175~200</c:v>
                </c:pt>
                <c:pt idx="8">
                  <c:v>200~225</c:v>
                </c:pt>
                <c:pt idx="9">
                  <c:v>225~250</c:v>
                </c:pt>
                <c:pt idx="10">
                  <c:v>250~275</c:v>
                </c:pt>
                <c:pt idx="11">
                  <c:v>275~300</c:v>
                </c:pt>
                <c:pt idx="12">
                  <c:v>300以上</c:v>
                </c:pt>
              </c:strCache>
            </c:strRef>
          </c:cat>
          <c:val>
            <c:numRef>
              <c:f>グラフ作成用シート!$J$27:$J$39</c:f>
              <c:numCache>
                <c:formatCode>General</c:formatCode>
                <c:ptCount val="13"/>
                <c:pt idx="0">
                  <c:v>6</c:v>
                </c:pt>
                <c:pt idx="1">
                  <c:v>6</c:v>
                </c:pt>
                <c:pt idx="2">
                  <c:v>32</c:v>
                </c:pt>
                <c:pt idx="3">
                  <c:v>34</c:v>
                </c:pt>
                <c:pt idx="4">
                  <c:v>48</c:v>
                </c:pt>
                <c:pt idx="5">
                  <c:v>37</c:v>
                </c:pt>
                <c:pt idx="6">
                  <c:v>26</c:v>
                </c:pt>
                <c:pt idx="7">
                  <c:v>24</c:v>
                </c:pt>
                <c:pt idx="8">
                  <c:v>21</c:v>
                </c:pt>
                <c:pt idx="9">
                  <c:v>19</c:v>
                </c:pt>
                <c:pt idx="10">
                  <c:v>8</c:v>
                </c:pt>
                <c:pt idx="11">
                  <c:v>9</c:v>
                </c:pt>
                <c:pt idx="12">
                  <c:v>19</c:v>
                </c:pt>
              </c:numCache>
            </c:numRef>
          </c:val>
          <c:extLst>
            <c:ext xmlns:c16="http://schemas.microsoft.com/office/drawing/2014/chart" uri="{C3380CC4-5D6E-409C-BE32-E72D297353CC}">
              <c16:uniqueId val="{00000000-B573-4F53-BBA1-E6032C016E91}"/>
            </c:ext>
          </c:extLst>
        </c:ser>
        <c:dLbls>
          <c:showLegendKey val="0"/>
          <c:showVal val="0"/>
          <c:showCatName val="0"/>
          <c:showSerName val="0"/>
          <c:showPercent val="0"/>
          <c:showBubbleSize val="0"/>
        </c:dLbls>
        <c:gapWidth val="219"/>
        <c:overlap val="-27"/>
        <c:axId val="788636704"/>
        <c:axId val="788638144"/>
      </c:barChart>
      <c:lineChart>
        <c:grouping val="standard"/>
        <c:varyColors val="0"/>
        <c:ser>
          <c:idx val="1"/>
          <c:order val="1"/>
          <c:tx>
            <c:v>累積%</c:v>
          </c:tx>
          <c:spPr>
            <a:ln w="38100" cap="rnd">
              <a:solidFill>
                <a:schemeClr val="accent2"/>
              </a:solidFill>
              <a:round/>
            </a:ln>
            <a:effectLst/>
          </c:spPr>
          <c:marker>
            <c:symbol val="circle"/>
            <c:size val="10"/>
            <c:spPr>
              <a:solidFill>
                <a:schemeClr val="accent2"/>
              </a:solidFill>
              <a:ln w="9525">
                <a:solidFill>
                  <a:schemeClr val="accent2"/>
                </a:solidFill>
              </a:ln>
              <a:effectLst/>
            </c:spPr>
          </c:marker>
          <c:dLbls>
            <c:dLbl>
              <c:idx val="0"/>
              <c:layout>
                <c:manualLayout>
                  <c:x val="6.4079113591527723E-4"/>
                  <c:y val="-3.059237922018673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B573-4F53-BBA1-E6032C016E91}"/>
                </c:ext>
              </c:extLst>
            </c:dLbl>
            <c:dLbl>
              <c:idx val="1"/>
              <c:layout>
                <c:manualLayout>
                  <c:x val="6.4079113591525522E-4"/>
                  <c:y val="7.776641997407237E-4"/>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573-4F53-BBA1-E6032C016E91}"/>
                </c:ext>
              </c:extLst>
            </c:dLbl>
            <c:dLbl>
              <c:idx val="12"/>
              <c:layout>
                <c:manualLayout>
                  <c:x val="-3.5825843145358777E-2"/>
                  <c:y val="3.31804078023308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573-4F53-BBA1-E6032C016E91}"/>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75000"/>
                        <a:lumOff val="25000"/>
                      </a:schemeClr>
                    </a:solidFill>
                    <a:latin typeface="+mn-lt"/>
                    <a:ea typeface="+mn-ea"/>
                    <a:cs typeface="+mn-cs"/>
                  </a:defRPr>
                </a:pPr>
                <a:endParaRPr lang="ja-JP"/>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グラフ作成用シート!$I$27:$I$39</c:f>
              <c:strCache>
                <c:ptCount val="13"/>
                <c:pt idx="0">
                  <c:v>~25</c:v>
                </c:pt>
                <c:pt idx="1">
                  <c:v>25~50</c:v>
                </c:pt>
                <c:pt idx="2">
                  <c:v>50~75</c:v>
                </c:pt>
                <c:pt idx="3">
                  <c:v>75~100</c:v>
                </c:pt>
                <c:pt idx="4">
                  <c:v>100~125</c:v>
                </c:pt>
                <c:pt idx="5">
                  <c:v>125~150</c:v>
                </c:pt>
                <c:pt idx="6">
                  <c:v>150~175</c:v>
                </c:pt>
                <c:pt idx="7">
                  <c:v>175~200</c:v>
                </c:pt>
                <c:pt idx="8">
                  <c:v>200~225</c:v>
                </c:pt>
                <c:pt idx="9">
                  <c:v>225~250</c:v>
                </c:pt>
                <c:pt idx="10">
                  <c:v>250~275</c:v>
                </c:pt>
                <c:pt idx="11">
                  <c:v>275~300</c:v>
                </c:pt>
                <c:pt idx="12">
                  <c:v>300以上</c:v>
                </c:pt>
              </c:strCache>
            </c:strRef>
          </c:cat>
          <c:val>
            <c:numRef>
              <c:f>グラフ作成用シート!$K$27:$K$39</c:f>
              <c:numCache>
                <c:formatCode>0.0%</c:formatCode>
                <c:ptCount val="13"/>
                <c:pt idx="0">
                  <c:v>2.0761245674740483E-2</c:v>
                </c:pt>
                <c:pt idx="1">
                  <c:v>4.1522491349480967E-2</c:v>
                </c:pt>
                <c:pt idx="2">
                  <c:v>0.15224913494809689</c:v>
                </c:pt>
                <c:pt idx="3">
                  <c:v>0.26989619377162632</c:v>
                </c:pt>
                <c:pt idx="4">
                  <c:v>0.43598615916955019</c:v>
                </c:pt>
                <c:pt idx="5">
                  <c:v>0.56401384083044981</c:v>
                </c:pt>
                <c:pt idx="6">
                  <c:v>0.65397923875432529</c:v>
                </c:pt>
                <c:pt idx="7">
                  <c:v>0.73702422145328716</c:v>
                </c:pt>
                <c:pt idx="8">
                  <c:v>0.80968858131487886</c:v>
                </c:pt>
                <c:pt idx="9">
                  <c:v>0.87543252595155707</c:v>
                </c:pt>
                <c:pt idx="10">
                  <c:v>0.90311418685121103</c:v>
                </c:pt>
                <c:pt idx="11">
                  <c:v>0.93425605536332179</c:v>
                </c:pt>
                <c:pt idx="12">
                  <c:v>1</c:v>
                </c:pt>
              </c:numCache>
            </c:numRef>
          </c:val>
          <c:smooth val="0"/>
          <c:extLst>
            <c:ext xmlns:c16="http://schemas.microsoft.com/office/drawing/2014/chart" uri="{C3380CC4-5D6E-409C-BE32-E72D297353CC}">
              <c16:uniqueId val="{00000001-B573-4F53-BBA1-E6032C016E91}"/>
            </c:ext>
          </c:extLst>
        </c:ser>
        <c:dLbls>
          <c:showLegendKey val="0"/>
          <c:showVal val="0"/>
          <c:showCatName val="0"/>
          <c:showSerName val="0"/>
          <c:showPercent val="0"/>
          <c:showBubbleSize val="0"/>
        </c:dLbls>
        <c:marker val="1"/>
        <c:smooth val="0"/>
        <c:axId val="1126591455"/>
        <c:axId val="784150191"/>
      </c:lineChart>
      <c:catAx>
        <c:axId val="7886367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ja-JP"/>
          </a:p>
        </c:txPr>
        <c:crossAx val="788638144"/>
        <c:crosses val="autoZero"/>
        <c:auto val="1"/>
        <c:lblAlgn val="ctr"/>
        <c:lblOffset val="100"/>
        <c:noMultiLvlLbl val="0"/>
      </c:catAx>
      <c:valAx>
        <c:axId val="788638144"/>
        <c:scaling>
          <c:orientation val="minMax"/>
          <c:max val="50"/>
          <c:min val="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ja-JP"/>
          </a:p>
        </c:txPr>
        <c:crossAx val="788636704"/>
        <c:crosses val="autoZero"/>
        <c:crossBetween val="between"/>
      </c:valAx>
      <c:valAx>
        <c:axId val="784150191"/>
        <c:scaling>
          <c:orientation val="minMax"/>
          <c:max val="1"/>
          <c:min val="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ja-JP"/>
          </a:p>
        </c:txPr>
        <c:crossAx val="1126591455"/>
        <c:crosses val="max"/>
        <c:crossBetween val="between"/>
      </c:valAx>
      <c:catAx>
        <c:axId val="1126591455"/>
        <c:scaling>
          <c:orientation val="minMax"/>
        </c:scaling>
        <c:delete val="1"/>
        <c:axPos val="b"/>
        <c:numFmt formatCode="General" sourceLinked="1"/>
        <c:majorTickMark val="out"/>
        <c:minorTickMark val="none"/>
        <c:tickLblPos val="nextTo"/>
        <c:crossAx val="784150191"/>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64614263622035"/>
          <c:y val="0.15944086264513146"/>
          <c:w val="0.51080899539524227"/>
          <c:h val="0.75803043778298163"/>
        </c:manualLayout>
      </c:layout>
      <c:barChart>
        <c:barDir val="bar"/>
        <c:grouping val="stacked"/>
        <c:varyColors val="0"/>
        <c:ser>
          <c:idx val="0"/>
          <c:order val="0"/>
          <c:tx>
            <c:strRef>
              <c:f>Sheet1!$B$1</c:f>
              <c:strCache>
                <c:ptCount val="1"/>
                <c:pt idx="0">
                  <c:v>1.第一部『大腿骨近位部骨折の治療と周術期管理』の講義内容について、十分に理解できましたか？　1~10で評価</c:v>
                </c:pt>
              </c:strCache>
            </c:strRef>
          </c:tx>
          <c:spPr>
            <a:solidFill>
              <a:srgbClr val="397077"/>
            </a:solidFill>
            <a:ln>
              <a:solidFill>
                <a:schemeClr val="lt1">
                  <a:alpha val="95000"/>
                </a:schemeClr>
              </a:solidFill>
            </a:ln>
            <a:effectLst>
              <a:outerShdw blurRad="57150" dist="12700" dir="5400000" algn="ctr" rotWithShape="0">
                <a:srgbClr val="000000">
                  <a:alpha val="65000"/>
                </a:srgbClr>
              </a:outerShdw>
            </a:effectLst>
          </c:spPr>
          <c:invertIfNegative val="0"/>
          <c:dPt>
            <c:idx val="0"/>
            <c:invertIfNegative val="0"/>
            <c:bubble3D val="0"/>
            <c:extLst>
              <c:ext xmlns:c16="http://schemas.microsoft.com/office/drawing/2014/chart" uri="{C3380CC4-5D6E-409C-BE32-E72D297353CC}">
                <c16:uniqueId val="{00000001-FEBC-4F49-AB65-402B2358A4B8}"/>
              </c:ext>
            </c:extLst>
          </c:dPt>
          <c:dLbls>
            <c:spPr>
              <a:solidFill>
                <a:schemeClr val="bg1">
                  <a:alpha val="50000"/>
                </a:schemeClr>
              </a:solidFill>
              <a:ln>
                <a:noFill/>
              </a:ln>
              <a:effectLst>
                <a:outerShdw blurRad="25400" dist="25400" dir="5400000" algn="ctr" rotWithShape="0">
                  <a:schemeClr val="bg1">
                    <a:alpha val="43000"/>
                  </a:schemeClr>
                </a:outerShdw>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solidFill>
                    <a:latin typeface="+mn-lt"/>
                    <a:ea typeface="+mn-ea"/>
                    <a:cs typeface="+mn-cs"/>
                  </a:defRPr>
                </a:pPr>
                <a:endParaRPr lang="ja-JP"/>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0</c:v>
                </c:pt>
                <c:pt idx="1">
                  <c:v>0</c:v>
                </c:pt>
                <c:pt idx="2">
                  <c:v>0</c:v>
                </c:pt>
                <c:pt idx="3">
                  <c:v>0</c:v>
                </c:pt>
                <c:pt idx="4">
                  <c:v>0</c:v>
                </c:pt>
                <c:pt idx="5">
                  <c:v>2</c:v>
                </c:pt>
                <c:pt idx="6">
                  <c:v>3</c:v>
                </c:pt>
                <c:pt idx="7">
                  <c:v>17</c:v>
                </c:pt>
                <c:pt idx="8">
                  <c:v>18</c:v>
                </c:pt>
                <c:pt idx="9">
                  <c:v>38</c:v>
                </c:pt>
              </c:numCache>
            </c:numRef>
          </c:val>
          <c:extLst>
            <c:ext xmlns:c16="http://schemas.microsoft.com/office/drawing/2014/chart" uri="{C3380CC4-5D6E-409C-BE32-E72D297353CC}">
              <c16:uniqueId val="{00000000-6503-4F5D-BB11-A3810F3E5EE4}"/>
            </c:ext>
          </c:extLst>
        </c:ser>
        <c:dLbls>
          <c:dLblPos val="ctr"/>
          <c:showLegendKey val="0"/>
          <c:showVal val="1"/>
          <c:showCatName val="0"/>
          <c:showSerName val="0"/>
          <c:showPercent val="0"/>
          <c:showBubbleSize val="0"/>
        </c:dLbls>
        <c:gapWidth val="100"/>
        <c:overlap val="100"/>
        <c:axId val="2015568895"/>
        <c:axId val="2015566495"/>
      </c:barChart>
      <c:catAx>
        <c:axId val="2015568895"/>
        <c:scaling>
          <c:orientation val="minMax"/>
        </c:scaling>
        <c:delete val="0"/>
        <c:axPos val="l"/>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BIZ UDPゴシック" panose="020B0400000000000000" pitchFamily="50" charset="-128"/>
                <a:cs typeface="+mn-cs"/>
              </a:defRPr>
            </a:pPr>
            <a:endParaRPr lang="ja-JP"/>
          </a:p>
        </c:txPr>
        <c:crossAx val="2015566495"/>
        <c:crosses val="autoZero"/>
        <c:auto val="1"/>
        <c:lblAlgn val="ctr"/>
        <c:lblOffset val="100"/>
        <c:noMultiLvlLbl val="0"/>
      </c:catAx>
      <c:valAx>
        <c:axId val="2015566495"/>
        <c:scaling>
          <c:orientation val="minMax"/>
          <c:max val="40"/>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ja-JP"/>
          </a:p>
        </c:txPr>
        <c:crossAx val="2015568895"/>
        <c:crosses val="autoZero"/>
        <c:crossBetween val="between"/>
        <c:majorUnit val="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64614263622035"/>
          <c:y val="0.15944086264513146"/>
          <c:w val="0.55563181777651716"/>
          <c:h val="0.75803043778298163"/>
        </c:manualLayout>
      </c:layout>
      <c:barChart>
        <c:barDir val="bar"/>
        <c:grouping val="stacked"/>
        <c:varyColors val="0"/>
        <c:ser>
          <c:idx val="0"/>
          <c:order val="0"/>
          <c:tx>
            <c:strRef>
              <c:f>Sheet1!$B$1</c:f>
              <c:strCache>
                <c:ptCount val="1"/>
                <c:pt idx="0">
                  <c:v>2.第二部『FLS クリニカルスタンダード』　　　　　　　　　　の講義内容について、十分に理解できましたか？　　　　　　　　　　　　　0~10で評価</c:v>
                </c:pt>
              </c:strCache>
            </c:strRef>
          </c:tx>
          <c:spPr>
            <a:solidFill>
              <a:srgbClr val="397077"/>
            </a:solidFill>
            <a:ln>
              <a:solidFill>
                <a:schemeClr val="lt1">
                  <a:alpha val="95000"/>
                </a:schemeClr>
              </a:solidFill>
            </a:ln>
            <a:effectLst>
              <a:outerShdw blurRad="57150" dist="12700" dir="5400000" algn="ctr" rotWithShape="0">
                <a:srgbClr val="000000">
                  <a:alpha val="65000"/>
                </a:srgbClr>
              </a:outerShdw>
            </a:effectLst>
          </c:spPr>
          <c:invertIfNegative val="0"/>
          <c:dPt>
            <c:idx val="0"/>
            <c:invertIfNegative val="0"/>
            <c:bubble3D val="0"/>
            <c:extLst>
              <c:ext xmlns:c16="http://schemas.microsoft.com/office/drawing/2014/chart" uri="{C3380CC4-5D6E-409C-BE32-E72D297353CC}">
                <c16:uniqueId val="{00000001-FEBC-4F49-AB65-402B2358A4B8}"/>
              </c:ext>
            </c:extLst>
          </c:dPt>
          <c:dLbls>
            <c:spPr>
              <a:solidFill>
                <a:schemeClr val="bg1">
                  <a:alpha val="50000"/>
                </a:schemeClr>
              </a:solidFill>
              <a:ln>
                <a:noFill/>
              </a:ln>
              <a:effectLst>
                <a:outerShdw blurRad="25400" dist="25400" dir="5400000" algn="ctr" rotWithShape="0">
                  <a:schemeClr val="bg1">
                    <a:alpha val="43000"/>
                  </a:schemeClr>
                </a:outerShdw>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lumMod val="75000"/>
                        <a:lumOff val="25000"/>
                      </a:schemeClr>
                    </a:solidFill>
                    <a:latin typeface="+mn-lt"/>
                    <a:ea typeface="+mn-ea"/>
                    <a:cs typeface="+mn-cs"/>
                  </a:defRPr>
                </a:pPr>
                <a:endParaRPr lang="ja-JP"/>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0</c:v>
                </c:pt>
                <c:pt idx="1">
                  <c:v>0</c:v>
                </c:pt>
                <c:pt idx="2">
                  <c:v>0</c:v>
                </c:pt>
                <c:pt idx="3">
                  <c:v>0</c:v>
                </c:pt>
                <c:pt idx="4">
                  <c:v>0</c:v>
                </c:pt>
                <c:pt idx="5">
                  <c:v>1</c:v>
                </c:pt>
                <c:pt idx="6">
                  <c:v>1</c:v>
                </c:pt>
                <c:pt idx="7">
                  <c:v>13</c:v>
                </c:pt>
                <c:pt idx="8">
                  <c:v>17</c:v>
                </c:pt>
                <c:pt idx="9">
                  <c:v>45</c:v>
                </c:pt>
              </c:numCache>
            </c:numRef>
          </c:val>
          <c:extLst>
            <c:ext xmlns:c16="http://schemas.microsoft.com/office/drawing/2014/chart" uri="{C3380CC4-5D6E-409C-BE32-E72D297353CC}">
              <c16:uniqueId val="{00000000-6503-4F5D-BB11-A3810F3E5EE4}"/>
            </c:ext>
          </c:extLst>
        </c:ser>
        <c:dLbls>
          <c:dLblPos val="ctr"/>
          <c:showLegendKey val="0"/>
          <c:showVal val="1"/>
          <c:showCatName val="0"/>
          <c:showSerName val="0"/>
          <c:showPercent val="0"/>
          <c:showBubbleSize val="0"/>
        </c:dLbls>
        <c:gapWidth val="100"/>
        <c:overlap val="100"/>
        <c:axId val="2015568895"/>
        <c:axId val="2015566495"/>
      </c:barChart>
      <c:catAx>
        <c:axId val="2015568895"/>
        <c:scaling>
          <c:orientation val="minMax"/>
        </c:scaling>
        <c:delete val="0"/>
        <c:axPos val="l"/>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BIZ UDPゴシック" panose="020B0400000000000000" pitchFamily="50" charset="-128"/>
                <a:cs typeface="+mn-cs"/>
              </a:defRPr>
            </a:pPr>
            <a:endParaRPr lang="ja-JP"/>
          </a:p>
        </c:txPr>
        <c:crossAx val="2015566495"/>
        <c:crosses val="autoZero"/>
        <c:auto val="1"/>
        <c:lblAlgn val="ctr"/>
        <c:lblOffset val="100"/>
        <c:noMultiLvlLbl val="0"/>
      </c:catAx>
      <c:valAx>
        <c:axId val="2015566495"/>
        <c:scaling>
          <c:orientation val="minMax"/>
          <c:max val="40"/>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ja-JP"/>
          </a:p>
        </c:txPr>
        <c:crossAx val="2015568895"/>
        <c:crosses val="autoZero"/>
        <c:crossBetween val="between"/>
        <c:majorUnit val="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064614263622035"/>
          <c:y val="0.15944086264513146"/>
          <c:w val="0.55563181777651716"/>
          <c:h val="0.75803043778298163"/>
        </c:manualLayout>
      </c:layout>
      <c:barChart>
        <c:barDir val="bar"/>
        <c:grouping val="stacked"/>
        <c:varyColors val="0"/>
        <c:ser>
          <c:idx val="0"/>
          <c:order val="0"/>
          <c:tx>
            <c:strRef>
              <c:f>Sheet1!$B$1</c:f>
              <c:strCache>
                <c:ptCount val="1"/>
                <c:pt idx="0">
                  <c:v>2.第二部『FLS クリニカルスタンダード』　　　　　　　　　　の講義内容について、十分に理解できましたか？　　　　　　　　　　　　　0~10で評価</c:v>
                </c:pt>
              </c:strCache>
            </c:strRef>
          </c:tx>
          <c:spPr>
            <a:solidFill>
              <a:srgbClr val="397077"/>
            </a:solidFill>
            <a:ln>
              <a:solidFill>
                <a:schemeClr val="lt1">
                  <a:alpha val="95000"/>
                </a:schemeClr>
              </a:solidFill>
            </a:ln>
            <a:effectLst>
              <a:outerShdw blurRad="57150" dist="12700" dir="5400000" algn="ctr" rotWithShape="0">
                <a:srgbClr val="000000">
                  <a:alpha val="65000"/>
                </a:srgbClr>
              </a:outerShdw>
            </a:effectLst>
          </c:spPr>
          <c:invertIfNegative val="0"/>
          <c:dPt>
            <c:idx val="0"/>
            <c:invertIfNegative val="0"/>
            <c:bubble3D val="0"/>
            <c:extLst>
              <c:ext xmlns:c16="http://schemas.microsoft.com/office/drawing/2014/chart" uri="{C3380CC4-5D6E-409C-BE32-E72D297353CC}">
                <c16:uniqueId val="{00000001-FEBC-4F49-AB65-402B2358A4B8}"/>
              </c:ext>
            </c:extLst>
          </c:dPt>
          <c:dLbls>
            <c:spPr>
              <a:solidFill>
                <a:schemeClr val="bg1">
                  <a:alpha val="50000"/>
                </a:schemeClr>
              </a:solidFill>
              <a:ln>
                <a:noFill/>
              </a:ln>
              <a:effectLst>
                <a:outerShdw blurRad="25400" dist="25400" dir="5400000" algn="ctr" rotWithShape="0">
                  <a:schemeClr val="bg1">
                    <a:alpha val="43000"/>
                  </a:schemeClr>
                </a:outerShdw>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lumMod val="75000"/>
                        <a:lumOff val="25000"/>
                      </a:schemeClr>
                    </a:solidFill>
                    <a:latin typeface="+mn-lt"/>
                    <a:ea typeface="+mn-ea"/>
                    <a:cs typeface="+mn-cs"/>
                  </a:defRPr>
                </a:pPr>
                <a:endParaRPr lang="ja-JP"/>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1</c:v>
                </c:pt>
                <c:pt idx="1">
                  <c:v>0</c:v>
                </c:pt>
                <c:pt idx="2">
                  <c:v>0</c:v>
                </c:pt>
                <c:pt idx="3">
                  <c:v>0</c:v>
                </c:pt>
                <c:pt idx="4">
                  <c:v>0</c:v>
                </c:pt>
                <c:pt idx="5">
                  <c:v>2</c:v>
                </c:pt>
                <c:pt idx="6">
                  <c:v>7</c:v>
                </c:pt>
                <c:pt idx="7">
                  <c:v>25</c:v>
                </c:pt>
                <c:pt idx="8">
                  <c:v>13</c:v>
                </c:pt>
                <c:pt idx="9">
                  <c:v>29</c:v>
                </c:pt>
              </c:numCache>
            </c:numRef>
          </c:val>
          <c:extLst>
            <c:ext xmlns:c16="http://schemas.microsoft.com/office/drawing/2014/chart" uri="{C3380CC4-5D6E-409C-BE32-E72D297353CC}">
              <c16:uniqueId val="{00000000-6503-4F5D-BB11-A3810F3E5EE4}"/>
            </c:ext>
          </c:extLst>
        </c:ser>
        <c:dLbls>
          <c:dLblPos val="ctr"/>
          <c:showLegendKey val="0"/>
          <c:showVal val="1"/>
          <c:showCatName val="0"/>
          <c:showSerName val="0"/>
          <c:showPercent val="0"/>
          <c:showBubbleSize val="0"/>
        </c:dLbls>
        <c:gapWidth val="100"/>
        <c:overlap val="100"/>
        <c:axId val="2015568895"/>
        <c:axId val="2015566495"/>
      </c:barChart>
      <c:catAx>
        <c:axId val="2015568895"/>
        <c:scaling>
          <c:orientation val="minMax"/>
        </c:scaling>
        <c:delete val="0"/>
        <c:axPos val="l"/>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65000"/>
                    <a:lumOff val="35000"/>
                  </a:schemeClr>
                </a:solidFill>
                <a:latin typeface="+mn-lt"/>
                <a:ea typeface="BIZ UDPゴシック" panose="020B0400000000000000" pitchFamily="50" charset="-128"/>
                <a:cs typeface="+mn-cs"/>
              </a:defRPr>
            </a:pPr>
            <a:endParaRPr lang="ja-JP"/>
          </a:p>
        </c:txPr>
        <c:crossAx val="2015566495"/>
        <c:crosses val="autoZero"/>
        <c:auto val="1"/>
        <c:lblAlgn val="ctr"/>
        <c:lblOffset val="100"/>
        <c:noMultiLvlLbl val="0"/>
      </c:catAx>
      <c:valAx>
        <c:axId val="2015566495"/>
        <c:scaling>
          <c:orientation val="minMax"/>
          <c:max val="40"/>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ja-JP"/>
          </a:p>
        </c:txPr>
        <c:crossAx val="2015568895"/>
        <c:crosses val="autoZero"/>
        <c:crossBetween val="between"/>
        <c:majorUnit val="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3853472785956664E-2"/>
          <c:y val="0.15944086264513146"/>
          <c:w val="0.84341687915728669"/>
          <c:h val="0.75803043778298163"/>
        </c:manualLayout>
      </c:layout>
      <c:barChart>
        <c:barDir val="col"/>
        <c:grouping val="clustered"/>
        <c:varyColors val="0"/>
        <c:ser>
          <c:idx val="0"/>
          <c:order val="0"/>
          <c:tx>
            <c:strRef>
              <c:f>Sheet1!$B$1</c:f>
              <c:strCache>
                <c:ptCount val="1"/>
              </c:strCache>
            </c:strRef>
          </c:tx>
          <c:spPr>
            <a:solidFill>
              <a:srgbClr val="397077"/>
            </a:solidFill>
            <a:ln>
              <a:solidFill>
                <a:schemeClr val="lt1">
                  <a:alpha val="95000"/>
                </a:schemeClr>
              </a:solidFill>
            </a:ln>
            <a:effectLst>
              <a:outerShdw blurRad="57150" dist="12700" dir="5400000" algn="ctr" rotWithShape="0">
                <a:srgbClr val="000000">
                  <a:alpha val="65000"/>
                </a:srgbClr>
              </a:outerShdw>
            </a:effectLst>
          </c:spPr>
          <c:invertIfNegative val="0"/>
          <c:dPt>
            <c:idx val="1"/>
            <c:invertIfNegative val="0"/>
            <c:bubble3D val="0"/>
            <c:extLst>
              <c:ext xmlns:c16="http://schemas.microsoft.com/office/drawing/2014/chart" uri="{C3380CC4-5D6E-409C-BE32-E72D297353CC}">
                <c16:uniqueId val="{00000000-B7A5-4235-9789-C7242D3F4F99}"/>
              </c:ext>
            </c:extLst>
          </c:dPt>
          <c:dPt>
            <c:idx val="9"/>
            <c:invertIfNegative val="0"/>
            <c:bubble3D val="0"/>
            <c:spPr>
              <a:solidFill>
                <a:schemeClr val="accent2"/>
              </a:solidFill>
              <a:ln>
                <a:solidFill>
                  <a:schemeClr val="lt1">
                    <a:alpha val="95000"/>
                  </a:schemeClr>
                </a:solidFill>
              </a:ln>
              <a:effectLst>
                <a:outerShdw blurRad="57150" dist="12700" dir="5400000" algn="ctr" rotWithShape="0">
                  <a:srgbClr val="000000">
                    <a:alpha val="65000"/>
                  </a:srgbClr>
                </a:outerShdw>
              </a:effectLst>
            </c:spPr>
            <c:extLst>
              <c:ext xmlns:c16="http://schemas.microsoft.com/office/drawing/2014/chart" uri="{C3380CC4-5D6E-409C-BE32-E72D297353CC}">
                <c16:uniqueId val="{00000002-B7A5-4235-9789-C7242D3F4F99}"/>
              </c:ext>
            </c:extLst>
          </c:dPt>
          <c:dLbls>
            <c:spPr>
              <a:solidFill>
                <a:schemeClr val="bg1">
                  <a:alpha val="50000"/>
                </a:schemeClr>
              </a:solidFill>
              <a:ln>
                <a:noFill/>
              </a:ln>
              <a:effectLst>
                <a:outerShdw blurRad="25400" dist="25400" dir="5400000" algn="ctr" rotWithShape="0">
                  <a:schemeClr val="bg1">
                    <a:alpha val="43000"/>
                  </a:schemeClr>
                </a:outerShdw>
              </a:effectLst>
            </c:spPr>
            <c:txPr>
              <a:bodyPr rot="0" spcFirstLastPara="1" vertOverflow="ellipsis" vert="horz" wrap="square" lIns="38100" tIns="19050" rIns="38100" bIns="19050" anchor="ctr" anchorCtr="1">
                <a:spAutoFit/>
              </a:bodyPr>
              <a:lstStyle/>
              <a:p>
                <a:pPr>
                  <a:defRPr sz="2000" b="1" i="0" u="none" strike="noStrike" kern="1200" baseline="0">
                    <a:solidFill>
                      <a:schemeClr val="tx1"/>
                    </a:solidFill>
                    <a:latin typeface="+mn-lt"/>
                    <a:ea typeface="+mn-ea"/>
                    <a:cs typeface="+mn-cs"/>
                  </a:defRPr>
                </a:pPr>
                <a:endParaRPr lang="ja-JP"/>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Sheet1!$A$2:$A$15</c:f>
              <c:numCache>
                <c:formatCode>General</c:formatCode>
                <c:ptCount val="14"/>
                <c:pt idx="0">
                  <c:v>12</c:v>
                </c:pt>
                <c:pt idx="1">
                  <c:v>13</c:v>
                </c:pt>
                <c:pt idx="2">
                  <c:v>14</c:v>
                </c:pt>
                <c:pt idx="3">
                  <c:v>15</c:v>
                </c:pt>
                <c:pt idx="4">
                  <c:v>16</c:v>
                </c:pt>
                <c:pt idx="5">
                  <c:v>17</c:v>
                </c:pt>
                <c:pt idx="6">
                  <c:v>18</c:v>
                </c:pt>
                <c:pt idx="7">
                  <c:v>19</c:v>
                </c:pt>
                <c:pt idx="8">
                  <c:v>20</c:v>
                </c:pt>
                <c:pt idx="9">
                  <c:v>21</c:v>
                </c:pt>
                <c:pt idx="10">
                  <c:v>22</c:v>
                </c:pt>
                <c:pt idx="11">
                  <c:v>23</c:v>
                </c:pt>
                <c:pt idx="12">
                  <c:v>24</c:v>
                </c:pt>
                <c:pt idx="13">
                  <c:v>25</c:v>
                </c:pt>
              </c:numCache>
            </c:numRef>
          </c:cat>
          <c:val>
            <c:numRef>
              <c:f>Sheet1!$B$2:$B$15</c:f>
              <c:numCache>
                <c:formatCode>General</c:formatCode>
                <c:ptCount val="14"/>
                <c:pt idx="0">
                  <c:v>1</c:v>
                </c:pt>
                <c:pt idx="1">
                  <c:v>0</c:v>
                </c:pt>
                <c:pt idx="2">
                  <c:v>0</c:v>
                </c:pt>
                <c:pt idx="3">
                  <c:v>0</c:v>
                </c:pt>
                <c:pt idx="4">
                  <c:v>0</c:v>
                </c:pt>
                <c:pt idx="5">
                  <c:v>3</c:v>
                </c:pt>
                <c:pt idx="6">
                  <c:v>1</c:v>
                </c:pt>
                <c:pt idx="7">
                  <c:v>10</c:v>
                </c:pt>
                <c:pt idx="8">
                  <c:v>17</c:v>
                </c:pt>
                <c:pt idx="9">
                  <c:v>20</c:v>
                </c:pt>
                <c:pt idx="10">
                  <c:v>13</c:v>
                </c:pt>
                <c:pt idx="11">
                  <c:v>7</c:v>
                </c:pt>
                <c:pt idx="12">
                  <c:v>5</c:v>
                </c:pt>
                <c:pt idx="13">
                  <c:v>0</c:v>
                </c:pt>
              </c:numCache>
            </c:numRef>
          </c:val>
          <c:extLst>
            <c:ext xmlns:c16="http://schemas.microsoft.com/office/drawing/2014/chart" uri="{C3380CC4-5D6E-409C-BE32-E72D297353CC}">
              <c16:uniqueId val="{00000001-B7A5-4235-9789-C7242D3F4F99}"/>
            </c:ext>
          </c:extLst>
        </c:ser>
        <c:dLbls>
          <c:dLblPos val="ctr"/>
          <c:showLegendKey val="0"/>
          <c:showVal val="1"/>
          <c:showCatName val="0"/>
          <c:showSerName val="0"/>
          <c:showPercent val="0"/>
          <c:showBubbleSize val="0"/>
        </c:dLbls>
        <c:gapWidth val="100"/>
        <c:axId val="2015568895"/>
        <c:axId val="2015566495"/>
      </c:barChart>
      <c:catAx>
        <c:axId val="2015568895"/>
        <c:scaling>
          <c:orientation val="minMax"/>
        </c:scaling>
        <c:delete val="0"/>
        <c:axPos val="b"/>
        <c:numFmt formatCode="General" sourceLinked="1"/>
        <c:majorTickMark val="out"/>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BIZ UDPゴシック" panose="020B0400000000000000" pitchFamily="50" charset="-128"/>
                <a:cs typeface="+mn-cs"/>
              </a:defRPr>
            </a:pPr>
            <a:endParaRPr lang="ja-JP"/>
          </a:p>
        </c:txPr>
        <c:crossAx val="2015566495"/>
        <c:crosses val="autoZero"/>
        <c:auto val="1"/>
        <c:lblAlgn val="ctr"/>
        <c:lblOffset val="100"/>
        <c:noMultiLvlLbl val="0"/>
      </c:catAx>
      <c:valAx>
        <c:axId val="2015566495"/>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mn-lt"/>
                <a:ea typeface="+mn-ea"/>
                <a:cs typeface="+mn-cs"/>
              </a:defRPr>
            </a:pPr>
            <a:endParaRPr lang="ja-JP"/>
          </a:p>
        </c:txPr>
        <c:crossAx val="2015568895"/>
        <c:crosses val="autoZero"/>
        <c:crossBetween val="between"/>
        <c:majorUnit val="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施設数</c:v>
                </c:pt>
              </c:strCache>
            </c:strRef>
          </c:tx>
          <c:cat>
            <c:strRef>
              <c:f>Sheet1!$A$2:$A$23</c:f>
              <c:strCache>
                <c:ptCount val="22"/>
                <c:pt idx="0">
                  <c:v>1〜5</c:v>
                </c:pt>
                <c:pt idx="1">
                  <c:v>6〜10</c:v>
                </c:pt>
                <c:pt idx="2">
                  <c:v>11〜15</c:v>
                </c:pt>
                <c:pt idx="3">
                  <c:v>16〜20</c:v>
                </c:pt>
                <c:pt idx="4">
                  <c:v>21〜25</c:v>
                </c:pt>
                <c:pt idx="5">
                  <c:v>26〜30</c:v>
                </c:pt>
                <c:pt idx="6">
                  <c:v>31〜35</c:v>
                </c:pt>
                <c:pt idx="7">
                  <c:v>36〜40</c:v>
                </c:pt>
                <c:pt idx="8">
                  <c:v>41〜45</c:v>
                </c:pt>
                <c:pt idx="9">
                  <c:v>46〜50</c:v>
                </c:pt>
                <c:pt idx="10">
                  <c:v>51〜55</c:v>
                </c:pt>
                <c:pt idx="11">
                  <c:v>56〜60</c:v>
                </c:pt>
                <c:pt idx="12">
                  <c:v>61〜65</c:v>
                </c:pt>
                <c:pt idx="13">
                  <c:v>66〜70</c:v>
                </c:pt>
                <c:pt idx="14">
                  <c:v>71〜75</c:v>
                </c:pt>
                <c:pt idx="15">
                  <c:v>76〜80</c:v>
                </c:pt>
                <c:pt idx="16">
                  <c:v>81〜85</c:v>
                </c:pt>
                <c:pt idx="17">
                  <c:v>86〜90</c:v>
                </c:pt>
                <c:pt idx="18">
                  <c:v>91〜95</c:v>
                </c:pt>
                <c:pt idx="19">
                  <c:v>96〜100</c:v>
                </c:pt>
                <c:pt idx="20">
                  <c:v>101〜105</c:v>
                </c:pt>
                <c:pt idx="21">
                  <c:v>106〜110</c:v>
                </c:pt>
              </c:strCache>
            </c:strRef>
          </c:cat>
          <c:val>
            <c:numRef>
              <c:f>Sheet1!$B$2:$B$23</c:f>
              <c:numCache>
                <c:formatCode>General</c:formatCode>
                <c:ptCount val="22"/>
                <c:pt idx="0">
                  <c:v>12</c:v>
                </c:pt>
                <c:pt idx="1">
                  <c:v>82</c:v>
                </c:pt>
                <c:pt idx="2">
                  <c:v>93</c:v>
                </c:pt>
                <c:pt idx="3">
                  <c:v>42</c:v>
                </c:pt>
                <c:pt idx="4">
                  <c:v>18</c:v>
                </c:pt>
                <c:pt idx="5">
                  <c:v>20</c:v>
                </c:pt>
                <c:pt idx="6">
                  <c:v>6</c:v>
                </c:pt>
                <c:pt idx="7">
                  <c:v>6</c:v>
                </c:pt>
                <c:pt idx="8">
                  <c:v>3</c:v>
                </c:pt>
                <c:pt idx="9">
                  <c:v>3</c:v>
                </c:pt>
                <c:pt idx="10">
                  <c:v>1</c:v>
                </c:pt>
                <c:pt idx="11">
                  <c:v>0</c:v>
                </c:pt>
                <c:pt idx="12">
                  <c:v>0</c:v>
                </c:pt>
                <c:pt idx="13">
                  <c:v>0</c:v>
                </c:pt>
                <c:pt idx="14">
                  <c:v>0</c:v>
                </c:pt>
                <c:pt idx="15">
                  <c:v>0</c:v>
                </c:pt>
                <c:pt idx="16">
                  <c:v>1</c:v>
                </c:pt>
                <c:pt idx="17">
                  <c:v>0</c:v>
                </c:pt>
                <c:pt idx="18">
                  <c:v>0</c:v>
                </c:pt>
                <c:pt idx="19">
                  <c:v>0</c:v>
                </c:pt>
                <c:pt idx="20">
                  <c:v>1</c:v>
                </c:pt>
                <c:pt idx="21">
                  <c:v>1</c:v>
                </c:pt>
              </c:numCache>
            </c:numRef>
          </c:val>
          <c:spPr>
            <a:solidFill>
              <a:srgbClr val="397077"/>
            </a:solidFill>
          </c:spPr>
        </c:ser>
        <c:dLbls>
          <c:txPr>
            <a:bodyPr/>
            <a:lstStyle/>
            <a:p>
              <a:pPr>
                <a:defRPr sz="800">
                  <a:latin typeface="游ゴシック"/>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txPr>
          <a:bodyPr/>
          <a:lstStyle/>
          <a:p>
            <a:pPr>
              <a:defRPr sz="800" lang="ja-JP">
                <a:latin typeface="游ゴシック"/>
              </a:defRPr>
            </a:pPr>
          </a:p>
        </c:txPr>
      </c:catAx>
      <c:valAx>
        <c:axId val="-2113994440"/>
        <c:scaling/>
        <c:delete val="0"/>
        <c:axPos val="l"/>
        <c:majorGridlines/>
        <c:majorTickMark val="out"/>
        <c:minorTickMark val="none"/>
        <c:tickLblPos val="nextTo"/>
        <c:crossAx val="-2068027336"/>
        <c:crosses val="autoZero"/>
      </c:valAx>
      <c:lineChart>
        <c:barDir val="col"/>
        <c:grouping val="standard"/>
        <c:varyColors val="0"/>
        <c:ser>
          <c:idx val="0"/>
          <c:order val="0"/>
          <c:tx>
            <c:strRef>
              <c:f>Sheet1!$C$1</c:f>
              <c:strCache>
                <c:ptCount val="1"/>
                <c:pt idx="0">
                  <c:v>累積%</c:v>
                </c:pt>
              </c:strCache>
            </c:strRef>
          </c:tx>
          <c:cat>
            <c:strRef>
              <c:f>Sheet1!$A$2:$A$23</c:f>
              <c:strCache>
                <c:ptCount val="22"/>
                <c:pt idx="0">
                  <c:v>1〜5</c:v>
                </c:pt>
                <c:pt idx="1">
                  <c:v>6〜10</c:v>
                </c:pt>
                <c:pt idx="2">
                  <c:v>11〜15</c:v>
                </c:pt>
                <c:pt idx="3">
                  <c:v>16〜20</c:v>
                </c:pt>
                <c:pt idx="4">
                  <c:v>21〜25</c:v>
                </c:pt>
                <c:pt idx="5">
                  <c:v>26〜30</c:v>
                </c:pt>
                <c:pt idx="6">
                  <c:v>31〜35</c:v>
                </c:pt>
                <c:pt idx="7">
                  <c:v>36〜40</c:v>
                </c:pt>
                <c:pt idx="8">
                  <c:v>41〜45</c:v>
                </c:pt>
                <c:pt idx="9">
                  <c:v>46〜50</c:v>
                </c:pt>
                <c:pt idx="10">
                  <c:v>51〜55</c:v>
                </c:pt>
                <c:pt idx="11">
                  <c:v>56〜60</c:v>
                </c:pt>
                <c:pt idx="12">
                  <c:v>61〜65</c:v>
                </c:pt>
                <c:pt idx="13">
                  <c:v>66〜70</c:v>
                </c:pt>
                <c:pt idx="14">
                  <c:v>71〜75</c:v>
                </c:pt>
                <c:pt idx="15">
                  <c:v>76〜80</c:v>
                </c:pt>
                <c:pt idx="16">
                  <c:v>81〜85</c:v>
                </c:pt>
                <c:pt idx="17">
                  <c:v>86〜90</c:v>
                </c:pt>
                <c:pt idx="18">
                  <c:v>91〜95</c:v>
                </c:pt>
                <c:pt idx="19">
                  <c:v>96〜100</c:v>
                </c:pt>
                <c:pt idx="20">
                  <c:v>101〜105</c:v>
                </c:pt>
                <c:pt idx="21">
                  <c:v>106〜110</c:v>
                </c:pt>
              </c:strCache>
            </c:strRef>
          </c:cat>
          <c:val>
            <c:numRef>
              <c:f>Sheet1!$C$2:$C$23</c:f>
              <c:numCache>
                <c:formatCode>General</c:formatCode>
                <c:ptCount val="22"/>
                <c:pt idx="0">
                  <c:v>0.04152249134948097</c:v>
                </c:pt>
                <c:pt idx="1">
                  <c:v>0.3252595155709342</c:v>
                </c:pt>
                <c:pt idx="2">
                  <c:v>0.6470588235294117</c:v>
                </c:pt>
                <c:pt idx="3">
                  <c:v>0.7923875432525952</c:v>
                </c:pt>
                <c:pt idx="4">
                  <c:v>0.8546712802768167</c:v>
                </c:pt>
                <c:pt idx="5">
                  <c:v>0.9238754325259516</c:v>
                </c:pt>
                <c:pt idx="6">
                  <c:v>0.9446366782006921</c:v>
                </c:pt>
                <c:pt idx="7">
                  <c:v>0.9653979238754326</c:v>
                </c:pt>
                <c:pt idx="8">
                  <c:v>0.9757785467128027</c:v>
                </c:pt>
                <c:pt idx="9">
                  <c:v>0.986159169550173</c:v>
                </c:pt>
                <c:pt idx="10">
                  <c:v>0.9896193771626297</c:v>
                </c:pt>
                <c:pt idx="11">
                  <c:v>0.9896193771626297</c:v>
                </c:pt>
                <c:pt idx="12">
                  <c:v>0.9896193771626297</c:v>
                </c:pt>
                <c:pt idx="13">
                  <c:v>0.9896193771626297</c:v>
                </c:pt>
                <c:pt idx="14">
                  <c:v>0.9896193771626297</c:v>
                </c:pt>
                <c:pt idx="15">
                  <c:v>0.9896193771626297</c:v>
                </c:pt>
                <c:pt idx="16">
                  <c:v>0.9930795847750865</c:v>
                </c:pt>
                <c:pt idx="17">
                  <c:v>0.9930795847750865</c:v>
                </c:pt>
                <c:pt idx="18">
                  <c:v>0.9930795847750865</c:v>
                </c:pt>
                <c:pt idx="19">
                  <c:v>0.9930795847750865</c:v>
                </c:pt>
                <c:pt idx="20">
                  <c:v>0.9965397923875432</c:v>
                </c:pt>
                <c:pt idx="21">
                  <c:v>1.0</c:v>
                </c:pt>
              </c:numCache>
            </c:numRef>
          </c:val>
          <c:spPr>
            <a:ln w="25400">
              <a:solidFill>
                <a:srgbClr val="E86F2D"/>
              </a:solidFill>
            </a:ln>
          </c:spPr>
          <c:marker>
            <c:symbol val="circle"/>
            <c:size val="5"/>
            <c:spPr>
              <a:solidFill>
                <a:srgbClr val="E86F2D"/>
              </a:solidFill>
            </c:spPr>
          </c:marker>
        </c:ser>
        <c:axId val="-2068027336"/>
        <c:axId val="2002"/>
      </c:lineChart>
      <c:valAx>
        <c:axId val="2002"/>
        <c:scaling>
          <c:orientation val="minMax"/>
          <c:max val="1"/>
          <c:min val="0"/>
        </c:scaling>
        <c:delete val="0"/>
        <c:axPos val="r"/>
        <c:numFmt formatCode="0%" sourceLinked="0"/>
        <c:majorGridlines/>
        <c:crossAx val="-2068027336"/>
        <c:crosses val="max"/>
        <c:txPr>
          <a:bodyPr/>
          <a:lstStyle/>
          <a:p>
            <a:pPr>
              <a:defRPr sz="800" lang="ja-JP">
                <a:latin typeface="游ゴシック"/>
              </a:defRPr>
            </a:pPr>
          </a:p>
        </c:txPr>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施設数</c:v>
                </c:pt>
              </c:strCache>
            </c:strRef>
          </c:tx>
          <c:cat>
            <c:strRef>
              <c:f>Sheet1!$A$2:$A$10</c:f>
              <c:strCache>
                <c:ptCount val="9"/>
                <c:pt idx="0">
                  <c:v>1〜5</c:v>
                </c:pt>
                <c:pt idx="1">
                  <c:v>6〜10</c:v>
                </c:pt>
                <c:pt idx="2">
                  <c:v>11〜15</c:v>
                </c:pt>
                <c:pt idx="3">
                  <c:v>16〜20</c:v>
                </c:pt>
                <c:pt idx="4">
                  <c:v>21〜25</c:v>
                </c:pt>
                <c:pt idx="5">
                  <c:v>26〜30</c:v>
                </c:pt>
                <c:pt idx="6">
                  <c:v>31〜35</c:v>
                </c:pt>
                <c:pt idx="7">
                  <c:v>36〜40</c:v>
                </c:pt>
                <c:pt idx="8">
                  <c:v>41〜45</c:v>
                </c:pt>
              </c:strCache>
            </c:strRef>
          </c:cat>
          <c:val>
            <c:numRef>
              <c:f>Sheet1!$B$2:$B$10</c:f>
              <c:numCache>
                <c:formatCode>General</c:formatCode>
                <c:ptCount val="9"/>
                <c:pt idx="0">
                  <c:v>160</c:v>
                </c:pt>
                <c:pt idx="1">
                  <c:v>90</c:v>
                </c:pt>
                <c:pt idx="2">
                  <c:v>25</c:v>
                </c:pt>
                <c:pt idx="3">
                  <c:v>8</c:v>
                </c:pt>
                <c:pt idx="4">
                  <c:v>3</c:v>
                </c:pt>
                <c:pt idx="5">
                  <c:v>0</c:v>
                </c:pt>
                <c:pt idx="6">
                  <c:v>2</c:v>
                </c:pt>
                <c:pt idx="7">
                  <c:v>0</c:v>
                </c:pt>
                <c:pt idx="8">
                  <c:v>1</c:v>
                </c:pt>
              </c:numCache>
            </c:numRef>
          </c:val>
          <c:spPr>
            <a:solidFill>
              <a:srgbClr val="397077"/>
            </a:solidFill>
          </c:spPr>
        </c:ser>
        <c:dLbls>
          <c:txPr>
            <a:bodyPr/>
            <a:lstStyle/>
            <a:p>
              <a:pPr>
                <a:defRPr sz="800">
                  <a:latin typeface="游ゴシック"/>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txPr>
          <a:bodyPr/>
          <a:lstStyle/>
          <a:p>
            <a:pPr>
              <a:defRPr sz="800" lang="ja-JP">
                <a:latin typeface="游ゴシック"/>
              </a:defRPr>
            </a:pPr>
          </a:p>
        </c:txPr>
      </c:catAx>
      <c:valAx>
        <c:axId val="-2113994440"/>
        <c:scaling/>
        <c:delete val="0"/>
        <c:axPos val="l"/>
        <c:majorGridlines/>
        <c:majorTickMark val="out"/>
        <c:minorTickMark val="none"/>
        <c:tickLblPos val="nextTo"/>
        <c:crossAx val="-2068027336"/>
        <c:crosses val="autoZero"/>
      </c:valAx>
      <c:lineChart>
        <c:barDir val="col"/>
        <c:grouping val="standard"/>
        <c:varyColors val="0"/>
        <c:ser>
          <c:idx val="0"/>
          <c:order val="0"/>
          <c:tx>
            <c:strRef>
              <c:f>Sheet1!$C$1</c:f>
              <c:strCache>
                <c:ptCount val="1"/>
                <c:pt idx="0">
                  <c:v>累積%</c:v>
                </c:pt>
              </c:strCache>
            </c:strRef>
          </c:tx>
          <c:cat>
            <c:strRef>
              <c:f>Sheet1!$A$2:$A$10</c:f>
              <c:strCache>
                <c:ptCount val="9"/>
                <c:pt idx="0">
                  <c:v>1〜5</c:v>
                </c:pt>
                <c:pt idx="1">
                  <c:v>6〜10</c:v>
                </c:pt>
                <c:pt idx="2">
                  <c:v>11〜15</c:v>
                </c:pt>
                <c:pt idx="3">
                  <c:v>16〜20</c:v>
                </c:pt>
                <c:pt idx="4">
                  <c:v>21〜25</c:v>
                </c:pt>
                <c:pt idx="5">
                  <c:v>26〜30</c:v>
                </c:pt>
                <c:pt idx="6">
                  <c:v>31〜35</c:v>
                </c:pt>
                <c:pt idx="7">
                  <c:v>36〜40</c:v>
                </c:pt>
                <c:pt idx="8">
                  <c:v>41〜45</c:v>
                </c:pt>
              </c:strCache>
            </c:strRef>
          </c:cat>
          <c:val>
            <c:numRef>
              <c:f>Sheet1!$C$2:$C$10</c:f>
              <c:numCache>
                <c:formatCode>General</c:formatCode>
                <c:ptCount val="9"/>
                <c:pt idx="0">
                  <c:v>0.5536332179930796</c:v>
                </c:pt>
                <c:pt idx="1">
                  <c:v>0.8650519031141869</c:v>
                </c:pt>
                <c:pt idx="2">
                  <c:v>0.9515570934256056</c:v>
                </c:pt>
                <c:pt idx="3">
                  <c:v>0.9792387543252594</c:v>
                </c:pt>
                <c:pt idx="4">
                  <c:v>0.9896193771626297</c:v>
                </c:pt>
                <c:pt idx="5">
                  <c:v>0.9896193771626297</c:v>
                </c:pt>
                <c:pt idx="6">
                  <c:v>0.9965397923875432</c:v>
                </c:pt>
                <c:pt idx="7">
                  <c:v>0.9965397923875432</c:v>
                </c:pt>
                <c:pt idx="8">
                  <c:v>1.0</c:v>
                </c:pt>
              </c:numCache>
            </c:numRef>
          </c:val>
          <c:spPr>
            <a:ln w="25400">
              <a:solidFill>
                <a:srgbClr val="E86F2D"/>
              </a:solidFill>
            </a:ln>
          </c:spPr>
          <c:marker>
            <c:symbol val="circle"/>
            <c:size val="5"/>
            <c:spPr>
              <a:solidFill>
                <a:srgbClr val="E86F2D"/>
              </a:solidFill>
            </c:spPr>
          </c:marker>
        </c:ser>
        <c:axId val="-2068027336"/>
        <c:axId val="2002"/>
      </c:lineChart>
      <c:valAx>
        <c:axId val="2002"/>
        <c:scaling>
          <c:orientation val="minMax"/>
          <c:max val="1"/>
          <c:min val="0"/>
        </c:scaling>
        <c:delete val="0"/>
        <c:axPos val="r"/>
        <c:numFmt formatCode="0%" sourceLinked="0"/>
        <c:majorGridlines/>
        <c:crossAx val="-2068027336"/>
        <c:crosses val="max"/>
        <c:txPr>
          <a:bodyPr/>
          <a:lstStyle/>
          <a:p>
            <a:pPr>
              <a:defRPr sz="800" lang="ja-JP">
                <a:latin typeface="游ゴシック"/>
              </a:defRPr>
            </a:pPr>
          </a:p>
        </c:txPr>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割合</c:v>
                </c:pt>
              </c:strCache>
            </c:strRef>
          </c:tx>
          <c:cat>
            <c:strRef>
              <c:f>Sheet1!$A$2:$A$5</c:f>
              <c:strCache>
                <c:ptCount val="4"/>
                <c:pt idx="0">
                  <c:v>現在、算定している</c:v>
                </c:pt>
                <c:pt idx="1">
                  <c:v>届け出はしているが、算定していない</c:v>
                </c:pt>
                <c:pt idx="2">
                  <c:v>届け出はしていないが、現在検討中である</c:v>
                </c:pt>
                <c:pt idx="3">
                  <c:v>届け出をしておらず、検討もしていない</c:v>
                </c:pt>
              </c:strCache>
            </c:strRef>
          </c:cat>
          <c:val>
            <c:numRef>
              <c:f>Sheet1!$B$2:$B$5</c:f>
              <c:numCache>
                <c:formatCode>General</c:formatCode>
                <c:ptCount val="4"/>
                <c:pt idx="0">
                  <c:v>50</c:v>
                </c:pt>
                <c:pt idx="1">
                  <c:v>4</c:v>
                </c:pt>
                <c:pt idx="2">
                  <c:v>90</c:v>
                </c:pt>
                <c:pt idx="3">
                  <c:v>145</c:v>
                </c:pt>
              </c:numCache>
            </c:numRef>
          </c:val>
          <c:dPt>
            <c:idx val="0"/>
            <c:bubble3D val="0"/>
            <c:spPr>
              <a:solidFill>
                <a:srgbClr val="397077"/>
              </a:solidFill>
              <a:ln>
                <a:solidFill>
                  <a:srgbClr val="FFFFFF"/>
                </a:solidFill>
              </a:ln>
            </c:spPr>
          </c:dPt>
          <c:dPt>
            <c:idx val="1"/>
            <c:bubble3D val="0"/>
            <c:spPr>
              <a:solidFill>
                <a:srgbClr val="E86F2D"/>
              </a:solidFill>
              <a:ln>
                <a:solidFill>
                  <a:srgbClr val="FFFFFF"/>
                </a:solidFill>
              </a:ln>
            </c:spPr>
          </c:dPt>
          <c:dPt>
            <c:idx val="2"/>
            <c:bubble3D val="0"/>
            <c:spPr>
              <a:solidFill>
                <a:srgbClr val="A8C4C7"/>
              </a:solidFill>
              <a:ln>
                <a:solidFill>
                  <a:srgbClr val="FFFFFF"/>
                </a:solidFill>
              </a:ln>
            </c:spPr>
          </c:dPt>
          <c:dPt>
            <c:idx val="3"/>
            <c:bubble3D val="0"/>
            <c:spPr>
              <a:solidFill>
                <a:srgbClr val="262626"/>
              </a:solidFill>
              <a:ln>
                <a:solidFill>
                  <a:srgbClr val="FFFFFF"/>
                </a:solidFill>
              </a:ln>
            </c:spPr>
          </c:dPt>
        </c:ser>
        <c:dLbls>
          <c:txPr>
            <a:bodyPr/>
            <a:lstStyle/>
            <a:p>
              <a:pPr>
                <a:defRPr sz="1200" b="1">
                  <a:solidFill>
                    <a:srgbClr val="FFFFFF"/>
                  </a:solidFill>
                  <a:latin typeface="游ゴシック"/>
                </a:defRPr>
              </a:pPr>
            </a:p>
          </c:txPr>
          <c:showLegendKey val="0"/>
          <c:showVal val="0"/>
          <c:showCatName val="0"/>
          <c:showSerName val="0"/>
          <c:showPercent val="1"/>
          <c:showBubbleSize val="0"/>
          <c:showLeaderLines val="1"/>
        </c:dLbls>
      </c:pieChart>
    </c:plotArea>
    <c:legend>
      <c:legendPos val="b"/>
      <c:overlay val="0"/>
      <c:txPr>
        <a:bodyPr/>
        <a:lstStyle/>
        <a:p>
          <a:pPr>
            <a:defRPr sz="1000">
              <a:latin typeface="游ゴシック"/>
            </a:defRPr>
          </a:pPr>
        </a:p>
      </c:txPr>
    </c:legend>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件数</c:v>
                </c:pt>
              </c:strCache>
            </c:strRef>
          </c:tx>
          <c:cat>
            <c:strRef>
              <c:f>Sheet1!$A$2:$A$12</c:f>
              <c:strCache>
                <c:ptCount val="11"/>
                <c:pt idx="0">
                  <c:v>筋力増強運動</c:v>
                </c:pt>
                <c:pt idx="1">
                  <c:v>関節可動域運動</c:v>
                </c:pt>
                <c:pt idx="2">
                  <c:v>術後リハビリテーションのオリエンテーション</c:v>
                </c:pt>
                <c:pt idx="3">
                  <c:v>ポジショニング</c:v>
                </c:pt>
                <c:pt idx="4">
                  <c:v>DVT予防</c:v>
                </c:pt>
                <c:pt idx="5">
                  <c:v>自主運動指導</c:v>
                </c:pt>
                <c:pt idx="6">
                  <c:v>リラクセーション</c:v>
                </c:pt>
                <c:pt idx="7">
                  <c:v>離床（例：車椅子移乗,立位,歩行など）</c:v>
                </c:pt>
                <c:pt idx="8">
                  <c:v>呼吸リハビリテーション</c:v>
                </c:pt>
                <c:pt idx="9">
                  <c:v>実施していない</c:v>
                </c:pt>
                <c:pt idx="10">
                  <c:v>その他</c:v>
                </c:pt>
              </c:strCache>
            </c:strRef>
          </c:cat>
          <c:val>
            <c:numRef>
              <c:f>Sheet1!$B$2:$B$12</c:f>
              <c:numCache>
                <c:formatCode>General</c:formatCode>
                <c:ptCount val="11"/>
                <c:pt idx="0">
                  <c:v>196</c:v>
                </c:pt>
                <c:pt idx="1">
                  <c:v>192</c:v>
                </c:pt>
                <c:pt idx="2">
                  <c:v>178</c:v>
                </c:pt>
                <c:pt idx="3">
                  <c:v>175</c:v>
                </c:pt>
                <c:pt idx="4">
                  <c:v>171</c:v>
                </c:pt>
                <c:pt idx="5">
                  <c:v>169</c:v>
                </c:pt>
                <c:pt idx="6">
                  <c:v>106</c:v>
                </c:pt>
                <c:pt idx="7">
                  <c:v>80</c:v>
                </c:pt>
                <c:pt idx="8">
                  <c:v>69</c:v>
                </c:pt>
                <c:pt idx="9">
                  <c:v>55</c:v>
                </c:pt>
                <c:pt idx="10">
                  <c:v>18</c:v>
                </c:pt>
              </c:numCache>
            </c:numRef>
          </c:val>
          <c:spPr>
            <a:solidFill>
              <a:srgbClr val="397077"/>
            </a:solidFill>
          </c:spPr>
        </c:ser>
        <c:dLbls>
          <c:txPr>
            <a:bodyPr/>
            <a:lstStyle/>
            <a:p>
              <a:pPr>
                <a:defRPr sz="900">
                  <a:solidFill>
                    <a:srgbClr val="262626"/>
                  </a:solidFill>
                  <a:latin typeface="游ゴシック"/>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txPr>
          <a:bodyPr/>
          <a:lstStyle/>
          <a:p>
            <a:pPr>
              <a:defRPr sz="900" lang="ja-JP">
                <a:latin typeface="游ゴシック"/>
              </a:defRPr>
            </a:pPr>
          </a:p>
        </c:txPr>
      </c:catAx>
      <c:valAx>
        <c:axId val="-2113994440"/>
        <c:scaling/>
        <c:delete val="0"/>
        <c:axPos val="b"/>
        <c:majorGridlines/>
        <c:majorTickMark val="out"/>
        <c:minorTickMark val="none"/>
        <c:tickLblPos val="nextTo"/>
        <c:crossAx val="-2068027336"/>
        <c:crosses val="autoZero"/>
        <c:txPr>
          <a:bodyPr/>
          <a:lstStyle/>
          <a:p>
            <a:pPr>
              <a:defRPr sz="900" lang="ja-JP">
                <a:latin typeface="游ゴシック"/>
              </a:defRPr>
            </a:pPr>
          </a:p>
        </c:txPr>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割合</c:v>
                </c:pt>
              </c:strCache>
            </c:strRef>
          </c:tx>
          <c:cat>
            <c:strRef>
              <c:f>Sheet1!$A$2:$A$5</c:f>
              <c:strCache>
                <c:ptCount val="4"/>
                <c:pt idx="0">
                  <c:v>全症例の0％〜24％程度</c:v>
                </c:pt>
                <c:pt idx="1">
                  <c:v>全症例の25％〜49％程度</c:v>
                </c:pt>
                <c:pt idx="2">
                  <c:v>全症例の50％〜74％程度</c:v>
                </c:pt>
                <c:pt idx="3">
                  <c:v>全症例の75％〜100％程度</c:v>
                </c:pt>
              </c:strCache>
            </c:strRef>
          </c:cat>
          <c:val>
            <c:numRef>
              <c:f>Sheet1!$B$2:$B$5</c:f>
              <c:numCache>
                <c:formatCode>General</c:formatCode>
                <c:ptCount val="4"/>
                <c:pt idx="0">
                  <c:v>107</c:v>
                </c:pt>
                <c:pt idx="1">
                  <c:v>84</c:v>
                </c:pt>
                <c:pt idx="2">
                  <c:v>53</c:v>
                </c:pt>
                <c:pt idx="3">
                  <c:v>45</c:v>
                </c:pt>
              </c:numCache>
            </c:numRef>
          </c:val>
          <c:dPt>
            <c:idx val="0"/>
            <c:bubble3D val="0"/>
            <c:spPr>
              <a:solidFill>
                <a:srgbClr val="397077"/>
              </a:solidFill>
              <a:ln>
                <a:solidFill>
                  <a:srgbClr val="FFFFFF"/>
                </a:solidFill>
              </a:ln>
            </c:spPr>
          </c:dPt>
          <c:dPt>
            <c:idx val="1"/>
            <c:bubble3D val="0"/>
            <c:spPr>
              <a:solidFill>
                <a:srgbClr val="E86F2D"/>
              </a:solidFill>
              <a:ln>
                <a:solidFill>
                  <a:srgbClr val="FFFFFF"/>
                </a:solidFill>
              </a:ln>
            </c:spPr>
          </c:dPt>
          <c:dPt>
            <c:idx val="2"/>
            <c:bubble3D val="0"/>
            <c:spPr>
              <a:solidFill>
                <a:srgbClr val="A8C4C7"/>
              </a:solidFill>
              <a:ln>
                <a:solidFill>
                  <a:srgbClr val="FFFFFF"/>
                </a:solidFill>
              </a:ln>
            </c:spPr>
          </c:dPt>
          <c:dPt>
            <c:idx val="3"/>
            <c:bubble3D val="0"/>
            <c:spPr>
              <a:solidFill>
                <a:srgbClr val="262626"/>
              </a:solidFill>
              <a:ln>
                <a:solidFill>
                  <a:srgbClr val="FFFFFF"/>
                </a:solidFill>
              </a:ln>
            </c:spPr>
          </c:dPt>
        </c:ser>
        <c:dLbls>
          <c:txPr>
            <a:bodyPr/>
            <a:lstStyle/>
            <a:p>
              <a:pPr>
                <a:defRPr sz="1200" b="1">
                  <a:solidFill>
                    <a:srgbClr val="FFFFFF"/>
                  </a:solidFill>
                  <a:latin typeface="游ゴシック"/>
                </a:defRPr>
              </a:pPr>
            </a:p>
          </c:txPr>
          <c:showLegendKey val="0"/>
          <c:showVal val="0"/>
          <c:showCatName val="0"/>
          <c:showSerName val="0"/>
          <c:showPercent val="1"/>
          <c:showBubbleSize val="0"/>
          <c:showLeaderLines val="1"/>
        </c:dLbls>
      </c:pieChart>
    </c:plotArea>
    <c:legend>
      <c:legendPos val="b"/>
      <c:overlay val="0"/>
      <c:txPr>
        <a:bodyPr/>
        <a:lstStyle/>
        <a:p>
          <a:pPr>
            <a:defRPr sz="1000">
              <a:latin typeface="游ゴシック"/>
            </a:defRPr>
          </a:pPr>
        </a:p>
      </c:txPr>
    </c:legend>
    <c:dispBlanksAs val="gap"/>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割合</c:v>
                </c:pt>
              </c:strCache>
            </c:strRef>
          </c:tx>
          <c:cat>
            <c:strRef>
              <c:f>Sheet1!$A$2:$A$5</c:f>
              <c:strCache>
                <c:ptCount val="4"/>
                <c:pt idx="0">
                  <c:v>全症例の0％〜24％程度</c:v>
                </c:pt>
                <c:pt idx="1">
                  <c:v>全症例の25％〜49％程度</c:v>
                </c:pt>
                <c:pt idx="2">
                  <c:v>全症例の50％〜74％程度</c:v>
                </c:pt>
                <c:pt idx="3">
                  <c:v>全症例の75％〜100％程度</c:v>
                </c:pt>
              </c:strCache>
            </c:strRef>
          </c:cat>
          <c:val>
            <c:numRef>
              <c:f>Sheet1!$B$2:$B$5</c:f>
              <c:numCache>
                <c:formatCode>General</c:formatCode>
                <c:ptCount val="4"/>
                <c:pt idx="0">
                  <c:v>192</c:v>
                </c:pt>
                <c:pt idx="1">
                  <c:v>78</c:v>
                </c:pt>
                <c:pt idx="2">
                  <c:v>18</c:v>
                </c:pt>
                <c:pt idx="3">
                  <c:v>1</c:v>
                </c:pt>
              </c:numCache>
            </c:numRef>
          </c:val>
          <c:dPt>
            <c:idx val="0"/>
            <c:bubble3D val="0"/>
            <c:spPr>
              <a:solidFill>
                <a:srgbClr val="397077"/>
              </a:solidFill>
              <a:ln>
                <a:solidFill>
                  <a:srgbClr val="FFFFFF"/>
                </a:solidFill>
              </a:ln>
            </c:spPr>
          </c:dPt>
          <c:dPt>
            <c:idx val="1"/>
            <c:bubble3D val="0"/>
            <c:spPr>
              <a:solidFill>
                <a:srgbClr val="E86F2D"/>
              </a:solidFill>
              <a:ln>
                <a:solidFill>
                  <a:srgbClr val="FFFFFF"/>
                </a:solidFill>
              </a:ln>
            </c:spPr>
          </c:dPt>
          <c:dPt>
            <c:idx val="2"/>
            <c:bubble3D val="0"/>
            <c:spPr>
              <a:solidFill>
                <a:srgbClr val="A8C4C7"/>
              </a:solidFill>
              <a:ln>
                <a:solidFill>
                  <a:srgbClr val="FFFFFF"/>
                </a:solidFill>
              </a:ln>
            </c:spPr>
          </c:dPt>
          <c:dPt>
            <c:idx val="3"/>
            <c:bubble3D val="0"/>
            <c:spPr>
              <a:solidFill>
                <a:srgbClr val="262626"/>
              </a:solidFill>
              <a:ln>
                <a:solidFill>
                  <a:srgbClr val="FFFFFF"/>
                </a:solidFill>
              </a:ln>
            </c:spPr>
          </c:dPt>
        </c:ser>
        <c:dLbls>
          <c:txPr>
            <a:bodyPr/>
            <a:lstStyle/>
            <a:p>
              <a:pPr>
                <a:defRPr sz="1200" b="1">
                  <a:solidFill>
                    <a:srgbClr val="FFFFFF"/>
                  </a:solidFill>
                  <a:latin typeface="游ゴシック"/>
                </a:defRPr>
              </a:pPr>
            </a:p>
          </c:txPr>
          <c:showLegendKey val="0"/>
          <c:showVal val="0"/>
          <c:showCatName val="0"/>
          <c:showSerName val="0"/>
          <c:showPercent val="1"/>
          <c:showBubbleSize val="0"/>
          <c:showLeaderLines val="1"/>
        </c:dLbls>
      </c:pieChart>
    </c:plotArea>
    <c:legend>
      <c:legendPos val="b"/>
      <c:overlay val="0"/>
      <c:txPr>
        <a:bodyPr/>
        <a:lstStyle/>
        <a:p>
          <a:pPr>
            <a:defRPr sz="1000">
              <a:latin typeface="游ゴシック"/>
            </a:defRPr>
          </a:pPr>
        </a:p>
      </c:txPr>
    </c:legend>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割合</c:v>
                </c:pt>
              </c:strCache>
            </c:strRef>
          </c:tx>
          <c:cat>
            <c:strRef>
              <c:f>Sheet1!$A$2:$A$5</c:f>
              <c:strCache>
                <c:ptCount val="4"/>
                <c:pt idx="0">
                  <c:v>全症例の0％〜24％程度</c:v>
                </c:pt>
                <c:pt idx="1">
                  <c:v>全症例の25％〜49％程度</c:v>
                </c:pt>
                <c:pt idx="2">
                  <c:v>全症例の50％〜74％程度</c:v>
                </c:pt>
                <c:pt idx="3">
                  <c:v>全症例の75％〜100％程度</c:v>
                </c:pt>
              </c:strCache>
            </c:strRef>
          </c:cat>
          <c:val>
            <c:numRef>
              <c:f>Sheet1!$B$2:$B$5</c:f>
              <c:numCache>
                <c:formatCode>General</c:formatCode>
                <c:ptCount val="4"/>
                <c:pt idx="0">
                  <c:v>228</c:v>
                </c:pt>
                <c:pt idx="1">
                  <c:v>55</c:v>
                </c:pt>
                <c:pt idx="2">
                  <c:v>4</c:v>
                </c:pt>
                <c:pt idx="3">
                  <c:v>2</c:v>
                </c:pt>
              </c:numCache>
            </c:numRef>
          </c:val>
          <c:dPt>
            <c:idx val="0"/>
            <c:bubble3D val="0"/>
            <c:spPr>
              <a:solidFill>
                <a:srgbClr val="397077"/>
              </a:solidFill>
              <a:ln>
                <a:solidFill>
                  <a:srgbClr val="FFFFFF"/>
                </a:solidFill>
              </a:ln>
            </c:spPr>
          </c:dPt>
          <c:dPt>
            <c:idx val="1"/>
            <c:bubble3D val="0"/>
            <c:spPr>
              <a:solidFill>
                <a:srgbClr val="E86F2D"/>
              </a:solidFill>
              <a:ln>
                <a:solidFill>
                  <a:srgbClr val="FFFFFF"/>
                </a:solidFill>
              </a:ln>
            </c:spPr>
          </c:dPt>
          <c:dPt>
            <c:idx val="2"/>
            <c:bubble3D val="0"/>
            <c:spPr>
              <a:solidFill>
                <a:srgbClr val="A8C4C7"/>
              </a:solidFill>
              <a:ln>
                <a:solidFill>
                  <a:srgbClr val="FFFFFF"/>
                </a:solidFill>
              </a:ln>
            </c:spPr>
          </c:dPt>
          <c:dPt>
            <c:idx val="3"/>
            <c:bubble3D val="0"/>
            <c:spPr>
              <a:solidFill>
                <a:srgbClr val="262626"/>
              </a:solidFill>
              <a:ln>
                <a:solidFill>
                  <a:srgbClr val="FFFFFF"/>
                </a:solidFill>
              </a:ln>
            </c:spPr>
          </c:dPt>
        </c:ser>
        <c:dLbls>
          <c:txPr>
            <a:bodyPr/>
            <a:lstStyle/>
            <a:p>
              <a:pPr>
                <a:defRPr sz="1200" b="1">
                  <a:solidFill>
                    <a:srgbClr val="FFFFFF"/>
                  </a:solidFill>
                  <a:latin typeface="游ゴシック"/>
                </a:defRPr>
              </a:pPr>
            </a:p>
          </c:txPr>
          <c:showLegendKey val="0"/>
          <c:showVal val="0"/>
          <c:showCatName val="0"/>
          <c:showSerName val="0"/>
          <c:showPercent val="1"/>
          <c:showBubbleSize val="0"/>
          <c:showLeaderLines val="1"/>
        </c:dLbls>
      </c:pieChart>
    </c:plotArea>
    <c:legend>
      <c:legendPos val="b"/>
      <c:overlay val="0"/>
      <c:txPr>
        <a:bodyPr/>
        <a:lstStyle/>
        <a:p>
          <a:pPr>
            <a:defRPr sz="1000">
              <a:latin typeface="游ゴシック"/>
            </a:defRPr>
          </a:pPr>
        </a:p>
      </c:txPr>
    </c:legend>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割合</c:v>
                </c:pt>
              </c:strCache>
            </c:strRef>
          </c:tx>
          <c:cat>
            <c:strRef>
              <c:f>Sheet1!$A$2:$A$4</c:f>
              <c:strCache>
                <c:ptCount val="3"/>
                <c:pt idx="0">
                  <c:v>全症例の0％〜24％程度</c:v>
                </c:pt>
                <c:pt idx="1">
                  <c:v>全症例の25％〜49％程度</c:v>
                </c:pt>
                <c:pt idx="2">
                  <c:v>全症例の75％〜100％程度</c:v>
                </c:pt>
              </c:strCache>
            </c:strRef>
          </c:cat>
          <c:val>
            <c:numRef>
              <c:f>Sheet1!$B$2:$B$4</c:f>
              <c:numCache>
                <c:formatCode>General</c:formatCode>
                <c:ptCount val="3"/>
                <c:pt idx="0">
                  <c:v>271</c:v>
                </c:pt>
                <c:pt idx="1">
                  <c:v>15</c:v>
                </c:pt>
                <c:pt idx="2">
                  <c:v>3</c:v>
                </c:pt>
              </c:numCache>
            </c:numRef>
          </c:val>
          <c:dPt>
            <c:idx val="0"/>
            <c:bubble3D val="0"/>
            <c:spPr>
              <a:solidFill>
                <a:srgbClr val="397077"/>
              </a:solidFill>
              <a:ln>
                <a:solidFill>
                  <a:srgbClr val="FFFFFF"/>
                </a:solidFill>
              </a:ln>
            </c:spPr>
          </c:dPt>
          <c:dPt>
            <c:idx val="1"/>
            <c:bubble3D val="0"/>
            <c:spPr>
              <a:solidFill>
                <a:srgbClr val="E86F2D"/>
              </a:solidFill>
              <a:ln>
                <a:solidFill>
                  <a:srgbClr val="FFFFFF"/>
                </a:solidFill>
              </a:ln>
            </c:spPr>
          </c:dPt>
          <c:dPt>
            <c:idx val="2"/>
            <c:bubble3D val="0"/>
            <c:spPr>
              <a:solidFill>
                <a:srgbClr val="A8C4C7"/>
              </a:solidFill>
              <a:ln>
                <a:solidFill>
                  <a:srgbClr val="FFFFFF"/>
                </a:solidFill>
              </a:ln>
            </c:spPr>
          </c:dPt>
        </c:ser>
        <c:dLbls>
          <c:txPr>
            <a:bodyPr/>
            <a:lstStyle/>
            <a:p>
              <a:pPr>
                <a:defRPr sz="1200" b="1">
                  <a:solidFill>
                    <a:srgbClr val="FFFFFF"/>
                  </a:solidFill>
                  <a:latin typeface="游ゴシック"/>
                </a:defRPr>
              </a:pPr>
            </a:p>
          </c:txPr>
          <c:showLegendKey val="0"/>
          <c:showVal val="0"/>
          <c:showCatName val="0"/>
          <c:showSerName val="0"/>
          <c:showPercent val="1"/>
          <c:showBubbleSize val="0"/>
          <c:showLeaderLines val="1"/>
        </c:dLbls>
      </c:pieChart>
    </c:plotArea>
    <c:legend>
      <c:legendPos val="b"/>
      <c:overlay val="0"/>
      <c:txPr>
        <a:bodyPr/>
        <a:lstStyle/>
        <a:p>
          <a:pPr>
            <a:defRPr sz="1000">
              <a:latin typeface="游ゴシック"/>
            </a:defRPr>
          </a:pPr>
        </a:p>
      </c:txPr>
    </c:legend>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件数</c:v>
                </c:pt>
              </c:strCache>
            </c:strRef>
          </c:tx>
          <c:cat>
            <c:strRef>
              <c:f>Sheet1!$A$2:$A$17</c:f>
              <c:strCache>
                <c:ptCount val="16"/>
                <c:pt idx="0">
                  <c:v>握力</c:v>
                </c:pt>
                <c:pt idx="1">
                  <c:v>歩行速度</c:v>
                </c:pt>
                <c:pt idx="2">
                  <c:v>下腿周径</c:v>
                </c:pt>
                <c:pt idx="3">
                  <c:v>膝伸展筋力</c:v>
                </c:pt>
                <c:pt idx="4">
                  <c:v>TUG</c:v>
                </c:pt>
                <c:pt idx="5">
                  <c:v>開眼片脚立位時間</c:v>
                </c:pt>
                <c:pt idx="6">
                  <c:v>5回椅子立ち上がりテスト</c:v>
                </c:pt>
                <c:pt idx="7">
                  <c:v>SPPB</c:v>
                </c:pt>
                <c:pt idx="8">
                  <c:v>実施していない</c:v>
                </c:pt>
                <c:pt idx="9">
                  <c:v>6分間歩行距離</c:v>
                </c:pt>
                <c:pt idx="10">
                  <c:v>骨格筋量指数（SMI）</c:v>
                </c:pt>
                <c:pt idx="11">
                  <c:v>GNRI</c:v>
                </c:pt>
                <c:pt idx="12">
                  <c:v>SARC-F</c:v>
                </c:pt>
                <c:pt idx="13">
                  <c:v>四肢骨格筋量（ASM）</c:v>
                </c:pt>
                <c:pt idx="14">
                  <c:v>MNA-SF</c:v>
                </c:pt>
                <c:pt idx="15">
                  <c:v>SARC-CalF</c:v>
                </c:pt>
              </c:strCache>
            </c:strRef>
          </c:cat>
          <c:val>
            <c:numRef>
              <c:f>Sheet1!$B$2:$B$17</c:f>
              <c:numCache>
                <c:formatCode>General</c:formatCode>
                <c:ptCount val="16"/>
                <c:pt idx="0">
                  <c:v>169</c:v>
                </c:pt>
                <c:pt idx="1">
                  <c:v>124</c:v>
                </c:pt>
                <c:pt idx="2">
                  <c:v>115</c:v>
                </c:pt>
                <c:pt idx="3">
                  <c:v>111</c:v>
                </c:pt>
                <c:pt idx="4">
                  <c:v>111</c:v>
                </c:pt>
                <c:pt idx="5">
                  <c:v>77</c:v>
                </c:pt>
                <c:pt idx="6">
                  <c:v>75</c:v>
                </c:pt>
                <c:pt idx="7">
                  <c:v>67</c:v>
                </c:pt>
                <c:pt idx="8">
                  <c:v>55</c:v>
                </c:pt>
                <c:pt idx="9">
                  <c:v>35</c:v>
                </c:pt>
                <c:pt idx="10">
                  <c:v>23</c:v>
                </c:pt>
                <c:pt idx="11">
                  <c:v>7</c:v>
                </c:pt>
                <c:pt idx="12">
                  <c:v>7</c:v>
                </c:pt>
                <c:pt idx="13">
                  <c:v>5</c:v>
                </c:pt>
                <c:pt idx="14">
                  <c:v>4</c:v>
                </c:pt>
                <c:pt idx="15">
                  <c:v>2</c:v>
                </c:pt>
              </c:numCache>
            </c:numRef>
          </c:val>
          <c:spPr>
            <a:solidFill>
              <a:srgbClr val="397077"/>
            </a:solidFill>
          </c:spPr>
        </c:ser>
        <c:dLbls>
          <c:txPr>
            <a:bodyPr/>
            <a:lstStyle/>
            <a:p>
              <a:pPr>
                <a:defRPr sz="900">
                  <a:solidFill>
                    <a:srgbClr val="262626"/>
                  </a:solidFill>
                  <a:latin typeface="游ゴシック"/>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txPr>
          <a:bodyPr/>
          <a:lstStyle/>
          <a:p>
            <a:pPr>
              <a:defRPr sz="900" lang="ja-JP">
                <a:latin typeface="游ゴシック"/>
              </a:defRPr>
            </a:pPr>
          </a:p>
        </c:txPr>
      </c:catAx>
      <c:valAx>
        <c:axId val="-2113994440"/>
        <c:scaling/>
        <c:delete val="0"/>
        <c:axPos val="b"/>
        <c:majorGridlines/>
        <c:majorTickMark val="out"/>
        <c:minorTickMark val="none"/>
        <c:tickLblPos val="nextTo"/>
        <c:crossAx val="-2068027336"/>
        <c:crosses val="autoZero"/>
        <c:txPr>
          <a:bodyPr/>
          <a:lstStyle/>
          <a:p>
            <a:pPr>
              <a:defRPr sz="900" lang="ja-JP">
                <a:latin typeface="游ゴシック"/>
              </a:defRPr>
            </a:pPr>
          </a:p>
        </c:txPr>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件数</c:v>
                </c:pt>
              </c:strCache>
            </c:strRef>
          </c:tx>
          <c:cat>
            <c:strRef>
              <c:f>Sheet1!$A$2:$A$12</c:f>
              <c:strCache>
                <c:ptCount val="11"/>
                <c:pt idx="0">
                  <c:v>握力</c:v>
                </c:pt>
                <c:pt idx="1">
                  <c:v>認知機能</c:v>
                </c:pt>
                <c:pt idx="2">
                  <c:v>TUG</c:v>
                </c:pt>
                <c:pt idx="3">
                  <c:v>実施していない</c:v>
                </c:pt>
                <c:pt idx="4">
                  <c:v>6分間歩行距離</c:v>
                </c:pt>
                <c:pt idx="5">
                  <c:v>J-CHS基準</c:v>
                </c:pt>
                <c:pt idx="6">
                  <c:v>抑うつや意欲低下</c:v>
                </c:pt>
                <c:pt idx="7">
                  <c:v>GNRI</c:v>
                </c:pt>
                <c:pt idx="8">
                  <c:v>MNA-SF</c:v>
                </c:pt>
                <c:pt idx="9">
                  <c:v>Kihon Checklist（基本チェックリスト）</c:v>
                </c:pt>
                <c:pt idx="10">
                  <c:v>Frailty Index（累積欠損モデル）</c:v>
                </c:pt>
              </c:strCache>
            </c:strRef>
          </c:cat>
          <c:val>
            <c:numRef>
              <c:f>Sheet1!$B$2:$B$12</c:f>
              <c:numCache>
                <c:formatCode>General</c:formatCode>
                <c:ptCount val="11"/>
                <c:pt idx="0">
                  <c:v>158</c:v>
                </c:pt>
                <c:pt idx="1">
                  <c:v>127</c:v>
                </c:pt>
                <c:pt idx="2">
                  <c:v>112</c:v>
                </c:pt>
                <c:pt idx="3">
                  <c:v>71</c:v>
                </c:pt>
                <c:pt idx="4">
                  <c:v>31</c:v>
                </c:pt>
                <c:pt idx="5">
                  <c:v>19</c:v>
                </c:pt>
                <c:pt idx="6">
                  <c:v>13</c:v>
                </c:pt>
                <c:pt idx="7">
                  <c:v>7</c:v>
                </c:pt>
                <c:pt idx="8">
                  <c:v>4</c:v>
                </c:pt>
                <c:pt idx="9">
                  <c:v>3</c:v>
                </c:pt>
                <c:pt idx="10">
                  <c:v>3</c:v>
                </c:pt>
              </c:numCache>
            </c:numRef>
          </c:val>
          <c:spPr>
            <a:solidFill>
              <a:srgbClr val="397077"/>
            </a:solidFill>
          </c:spPr>
        </c:ser>
        <c:dLbls>
          <c:txPr>
            <a:bodyPr/>
            <a:lstStyle/>
            <a:p>
              <a:pPr>
                <a:defRPr sz="900">
                  <a:solidFill>
                    <a:srgbClr val="262626"/>
                  </a:solidFill>
                  <a:latin typeface="游ゴシック"/>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txPr>
          <a:bodyPr/>
          <a:lstStyle/>
          <a:p>
            <a:pPr>
              <a:defRPr sz="900" lang="ja-JP">
                <a:latin typeface="游ゴシック"/>
              </a:defRPr>
            </a:pPr>
          </a:p>
        </c:txPr>
      </c:catAx>
      <c:valAx>
        <c:axId val="-2113994440"/>
        <c:scaling/>
        <c:delete val="0"/>
        <c:axPos val="b"/>
        <c:majorGridlines/>
        <c:majorTickMark val="out"/>
        <c:minorTickMark val="none"/>
        <c:tickLblPos val="nextTo"/>
        <c:crossAx val="-2068027336"/>
        <c:crosses val="autoZero"/>
        <c:txPr>
          <a:bodyPr/>
          <a:lstStyle/>
          <a:p>
            <a:pPr>
              <a:defRPr sz="900" lang="ja-JP">
                <a:latin typeface="游ゴシック"/>
              </a:defRPr>
            </a:pPr>
          </a:p>
        </c:txPr>
      </c:valAx>
    </c:plotArea>
    <c:dispBlanksAs val="gap"/>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件数</c:v>
                </c:pt>
              </c:strCache>
            </c:strRef>
          </c:tx>
          <c:cat>
            <c:strRef>
              <c:f>Sheet1!$A$2:$A$5</c:f>
              <c:strCache>
                <c:ptCount val="4"/>
                <c:pt idx="0">
                  <c:v>実施していない</c:v>
                </c:pt>
                <c:pt idx="1">
                  <c:v>立ち上がりテスト</c:v>
                </c:pt>
                <c:pt idx="2">
                  <c:v>2ステップテスト</c:v>
                </c:pt>
                <c:pt idx="3">
                  <c:v>ロコモ25（質問票）</c:v>
                </c:pt>
              </c:strCache>
            </c:strRef>
          </c:cat>
          <c:val>
            <c:numRef>
              <c:f>Sheet1!$B$2:$B$5</c:f>
              <c:numCache>
                <c:formatCode>General</c:formatCode>
                <c:ptCount val="4"/>
                <c:pt idx="0">
                  <c:v>188</c:v>
                </c:pt>
                <c:pt idx="1">
                  <c:v>86</c:v>
                </c:pt>
                <c:pt idx="2">
                  <c:v>34</c:v>
                </c:pt>
                <c:pt idx="3">
                  <c:v>19</c:v>
                </c:pt>
              </c:numCache>
            </c:numRef>
          </c:val>
          <c:spPr>
            <a:solidFill>
              <a:srgbClr val="397077"/>
            </a:solidFill>
          </c:spPr>
        </c:ser>
        <c:dLbls>
          <c:txPr>
            <a:bodyPr/>
            <a:lstStyle/>
            <a:p>
              <a:pPr>
                <a:defRPr sz="900">
                  <a:solidFill>
                    <a:srgbClr val="262626"/>
                  </a:solidFill>
                  <a:latin typeface="游ゴシック"/>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txPr>
          <a:bodyPr/>
          <a:lstStyle/>
          <a:p>
            <a:pPr>
              <a:defRPr sz="900" lang="ja-JP">
                <a:latin typeface="游ゴシック"/>
              </a:defRPr>
            </a:pPr>
          </a:p>
        </c:txPr>
      </c:catAx>
      <c:valAx>
        <c:axId val="-2113994440"/>
        <c:scaling/>
        <c:delete val="0"/>
        <c:axPos val="b"/>
        <c:majorGridlines/>
        <c:majorTickMark val="out"/>
        <c:minorTickMark val="none"/>
        <c:tickLblPos val="nextTo"/>
        <c:crossAx val="-2068027336"/>
        <c:crosses val="autoZero"/>
        <c:txPr>
          <a:bodyPr/>
          <a:lstStyle/>
          <a:p>
            <a:pPr>
              <a:defRPr sz="900" lang="ja-JP">
                <a:latin typeface="游ゴシック"/>
              </a:defRPr>
            </a:pPr>
          </a:p>
        </c:txPr>
      </c:valAx>
    </c:plotArea>
    <c:dispBlanksAs val="gap"/>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件数</c:v>
                </c:pt>
              </c:strCache>
            </c:strRef>
          </c:tx>
          <c:cat>
            <c:strRef>
              <c:f>Sheet1!$A$2:$A$5</c:f>
              <c:strCache>
                <c:ptCount val="4"/>
                <c:pt idx="0">
                  <c:v>Barthel Index（BI）</c:v>
                </c:pt>
                <c:pt idx="1">
                  <c:v>FIM</c:v>
                </c:pt>
                <c:pt idx="2">
                  <c:v>Katz Index</c:v>
                </c:pt>
                <c:pt idx="3">
                  <c:v>実施していない</c:v>
                </c:pt>
              </c:strCache>
            </c:strRef>
          </c:cat>
          <c:val>
            <c:numRef>
              <c:f>Sheet1!$B$2:$B$5</c:f>
              <c:numCache>
                <c:formatCode>General</c:formatCode>
                <c:ptCount val="4"/>
                <c:pt idx="0">
                  <c:v>239</c:v>
                </c:pt>
                <c:pt idx="1">
                  <c:v>186</c:v>
                </c:pt>
                <c:pt idx="2">
                  <c:v>1</c:v>
                </c:pt>
                <c:pt idx="3">
                  <c:v>1</c:v>
                </c:pt>
              </c:numCache>
            </c:numRef>
          </c:val>
          <c:spPr>
            <a:solidFill>
              <a:srgbClr val="397077"/>
            </a:solidFill>
          </c:spPr>
        </c:ser>
        <c:dLbls>
          <c:txPr>
            <a:bodyPr/>
            <a:lstStyle/>
            <a:p>
              <a:pPr>
                <a:defRPr sz="900">
                  <a:solidFill>
                    <a:srgbClr val="262626"/>
                  </a:solidFill>
                  <a:latin typeface="游ゴシック"/>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txPr>
          <a:bodyPr/>
          <a:lstStyle/>
          <a:p>
            <a:pPr>
              <a:defRPr sz="900" lang="ja-JP">
                <a:latin typeface="游ゴシック"/>
              </a:defRPr>
            </a:pPr>
          </a:p>
        </c:txPr>
      </c:catAx>
      <c:valAx>
        <c:axId val="-2113994440"/>
        <c:scaling/>
        <c:delete val="0"/>
        <c:axPos val="b"/>
        <c:majorGridlines/>
        <c:majorTickMark val="out"/>
        <c:minorTickMark val="none"/>
        <c:tickLblPos val="nextTo"/>
        <c:crossAx val="-2068027336"/>
        <c:crosses val="autoZero"/>
        <c:txPr>
          <a:bodyPr/>
          <a:lstStyle/>
          <a:p>
            <a:pPr>
              <a:defRPr sz="900" lang="ja-JP">
                <a:latin typeface="游ゴシック"/>
              </a:defRPr>
            </a:pPr>
          </a:p>
        </c:txPr>
      </c:valAx>
    </c:plotArea>
    <c:dispBlanksAs val="gap"/>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件数</c:v>
                </c:pt>
              </c:strCache>
            </c:strRef>
          </c:tx>
          <c:cat>
            <c:strRef>
              <c:f>Sheet1!$A$2:$A$6</c:f>
              <c:strCache>
                <c:ptCount val="5"/>
                <c:pt idx="0">
                  <c:v>HDS-R</c:v>
                </c:pt>
                <c:pt idx="1">
                  <c:v>MMSE</c:v>
                </c:pt>
                <c:pt idx="2">
                  <c:v>AMTS</c:v>
                </c:pt>
                <c:pt idx="3">
                  <c:v>MoCA</c:v>
                </c:pt>
                <c:pt idx="4">
                  <c:v>実施していない</c:v>
                </c:pt>
              </c:strCache>
            </c:strRef>
          </c:cat>
          <c:val>
            <c:numRef>
              <c:f>Sheet1!$B$2:$B$6</c:f>
              <c:numCache>
                <c:formatCode>General</c:formatCode>
                <c:ptCount val="5"/>
                <c:pt idx="0">
                  <c:v>209</c:v>
                </c:pt>
                <c:pt idx="1">
                  <c:v>171</c:v>
                </c:pt>
                <c:pt idx="2">
                  <c:v>90</c:v>
                </c:pt>
                <c:pt idx="3">
                  <c:v>25</c:v>
                </c:pt>
                <c:pt idx="4">
                  <c:v>18</c:v>
                </c:pt>
              </c:numCache>
            </c:numRef>
          </c:val>
          <c:spPr>
            <a:solidFill>
              <a:srgbClr val="397077"/>
            </a:solidFill>
          </c:spPr>
        </c:ser>
        <c:dLbls>
          <c:txPr>
            <a:bodyPr/>
            <a:lstStyle/>
            <a:p>
              <a:pPr>
                <a:defRPr sz="900">
                  <a:solidFill>
                    <a:srgbClr val="262626"/>
                  </a:solidFill>
                  <a:latin typeface="游ゴシック"/>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txPr>
          <a:bodyPr/>
          <a:lstStyle/>
          <a:p>
            <a:pPr>
              <a:defRPr sz="900" lang="ja-JP">
                <a:latin typeface="游ゴシック"/>
              </a:defRPr>
            </a:pPr>
          </a:p>
        </c:txPr>
      </c:catAx>
      <c:valAx>
        <c:axId val="-2113994440"/>
        <c:scaling/>
        <c:delete val="0"/>
        <c:axPos val="b"/>
        <c:majorGridlines/>
        <c:majorTickMark val="out"/>
        <c:minorTickMark val="none"/>
        <c:tickLblPos val="nextTo"/>
        <c:crossAx val="-2068027336"/>
        <c:crosses val="autoZero"/>
        <c:txPr>
          <a:bodyPr/>
          <a:lstStyle/>
          <a:p>
            <a:pPr>
              <a:defRPr sz="900" lang="ja-JP">
                <a:latin typeface="游ゴシック"/>
              </a:defRPr>
            </a:pPr>
          </a:p>
        </c:txPr>
      </c:valAx>
    </c:plotArea>
    <c:dispBlanksAs val="gap"/>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件数</c:v>
                </c:pt>
              </c:strCache>
            </c:strRef>
          </c:tx>
          <c:cat>
            <c:strRef>
              <c:f>Sheet1!$A$2:$A$21</c:f>
              <c:strCache>
                <c:ptCount val="20"/>
                <c:pt idx="0">
                  <c:v>認知機能</c:v>
                </c:pt>
                <c:pt idx="1">
                  <c:v>過去の転倒歴</c:v>
                </c:pt>
                <c:pt idx="2">
                  <c:v>TUG</c:v>
                </c:pt>
                <c:pt idx="3">
                  <c:v>ベッド周囲および病室環境</c:v>
                </c:pt>
                <c:pt idx="4">
                  <c:v>既往疾患の有無（脳血管疾患、パーキンソン病など）</c:v>
                </c:pt>
                <c:pt idx="5">
                  <c:v>10m歩行速度</c:v>
                </c:pt>
                <c:pt idx="6">
                  <c:v>定量的な下肢筋力測定</c:v>
                </c:pt>
                <c:pt idx="7">
                  <c:v>開眼片脚立位時間</c:v>
                </c:pt>
                <c:pt idx="8">
                  <c:v>実施していない</c:v>
                </c:pt>
                <c:pt idx="9">
                  <c:v>SPPB、Functional Reach Test（FRT）</c:v>
                </c:pt>
                <c:pt idx="10">
                  <c:v>5回椅子立ち上がりテスト</c:v>
                </c:pt>
                <c:pt idx="11">
                  <c:v>薬剤（向精神薬、降圧薬、利尿薬、ポリファーマシーなど）</c:v>
                </c:pt>
                <c:pt idx="12">
                  <c:v>せん妄</c:v>
                </c:pt>
                <c:pt idx="13">
                  <c:v>Berg Balance Scale（BBS）</c:v>
                </c:pt>
                <c:pt idx="14">
                  <c:v>注意障害</c:v>
                </c:pt>
                <c:pt idx="15">
                  <c:v>転倒恐怖感</c:v>
                </c:pt>
                <c:pt idx="16">
                  <c:v>深部感覚評価</c:v>
                </c:pt>
                <c:pt idx="17">
                  <c:v>遂行機能</c:v>
                </c:pt>
                <c:pt idx="18">
                  <c:v>Fall Risk Index</c:v>
                </c:pt>
                <c:pt idx="19">
                  <c:v>SIDE</c:v>
                </c:pt>
              </c:strCache>
            </c:strRef>
          </c:cat>
          <c:val>
            <c:numRef>
              <c:f>Sheet1!$B$2:$B$21</c:f>
              <c:numCache>
                <c:formatCode>General</c:formatCode>
                <c:ptCount val="20"/>
                <c:pt idx="0">
                  <c:v>144</c:v>
                </c:pt>
                <c:pt idx="1">
                  <c:v>105</c:v>
                </c:pt>
                <c:pt idx="2">
                  <c:v>93</c:v>
                </c:pt>
                <c:pt idx="3">
                  <c:v>79</c:v>
                </c:pt>
                <c:pt idx="4">
                  <c:v>78</c:v>
                </c:pt>
                <c:pt idx="5">
                  <c:v>76</c:v>
                </c:pt>
                <c:pt idx="6">
                  <c:v>68</c:v>
                </c:pt>
                <c:pt idx="7">
                  <c:v>67</c:v>
                </c:pt>
                <c:pt idx="8">
                  <c:v>64</c:v>
                </c:pt>
                <c:pt idx="9">
                  <c:v>56</c:v>
                </c:pt>
                <c:pt idx="10">
                  <c:v>51</c:v>
                </c:pt>
                <c:pt idx="11">
                  <c:v>49</c:v>
                </c:pt>
                <c:pt idx="12">
                  <c:v>41</c:v>
                </c:pt>
                <c:pt idx="13">
                  <c:v>40</c:v>
                </c:pt>
                <c:pt idx="14">
                  <c:v>28</c:v>
                </c:pt>
                <c:pt idx="15">
                  <c:v>24</c:v>
                </c:pt>
                <c:pt idx="16">
                  <c:v>19</c:v>
                </c:pt>
                <c:pt idx="17">
                  <c:v>12</c:v>
                </c:pt>
                <c:pt idx="18">
                  <c:v>7</c:v>
                </c:pt>
                <c:pt idx="19">
                  <c:v>4</c:v>
                </c:pt>
              </c:numCache>
            </c:numRef>
          </c:val>
          <c:spPr>
            <a:solidFill>
              <a:srgbClr val="397077"/>
            </a:solidFill>
          </c:spPr>
        </c:ser>
        <c:dLbls>
          <c:txPr>
            <a:bodyPr/>
            <a:lstStyle/>
            <a:p>
              <a:pPr>
                <a:defRPr sz="900">
                  <a:solidFill>
                    <a:srgbClr val="262626"/>
                  </a:solidFill>
                  <a:latin typeface="游ゴシック"/>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txPr>
          <a:bodyPr/>
          <a:lstStyle/>
          <a:p>
            <a:pPr>
              <a:defRPr sz="900" lang="ja-JP">
                <a:latin typeface="游ゴシック"/>
              </a:defRPr>
            </a:pPr>
          </a:p>
        </c:txPr>
      </c:catAx>
      <c:valAx>
        <c:axId val="-2113994440"/>
        <c:scaling/>
        <c:delete val="0"/>
        <c:axPos val="b"/>
        <c:majorGridlines/>
        <c:majorTickMark val="out"/>
        <c:minorTickMark val="none"/>
        <c:tickLblPos val="nextTo"/>
        <c:crossAx val="-2068027336"/>
        <c:crosses val="autoZero"/>
        <c:txPr>
          <a:bodyPr/>
          <a:lstStyle/>
          <a:p>
            <a:pPr>
              <a:defRPr sz="900" lang="ja-JP">
                <a:latin typeface="游ゴシック"/>
              </a:defRPr>
            </a:pPr>
          </a:p>
        </c:txPr>
      </c:valAx>
    </c:plotArea>
    <c:dispBlanksAs val="gap"/>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割合</c:v>
                </c:pt>
              </c:strCache>
            </c:strRef>
          </c:tx>
          <c:cat>
            <c:strRef>
              <c:f>Sheet1!$A$2:$A$4</c:f>
              <c:strCache>
                <c:ptCount val="3"/>
                <c:pt idx="0">
                  <c:v>決まっている</c:v>
                </c:pt>
                <c:pt idx="1">
                  <c:v>決まっていない</c:v>
                </c:pt>
                <c:pt idx="2">
                  <c:v>わからない</c:v>
                </c:pt>
              </c:strCache>
            </c:strRef>
          </c:cat>
          <c:val>
            <c:numRef>
              <c:f>Sheet1!$B$2:$B$4</c:f>
              <c:numCache>
                <c:formatCode>General</c:formatCode>
                <c:ptCount val="3"/>
                <c:pt idx="0">
                  <c:v>109</c:v>
                </c:pt>
                <c:pt idx="1">
                  <c:v>113</c:v>
                </c:pt>
                <c:pt idx="2">
                  <c:v>7</c:v>
                </c:pt>
              </c:numCache>
            </c:numRef>
          </c:val>
          <c:dPt>
            <c:idx val="0"/>
            <c:bubble3D val="0"/>
            <c:spPr>
              <a:solidFill>
                <a:srgbClr val="397077"/>
              </a:solidFill>
              <a:ln>
                <a:solidFill>
                  <a:srgbClr val="FFFFFF"/>
                </a:solidFill>
              </a:ln>
            </c:spPr>
          </c:dPt>
          <c:dPt>
            <c:idx val="1"/>
            <c:bubble3D val="0"/>
            <c:spPr>
              <a:solidFill>
                <a:srgbClr val="E86F2D"/>
              </a:solidFill>
              <a:ln>
                <a:solidFill>
                  <a:srgbClr val="FFFFFF"/>
                </a:solidFill>
              </a:ln>
            </c:spPr>
          </c:dPt>
          <c:dPt>
            <c:idx val="2"/>
            <c:bubble3D val="0"/>
            <c:spPr>
              <a:solidFill>
                <a:srgbClr val="A8C4C7"/>
              </a:solidFill>
              <a:ln>
                <a:solidFill>
                  <a:srgbClr val="FFFFFF"/>
                </a:solidFill>
              </a:ln>
            </c:spPr>
          </c:dPt>
        </c:ser>
        <c:dLbls>
          <c:txPr>
            <a:bodyPr/>
            <a:lstStyle/>
            <a:p>
              <a:pPr>
                <a:defRPr sz="1200" b="1">
                  <a:solidFill>
                    <a:srgbClr val="FFFFFF"/>
                  </a:solidFill>
                  <a:latin typeface="游ゴシック"/>
                </a:defRPr>
              </a:pPr>
            </a:p>
          </c:txPr>
          <c:showLegendKey val="0"/>
          <c:showVal val="0"/>
          <c:showCatName val="0"/>
          <c:showSerName val="0"/>
          <c:showPercent val="1"/>
          <c:showBubbleSize val="0"/>
          <c:showLeaderLines val="1"/>
        </c:dLbls>
      </c:pieChart>
    </c:plotArea>
    <c:legend>
      <c:legendPos val="b"/>
      <c:overlay val="0"/>
      <c:txPr>
        <a:bodyPr/>
        <a:lstStyle/>
        <a:p>
          <a:pPr>
            <a:defRPr sz="1000">
              <a:latin typeface="游ゴシック"/>
            </a:defRPr>
          </a:pPr>
        </a:p>
      </c:txPr>
    </c:legend>
    <c:dispBlanksAs val="gap"/>
  </c:chart>
  <c:txPr>
    <a:bodyPr/>
    <a:lstStyle/>
    <a:p>
      <a:pPr>
        <a:defRPr sz="1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件数</c:v>
                </c:pt>
              </c:strCache>
            </c:strRef>
          </c:tx>
          <c:cat>
            <c:strRef>
              <c:f>Sheet1!$A$2:$A$13</c:f>
              <c:strCache>
                <c:ptCount val="12"/>
                <c:pt idx="0">
                  <c:v>下肢筋力強化</c:v>
                </c:pt>
                <c:pt idx="1">
                  <c:v>歩行練習</c:v>
                </c:pt>
                <c:pt idx="2">
                  <c:v>バランス練習</c:v>
                </c:pt>
                <c:pt idx="3">
                  <c:v>起立、着座動作練習</c:v>
                </c:pt>
                <c:pt idx="4">
                  <c:v>環境調整</c:v>
                </c:pt>
                <c:pt idx="5">
                  <c:v>補助具、装具の適正化</c:v>
                </c:pt>
                <c:pt idx="6">
                  <c:v>歩容改善</c:v>
                </c:pt>
                <c:pt idx="7">
                  <c:v>教育、指導</c:v>
                </c:pt>
                <c:pt idx="8">
                  <c:v>認知面への介入</c:v>
                </c:pt>
                <c:pt idx="9">
                  <c:v>行動面への介入</c:v>
                </c:pt>
                <c:pt idx="10">
                  <c:v>薬剤調整</c:v>
                </c:pt>
                <c:pt idx="11">
                  <c:v>実施していない</c:v>
                </c:pt>
              </c:strCache>
            </c:strRef>
          </c:cat>
          <c:val>
            <c:numRef>
              <c:f>Sheet1!$B$2:$B$13</c:f>
              <c:numCache>
                <c:formatCode>General</c:formatCode>
                <c:ptCount val="12"/>
                <c:pt idx="0">
                  <c:v>284</c:v>
                </c:pt>
                <c:pt idx="1">
                  <c:v>279</c:v>
                </c:pt>
                <c:pt idx="2">
                  <c:v>276</c:v>
                </c:pt>
                <c:pt idx="3">
                  <c:v>259</c:v>
                </c:pt>
                <c:pt idx="4">
                  <c:v>250</c:v>
                </c:pt>
                <c:pt idx="5">
                  <c:v>223</c:v>
                </c:pt>
                <c:pt idx="6">
                  <c:v>220</c:v>
                </c:pt>
                <c:pt idx="7">
                  <c:v>218</c:v>
                </c:pt>
                <c:pt idx="8">
                  <c:v>176</c:v>
                </c:pt>
                <c:pt idx="9">
                  <c:v>125</c:v>
                </c:pt>
                <c:pt idx="10">
                  <c:v>40</c:v>
                </c:pt>
                <c:pt idx="11">
                  <c:v>2</c:v>
                </c:pt>
              </c:numCache>
            </c:numRef>
          </c:val>
          <c:spPr>
            <a:solidFill>
              <a:srgbClr val="397077"/>
            </a:solidFill>
          </c:spPr>
        </c:ser>
        <c:dLbls>
          <c:txPr>
            <a:bodyPr/>
            <a:lstStyle/>
            <a:p>
              <a:pPr>
                <a:defRPr sz="900">
                  <a:solidFill>
                    <a:srgbClr val="262626"/>
                  </a:solidFill>
                  <a:latin typeface="游ゴシック"/>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txPr>
          <a:bodyPr/>
          <a:lstStyle/>
          <a:p>
            <a:pPr>
              <a:defRPr sz="900" lang="ja-JP">
                <a:latin typeface="游ゴシック"/>
              </a:defRPr>
            </a:pPr>
          </a:p>
        </c:txPr>
      </c:catAx>
      <c:valAx>
        <c:axId val="-2113994440"/>
        <c:scaling/>
        <c:delete val="0"/>
        <c:axPos val="b"/>
        <c:majorGridlines/>
        <c:majorTickMark val="out"/>
        <c:minorTickMark val="none"/>
        <c:tickLblPos val="nextTo"/>
        <c:crossAx val="-2068027336"/>
        <c:crosses val="autoZero"/>
        <c:txPr>
          <a:bodyPr/>
          <a:lstStyle/>
          <a:p>
            <a:pPr>
              <a:defRPr sz="900" lang="ja-JP">
                <a:latin typeface="游ゴシック"/>
              </a:defRPr>
            </a:pPr>
          </a:p>
        </c:txPr>
      </c:valAx>
    </c:plotArea>
    <c:dispBlanksAs val="gap"/>
  </c:chart>
  <c:txPr>
    <a:bodyPr/>
    <a:lstStyle/>
    <a:p>
      <a:pPr>
        <a:defRPr sz="18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2C92F0-7EC8-4D05-85FF-2E31A4659226}" type="datetimeFigureOut">
              <a:rPr kumimoji="1" lang="ja-JP" altLang="en-US" smtClean="0"/>
              <a:t>2026/4/1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131F8C-8478-43E8-B7CD-8D39E5128867}" type="slidenum">
              <a:rPr kumimoji="1" lang="ja-JP" altLang="en-US" smtClean="0"/>
              <a:t>‹#›</a:t>
            </a:fld>
            <a:endParaRPr kumimoji="1" lang="ja-JP" altLang="en-US"/>
          </a:p>
        </p:txBody>
      </p:sp>
    </p:spTree>
    <p:extLst>
      <p:ext uri="{BB962C8B-B14F-4D97-AF65-F5344CB8AC3E}">
        <p14:creationId xmlns:p14="http://schemas.microsoft.com/office/powerpoint/2010/main" val="391971639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5F819-261F-7039-72AC-CF7FCCB75E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47BBD20-E92E-31ED-34C0-878A3EF78E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FF195B1-164D-6B85-AA96-A1A8162D18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B72A85E-BB45-5648-B3A4-9D35F445C6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835944-6F3C-492A-8E6B-A98C86D8868C}"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426491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7EC7C-ADA3-C628-1381-33279D6501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F6B671-8AD0-77ED-6B79-6DB7D17DD3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41326F-2222-F659-6962-AC5B407DC3F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6E16BE6-FCB7-C854-CDCA-1B79D1B38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835944-6F3C-492A-8E6B-A98C86D8868C}"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1009732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809F84-3334-F9C0-9021-73CD2A05DD0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710655C-63AD-C244-627D-1516EBE6B4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579FC71-DD9F-C71A-4A2B-EA1CC3242277}"/>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BCEFD599-0B50-44FE-65E0-0104255FBD8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D664EA-90D8-8CEF-A2E0-20224A65BF81}"/>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443161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BD6594-A952-4EAF-ABEB-168A892CB18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D13F02B-AADC-71D2-C063-870215191E8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B08A3F7-C0ED-A522-AAB4-FC69BE420458}"/>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A09F5F70-CACA-0FDB-1692-8F85D3BEDA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89750BD-E059-B8AE-40D1-FFE9C2ABA1E0}"/>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2521422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8055E7-FD19-4C57-0910-7DDE90B55DA4}"/>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C955642-DDA1-B960-9B51-BF95554748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6D57F55-5F51-E240-8026-D3863B9FABF6}"/>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15A63FC6-7A98-2856-7A96-353823131A5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495BF5-C8C1-04A9-1E93-2A0E0A7E67ED}"/>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3824531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B2A30E-48F2-6BD0-F8CF-E1CD2214248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FF052BC-341F-837D-0B5A-F8A2E99DF94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714BE29-C304-DDBD-37CB-1026079F15B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1571747D-FCD9-E0E7-1C7A-35E778B11F5C}"/>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4E135048-23F7-EA72-448A-A6B49880CEB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5A9A814-0E97-40EE-613A-264D7A105E7D}"/>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377898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A44E8-D96F-942B-B1E1-C96E63917611}"/>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D7F7208-B4B2-1BA4-C520-49B8B378A1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5B07689-EBC0-7607-1670-017B8BCFD2B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BC96E673-F423-FD08-99E5-7568F00EBF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5376280E-08AB-3C43-C0AB-721E4A86EFA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9A72772B-E538-7D5F-7411-8B3A6E7ED377}"/>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8" name="フッター プレースホルダー 7">
            <a:extLst>
              <a:ext uri="{FF2B5EF4-FFF2-40B4-BE49-F238E27FC236}">
                <a16:creationId xmlns:a16="http://schemas.microsoft.com/office/drawing/2014/main" id="{6D338834-2F60-657A-7FD5-287590899FD9}"/>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46BBFBA-0726-AB33-D1FC-2C5CF6A3021F}"/>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62033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9C104D-4285-693B-C096-B0E50977CD42}"/>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63D269C-CA70-3E60-641A-EE1CDE72F5B9}"/>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4" name="フッター プレースホルダー 3">
            <a:extLst>
              <a:ext uri="{FF2B5EF4-FFF2-40B4-BE49-F238E27FC236}">
                <a16:creationId xmlns:a16="http://schemas.microsoft.com/office/drawing/2014/main" id="{454D0644-0FFC-3D11-A802-2C5BE5F109E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1BCE7B0-58F1-33D3-A3A5-D57DD5266792}"/>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274513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1121EA2-3F3D-576B-9FC5-E864A6CA4B5E}"/>
              </a:ext>
            </a:extLst>
          </p:cNvPr>
          <p:cNvSpPr>
            <a:spLocks noGrp="1"/>
          </p:cNvSpPr>
          <p:nvPr>
            <p:ph type="dt" sz="half" idx="10"/>
          </p:nvPr>
        </p:nvSpPr>
        <p:spPr/>
        <p:txBody>
          <a:bodyPr/>
          <a:lstStyle/>
          <a:p>
            <a:fld id="{B6E202C2-0D12-4F9C-A418-8F8D761FB814}" type="datetimeFigureOut">
              <a:rPr kumimoji="1" lang="ja-JP" altLang="en-US" smtClean="0"/>
              <a:t>2026/4/2</a:t>
            </a:fld>
            <a:endParaRPr kumimoji="1" lang="ja-JP" altLang="en-US"/>
          </a:p>
        </p:txBody>
      </p:sp>
      <p:sp>
        <p:nvSpPr>
          <p:cNvPr id="3" name="フッター プレースホルダー 2">
            <a:extLst>
              <a:ext uri="{FF2B5EF4-FFF2-40B4-BE49-F238E27FC236}">
                <a16:creationId xmlns:a16="http://schemas.microsoft.com/office/drawing/2014/main" id="{4B58C9B3-5FBD-C2D3-FDA2-525177112A1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147004A-D7E4-B492-0C47-0FEA7C821A40}"/>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
        <p:nvSpPr>
          <p:cNvPr id="5" name="フッター プレースホルダー 1">
            <a:extLst>
              <a:ext uri="{FF2B5EF4-FFF2-40B4-BE49-F238E27FC236}">
                <a16:creationId xmlns:a16="http://schemas.microsoft.com/office/drawing/2014/main" id="{716CC6D0-972B-DC11-AF6F-E7788B159AB5}"/>
              </a:ext>
            </a:extLst>
          </p:cNvPr>
          <p:cNvSpPr txBox="1">
            <a:spLocks/>
          </p:cNvSpPr>
          <p:nvPr userDrawn="1"/>
        </p:nvSpPr>
        <p:spPr>
          <a:xfrm>
            <a:off x="10739799" y="6563964"/>
            <a:ext cx="1452201" cy="315021"/>
          </a:xfrm>
          <a:prstGeom prst="rect">
            <a:avLst/>
          </a:prstGeom>
        </p:spPr>
        <p:txBody>
          <a:bodyPr vert="horz" lIns="91440" tIns="45720" rIns="91440" bIns="45720" rtlCol="0" anchor="ctr"/>
          <a:lstStyle>
            <a:defPPr>
              <a:defRPr lang="ja-JP"/>
            </a:defPPr>
            <a:lvl1pPr marL="0" algn="ct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dirty="0">
                <a:solidFill>
                  <a:schemeClr val="tx1"/>
                </a:solidFill>
              </a:rPr>
              <a:t>2026</a:t>
            </a:r>
            <a:r>
              <a:rPr lang="ja-JP" altLang="en-US" dirty="0">
                <a:solidFill>
                  <a:schemeClr val="tx1"/>
                </a:solidFill>
              </a:rPr>
              <a:t>年</a:t>
            </a:r>
            <a:r>
              <a:rPr lang="en-US" altLang="ja-JP" dirty="0">
                <a:solidFill>
                  <a:schemeClr val="tx1"/>
                </a:solidFill>
              </a:rPr>
              <a:t>4</a:t>
            </a:r>
            <a:r>
              <a:rPr lang="ja-JP" altLang="en-US" dirty="0">
                <a:solidFill>
                  <a:schemeClr val="tx1"/>
                </a:solidFill>
              </a:rPr>
              <a:t>月</a:t>
            </a:r>
            <a:r>
              <a:rPr lang="en-US" altLang="ja-JP" dirty="0">
                <a:solidFill>
                  <a:schemeClr val="tx1"/>
                </a:solidFill>
              </a:rPr>
              <a:t>3</a:t>
            </a:r>
            <a:r>
              <a:rPr lang="ja-JP" altLang="en-US" dirty="0">
                <a:solidFill>
                  <a:schemeClr val="tx1"/>
                </a:solidFill>
              </a:rPr>
              <a:t>日作成</a:t>
            </a:r>
          </a:p>
        </p:txBody>
      </p:sp>
    </p:spTree>
    <p:extLst>
      <p:ext uri="{BB962C8B-B14F-4D97-AF65-F5344CB8AC3E}">
        <p14:creationId xmlns:p14="http://schemas.microsoft.com/office/powerpoint/2010/main" val="4075818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F7FCF5-F43B-E734-BC30-5C98D01B5D5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DEC09BD-3036-DDB1-657E-9824B61EB0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FE4B5BA-C3DE-5B13-9875-40B4EBB7B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555DCAE-ADBC-0C9E-CF9F-6166E4F6DFAF}"/>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116DAE61-94CD-0D40-99B3-0761F32A81A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6C9E6A7-FF47-F647-2FE2-E028CE583157}"/>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1183021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5FCC0A-9604-4182-7216-DAF87913D86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1C05238-E5AE-C4F0-DF36-88C83D961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89A6C67-9439-17AD-5A1F-64DE2FE4A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9F2E293-1B69-0129-04FE-6767BCAE3122}"/>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6" name="フッター プレースホルダー 5">
            <a:extLst>
              <a:ext uri="{FF2B5EF4-FFF2-40B4-BE49-F238E27FC236}">
                <a16:creationId xmlns:a16="http://schemas.microsoft.com/office/drawing/2014/main" id="{577FC41B-978F-2E09-6E68-63EA1BA2958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50D7A13-CC76-0B73-F9C9-E824D4A289CB}"/>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3870509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0E372C2-FC24-3BB6-9E9B-979103FA534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3C12AC2-5932-C25F-4AEE-4D1F9846DF5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6B0772C-37CF-1CBB-59F4-1DC008974C86}"/>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9730D4D6-3E08-49A5-28E6-C784F518C4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DFC418E-4B2D-2F2C-C772-BE8797C99376}"/>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2273298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E947442-CA06-1D9D-3704-EA80D201FA8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8B14A2B-D08D-B128-7F9D-FE0893902E3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E26BA15-4AD5-50DC-7CA2-EC9F79A4B327}"/>
              </a:ext>
            </a:extLst>
          </p:cNvPr>
          <p:cNvSpPr>
            <a:spLocks noGrp="1"/>
          </p:cNvSpPr>
          <p:nvPr>
            <p:ph type="dt" sz="half" idx="10"/>
          </p:nvPr>
        </p:nvSpPr>
        <p:spPr/>
        <p:txBody>
          <a:body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3FF94EA8-DDD8-30C4-6A72-BB435DDE2EA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67FE65E-9C72-411F-4151-41C6FEC3F415}"/>
              </a:ext>
            </a:extLst>
          </p:cNvPr>
          <p:cNvSpPr>
            <a:spLocks noGrp="1"/>
          </p:cNvSpPr>
          <p:nvPr>
            <p:ph type="sldNum" sz="quarter" idx="12"/>
          </p:nvPr>
        </p:nvSpPr>
        <p:spPr/>
        <p:txBody>
          <a:bodyPr/>
          <a:lstStyle/>
          <a:p>
            <a:fld id="{0CDAE48D-D406-4E56-8143-086A4E571531}" type="slidenum">
              <a:rPr kumimoji="1" lang="ja-JP" altLang="en-US" smtClean="0"/>
              <a:t>‹#›</a:t>
            </a:fld>
            <a:endParaRPr kumimoji="1" lang="ja-JP" altLang="en-US"/>
          </a:p>
        </p:txBody>
      </p:sp>
    </p:spTree>
    <p:extLst>
      <p:ext uri="{BB962C8B-B14F-4D97-AF65-F5344CB8AC3E}">
        <p14:creationId xmlns:p14="http://schemas.microsoft.com/office/powerpoint/2010/main" val="201440083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0001115-C484-F61A-6D60-28540F548F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61531D7-068F-4E3E-7984-657FAE8B41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CE1E98B-1D35-D382-B596-1BCA013898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E202C2-0D12-4F9C-A418-8F8D761FB814}" type="datetimeFigureOut">
              <a:rPr kumimoji="1" lang="ja-JP" altLang="en-US" smtClean="0"/>
              <a:t>2026/4/1</a:t>
            </a:fld>
            <a:endParaRPr kumimoji="1" lang="ja-JP" altLang="en-US"/>
          </a:p>
        </p:txBody>
      </p:sp>
      <p:sp>
        <p:nvSpPr>
          <p:cNvPr id="5" name="フッター プレースホルダー 4">
            <a:extLst>
              <a:ext uri="{FF2B5EF4-FFF2-40B4-BE49-F238E27FC236}">
                <a16:creationId xmlns:a16="http://schemas.microsoft.com/office/drawing/2014/main" id="{119BDFF3-8C15-F406-9324-C96A13F336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36E9537-72DD-9BD5-127B-D6AC617388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DAE48D-D406-4E56-8143-086A4E571531}" type="slidenum">
              <a:rPr kumimoji="1" lang="ja-JP" altLang="en-US" smtClean="0"/>
              <a:t>‹#›</a:t>
            </a:fld>
            <a:endParaRPr kumimoji="1" lang="ja-JP" altLang="en-US"/>
          </a:p>
        </p:txBody>
      </p:sp>
      <p:pic>
        <p:nvPicPr>
          <p:cNvPr id="7" name="図 6" descr="マップ&#10;&#10;自動的に生成された説明">
            <a:extLst>
              <a:ext uri="{FF2B5EF4-FFF2-40B4-BE49-F238E27FC236}">
                <a16:creationId xmlns:a16="http://schemas.microsoft.com/office/drawing/2014/main" id="{0327004E-E8D4-A1FC-1FDB-1395F1C20F5A}"/>
              </a:ext>
            </a:extLst>
          </p:cNvPr>
          <p:cNvPicPr>
            <a:picLocks noChangeAspect="1"/>
          </p:cNvPicPr>
          <p:nvPr userDrawn="1"/>
        </p:nvPicPr>
        <p:blipFill rotWithShape="1">
          <a:blip r:embed="rId13">
            <a:duotone>
              <a:schemeClr val="bg2">
                <a:shade val="45000"/>
                <a:satMod val="135000"/>
              </a:schemeClr>
              <a:prstClr val="white"/>
            </a:duotone>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正方形/長方形 8">
            <a:extLst>
              <a:ext uri="{FF2B5EF4-FFF2-40B4-BE49-F238E27FC236}">
                <a16:creationId xmlns:a16="http://schemas.microsoft.com/office/drawing/2014/main" id="{B9CC77D0-B5B6-7D91-9F28-EF606CFCE8BB}"/>
              </a:ext>
            </a:extLst>
          </p:cNvPr>
          <p:cNvSpPr/>
          <p:nvPr userDrawn="1"/>
        </p:nvSpPr>
        <p:spPr>
          <a:xfrm>
            <a:off x="337930" y="248478"/>
            <a:ext cx="11516140" cy="6361044"/>
          </a:xfrm>
          <a:prstGeom prst="rect">
            <a:avLst/>
          </a:prstGeom>
          <a:solidFill>
            <a:schemeClr val="bg1">
              <a:alpha val="69804"/>
            </a:schemeClr>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dirty="0">
              <a:ln>
                <a:noFill/>
              </a:ln>
              <a:solidFill>
                <a:prstClr val="white"/>
              </a:solidFill>
              <a:effectLst/>
              <a:uLnTx/>
              <a:uFillTx/>
              <a:latin typeface="ＭＳ Ｐゴシック" panose="020B0600070205080204" pitchFamily="50" charset="-128"/>
              <a:ea typeface="ＭＳ Ｐゴシック" panose="020B0600070205080204" pitchFamily="50" charset="-128"/>
              <a:cs typeface="+mn-cs"/>
            </a:endParaRPr>
          </a:p>
        </p:txBody>
      </p:sp>
    </p:spTree>
    <p:extLst>
      <p:ext uri="{BB962C8B-B14F-4D97-AF65-F5344CB8AC3E}">
        <p14:creationId xmlns:p14="http://schemas.microsoft.com/office/powerpoint/2010/main" val="3671671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DACA08-6B7C-A8A5-BBDC-F5D3D22D9112}"/>
              </a:ext>
            </a:extLst>
          </p:cNvPr>
          <p:cNvSpPr>
            <a:spLocks noGrp="1"/>
          </p:cNvSpPr>
          <p:nvPr>
            <p:ph type="ctrTitle"/>
          </p:nvPr>
        </p:nvSpPr>
        <p:spPr>
          <a:xfrm>
            <a:off x="1040497" y="1922072"/>
            <a:ext cx="10111001" cy="2387600"/>
          </a:xfrm>
        </p:spPr>
        <p:txBody>
          <a:bodyPr anchor="ctr">
            <a:normAutofit/>
          </a:bodyPr>
          <a:lstStyle/>
          <a:p>
            <a:r>
              <a:rPr lang="ja-JP" altLang="en-US" sz="4400" b="1" dirty="0">
                <a:latin typeface="游ゴシック" panose="020B0400000000000000" pitchFamily="50" charset="-128"/>
                <a:ea typeface="游ゴシック" panose="020B0400000000000000" pitchFamily="50" charset="-128"/>
              </a:rPr>
              <a:t>第</a:t>
            </a:r>
            <a:r>
              <a:rPr lang="en-US" altLang="ja-JP" sz="4400" b="1" dirty="0">
                <a:latin typeface="游ゴシック" panose="020B0400000000000000" pitchFamily="50" charset="-128"/>
                <a:ea typeface="游ゴシック" panose="020B0400000000000000" pitchFamily="50" charset="-128"/>
              </a:rPr>
              <a:t>2</a:t>
            </a:r>
            <a:r>
              <a:rPr lang="ja-JP" altLang="en-US" sz="4400" b="1" dirty="0">
                <a:latin typeface="游ゴシック" panose="020B0400000000000000" pitchFamily="50" charset="-128"/>
                <a:ea typeface="游ゴシック" panose="020B0400000000000000" pitchFamily="50" charset="-128"/>
              </a:rPr>
              <a:t>回</a:t>
            </a:r>
            <a:br>
              <a:rPr lang="en-US" altLang="ja-JP" sz="4400" b="1" dirty="0">
                <a:latin typeface="游ゴシック" panose="020B0400000000000000" pitchFamily="50" charset="-128"/>
                <a:ea typeface="游ゴシック" panose="020B0400000000000000" pitchFamily="50" charset="-128"/>
              </a:rPr>
            </a:br>
            <a:r>
              <a:rPr lang="ja-JP" altLang="en-US" sz="4400" b="1" dirty="0">
                <a:latin typeface="游ゴシック" panose="020B0400000000000000" pitchFamily="50" charset="-128"/>
                <a:ea typeface="游ゴシック" panose="020B0400000000000000" pitchFamily="50" charset="-128"/>
              </a:rPr>
              <a:t>急性期におけるリハビリテーション</a:t>
            </a:r>
            <a:br>
              <a:rPr lang="en-US" altLang="ja-JP" sz="4400" b="1" dirty="0">
                <a:latin typeface="游ゴシック" panose="020B0400000000000000" pitchFamily="50" charset="-128"/>
                <a:ea typeface="游ゴシック" panose="020B0400000000000000" pitchFamily="50" charset="-128"/>
              </a:rPr>
            </a:br>
            <a:r>
              <a:rPr lang="ja-JP" altLang="en-US" sz="4400" b="1" dirty="0">
                <a:latin typeface="游ゴシック" panose="020B0400000000000000" pitchFamily="50" charset="-128"/>
                <a:ea typeface="游ゴシック" panose="020B0400000000000000" pitchFamily="50" charset="-128"/>
              </a:rPr>
              <a:t>体制および評価・連携に関する調査</a:t>
            </a:r>
            <a:endParaRPr kumimoji="1" lang="ja-JP" altLang="en-US" sz="4400" dirty="0"/>
          </a:p>
        </p:txBody>
      </p:sp>
      <p:sp>
        <p:nvSpPr>
          <p:cNvPr id="3" name="タイトル 1">
            <a:extLst>
              <a:ext uri="{FF2B5EF4-FFF2-40B4-BE49-F238E27FC236}">
                <a16:creationId xmlns:a16="http://schemas.microsoft.com/office/drawing/2014/main" id="{D135051A-8F71-3F33-4032-D4923538E3B7}"/>
              </a:ext>
            </a:extLst>
          </p:cNvPr>
          <p:cNvSpPr txBox="1">
            <a:spLocks/>
          </p:cNvSpPr>
          <p:nvPr/>
        </p:nvSpPr>
        <p:spPr>
          <a:xfrm>
            <a:off x="778699" y="4494730"/>
            <a:ext cx="10634596" cy="11430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調査回答数：</a:t>
            </a:r>
            <a:r>
              <a:rPr kumimoji="1" lang="en-US" altLang="zh-TW"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289</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件（有効回答数：</a:t>
            </a:r>
            <a:r>
              <a:rPr kumimoji="1" lang="en-US" altLang="zh-TW"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289</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件）</a:t>
            </a:r>
            <a:b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b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調査期間：</a:t>
            </a:r>
            <a:r>
              <a:rPr kumimoji="1" lang="en-US" altLang="zh-TW"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2026</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年</a:t>
            </a:r>
            <a:r>
              <a:rPr lang="en-US" altLang="zh-TW" sz="2800" b="1" dirty="0">
                <a:solidFill>
                  <a:prstClr val="black"/>
                </a:solidFill>
                <a:latin typeface="游ゴシック" panose="020B0400000000000000" pitchFamily="50" charset="-128"/>
                <a:ea typeface="游ゴシック" panose="020B0400000000000000" pitchFamily="50" charset="-128"/>
              </a:rPr>
              <a:t>3</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月</a:t>
            </a:r>
            <a:r>
              <a:rPr lang="en-US" altLang="zh-TW" sz="2800" b="1" dirty="0">
                <a:solidFill>
                  <a:prstClr val="black"/>
                </a:solidFill>
                <a:latin typeface="游ゴシック" panose="020B0400000000000000" pitchFamily="50" charset="-128"/>
                <a:ea typeface="游ゴシック" panose="020B0400000000000000" pitchFamily="50" charset="-128"/>
              </a:rPr>
              <a:t>2</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日～</a:t>
            </a:r>
            <a:r>
              <a:rPr kumimoji="1" lang="en-US" altLang="zh-TW"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2026</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年</a:t>
            </a:r>
            <a:r>
              <a:rPr lang="en-US" altLang="zh-TW" sz="2800" b="1" dirty="0">
                <a:solidFill>
                  <a:prstClr val="black"/>
                </a:solidFill>
                <a:latin typeface="游ゴシック" panose="020B0400000000000000" pitchFamily="50" charset="-128"/>
                <a:ea typeface="游ゴシック" panose="020B0400000000000000" pitchFamily="50" charset="-128"/>
              </a:rPr>
              <a:t>3</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月</a:t>
            </a:r>
            <a:r>
              <a:rPr lang="en-US" altLang="zh-TW" sz="2800" b="1" dirty="0">
                <a:solidFill>
                  <a:prstClr val="black"/>
                </a:solidFill>
                <a:latin typeface="游ゴシック" panose="020B0400000000000000" pitchFamily="50" charset="-128"/>
                <a:ea typeface="游ゴシック" panose="020B0400000000000000" pitchFamily="50" charset="-128"/>
              </a:rPr>
              <a:t>31</a:t>
            </a:r>
            <a:r>
              <a:rPr kumimoji="1" lang="zh-TW" altLang="en-US" sz="28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rPr>
              <a:t>日</a:t>
            </a:r>
          </a:p>
        </p:txBody>
      </p:sp>
      <p:sp>
        <p:nvSpPr>
          <p:cNvPr id="4" name="四角形: 角を丸くする 3">
            <a:extLst>
              <a:ext uri="{FF2B5EF4-FFF2-40B4-BE49-F238E27FC236}">
                <a16:creationId xmlns:a16="http://schemas.microsoft.com/office/drawing/2014/main" id="{12F322CB-A552-7850-F6E1-9BAF15CF2655}"/>
              </a:ext>
            </a:extLst>
          </p:cNvPr>
          <p:cNvSpPr/>
          <p:nvPr/>
        </p:nvSpPr>
        <p:spPr>
          <a:xfrm>
            <a:off x="4648197" y="668025"/>
            <a:ext cx="2895604" cy="920289"/>
          </a:xfrm>
          <a:prstGeom prst="roundRect">
            <a:avLst/>
          </a:prstGeom>
          <a:solidFill>
            <a:srgbClr val="39707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4000" b="1" i="0" u="none" strike="noStrike" kern="1200" cap="none" spc="0" normalizeH="0" baseline="0" noProof="0" dirty="0">
                <a:ln>
                  <a:noFill/>
                </a:ln>
                <a:solidFill>
                  <a:prstClr val="white"/>
                </a:solidFill>
                <a:effectLst/>
                <a:uLnTx/>
                <a:uFillTx/>
                <a:latin typeface="游ゴシック" panose="020F0502020204030204"/>
                <a:ea typeface="游ゴシック" panose="020B0400000000000000" pitchFamily="50" charset="-128"/>
                <a:cs typeface="+mn-cs"/>
              </a:rPr>
              <a:t>集計結果</a:t>
            </a:r>
          </a:p>
        </p:txBody>
      </p:sp>
      <p:pic>
        <p:nvPicPr>
          <p:cNvPr id="7" name="図 6">
            <a:extLst>
              <a:ext uri="{FF2B5EF4-FFF2-40B4-BE49-F238E27FC236}">
                <a16:creationId xmlns:a16="http://schemas.microsoft.com/office/drawing/2014/main" id="{E92CA40E-02AC-2025-6BB3-86E7650304A9}"/>
              </a:ext>
            </a:extLst>
          </p:cNvPr>
          <p:cNvPicPr>
            <a:picLocks noChangeAspect="1"/>
          </p:cNvPicPr>
          <p:nvPr/>
        </p:nvPicPr>
        <p:blipFill>
          <a:blip r:embed="rId2"/>
          <a:stretch>
            <a:fillRect/>
          </a:stretch>
        </p:blipFill>
        <p:spPr>
          <a:xfrm>
            <a:off x="9763272" y="233475"/>
            <a:ext cx="2069387" cy="1195249"/>
          </a:xfrm>
          <a:prstGeom prst="rect">
            <a:avLst/>
          </a:prstGeom>
        </p:spPr>
      </p:pic>
      <p:sp>
        <p:nvSpPr>
          <p:cNvPr id="6" name="タイトル 1">
            <a:extLst>
              <a:ext uri="{FF2B5EF4-FFF2-40B4-BE49-F238E27FC236}">
                <a16:creationId xmlns:a16="http://schemas.microsoft.com/office/drawing/2014/main" id="{D28CB126-9012-8BB8-68F7-B1F57514F605}"/>
              </a:ext>
            </a:extLst>
          </p:cNvPr>
          <p:cNvSpPr txBox="1">
            <a:spLocks/>
          </p:cNvSpPr>
          <p:nvPr/>
        </p:nvSpPr>
        <p:spPr>
          <a:xfrm>
            <a:off x="778699" y="5481525"/>
            <a:ext cx="10634596" cy="114300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ja-JP" altLang="en-US" sz="2400" b="1" dirty="0">
                <a:solidFill>
                  <a:prstClr val="black"/>
                </a:solidFill>
                <a:latin typeface="游ゴシック" panose="020B0400000000000000" pitchFamily="50" charset="-128"/>
                <a:ea typeface="游ゴシック" panose="020B0400000000000000" pitchFamily="50" charset="-128"/>
              </a:rPr>
              <a:t>第</a:t>
            </a:r>
            <a:r>
              <a:rPr lang="en-US" altLang="ja-JP" sz="2400" b="1" dirty="0">
                <a:solidFill>
                  <a:prstClr val="black"/>
                </a:solidFill>
                <a:latin typeface="游ゴシック" panose="020B0400000000000000" pitchFamily="50" charset="-128"/>
                <a:ea typeface="游ゴシック" panose="020B0400000000000000" pitchFamily="50" charset="-128"/>
              </a:rPr>
              <a:t>1</a:t>
            </a:r>
            <a:r>
              <a:rPr lang="ja-JP" altLang="en-US" sz="2400" b="1" dirty="0">
                <a:solidFill>
                  <a:prstClr val="black"/>
                </a:solidFill>
                <a:latin typeface="游ゴシック" panose="020B0400000000000000" pitchFamily="50" charset="-128"/>
                <a:ea typeface="游ゴシック" panose="020B0400000000000000" pitchFamily="50" charset="-128"/>
              </a:rPr>
              <a:t>回調査回答施設の回答数</a:t>
            </a:r>
            <a:r>
              <a:rPr lang="ja-JP" altLang="en-US" sz="2400" b="1" dirty="0">
                <a:solidFill>
                  <a:prstClr val="black"/>
                </a:solidFill>
                <a:latin typeface="游ゴシック" panose="020B0400000000000000" pitchFamily="50" charset="-128"/>
                <a:ea typeface="游ゴシック" panose="020B0400000000000000" pitchFamily="50" charset="-128"/>
                <a:sym typeface="Wingdings" panose="05000000000000000000" pitchFamily="2" charset="2"/>
              </a:rPr>
              <a:t>：　施設（回答率：　％）</a:t>
            </a:r>
            <a:endParaRPr kumimoji="1" lang="zh-TW" altLang="en-US" sz="2400" b="1" i="0" u="none" strike="noStrike" kern="120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j-cs"/>
            </a:endParaRPr>
          </a:p>
        </p:txBody>
      </p:sp>
    </p:spTree>
    <p:extLst>
      <p:ext uri="{BB962C8B-B14F-4D97-AF65-F5344CB8AC3E}">
        <p14:creationId xmlns:p14="http://schemas.microsoft.com/office/powerpoint/2010/main" val="30165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テキスト ボックス 11">
            <a:extLst>
              <a:ext uri="{FF2B5EF4-FFF2-40B4-BE49-F238E27FC236}">
                <a16:creationId xmlns:a16="http://schemas.microsoft.com/office/drawing/2014/main" id="{0E445A21-03D5-8227-8065-F73339A51CFE}"/>
              </a:ext>
            </a:extLst>
          </p:cNvPr>
          <p:cNvSpPr txBox="1"/>
          <p:nvPr/>
        </p:nvSpPr>
        <p:spPr>
          <a:xfrm>
            <a:off x="1545771" y="450351"/>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a:t>
            </a:r>
          </a:p>
        </p:txBody>
      </p:sp>
      <p:graphicFrame>
        <p:nvGraphicFramePr>
          <p:cNvPr id="13" name="表 12">
            <a:extLst>
              <a:ext uri="{FF2B5EF4-FFF2-40B4-BE49-F238E27FC236}">
                <a16:creationId xmlns:a16="http://schemas.microsoft.com/office/drawing/2014/main" id="{908660FD-5CBC-69A4-1235-95004077360D}"/>
              </a:ext>
            </a:extLst>
          </p:cNvPr>
          <p:cNvGraphicFramePr>
            <a:graphicFrameLocks noGrp="1"/>
          </p:cNvGraphicFramePr>
          <p:nvPr>
            <p:extLst>
              <p:ext uri="{D42A27DB-BD31-4B8C-83A1-F6EECF244321}">
                <p14:modId xmlns:p14="http://schemas.microsoft.com/office/powerpoint/2010/main" val="954091969"/>
              </p:ext>
            </p:extLst>
          </p:nvPr>
        </p:nvGraphicFramePr>
        <p:xfrm>
          <a:off x="6814456" y="2144079"/>
          <a:ext cx="4626430" cy="4014180"/>
        </p:xfrm>
        <a:graphic>
          <a:graphicData uri="http://schemas.openxmlformats.org/drawingml/2006/table">
            <a:tbl>
              <a:tblPr firstRow="1" bandRow="1">
                <a:tableStyleId>{5C22544A-7EE6-4342-B048-85BDC9FD1C3A}</a:tableStyleId>
              </a:tblPr>
              <a:tblGrid>
                <a:gridCol w="2313215">
                  <a:extLst>
                    <a:ext uri="{9D8B030D-6E8A-4147-A177-3AD203B41FA5}">
                      <a16:colId xmlns:a16="http://schemas.microsoft.com/office/drawing/2014/main" val="1550377052"/>
                    </a:ext>
                  </a:extLst>
                </a:gridCol>
                <a:gridCol w="2313215">
                  <a:extLst>
                    <a:ext uri="{9D8B030D-6E8A-4147-A177-3AD203B41FA5}">
                      <a16:colId xmlns:a16="http://schemas.microsoft.com/office/drawing/2014/main" val="4232593559"/>
                    </a:ext>
                  </a:extLst>
                </a:gridCol>
              </a:tblGrid>
              <a:tr h="1003545">
                <a:tc>
                  <a:txBody>
                    <a:bodyPr/>
                    <a:lstStyle/>
                    <a:p>
                      <a:pPr algn="ctr" fontAlgn="b">
                        <a:buNone/>
                      </a:pPr>
                      <a:r>
                        <a:rPr lang="ja-JP" altLang="en-US" sz="1800" b="1" i="0" u="none" strike="noStrike" dirty="0">
                          <a:solidFill>
                            <a:schemeClr val="bg1"/>
                          </a:solidFill>
                          <a:effectLst/>
                          <a:latin typeface="Arial" panose="020B0604020202020204" pitchFamily="34" charset="0"/>
                        </a:rPr>
                        <a:t>総回答施設数</a:t>
                      </a:r>
                    </a:p>
                  </a:txBody>
                  <a:tcPr marL="7620" marR="7620" marT="7620" marB="0" anchor="ctr"/>
                </a:tc>
                <a:tc>
                  <a:txBody>
                    <a:bodyPr/>
                    <a:lstStyle/>
                    <a:p>
                      <a:pPr algn="ctr" fontAlgn="b">
                        <a:buNone/>
                      </a:pPr>
                      <a:r>
                        <a:rPr lang="en-US" altLang="ja-JP" sz="1800" b="1" i="0" u="none" strike="noStrike">
                          <a:solidFill>
                            <a:srgbClr val="FF0000"/>
                          </a:solidFill>
                          <a:effectLst/>
                          <a:latin typeface="+mn-lt"/>
                        </a:rPr>
                        <a:t>289</a:t>
                      </a:r>
                      <a:r>
                        <a:rPr lang="ja-JP" altLang="en-US" sz="1800" b="1" i="0" u="none" strike="noStrike">
                          <a:solidFill>
                            <a:srgbClr val="FF0000"/>
                          </a:solidFill>
                          <a:effectLst/>
                          <a:latin typeface="+mn-lt"/>
                        </a:rPr>
                        <a:t>施設</a:t>
                      </a:r>
                      <a:br>
                        <a:rPr lang="en-US" altLang="ja-JP" sz="1800" b="1" i="0" u="none" strike="noStrike">
                          <a:solidFill>
                            <a:srgbClr val="FF0000"/>
                          </a:solidFill>
                          <a:effectLst/>
                          <a:latin typeface="+mn-lt"/>
                        </a:rPr>
                      </a:br>
                      <a:r>
                        <a:rPr lang="ja-JP" altLang="en-US" sz="1800" b="1" i="0" u="none" strike="noStrike">
                          <a:solidFill>
                            <a:srgbClr val="FF0000"/>
                          </a:solidFill>
                          <a:effectLst/>
                          <a:latin typeface="+mn-lt"/>
                        </a:rPr>
                        <a:t>（</a:t>
                      </a:r>
                      <a:r>
                        <a:rPr lang="en-US" altLang="ja-JP" sz="1800" b="1" i="0" u="none" strike="noStrike">
                          <a:solidFill>
                            <a:srgbClr val="FF0000"/>
                          </a:solidFill>
                          <a:effectLst/>
                          <a:latin typeface="+mn-lt"/>
                        </a:rPr>
                        <a:t>52</a:t>
                      </a:r>
                      <a:r>
                        <a:rPr lang="ja-JP" altLang="en-US" sz="1800" b="1" i="0" u="none" strike="noStrike">
                          <a:solidFill>
                            <a:srgbClr val="FF0000"/>
                          </a:solidFill>
                          <a:effectLst/>
                          <a:latin typeface="+mn-lt"/>
                        </a:rPr>
                        <a:t>施設増加）</a:t>
                      </a:r>
                      <a:endParaRPr lang="en-US" altLang="ja-JP" sz="1800" b="1" i="0" u="none" strike="noStrike">
                        <a:solidFill>
                          <a:srgbClr val="FF0000"/>
                        </a:solidFill>
                        <a:effectLst/>
                        <a:latin typeface="+mn-lt"/>
                      </a:endParaRPr>
                    </a:p>
                  </a:txBody>
                  <a:tcPr marL="7620" marR="7620" marT="7620" marB="0" anchor="ctr"/>
                </a:tc>
                <a:extLst>
                  <a:ext uri="{0D108BD9-81ED-4DB2-BD59-A6C34878D82A}">
                    <a16:rowId xmlns:a16="http://schemas.microsoft.com/office/drawing/2014/main" val="2850673148"/>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有効回答施設数</a:t>
                      </a:r>
                    </a:p>
                  </a:txBody>
                  <a:tcPr marL="7620" marR="7620" marT="762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ja-JP" sz="1800" b="1" i="0" u="none" strike="noStrike" dirty="0">
                          <a:solidFill>
                            <a:srgbClr val="FF0000"/>
                          </a:solidFill>
                          <a:effectLst/>
                          <a:latin typeface="+mn-lt"/>
                        </a:rPr>
                        <a:t>289</a:t>
                      </a:r>
                      <a:r>
                        <a:rPr lang="ja-JP" altLang="en-US" sz="1800" b="1" i="0" u="none" strike="noStrike" dirty="0">
                          <a:solidFill>
                            <a:srgbClr val="FF0000"/>
                          </a:solidFill>
                          <a:effectLst/>
                          <a:latin typeface="+mn-lt"/>
                        </a:rPr>
                        <a:t>施設</a:t>
                      </a:r>
                      <a:br>
                        <a:rPr lang="en-US" altLang="ja-JP" sz="1800" b="1" i="0" u="none" strike="noStrike" dirty="0">
                          <a:solidFill>
                            <a:srgbClr val="FF0000"/>
                          </a:solidFill>
                          <a:effectLst/>
                          <a:latin typeface="+mn-lt"/>
                        </a:rPr>
                      </a:br>
                      <a:r>
                        <a:rPr lang="ja-JP" altLang="en-US" sz="1800" b="1" i="0" u="none" strike="noStrike" dirty="0">
                          <a:solidFill>
                            <a:srgbClr val="FF0000"/>
                          </a:solidFill>
                          <a:effectLst/>
                          <a:latin typeface="+mn-lt"/>
                        </a:rPr>
                        <a:t>（</a:t>
                      </a:r>
                      <a:r>
                        <a:rPr lang="en-US" altLang="ja-JP" sz="1800" b="1" i="0" u="none" strike="noStrike" dirty="0">
                          <a:solidFill>
                            <a:srgbClr val="FF0000"/>
                          </a:solidFill>
                          <a:effectLst/>
                          <a:latin typeface="+mn-lt"/>
                        </a:rPr>
                        <a:t>55</a:t>
                      </a:r>
                      <a:r>
                        <a:rPr lang="ja-JP" altLang="en-US" sz="1800" b="1" i="0" u="none" strike="noStrike" dirty="0">
                          <a:solidFill>
                            <a:srgbClr val="FF0000"/>
                          </a:solidFill>
                          <a:effectLst/>
                          <a:latin typeface="+mn-lt"/>
                        </a:rPr>
                        <a:t>施設増加）</a:t>
                      </a:r>
                      <a:endParaRPr lang="en-US" altLang="ja-JP" sz="1800" b="1" i="0" u="none" strike="noStrike" dirty="0">
                        <a:solidFill>
                          <a:srgbClr val="FF0000"/>
                        </a:solidFill>
                        <a:effectLst/>
                        <a:latin typeface="+mn-lt"/>
                      </a:endParaRPr>
                    </a:p>
                  </a:txBody>
                  <a:tcPr marL="7620" marR="7620" marT="7620" marB="0" anchor="ctr"/>
                </a:tc>
                <a:extLst>
                  <a:ext uri="{0D108BD9-81ED-4DB2-BD59-A6C34878D82A}">
                    <a16:rowId xmlns:a16="http://schemas.microsoft.com/office/drawing/2014/main" val="4225568773"/>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施設会員数</a:t>
                      </a:r>
                      <a:endParaRPr lang="en-US" altLang="ja-JP" sz="18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altLang="ja-JP" sz="1800" b="1" i="0" u="none" strike="noStrike" dirty="0">
                          <a:solidFill>
                            <a:schemeClr val="tx1"/>
                          </a:solidFill>
                          <a:effectLst/>
                          <a:latin typeface="+mn-lt"/>
                        </a:rPr>
                        <a:t>699</a:t>
                      </a:r>
                      <a:r>
                        <a:rPr lang="ja-JP" altLang="en-US" sz="1800" b="1" i="0" u="none" strike="noStrike" dirty="0">
                          <a:solidFill>
                            <a:schemeClr val="tx1"/>
                          </a:solidFill>
                          <a:effectLst/>
                          <a:latin typeface="+mn-lt"/>
                        </a:rPr>
                        <a:t>施設</a:t>
                      </a:r>
                      <a:endParaRPr lang="en-US" altLang="ja-JP" sz="1800" b="1" i="0" u="none" strike="noStrike" dirty="0">
                        <a:solidFill>
                          <a:schemeClr val="tx1"/>
                        </a:solidFill>
                        <a:effectLst/>
                        <a:latin typeface="+mn-lt"/>
                      </a:endParaRPr>
                    </a:p>
                  </a:txBody>
                  <a:tcPr marL="7620" marR="7620" marT="7620" marB="0" anchor="ctr"/>
                </a:tc>
                <a:extLst>
                  <a:ext uri="{0D108BD9-81ED-4DB2-BD59-A6C34878D82A}">
                    <a16:rowId xmlns:a16="http://schemas.microsoft.com/office/drawing/2014/main" val="1938006479"/>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施設会員全体に対する</a:t>
                      </a:r>
                      <a:endParaRPr lang="en-US" altLang="ja-JP" sz="1800" b="1" i="0" u="none" strike="noStrike" dirty="0">
                        <a:solidFill>
                          <a:srgbClr val="000000"/>
                        </a:solidFill>
                        <a:effectLst/>
                        <a:latin typeface="Arial" panose="020B0604020202020204" pitchFamily="34" charset="0"/>
                      </a:endParaRPr>
                    </a:p>
                    <a:p>
                      <a:pPr algn="ctr" fontAlgn="b">
                        <a:buNone/>
                      </a:pPr>
                      <a:r>
                        <a:rPr lang="ja-JP" altLang="en-US" sz="1800" b="1" i="0" u="none" strike="noStrike" dirty="0">
                          <a:solidFill>
                            <a:srgbClr val="000000"/>
                          </a:solidFill>
                          <a:effectLst/>
                          <a:latin typeface="Arial" panose="020B0604020202020204" pitchFamily="34" charset="0"/>
                        </a:rPr>
                        <a:t>回答の割合</a:t>
                      </a:r>
                    </a:p>
                  </a:txBody>
                  <a:tcPr marL="7620" marR="7620" marT="7620" marB="0" anchor="ctr"/>
                </a:tc>
                <a:tc>
                  <a:txBody>
                    <a:bodyPr/>
                    <a:lstStyle/>
                    <a:p>
                      <a:pPr algn="ctr" fontAlgn="b">
                        <a:buNone/>
                      </a:pPr>
                      <a:r>
                        <a:rPr lang="en-US" altLang="ja-JP" sz="1800" b="1" i="0" u="none" strike="noStrike" dirty="0">
                          <a:solidFill>
                            <a:srgbClr val="FF0000"/>
                          </a:solidFill>
                          <a:effectLst/>
                          <a:latin typeface="+mn-lt"/>
                        </a:rPr>
                        <a:t>41.3%</a:t>
                      </a:r>
                      <a:br>
                        <a:rPr lang="en-US" altLang="ja-JP" sz="1800" b="1" i="0" u="none" strike="noStrike" dirty="0">
                          <a:solidFill>
                            <a:srgbClr val="FF0000"/>
                          </a:solidFill>
                          <a:effectLst/>
                          <a:latin typeface="+mn-lt"/>
                        </a:rPr>
                      </a:br>
                      <a:r>
                        <a:rPr lang="ja-JP" altLang="en-US" sz="1800" b="1" i="0" u="none" strike="noStrike" dirty="0">
                          <a:solidFill>
                            <a:srgbClr val="FF0000"/>
                          </a:solidFill>
                          <a:effectLst/>
                          <a:latin typeface="+mn-lt"/>
                        </a:rPr>
                        <a:t>（</a:t>
                      </a:r>
                      <a:r>
                        <a:rPr lang="en-US" altLang="ja-JP" sz="1800" b="1" i="0" u="none" strike="noStrike" dirty="0">
                          <a:solidFill>
                            <a:srgbClr val="FF0000"/>
                          </a:solidFill>
                          <a:effectLst/>
                          <a:latin typeface="+mn-lt"/>
                        </a:rPr>
                        <a:t>5.6</a:t>
                      </a:r>
                      <a:r>
                        <a:rPr lang="ja-JP" altLang="en-US" sz="1800" b="1" i="0" u="none" strike="noStrike" dirty="0">
                          <a:solidFill>
                            <a:srgbClr val="FF0000"/>
                          </a:solidFill>
                          <a:effectLst/>
                          <a:latin typeface="+mn-lt"/>
                        </a:rPr>
                        <a:t>％向上）</a:t>
                      </a:r>
                      <a:endParaRPr lang="en-US" altLang="ja-JP" sz="1800" b="1" i="0" u="none" strike="noStrike" dirty="0">
                        <a:solidFill>
                          <a:srgbClr val="FF0000"/>
                        </a:solidFill>
                        <a:effectLst/>
                        <a:latin typeface="+mn-lt"/>
                      </a:endParaRPr>
                    </a:p>
                  </a:txBody>
                  <a:tcPr marL="7620" marR="7620" marT="7620" marB="0" anchor="ctr"/>
                </a:tc>
                <a:extLst>
                  <a:ext uri="{0D108BD9-81ED-4DB2-BD59-A6C34878D82A}">
                    <a16:rowId xmlns:a16="http://schemas.microsoft.com/office/drawing/2014/main" val="512668420"/>
                  </a:ext>
                </a:extLst>
              </a:tr>
            </a:tbl>
          </a:graphicData>
        </a:graphic>
      </p:graphicFrame>
      <p:sp>
        <p:nvSpPr>
          <p:cNvPr id="14" name="テキスト ボックス 13">
            <a:extLst>
              <a:ext uri="{FF2B5EF4-FFF2-40B4-BE49-F238E27FC236}">
                <a16:creationId xmlns:a16="http://schemas.microsoft.com/office/drawing/2014/main" id="{C522C489-5529-F0EC-3927-274DC1B791B9}"/>
              </a:ext>
            </a:extLst>
          </p:cNvPr>
          <p:cNvSpPr txBox="1"/>
          <p:nvPr/>
        </p:nvSpPr>
        <p:spPr>
          <a:xfrm>
            <a:off x="7021285" y="1375637"/>
            <a:ext cx="4212772"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第</a:t>
            </a:r>
            <a:r>
              <a:rPr lang="en-US" altLang="ja-JP" sz="3200" dirty="0"/>
              <a:t>2</a:t>
            </a:r>
            <a:r>
              <a:rPr lang="ja-JP" altLang="en-US" sz="3200" dirty="0"/>
              <a:t>回調査時</a:t>
            </a:r>
          </a:p>
        </p:txBody>
      </p:sp>
      <p:graphicFrame>
        <p:nvGraphicFramePr>
          <p:cNvPr id="17" name="表 16">
            <a:extLst>
              <a:ext uri="{FF2B5EF4-FFF2-40B4-BE49-F238E27FC236}">
                <a16:creationId xmlns:a16="http://schemas.microsoft.com/office/drawing/2014/main" id="{767E2A39-B0BF-D77D-C3CB-DCEB41ABF618}"/>
              </a:ext>
            </a:extLst>
          </p:cNvPr>
          <p:cNvGraphicFramePr>
            <a:graphicFrameLocks noGrp="1"/>
          </p:cNvGraphicFramePr>
          <p:nvPr>
            <p:extLst>
              <p:ext uri="{D42A27DB-BD31-4B8C-83A1-F6EECF244321}">
                <p14:modId xmlns:p14="http://schemas.microsoft.com/office/powerpoint/2010/main" val="3334666982"/>
              </p:ext>
            </p:extLst>
          </p:nvPr>
        </p:nvGraphicFramePr>
        <p:xfrm>
          <a:off x="751114" y="2144079"/>
          <a:ext cx="4626430" cy="4014180"/>
        </p:xfrm>
        <a:graphic>
          <a:graphicData uri="http://schemas.openxmlformats.org/drawingml/2006/table">
            <a:tbl>
              <a:tblPr firstRow="1" bandRow="1">
                <a:tableStyleId>{5C22544A-7EE6-4342-B048-85BDC9FD1C3A}</a:tableStyleId>
              </a:tblPr>
              <a:tblGrid>
                <a:gridCol w="2313215">
                  <a:extLst>
                    <a:ext uri="{9D8B030D-6E8A-4147-A177-3AD203B41FA5}">
                      <a16:colId xmlns:a16="http://schemas.microsoft.com/office/drawing/2014/main" val="1550377052"/>
                    </a:ext>
                  </a:extLst>
                </a:gridCol>
                <a:gridCol w="2313215">
                  <a:extLst>
                    <a:ext uri="{9D8B030D-6E8A-4147-A177-3AD203B41FA5}">
                      <a16:colId xmlns:a16="http://schemas.microsoft.com/office/drawing/2014/main" val="4232593559"/>
                    </a:ext>
                  </a:extLst>
                </a:gridCol>
              </a:tblGrid>
              <a:tr h="1003545">
                <a:tc>
                  <a:txBody>
                    <a:bodyPr/>
                    <a:lstStyle/>
                    <a:p>
                      <a:pPr algn="ctr" fontAlgn="b">
                        <a:buNone/>
                      </a:pPr>
                      <a:r>
                        <a:rPr lang="ja-JP" altLang="en-US" sz="1800" b="1" i="0" u="none" strike="noStrike" dirty="0">
                          <a:solidFill>
                            <a:schemeClr val="bg1"/>
                          </a:solidFill>
                          <a:effectLst/>
                          <a:latin typeface="Arial" panose="020B0604020202020204" pitchFamily="34" charset="0"/>
                        </a:rPr>
                        <a:t>総回答施設数</a:t>
                      </a:r>
                    </a:p>
                  </a:txBody>
                  <a:tcPr marL="7620" marR="7620" marT="7620" marB="0" anchor="ctr"/>
                </a:tc>
                <a:tc>
                  <a:txBody>
                    <a:bodyPr/>
                    <a:lstStyle/>
                    <a:p>
                      <a:pPr algn="ctr" fontAlgn="b">
                        <a:buNone/>
                      </a:pPr>
                      <a:r>
                        <a:rPr lang="en-US" altLang="ja-JP" sz="1800" b="1" i="0" u="none" strike="noStrike" dirty="0">
                          <a:solidFill>
                            <a:schemeClr val="bg1"/>
                          </a:solidFill>
                          <a:effectLst/>
                          <a:latin typeface="+mn-lt"/>
                        </a:rPr>
                        <a:t>237</a:t>
                      </a:r>
                      <a:r>
                        <a:rPr lang="ja-JP" altLang="en-US" sz="1800" b="1" i="0" u="none" strike="noStrike" dirty="0">
                          <a:solidFill>
                            <a:schemeClr val="bg1"/>
                          </a:solidFill>
                          <a:effectLst/>
                          <a:latin typeface="+mn-lt"/>
                        </a:rPr>
                        <a:t>施設</a:t>
                      </a:r>
                      <a:endParaRPr lang="en-US" altLang="ja-JP" sz="1800" b="1" i="0" u="none" strike="noStrike" dirty="0">
                        <a:solidFill>
                          <a:schemeClr val="bg1"/>
                        </a:solidFill>
                        <a:effectLst/>
                        <a:latin typeface="+mn-lt"/>
                      </a:endParaRPr>
                    </a:p>
                  </a:txBody>
                  <a:tcPr marL="7620" marR="7620" marT="7620" marB="0" anchor="ctr"/>
                </a:tc>
                <a:extLst>
                  <a:ext uri="{0D108BD9-81ED-4DB2-BD59-A6C34878D82A}">
                    <a16:rowId xmlns:a16="http://schemas.microsoft.com/office/drawing/2014/main" val="2850673148"/>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有効回答施設数</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234</a:t>
                      </a:r>
                      <a:r>
                        <a:rPr lang="ja-JP" altLang="en-US" sz="1800" b="1" i="0" u="none" strike="noStrike" dirty="0">
                          <a:solidFill>
                            <a:srgbClr val="000000"/>
                          </a:solidFill>
                          <a:effectLst/>
                          <a:latin typeface="+mn-lt"/>
                        </a:rPr>
                        <a:t>施設</a:t>
                      </a:r>
                      <a:endParaRPr lang="en-US" altLang="ja-JP" sz="1800" b="1"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4225568773"/>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施設会員数</a:t>
                      </a:r>
                      <a:endParaRPr lang="en-US" altLang="ja-JP" sz="18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663</a:t>
                      </a:r>
                      <a:r>
                        <a:rPr lang="ja-JP" altLang="en-US" sz="1800" b="1" i="0" u="none" strike="noStrike" dirty="0">
                          <a:solidFill>
                            <a:srgbClr val="000000"/>
                          </a:solidFill>
                          <a:effectLst/>
                          <a:latin typeface="+mn-lt"/>
                        </a:rPr>
                        <a:t>施設</a:t>
                      </a:r>
                      <a:endParaRPr lang="en-US" altLang="ja-JP" sz="1800" b="1" i="0" u="none" strike="noStrike" dirty="0">
                        <a:solidFill>
                          <a:srgbClr val="000000"/>
                        </a:solidFill>
                        <a:effectLst/>
                        <a:latin typeface="+mn-lt"/>
                      </a:endParaRPr>
                    </a:p>
                  </a:txBody>
                  <a:tcPr marL="7620" marR="7620" marT="7620" marB="0" anchor="ctr"/>
                </a:tc>
                <a:extLst>
                  <a:ext uri="{0D108BD9-81ED-4DB2-BD59-A6C34878D82A}">
                    <a16:rowId xmlns:a16="http://schemas.microsoft.com/office/drawing/2014/main" val="1938006479"/>
                  </a:ext>
                </a:extLst>
              </a:tr>
              <a:tr h="1003545">
                <a:tc>
                  <a:txBody>
                    <a:bodyPr/>
                    <a:lstStyle/>
                    <a:p>
                      <a:pPr algn="ctr" fontAlgn="b">
                        <a:buNone/>
                      </a:pPr>
                      <a:r>
                        <a:rPr lang="ja-JP" altLang="en-US" sz="1800" b="1" i="0" u="none" strike="noStrike" dirty="0">
                          <a:solidFill>
                            <a:srgbClr val="000000"/>
                          </a:solidFill>
                          <a:effectLst/>
                          <a:latin typeface="Arial" panose="020B0604020202020204" pitchFamily="34" charset="0"/>
                        </a:rPr>
                        <a:t>施設会員全体に対する</a:t>
                      </a:r>
                      <a:endParaRPr lang="en-US" altLang="ja-JP" sz="1800" b="1" i="0" u="none" strike="noStrike" dirty="0">
                        <a:solidFill>
                          <a:srgbClr val="000000"/>
                        </a:solidFill>
                        <a:effectLst/>
                        <a:latin typeface="Arial" panose="020B0604020202020204" pitchFamily="34" charset="0"/>
                      </a:endParaRPr>
                    </a:p>
                    <a:p>
                      <a:pPr algn="ctr" fontAlgn="b">
                        <a:buNone/>
                      </a:pPr>
                      <a:r>
                        <a:rPr lang="ja-JP" altLang="en-US" sz="1800" b="1" i="0" u="none" strike="noStrike" dirty="0">
                          <a:solidFill>
                            <a:srgbClr val="000000"/>
                          </a:solidFill>
                          <a:effectLst/>
                          <a:latin typeface="Arial" panose="020B0604020202020204" pitchFamily="34" charset="0"/>
                        </a:rPr>
                        <a:t>回答の割合</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35.7%</a:t>
                      </a:r>
                    </a:p>
                  </a:txBody>
                  <a:tcPr marL="7620" marR="7620" marT="7620" marB="0" anchor="ctr"/>
                </a:tc>
                <a:extLst>
                  <a:ext uri="{0D108BD9-81ED-4DB2-BD59-A6C34878D82A}">
                    <a16:rowId xmlns:a16="http://schemas.microsoft.com/office/drawing/2014/main" val="512668420"/>
                  </a:ext>
                </a:extLst>
              </a:tr>
            </a:tbl>
          </a:graphicData>
        </a:graphic>
      </p:graphicFrame>
      <p:sp>
        <p:nvSpPr>
          <p:cNvPr id="18" name="テキスト ボックス 17">
            <a:extLst>
              <a:ext uri="{FF2B5EF4-FFF2-40B4-BE49-F238E27FC236}">
                <a16:creationId xmlns:a16="http://schemas.microsoft.com/office/drawing/2014/main" id="{59D9A200-655F-F3F9-FABF-7EB88670ECB3}"/>
              </a:ext>
            </a:extLst>
          </p:cNvPr>
          <p:cNvSpPr txBox="1"/>
          <p:nvPr/>
        </p:nvSpPr>
        <p:spPr>
          <a:xfrm>
            <a:off x="957943" y="1375637"/>
            <a:ext cx="4212772"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第</a:t>
            </a:r>
            <a:r>
              <a:rPr lang="en-US" altLang="ja-JP" sz="3200" dirty="0"/>
              <a:t>1</a:t>
            </a:r>
            <a:r>
              <a:rPr lang="ja-JP" altLang="en-US" sz="3200" dirty="0"/>
              <a:t>回調査時</a:t>
            </a:r>
          </a:p>
        </p:txBody>
      </p:sp>
      <p:sp>
        <p:nvSpPr>
          <p:cNvPr id="19" name="矢印: 下 18">
            <a:extLst>
              <a:ext uri="{FF2B5EF4-FFF2-40B4-BE49-F238E27FC236}">
                <a16:creationId xmlns:a16="http://schemas.microsoft.com/office/drawing/2014/main" id="{DE9368EA-324E-F85C-D3B7-5A8E4336D8E2}"/>
              </a:ext>
            </a:extLst>
          </p:cNvPr>
          <p:cNvSpPr/>
          <p:nvPr/>
        </p:nvSpPr>
        <p:spPr>
          <a:xfrm rot="16200000">
            <a:off x="5582394" y="3557652"/>
            <a:ext cx="1102920" cy="118703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3118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9FDEB-C043-D160-F666-D8A841C0F2B9}"/>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5459935-24FB-EB06-2D89-466519A84F94}"/>
              </a:ext>
            </a:extLst>
          </p:cNvPr>
          <p:cNvSpPr txBox="1"/>
          <p:nvPr/>
        </p:nvSpPr>
        <p:spPr>
          <a:xfrm>
            <a:off x="1545771" y="379608"/>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ご回答施設について（都道府県毎）　計：</a:t>
            </a:r>
            <a:r>
              <a:rPr lang="en-US" altLang="ja-JP" sz="3200" dirty="0"/>
              <a:t>289</a:t>
            </a:r>
            <a:r>
              <a:rPr lang="ja-JP" altLang="en-US" sz="3200" dirty="0"/>
              <a:t>件</a:t>
            </a:r>
          </a:p>
        </p:txBody>
      </p:sp>
      <p:graphicFrame>
        <p:nvGraphicFramePr>
          <p:cNvPr id="6" name="表 5">
            <a:extLst>
              <a:ext uri="{FF2B5EF4-FFF2-40B4-BE49-F238E27FC236}">
                <a16:creationId xmlns:a16="http://schemas.microsoft.com/office/drawing/2014/main" id="{651B8389-5E16-EEAF-91B8-DE69DE638ECC}"/>
              </a:ext>
            </a:extLst>
          </p:cNvPr>
          <p:cNvGraphicFramePr>
            <a:graphicFrameLocks noGrp="1"/>
          </p:cNvGraphicFramePr>
          <p:nvPr>
            <p:extLst>
              <p:ext uri="{D42A27DB-BD31-4B8C-83A1-F6EECF244321}">
                <p14:modId xmlns:p14="http://schemas.microsoft.com/office/powerpoint/2010/main" val="2587616231"/>
              </p:ext>
            </p:extLst>
          </p:nvPr>
        </p:nvGraphicFramePr>
        <p:xfrm>
          <a:off x="489858" y="1605975"/>
          <a:ext cx="5442859" cy="4689544"/>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586193">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北海道</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38.7%</a:t>
                      </a:r>
                    </a:p>
                  </a:txBody>
                  <a:tcPr marL="7620" marR="7620" marT="7620" marB="0" anchor="ctr"/>
                </a:tc>
                <a:extLst>
                  <a:ext uri="{0D108BD9-81ED-4DB2-BD59-A6C34878D82A}">
                    <a16:rowId xmlns:a16="http://schemas.microsoft.com/office/drawing/2014/main" val="4225568773"/>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青森県</a:t>
                      </a:r>
                      <a:endParaRPr lang="en-US" altLang="ja-JP" sz="18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altLang="ja-JP" sz="1800" b="1" i="0" u="none" strike="noStrike">
                          <a:solidFill>
                            <a:srgbClr val="000000"/>
                          </a:solidFill>
                          <a:effectLst/>
                          <a:latin typeface="+mn-lt"/>
                        </a:rPr>
                        <a:t>6</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66.7%</a:t>
                      </a:r>
                    </a:p>
                  </a:txBody>
                  <a:tcPr marL="7620" marR="7620" marT="7620" marB="0" anchor="ctr"/>
                </a:tc>
                <a:extLst>
                  <a:ext uri="{0D108BD9-81ED-4DB2-BD59-A6C34878D82A}">
                    <a16:rowId xmlns:a16="http://schemas.microsoft.com/office/drawing/2014/main" val="1938006479"/>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岩手県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100.0%</a:t>
                      </a:r>
                    </a:p>
                  </a:txBody>
                  <a:tcPr marL="7620" marR="7620" marT="7620" marB="0" anchor="ctr"/>
                </a:tc>
                <a:extLst>
                  <a:ext uri="{0D108BD9-81ED-4DB2-BD59-A6C34878D82A}">
                    <a16:rowId xmlns:a16="http://schemas.microsoft.com/office/drawing/2014/main" val="512668420"/>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宮城県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36.4%</a:t>
                      </a:r>
                    </a:p>
                  </a:txBody>
                  <a:tcPr marL="7620" marR="7620" marT="7620" marB="0" anchor="ctr"/>
                </a:tc>
                <a:extLst>
                  <a:ext uri="{0D108BD9-81ED-4DB2-BD59-A6C34878D82A}">
                    <a16:rowId xmlns:a16="http://schemas.microsoft.com/office/drawing/2014/main" val="263640291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秋田県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25.0%</a:t>
                      </a:r>
                    </a:p>
                  </a:txBody>
                  <a:tcPr marL="7620" marR="7620" marT="7620" marB="0" anchor="ctr"/>
                </a:tc>
                <a:extLst>
                  <a:ext uri="{0D108BD9-81ED-4DB2-BD59-A6C34878D82A}">
                    <a16:rowId xmlns:a16="http://schemas.microsoft.com/office/drawing/2014/main" val="301901755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山形県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28.6%</a:t>
                      </a:r>
                    </a:p>
                  </a:txBody>
                  <a:tcPr marL="7620" marR="7620" marT="7620" marB="0" anchor="ctr"/>
                </a:tc>
                <a:extLst>
                  <a:ext uri="{0D108BD9-81ED-4DB2-BD59-A6C34878D82A}">
                    <a16:rowId xmlns:a16="http://schemas.microsoft.com/office/drawing/2014/main" val="170661928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福島県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87.5%</a:t>
                      </a:r>
                    </a:p>
                  </a:txBody>
                  <a:tcPr marL="7620" marR="7620" marT="7620" marB="0" anchor="ctr"/>
                </a:tc>
                <a:extLst>
                  <a:ext uri="{0D108BD9-81ED-4DB2-BD59-A6C34878D82A}">
                    <a16:rowId xmlns:a16="http://schemas.microsoft.com/office/drawing/2014/main" val="1975964307"/>
                  </a:ext>
                </a:extLst>
              </a:tr>
            </a:tbl>
          </a:graphicData>
        </a:graphic>
      </p:graphicFrame>
      <p:graphicFrame>
        <p:nvGraphicFramePr>
          <p:cNvPr id="7" name="表 6">
            <a:extLst>
              <a:ext uri="{FF2B5EF4-FFF2-40B4-BE49-F238E27FC236}">
                <a16:creationId xmlns:a16="http://schemas.microsoft.com/office/drawing/2014/main" id="{0DAD10F4-E4A9-8E66-1EF3-DDBAD755B4BF}"/>
              </a:ext>
            </a:extLst>
          </p:cNvPr>
          <p:cNvGraphicFramePr>
            <a:graphicFrameLocks noGrp="1"/>
          </p:cNvGraphicFramePr>
          <p:nvPr>
            <p:extLst>
              <p:ext uri="{D42A27DB-BD31-4B8C-83A1-F6EECF244321}">
                <p14:modId xmlns:p14="http://schemas.microsoft.com/office/powerpoint/2010/main" val="1288818745"/>
              </p:ext>
            </p:extLst>
          </p:nvPr>
        </p:nvGraphicFramePr>
        <p:xfrm>
          <a:off x="6259283" y="1605975"/>
          <a:ext cx="5442859" cy="4689544"/>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586193">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茨城県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28.6%</a:t>
                      </a:r>
                    </a:p>
                  </a:txBody>
                  <a:tcPr marL="7620" marR="7620" marT="7620" marB="0" anchor="ctr"/>
                </a:tc>
                <a:extLst>
                  <a:ext uri="{0D108BD9-81ED-4DB2-BD59-A6C34878D82A}">
                    <a16:rowId xmlns:a16="http://schemas.microsoft.com/office/drawing/2014/main" val="4225568773"/>
                  </a:ext>
                </a:extLst>
              </a:tr>
              <a:tr h="586193">
                <a:tc>
                  <a:txBody>
                    <a:bodyPr/>
                    <a:lstStyle/>
                    <a:p>
                      <a:pPr algn="ctr" fontAlgn="b">
                        <a:buNone/>
                      </a:pPr>
                      <a:r>
                        <a:rPr lang="ja-JP" altLang="en-US" sz="1800" b="1" i="0" u="none" strike="noStrike">
                          <a:solidFill>
                            <a:srgbClr val="000000"/>
                          </a:solidFill>
                          <a:effectLst/>
                          <a:latin typeface="Arial" panose="020B0604020202020204" pitchFamily="34" charset="0"/>
                        </a:rPr>
                        <a:t>栃木県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66.7%</a:t>
                      </a:r>
                    </a:p>
                  </a:txBody>
                  <a:tcPr marL="7620" marR="7620" marT="7620" marB="0" anchor="ctr"/>
                </a:tc>
                <a:extLst>
                  <a:ext uri="{0D108BD9-81ED-4DB2-BD59-A6C34878D82A}">
                    <a16:rowId xmlns:a16="http://schemas.microsoft.com/office/drawing/2014/main" val="1938006479"/>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群馬県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10.0%</a:t>
                      </a:r>
                    </a:p>
                  </a:txBody>
                  <a:tcPr marL="7620" marR="7620" marT="7620" marB="0" anchor="ctr"/>
                </a:tc>
                <a:extLst>
                  <a:ext uri="{0D108BD9-81ED-4DB2-BD59-A6C34878D82A}">
                    <a16:rowId xmlns:a16="http://schemas.microsoft.com/office/drawing/2014/main" val="512668420"/>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埼玉県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37.9%</a:t>
                      </a:r>
                    </a:p>
                  </a:txBody>
                  <a:tcPr marL="7620" marR="7620" marT="7620" marB="0" anchor="ctr"/>
                </a:tc>
                <a:extLst>
                  <a:ext uri="{0D108BD9-81ED-4DB2-BD59-A6C34878D82A}">
                    <a16:rowId xmlns:a16="http://schemas.microsoft.com/office/drawing/2014/main" val="263640291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千葉県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43.5%</a:t>
                      </a:r>
                    </a:p>
                  </a:txBody>
                  <a:tcPr marL="7620" marR="7620" marT="7620" marB="0" anchor="ctr"/>
                </a:tc>
                <a:extLst>
                  <a:ext uri="{0D108BD9-81ED-4DB2-BD59-A6C34878D82A}">
                    <a16:rowId xmlns:a16="http://schemas.microsoft.com/office/drawing/2014/main" val="301901755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東京都</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30.2%</a:t>
                      </a:r>
                    </a:p>
                  </a:txBody>
                  <a:tcPr marL="7620" marR="7620" marT="7620" marB="0" anchor="ctr"/>
                </a:tc>
                <a:extLst>
                  <a:ext uri="{0D108BD9-81ED-4DB2-BD59-A6C34878D82A}">
                    <a16:rowId xmlns:a16="http://schemas.microsoft.com/office/drawing/2014/main" val="1706619286"/>
                  </a:ext>
                </a:extLst>
              </a:tr>
              <a:tr h="586193">
                <a:tc>
                  <a:txBody>
                    <a:bodyPr/>
                    <a:lstStyle/>
                    <a:p>
                      <a:pPr algn="ctr" fontAlgn="b">
                        <a:buNone/>
                      </a:pPr>
                      <a:r>
                        <a:rPr lang="ja-JP" altLang="en-US" sz="1800" b="1" i="0" u="none" strike="noStrike" dirty="0">
                          <a:solidFill>
                            <a:srgbClr val="000000"/>
                          </a:solidFill>
                          <a:effectLst/>
                          <a:latin typeface="Arial" panose="020B0604020202020204" pitchFamily="34" charset="0"/>
                        </a:rPr>
                        <a:t>神奈川県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35</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37.1%</a:t>
                      </a:r>
                    </a:p>
                  </a:txBody>
                  <a:tcPr marL="7620" marR="7620" marT="7620" marB="0" anchor="ctr"/>
                </a:tc>
                <a:extLst>
                  <a:ext uri="{0D108BD9-81ED-4DB2-BD59-A6C34878D82A}">
                    <a16:rowId xmlns:a16="http://schemas.microsoft.com/office/drawing/2014/main" val="1975964307"/>
                  </a:ext>
                </a:extLst>
              </a:tr>
            </a:tbl>
          </a:graphicData>
        </a:graphic>
      </p:graphicFrame>
      <p:sp>
        <p:nvSpPr>
          <p:cNvPr id="8" name="テキスト ボックス 7">
            <a:extLst>
              <a:ext uri="{FF2B5EF4-FFF2-40B4-BE49-F238E27FC236}">
                <a16:creationId xmlns:a16="http://schemas.microsoft.com/office/drawing/2014/main" id="{1823ABD1-6CF4-F508-0F04-85E525403511}"/>
              </a:ext>
            </a:extLst>
          </p:cNvPr>
          <p:cNvSpPr txBox="1"/>
          <p:nvPr/>
        </p:nvSpPr>
        <p:spPr>
          <a:xfrm>
            <a:off x="500744" y="1144310"/>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北海道・東北地方</a:t>
            </a:r>
          </a:p>
        </p:txBody>
      </p:sp>
      <p:sp>
        <p:nvSpPr>
          <p:cNvPr id="9" name="テキスト ボックス 8">
            <a:extLst>
              <a:ext uri="{FF2B5EF4-FFF2-40B4-BE49-F238E27FC236}">
                <a16:creationId xmlns:a16="http://schemas.microsoft.com/office/drawing/2014/main" id="{032E6A00-CCB0-3E63-B7D4-B86DC8F955AE}"/>
              </a:ext>
            </a:extLst>
          </p:cNvPr>
          <p:cNvSpPr txBox="1"/>
          <p:nvPr/>
        </p:nvSpPr>
        <p:spPr>
          <a:xfrm>
            <a:off x="6270175" y="1144310"/>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関東地方</a:t>
            </a:r>
          </a:p>
        </p:txBody>
      </p:sp>
    </p:spTree>
    <p:extLst>
      <p:ext uri="{BB962C8B-B14F-4D97-AF65-F5344CB8AC3E}">
        <p14:creationId xmlns:p14="http://schemas.microsoft.com/office/powerpoint/2010/main" val="1548591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037BF-723F-F995-CCA4-D882B6028694}"/>
            </a:ext>
          </a:extLst>
        </p:cNvPr>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E79AA4F-C1EB-2887-3C13-51B1E017D0B9}"/>
              </a:ext>
            </a:extLst>
          </p:cNvPr>
          <p:cNvSpPr>
            <a:spLocks noGrp="1"/>
          </p:cNvSpPr>
          <p:nvPr>
            <p:ph type="ftr" sz="quarter" idx="11"/>
          </p:nvPr>
        </p:nvSpPr>
        <p:spPr>
          <a:xfrm>
            <a:off x="8980713" y="1393371"/>
            <a:ext cx="2721430" cy="212602"/>
          </a:xfrm>
        </p:spPr>
        <p:txBody>
          <a:bodyPr/>
          <a:lstStyle/>
          <a:p>
            <a:r>
              <a:rPr kumimoji="1" lang="en-US" altLang="ja-JP" sz="1050" dirty="0">
                <a:solidFill>
                  <a:schemeClr val="tx1"/>
                </a:solidFill>
              </a:rPr>
              <a:t>※</a:t>
            </a:r>
            <a:r>
              <a:rPr kumimoji="1" lang="ja-JP" altLang="en-US" sz="1050" dirty="0">
                <a:solidFill>
                  <a:schemeClr val="tx1"/>
                </a:solidFill>
              </a:rPr>
              <a:t>三重県については、近畿地方として扱う</a:t>
            </a:r>
          </a:p>
        </p:txBody>
      </p:sp>
      <p:sp>
        <p:nvSpPr>
          <p:cNvPr id="4" name="テキスト ボックス 3">
            <a:extLst>
              <a:ext uri="{FF2B5EF4-FFF2-40B4-BE49-F238E27FC236}">
                <a16:creationId xmlns:a16="http://schemas.microsoft.com/office/drawing/2014/main" id="{544DBA29-8D83-7A75-2F65-D5EC516F3C7D}"/>
              </a:ext>
            </a:extLst>
          </p:cNvPr>
          <p:cNvSpPr txBox="1"/>
          <p:nvPr/>
        </p:nvSpPr>
        <p:spPr>
          <a:xfrm>
            <a:off x="1545771" y="379608"/>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ご回答施設について（都道府県毎）　計：</a:t>
            </a:r>
            <a:r>
              <a:rPr lang="en-US" altLang="ja-JP" sz="3200" dirty="0"/>
              <a:t>289</a:t>
            </a:r>
            <a:r>
              <a:rPr lang="ja-JP" altLang="en-US" sz="3200" dirty="0"/>
              <a:t>件</a:t>
            </a:r>
          </a:p>
        </p:txBody>
      </p:sp>
      <p:graphicFrame>
        <p:nvGraphicFramePr>
          <p:cNvPr id="6" name="表 5">
            <a:extLst>
              <a:ext uri="{FF2B5EF4-FFF2-40B4-BE49-F238E27FC236}">
                <a16:creationId xmlns:a16="http://schemas.microsoft.com/office/drawing/2014/main" id="{E35695DF-EC22-B7EF-CBD4-F32B32424396}"/>
              </a:ext>
            </a:extLst>
          </p:cNvPr>
          <p:cNvGraphicFramePr>
            <a:graphicFrameLocks noGrp="1"/>
          </p:cNvGraphicFramePr>
          <p:nvPr>
            <p:extLst>
              <p:ext uri="{D42A27DB-BD31-4B8C-83A1-F6EECF244321}">
                <p14:modId xmlns:p14="http://schemas.microsoft.com/office/powerpoint/2010/main" val="272876418"/>
              </p:ext>
            </p:extLst>
          </p:nvPr>
        </p:nvGraphicFramePr>
        <p:xfrm>
          <a:off x="489858" y="1605974"/>
          <a:ext cx="5442859" cy="4899793"/>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514615">
                <a:tc>
                  <a:txBody>
                    <a:bodyPr/>
                    <a:lstStyle/>
                    <a:p>
                      <a:pPr algn="ctr" fontAlgn="b">
                        <a:buNone/>
                      </a:pPr>
                      <a:r>
                        <a:rPr lang="ja-JP" altLang="en-US" sz="14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400" b="1" i="0" u="none" strike="noStrike" dirty="0">
                          <a:solidFill>
                            <a:schemeClr val="bg1"/>
                          </a:solidFill>
                          <a:effectLst/>
                          <a:latin typeface="+mn-lt"/>
                        </a:rPr>
                        <a:t>回答施設数</a:t>
                      </a:r>
                      <a:endParaRPr lang="en-US" altLang="ja-JP" sz="14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400" b="1" i="0" u="none" strike="noStrike" dirty="0">
                          <a:solidFill>
                            <a:schemeClr val="bg1"/>
                          </a:solidFill>
                          <a:effectLst/>
                          <a:latin typeface="+mn-lt"/>
                        </a:rPr>
                        <a:t>施設会員数</a:t>
                      </a:r>
                      <a:endParaRPr lang="en-US" altLang="ja-JP" sz="1400" b="1" i="0" u="none" strike="noStrike" dirty="0">
                        <a:solidFill>
                          <a:schemeClr val="bg1"/>
                        </a:solidFill>
                        <a:effectLst/>
                        <a:latin typeface="+mn-lt"/>
                      </a:endParaRPr>
                    </a:p>
                  </a:txBody>
                  <a:tcPr marL="7620" marR="7620" marT="7620" marB="0" anchor="ctr"/>
                </a:tc>
                <a:tc>
                  <a:txBody>
                    <a:bodyPr/>
                    <a:lstStyle/>
                    <a:p>
                      <a:pPr algn="ctr"/>
                      <a:r>
                        <a:rPr kumimoji="1" lang="ja-JP" altLang="en-US" sz="1400" b="1" dirty="0">
                          <a:latin typeface="+mn-lt"/>
                        </a:rPr>
                        <a:t>施設会員数に占める</a:t>
                      </a:r>
                      <a:endParaRPr kumimoji="1" lang="en-US" altLang="ja-JP" sz="1400" b="1" dirty="0">
                        <a:latin typeface="+mn-lt"/>
                      </a:endParaRPr>
                    </a:p>
                    <a:p>
                      <a:pPr algn="ctr"/>
                      <a:r>
                        <a:rPr kumimoji="1" lang="ja-JP" altLang="en-US" sz="1400" b="1" dirty="0">
                          <a:latin typeface="+mn-lt"/>
                        </a:rPr>
                        <a:t>回答施設の割合</a:t>
                      </a:r>
                    </a:p>
                  </a:txBody>
                  <a:tcPr marL="7620" marR="7620" marT="7620" marB="0" anchor="ctr"/>
                </a:tc>
                <a:extLst>
                  <a:ext uri="{0D108BD9-81ED-4DB2-BD59-A6C34878D82A}">
                    <a16:rowId xmlns:a16="http://schemas.microsoft.com/office/drawing/2014/main" val="2850673148"/>
                  </a:ext>
                </a:extLst>
              </a:tr>
              <a:tr h="487242">
                <a:tc>
                  <a:txBody>
                    <a:bodyPr/>
                    <a:lstStyle/>
                    <a:p>
                      <a:pPr algn="ctr" fontAlgn="b">
                        <a:buNone/>
                      </a:pPr>
                      <a:r>
                        <a:rPr lang="ja-JP" altLang="en-US" sz="1800" b="1" i="0" u="none" strike="noStrike">
                          <a:solidFill>
                            <a:srgbClr val="000000"/>
                          </a:solidFill>
                          <a:effectLst/>
                          <a:latin typeface="+mn-lt"/>
                        </a:rPr>
                        <a:t>新潟県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29.4%</a:t>
                      </a:r>
                    </a:p>
                  </a:txBody>
                  <a:tcPr marL="7620" marR="7620" marT="7620" marB="0" anchor="ctr"/>
                </a:tc>
                <a:extLst>
                  <a:ext uri="{0D108BD9-81ED-4DB2-BD59-A6C34878D82A}">
                    <a16:rowId xmlns:a16="http://schemas.microsoft.com/office/drawing/2014/main" val="4225568773"/>
                  </a:ext>
                </a:extLst>
              </a:tr>
              <a:tr h="487242">
                <a:tc>
                  <a:txBody>
                    <a:bodyPr/>
                    <a:lstStyle/>
                    <a:p>
                      <a:pPr algn="ctr" fontAlgn="b">
                        <a:buNone/>
                      </a:pPr>
                      <a:r>
                        <a:rPr lang="ja-JP" altLang="en-US" sz="1800" b="1" i="0" u="none" strike="noStrike">
                          <a:solidFill>
                            <a:srgbClr val="000000"/>
                          </a:solidFill>
                          <a:effectLst/>
                          <a:latin typeface="+mn-lt"/>
                        </a:rPr>
                        <a:t>富山県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55.6%</a:t>
                      </a:r>
                    </a:p>
                  </a:txBody>
                  <a:tcPr marL="7620" marR="7620" marT="7620" marB="0" anchor="ctr"/>
                </a:tc>
                <a:extLst>
                  <a:ext uri="{0D108BD9-81ED-4DB2-BD59-A6C34878D82A}">
                    <a16:rowId xmlns:a16="http://schemas.microsoft.com/office/drawing/2014/main" val="1938006479"/>
                  </a:ext>
                </a:extLst>
              </a:tr>
              <a:tr h="487242">
                <a:tc>
                  <a:txBody>
                    <a:bodyPr/>
                    <a:lstStyle/>
                    <a:p>
                      <a:pPr algn="ctr" fontAlgn="b">
                        <a:buNone/>
                      </a:pPr>
                      <a:r>
                        <a:rPr lang="ja-JP" altLang="en-US" sz="1800" b="1" i="0" u="none" strike="noStrike">
                          <a:solidFill>
                            <a:srgbClr val="000000"/>
                          </a:solidFill>
                          <a:effectLst/>
                          <a:latin typeface="+mn-lt"/>
                        </a:rPr>
                        <a:t>石川県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37.5%</a:t>
                      </a:r>
                    </a:p>
                  </a:txBody>
                  <a:tcPr marL="7620" marR="7620" marT="7620" marB="0" anchor="ctr"/>
                </a:tc>
                <a:extLst>
                  <a:ext uri="{0D108BD9-81ED-4DB2-BD59-A6C34878D82A}">
                    <a16:rowId xmlns:a16="http://schemas.microsoft.com/office/drawing/2014/main" val="512668420"/>
                  </a:ext>
                </a:extLst>
              </a:tr>
              <a:tr h="487242">
                <a:tc>
                  <a:txBody>
                    <a:bodyPr/>
                    <a:lstStyle/>
                    <a:p>
                      <a:pPr algn="ctr" fontAlgn="b">
                        <a:buNone/>
                      </a:pPr>
                      <a:r>
                        <a:rPr lang="ja-JP" altLang="en-US" sz="1800" b="1" i="0" u="none" strike="noStrike">
                          <a:solidFill>
                            <a:srgbClr val="000000"/>
                          </a:solidFill>
                          <a:effectLst/>
                          <a:latin typeface="+mn-lt"/>
                        </a:rPr>
                        <a:t>福井県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28.6%</a:t>
                      </a:r>
                    </a:p>
                  </a:txBody>
                  <a:tcPr marL="7620" marR="7620" marT="7620" marB="0" anchor="ctr"/>
                </a:tc>
                <a:extLst>
                  <a:ext uri="{0D108BD9-81ED-4DB2-BD59-A6C34878D82A}">
                    <a16:rowId xmlns:a16="http://schemas.microsoft.com/office/drawing/2014/main" val="2636402916"/>
                  </a:ext>
                </a:extLst>
              </a:tr>
              <a:tr h="487242">
                <a:tc>
                  <a:txBody>
                    <a:bodyPr/>
                    <a:lstStyle/>
                    <a:p>
                      <a:pPr algn="ctr" fontAlgn="b">
                        <a:buNone/>
                      </a:pPr>
                      <a:r>
                        <a:rPr lang="ja-JP" altLang="en-US" sz="1800" b="1" i="0" u="none" strike="noStrike">
                          <a:solidFill>
                            <a:srgbClr val="000000"/>
                          </a:solidFill>
                          <a:effectLst/>
                          <a:latin typeface="+mn-lt"/>
                        </a:rPr>
                        <a:t>山梨県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3019017556"/>
                  </a:ext>
                </a:extLst>
              </a:tr>
              <a:tr h="487242">
                <a:tc>
                  <a:txBody>
                    <a:bodyPr/>
                    <a:lstStyle/>
                    <a:p>
                      <a:pPr algn="ctr" fontAlgn="b">
                        <a:buNone/>
                      </a:pPr>
                      <a:r>
                        <a:rPr lang="ja-JP" altLang="en-US" sz="1800" b="1" i="0" u="none" strike="noStrike">
                          <a:solidFill>
                            <a:srgbClr val="000000"/>
                          </a:solidFill>
                          <a:effectLst/>
                          <a:latin typeface="+mn-lt"/>
                        </a:rPr>
                        <a:t>長野県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35.7%</a:t>
                      </a:r>
                    </a:p>
                  </a:txBody>
                  <a:tcPr marL="7620" marR="7620" marT="7620" marB="0" anchor="ctr"/>
                </a:tc>
                <a:extLst>
                  <a:ext uri="{0D108BD9-81ED-4DB2-BD59-A6C34878D82A}">
                    <a16:rowId xmlns:a16="http://schemas.microsoft.com/office/drawing/2014/main" val="1706619286"/>
                  </a:ext>
                </a:extLst>
              </a:tr>
              <a:tr h="487242">
                <a:tc>
                  <a:txBody>
                    <a:bodyPr/>
                    <a:lstStyle/>
                    <a:p>
                      <a:pPr algn="ctr" fontAlgn="b">
                        <a:buNone/>
                      </a:pPr>
                      <a:r>
                        <a:rPr lang="ja-JP" altLang="en-US" sz="1800" b="1" i="0" u="none" strike="noStrike">
                          <a:solidFill>
                            <a:srgbClr val="000000"/>
                          </a:solidFill>
                          <a:effectLst/>
                          <a:latin typeface="+mn-lt"/>
                        </a:rPr>
                        <a:t>岐阜県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64.3%</a:t>
                      </a:r>
                    </a:p>
                  </a:txBody>
                  <a:tcPr marL="7620" marR="7620" marT="7620" marB="0" anchor="ctr"/>
                </a:tc>
                <a:extLst>
                  <a:ext uri="{0D108BD9-81ED-4DB2-BD59-A6C34878D82A}">
                    <a16:rowId xmlns:a16="http://schemas.microsoft.com/office/drawing/2014/main" val="1975964307"/>
                  </a:ext>
                </a:extLst>
              </a:tr>
              <a:tr h="487242">
                <a:tc>
                  <a:txBody>
                    <a:bodyPr/>
                    <a:lstStyle/>
                    <a:p>
                      <a:pPr algn="ctr" fontAlgn="b">
                        <a:buNone/>
                      </a:pPr>
                      <a:r>
                        <a:rPr lang="ja-JP" altLang="en-US" sz="1800" b="1" i="0" u="none" strike="noStrike">
                          <a:solidFill>
                            <a:srgbClr val="000000"/>
                          </a:solidFill>
                          <a:effectLst/>
                          <a:latin typeface="+mn-lt"/>
                        </a:rPr>
                        <a:t>静岡県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1632596392"/>
                  </a:ext>
                </a:extLst>
              </a:tr>
              <a:tr h="487242">
                <a:tc>
                  <a:txBody>
                    <a:bodyPr/>
                    <a:lstStyle/>
                    <a:p>
                      <a:pPr algn="ctr" fontAlgn="b">
                        <a:buNone/>
                      </a:pPr>
                      <a:r>
                        <a:rPr lang="ja-JP" altLang="en-US" sz="1800" b="1" i="0" u="none" strike="noStrike">
                          <a:solidFill>
                            <a:srgbClr val="000000"/>
                          </a:solidFill>
                          <a:effectLst/>
                          <a:latin typeface="+mn-lt"/>
                        </a:rPr>
                        <a:t>愛知県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46</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43.5%</a:t>
                      </a:r>
                    </a:p>
                  </a:txBody>
                  <a:tcPr marL="7620" marR="7620" marT="7620" marB="0" anchor="ctr"/>
                </a:tc>
                <a:extLst>
                  <a:ext uri="{0D108BD9-81ED-4DB2-BD59-A6C34878D82A}">
                    <a16:rowId xmlns:a16="http://schemas.microsoft.com/office/drawing/2014/main" val="46259541"/>
                  </a:ext>
                </a:extLst>
              </a:tr>
            </a:tbl>
          </a:graphicData>
        </a:graphic>
      </p:graphicFrame>
      <p:graphicFrame>
        <p:nvGraphicFramePr>
          <p:cNvPr id="7" name="表 6">
            <a:extLst>
              <a:ext uri="{FF2B5EF4-FFF2-40B4-BE49-F238E27FC236}">
                <a16:creationId xmlns:a16="http://schemas.microsoft.com/office/drawing/2014/main" id="{F1DE1F48-CE5D-1707-94FF-448952DFB271}"/>
              </a:ext>
            </a:extLst>
          </p:cNvPr>
          <p:cNvGraphicFramePr>
            <a:graphicFrameLocks noGrp="1"/>
          </p:cNvGraphicFramePr>
          <p:nvPr>
            <p:extLst>
              <p:ext uri="{D42A27DB-BD31-4B8C-83A1-F6EECF244321}">
                <p14:modId xmlns:p14="http://schemas.microsoft.com/office/powerpoint/2010/main" val="2507713165"/>
              </p:ext>
            </p:extLst>
          </p:nvPr>
        </p:nvGraphicFramePr>
        <p:xfrm>
          <a:off x="6259283" y="1605974"/>
          <a:ext cx="5442859" cy="4872416"/>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609052">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609052">
                <a:tc>
                  <a:txBody>
                    <a:bodyPr/>
                    <a:lstStyle/>
                    <a:p>
                      <a:pPr algn="ctr" fontAlgn="b">
                        <a:buNone/>
                      </a:pPr>
                      <a:r>
                        <a:rPr lang="ja-JP" altLang="en-US" sz="1800" b="1" i="0" u="none" strike="noStrike">
                          <a:solidFill>
                            <a:srgbClr val="000000"/>
                          </a:solidFill>
                          <a:effectLst/>
                          <a:latin typeface="+mn-lt"/>
                        </a:rPr>
                        <a:t>三重県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69.2%</a:t>
                      </a:r>
                    </a:p>
                  </a:txBody>
                  <a:tcPr marL="7620" marR="7620" marT="7620" marB="0" anchor="ctr"/>
                </a:tc>
                <a:extLst>
                  <a:ext uri="{0D108BD9-81ED-4DB2-BD59-A6C34878D82A}">
                    <a16:rowId xmlns:a16="http://schemas.microsoft.com/office/drawing/2014/main" val="4225568773"/>
                  </a:ext>
                </a:extLst>
              </a:tr>
              <a:tr h="609052">
                <a:tc>
                  <a:txBody>
                    <a:bodyPr/>
                    <a:lstStyle/>
                    <a:p>
                      <a:pPr algn="ctr" fontAlgn="b">
                        <a:buNone/>
                      </a:pPr>
                      <a:r>
                        <a:rPr lang="ja-JP" altLang="en-US" sz="1800" b="1" i="0" u="none" strike="noStrike" dirty="0">
                          <a:solidFill>
                            <a:srgbClr val="000000"/>
                          </a:solidFill>
                          <a:effectLst/>
                          <a:latin typeface="+mn-lt"/>
                        </a:rPr>
                        <a:t>滋賀県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23.1%</a:t>
                      </a:r>
                    </a:p>
                  </a:txBody>
                  <a:tcPr marL="7620" marR="7620" marT="7620" marB="0" anchor="ctr"/>
                </a:tc>
                <a:extLst>
                  <a:ext uri="{0D108BD9-81ED-4DB2-BD59-A6C34878D82A}">
                    <a16:rowId xmlns:a16="http://schemas.microsoft.com/office/drawing/2014/main" val="1938006479"/>
                  </a:ext>
                </a:extLst>
              </a:tr>
              <a:tr h="609052">
                <a:tc>
                  <a:txBody>
                    <a:bodyPr/>
                    <a:lstStyle/>
                    <a:p>
                      <a:pPr algn="ctr" fontAlgn="b">
                        <a:buNone/>
                      </a:pPr>
                      <a:r>
                        <a:rPr lang="ja-JP" altLang="en-US" sz="1800" b="1" i="0" u="none" strike="noStrike">
                          <a:solidFill>
                            <a:srgbClr val="000000"/>
                          </a:solidFill>
                          <a:effectLst/>
                          <a:latin typeface="+mn-lt"/>
                        </a:rPr>
                        <a:t>京都府</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16</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43.8%</a:t>
                      </a:r>
                    </a:p>
                  </a:txBody>
                  <a:tcPr marL="7620" marR="7620" marT="7620" marB="0" anchor="ctr"/>
                </a:tc>
                <a:extLst>
                  <a:ext uri="{0D108BD9-81ED-4DB2-BD59-A6C34878D82A}">
                    <a16:rowId xmlns:a16="http://schemas.microsoft.com/office/drawing/2014/main" val="512668420"/>
                  </a:ext>
                </a:extLst>
              </a:tr>
              <a:tr h="609052">
                <a:tc>
                  <a:txBody>
                    <a:bodyPr/>
                    <a:lstStyle/>
                    <a:p>
                      <a:pPr algn="ctr" fontAlgn="b">
                        <a:buNone/>
                      </a:pPr>
                      <a:r>
                        <a:rPr lang="ja-JP" altLang="en-US" sz="1800" b="1" i="0" u="none" strike="noStrike">
                          <a:solidFill>
                            <a:srgbClr val="000000"/>
                          </a:solidFill>
                          <a:effectLst/>
                          <a:latin typeface="+mn-lt"/>
                        </a:rPr>
                        <a:t>大阪府</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49.0%</a:t>
                      </a:r>
                    </a:p>
                  </a:txBody>
                  <a:tcPr marL="7620" marR="7620" marT="7620" marB="0" anchor="ctr"/>
                </a:tc>
                <a:extLst>
                  <a:ext uri="{0D108BD9-81ED-4DB2-BD59-A6C34878D82A}">
                    <a16:rowId xmlns:a16="http://schemas.microsoft.com/office/drawing/2014/main" val="2636402916"/>
                  </a:ext>
                </a:extLst>
              </a:tr>
              <a:tr h="609052">
                <a:tc>
                  <a:txBody>
                    <a:bodyPr/>
                    <a:lstStyle/>
                    <a:p>
                      <a:pPr algn="ctr" fontAlgn="b">
                        <a:buNone/>
                      </a:pPr>
                      <a:r>
                        <a:rPr lang="ja-JP" altLang="en-US" sz="1800" b="1" i="0" u="none" strike="noStrike">
                          <a:solidFill>
                            <a:srgbClr val="000000"/>
                          </a:solidFill>
                          <a:effectLst/>
                          <a:latin typeface="+mn-lt"/>
                        </a:rPr>
                        <a:t>兵庫県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38.2%</a:t>
                      </a:r>
                    </a:p>
                  </a:txBody>
                  <a:tcPr marL="7620" marR="7620" marT="7620" marB="0" anchor="ctr"/>
                </a:tc>
                <a:extLst>
                  <a:ext uri="{0D108BD9-81ED-4DB2-BD59-A6C34878D82A}">
                    <a16:rowId xmlns:a16="http://schemas.microsoft.com/office/drawing/2014/main" val="3019017556"/>
                  </a:ext>
                </a:extLst>
              </a:tr>
              <a:tr h="609052">
                <a:tc>
                  <a:txBody>
                    <a:bodyPr/>
                    <a:lstStyle/>
                    <a:p>
                      <a:pPr algn="ctr" fontAlgn="b">
                        <a:buNone/>
                      </a:pPr>
                      <a:r>
                        <a:rPr lang="ja-JP" altLang="en-US" sz="1800" b="1" i="0" u="none" strike="noStrike">
                          <a:solidFill>
                            <a:srgbClr val="000000"/>
                          </a:solidFill>
                          <a:effectLst/>
                          <a:latin typeface="+mn-lt"/>
                        </a:rPr>
                        <a:t>奈良県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62.5%</a:t>
                      </a:r>
                    </a:p>
                  </a:txBody>
                  <a:tcPr marL="7620" marR="7620" marT="7620" marB="0" anchor="ctr"/>
                </a:tc>
                <a:extLst>
                  <a:ext uri="{0D108BD9-81ED-4DB2-BD59-A6C34878D82A}">
                    <a16:rowId xmlns:a16="http://schemas.microsoft.com/office/drawing/2014/main" val="1706619286"/>
                  </a:ext>
                </a:extLst>
              </a:tr>
              <a:tr h="609052">
                <a:tc>
                  <a:txBody>
                    <a:bodyPr/>
                    <a:lstStyle/>
                    <a:p>
                      <a:pPr algn="ctr" fontAlgn="b">
                        <a:buNone/>
                      </a:pPr>
                      <a:r>
                        <a:rPr lang="ja-JP" altLang="en-US" sz="1800" b="1" i="0" u="none" strike="noStrike">
                          <a:solidFill>
                            <a:srgbClr val="000000"/>
                          </a:solidFill>
                          <a:effectLst/>
                          <a:latin typeface="+mn-lt"/>
                        </a:rPr>
                        <a:t>和歌山県</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16.7%</a:t>
                      </a:r>
                    </a:p>
                  </a:txBody>
                  <a:tcPr marL="7620" marR="7620" marT="7620" marB="0" anchor="ctr"/>
                </a:tc>
                <a:extLst>
                  <a:ext uri="{0D108BD9-81ED-4DB2-BD59-A6C34878D82A}">
                    <a16:rowId xmlns:a16="http://schemas.microsoft.com/office/drawing/2014/main" val="1975964307"/>
                  </a:ext>
                </a:extLst>
              </a:tr>
            </a:tbl>
          </a:graphicData>
        </a:graphic>
      </p:graphicFrame>
      <p:sp>
        <p:nvSpPr>
          <p:cNvPr id="8" name="テキスト ボックス 7">
            <a:extLst>
              <a:ext uri="{FF2B5EF4-FFF2-40B4-BE49-F238E27FC236}">
                <a16:creationId xmlns:a16="http://schemas.microsoft.com/office/drawing/2014/main" id="{51ECF8A7-D9A8-8E66-2F03-8DAD74782486}"/>
              </a:ext>
            </a:extLst>
          </p:cNvPr>
          <p:cNvSpPr txBox="1"/>
          <p:nvPr/>
        </p:nvSpPr>
        <p:spPr>
          <a:xfrm>
            <a:off x="500744" y="1144310"/>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中部地方</a:t>
            </a:r>
          </a:p>
        </p:txBody>
      </p:sp>
      <p:sp>
        <p:nvSpPr>
          <p:cNvPr id="9" name="テキスト ボックス 8">
            <a:extLst>
              <a:ext uri="{FF2B5EF4-FFF2-40B4-BE49-F238E27FC236}">
                <a16:creationId xmlns:a16="http://schemas.microsoft.com/office/drawing/2014/main" id="{A5937426-6BFB-9750-E1E9-DB494AB617D9}"/>
              </a:ext>
            </a:extLst>
          </p:cNvPr>
          <p:cNvSpPr txBox="1"/>
          <p:nvPr/>
        </p:nvSpPr>
        <p:spPr>
          <a:xfrm>
            <a:off x="6270175" y="1144310"/>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近畿地方</a:t>
            </a:r>
          </a:p>
        </p:txBody>
      </p:sp>
      <p:sp>
        <p:nvSpPr>
          <p:cNvPr id="3" name="フッター プレースホルダー 1">
            <a:extLst>
              <a:ext uri="{FF2B5EF4-FFF2-40B4-BE49-F238E27FC236}">
                <a16:creationId xmlns:a16="http://schemas.microsoft.com/office/drawing/2014/main" id="{3C1994CD-F04B-A075-A237-0FC8672C529F}"/>
              </a:ext>
            </a:extLst>
          </p:cNvPr>
          <p:cNvSpPr txBox="1">
            <a:spLocks/>
          </p:cNvSpPr>
          <p:nvPr/>
        </p:nvSpPr>
        <p:spPr>
          <a:xfrm>
            <a:off x="3200396" y="1409710"/>
            <a:ext cx="2721430" cy="212602"/>
          </a:xfrm>
          <a:prstGeom prst="rect">
            <a:avLst/>
          </a:prstGeom>
        </p:spPr>
        <p:txBody>
          <a:bodyPr vert="horz" lIns="91440" tIns="45720" rIns="91440" bIns="45720" rtlCol="0" anchor="ctr"/>
          <a:lstStyle>
            <a:defPPr>
              <a:defRPr lang="ja-JP"/>
            </a:defPPr>
            <a:lvl1pPr marL="0" algn="ctr" defTabSz="914400" rtl="0" eaLnBrk="1" latinLnBrk="0" hangingPunct="1">
              <a:defRPr kumimoji="1" sz="1200" kern="1200">
                <a:solidFill>
                  <a:schemeClr val="tx1">
                    <a:tint val="82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050" dirty="0">
                <a:solidFill>
                  <a:schemeClr val="tx1"/>
                </a:solidFill>
              </a:rPr>
              <a:t>※</a:t>
            </a:r>
            <a:r>
              <a:rPr lang="ja-JP" altLang="en-US" sz="1050" dirty="0">
                <a:solidFill>
                  <a:schemeClr val="tx1"/>
                </a:solidFill>
              </a:rPr>
              <a:t>三重県については、近畿地方として扱う</a:t>
            </a:r>
          </a:p>
        </p:txBody>
      </p:sp>
    </p:spTree>
    <p:extLst>
      <p:ext uri="{BB962C8B-B14F-4D97-AF65-F5344CB8AC3E}">
        <p14:creationId xmlns:p14="http://schemas.microsoft.com/office/powerpoint/2010/main" val="3344898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A6D39-F893-ACB8-30D4-F3591A44F818}"/>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646A0D4-1D93-3F25-7957-69C3CBF8CC8F}"/>
              </a:ext>
            </a:extLst>
          </p:cNvPr>
          <p:cNvSpPr txBox="1"/>
          <p:nvPr/>
        </p:nvSpPr>
        <p:spPr>
          <a:xfrm>
            <a:off x="1545771" y="379608"/>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ご回答施設について（都道府県毎）　計：</a:t>
            </a:r>
            <a:r>
              <a:rPr lang="en-US" altLang="ja-JP" sz="3200" dirty="0"/>
              <a:t>289</a:t>
            </a:r>
            <a:r>
              <a:rPr lang="ja-JP" altLang="en-US" sz="3200" dirty="0"/>
              <a:t>件</a:t>
            </a:r>
          </a:p>
        </p:txBody>
      </p:sp>
      <p:graphicFrame>
        <p:nvGraphicFramePr>
          <p:cNvPr id="6" name="表 5">
            <a:extLst>
              <a:ext uri="{FF2B5EF4-FFF2-40B4-BE49-F238E27FC236}">
                <a16:creationId xmlns:a16="http://schemas.microsoft.com/office/drawing/2014/main" id="{040DED9B-33FD-6BDB-8101-7479769C039C}"/>
              </a:ext>
            </a:extLst>
          </p:cNvPr>
          <p:cNvGraphicFramePr>
            <a:graphicFrameLocks noGrp="1"/>
          </p:cNvGraphicFramePr>
          <p:nvPr>
            <p:extLst>
              <p:ext uri="{D42A27DB-BD31-4B8C-83A1-F6EECF244321}">
                <p14:modId xmlns:p14="http://schemas.microsoft.com/office/powerpoint/2010/main" val="194577477"/>
              </p:ext>
            </p:extLst>
          </p:nvPr>
        </p:nvGraphicFramePr>
        <p:xfrm>
          <a:off x="489858" y="2395301"/>
          <a:ext cx="5442859" cy="2930962"/>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511152">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483962">
                <a:tc>
                  <a:txBody>
                    <a:bodyPr/>
                    <a:lstStyle/>
                    <a:p>
                      <a:pPr algn="ctr" fontAlgn="b">
                        <a:buNone/>
                      </a:pPr>
                      <a:r>
                        <a:rPr lang="ja-JP" altLang="en-US" sz="1800" b="1" i="0" u="none" strike="noStrike">
                          <a:solidFill>
                            <a:srgbClr val="000000"/>
                          </a:solidFill>
                          <a:effectLst/>
                          <a:latin typeface="+mn-lt"/>
                        </a:rPr>
                        <a:t>鳥取県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4225568773"/>
                  </a:ext>
                </a:extLst>
              </a:tr>
              <a:tr h="483962">
                <a:tc>
                  <a:txBody>
                    <a:bodyPr/>
                    <a:lstStyle/>
                    <a:p>
                      <a:pPr algn="ctr" fontAlgn="b">
                        <a:buNone/>
                      </a:pPr>
                      <a:r>
                        <a:rPr lang="ja-JP" altLang="en-US" sz="1800" b="1" i="0" u="none" strike="noStrike">
                          <a:solidFill>
                            <a:srgbClr val="000000"/>
                          </a:solidFill>
                          <a:effectLst/>
                          <a:latin typeface="+mn-lt"/>
                        </a:rPr>
                        <a:t>島根県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25.0%</a:t>
                      </a:r>
                    </a:p>
                  </a:txBody>
                  <a:tcPr marL="7620" marR="7620" marT="7620" marB="0" anchor="ctr"/>
                </a:tc>
                <a:extLst>
                  <a:ext uri="{0D108BD9-81ED-4DB2-BD59-A6C34878D82A}">
                    <a16:rowId xmlns:a16="http://schemas.microsoft.com/office/drawing/2014/main" val="1938006479"/>
                  </a:ext>
                </a:extLst>
              </a:tr>
              <a:tr h="483962">
                <a:tc>
                  <a:txBody>
                    <a:bodyPr/>
                    <a:lstStyle/>
                    <a:p>
                      <a:pPr algn="ctr" fontAlgn="b">
                        <a:buNone/>
                      </a:pPr>
                      <a:r>
                        <a:rPr lang="ja-JP" altLang="en-US" sz="1800" b="1" i="0" u="none" strike="noStrike">
                          <a:solidFill>
                            <a:srgbClr val="000000"/>
                          </a:solidFill>
                          <a:effectLst/>
                          <a:latin typeface="+mn-lt"/>
                        </a:rPr>
                        <a:t>岡山県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42.9%</a:t>
                      </a:r>
                    </a:p>
                  </a:txBody>
                  <a:tcPr marL="7620" marR="7620" marT="7620" marB="0" anchor="ctr"/>
                </a:tc>
                <a:extLst>
                  <a:ext uri="{0D108BD9-81ED-4DB2-BD59-A6C34878D82A}">
                    <a16:rowId xmlns:a16="http://schemas.microsoft.com/office/drawing/2014/main" val="512668420"/>
                  </a:ext>
                </a:extLst>
              </a:tr>
              <a:tr h="483962">
                <a:tc>
                  <a:txBody>
                    <a:bodyPr/>
                    <a:lstStyle/>
                    <a:p>
                      <a:pPr algn="ctr" fontAlgn="b">
                        <a:buNone/>
                      </a:pPr>
                      <a:r>
                        <a:rPr lang="ja-JP" altLang="en-US" sz="1800" b="1" i="0" u="none" strike="noStrike">
                          <a:solidFill>
                            <a:srgbClr val="000000"/>
                          </a:solidFill>
                          <a:effectLst/>
                          <a:latin typeface="+mn-lt"/>
                        </a:rPr>
                        <a:t>広島県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55.0%</a:t>
                      </a:r>
                    </a:p>
                  </a:txBody>
                  <a:tcPr marL="7620" marR="7620" marT="7620" marB="0" anchor="ctr"/>
                </a:tc>
                <a:extLst>
                  <a:ext uri="{0D108BD9-81ED-4DB2-BD59-A6C34878D82A}">
                    <a16:rowId xmlns:a16="http://schemas.microsoft.com/office/drawing/2014/main" val="2636402916"/>
                  </a:ext>
                </a:extLst>
              </a:tr>
              <a:tr h="483962">
                <a:tc>
                  <a:txBody>
                    <a:bodyPr/>
                    <a:lstStyle/>
                    <a:p>
                      <a:pPr algn="ctr" fontAlgn="b">
                        <a:buNone/>
                      </a:pPr>
                      <a:r>
                        <a:rPr lang="ja-JP" altLang="en-US" sz="1800" b="1" i="0" u="none" strike="noStrike">
                          <a:solidFill>
                            <a:srgbClr val="000000"/>
                          </a:solidFill>
                          <a:effectLst/>
                          <a:latin typeface="+mn-lt"/>
                        </a:rPr>
                        <a:t>山口県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12.5%</a:t>
                      </a:r>
                    </a:p>
                  </a:txBody>
                  <a:tcPr marL="7620" marR="7620" marT="7620" marB="0" anchor="ctr"/>
                </a:tc>
                <a:extLst>
                  <a:ext uri="{0D108BD9-81ED-4DB2-BD59-A6C34878D82A}">
                    <a16:rowId xmlns:a16="http://schemas.microsoft.com/office/drawing/2014/main" val="3019017556"/>
                  </a:ext>
                </a:extLst>
              </a:tr>
            </a:tbl>
          </a:graphicData>
        </a:graphic>
      </p:graphicFrame>
      <p:graphicFrame>
        <p:nvGraphicFramePr>
          <p:cNvPr id="7" name="表 6">
            <a:extLst>
              <a:ext uri="{FF2B5EF4-FFF2-40B4-BE49-F238E27FC236}">
                <a16:creationId xmlns:a16="http://schemas.microsoft.com/office/drawing/2014/main" id="{D506FA21-F450-DA02-3AF7-F336E90E8F0E}"/>
              </a:ext>
            </a:extLst>
          </p:cNvPr>
          <p:cNvGraphicFramePr>
            <a:graphicFrameLocks noGrp="1"/>
          </p:cNvGraphicFramePr>
          <p:nvPr>
            <p:extLst>
              <p:ext uri="{D42A27DB-BD31-4B8C-83A1-F6EECF244321}">
                <p14:modId xmlns:p14="http://schemas.microsoft.com/office/powerpoint/2010/main" val="788767894"/>
              </p:ext>
            </p:extLst>
          </p:nvPr>
        </p:nvGraphicFramePr>
        <p:xfrm>
          <a:off x="6259283" y="2395301"/>
          <a:ext cx="5442859" cy="2930965"/>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586193">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586193">
                <a:tc>
                  <a:txBody>
                    <a:bodyPr/>
                    <a:lstStyle/>
                    <a:p>
                      <a:pPr algn="ctr" fontAlgn="b">
                        <a:buNone/>
                      </a:pPr>
                      <a:r>
                        <a:rPr lang="ja-JP" altLang="en-US" sz="1800" b="1" i="0" u="none" strike="noStrike">
                          <a:solidFill>
                            <a:srgbClr val="000000"/>
                          </a:solidFill>
                          <a:effectLst/>
                          <a:latin typeface="+mn-lt"/>
                        </a:rPr>
                        <a:t>徳島県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70.0%</a:t>
                      </a:r>
                    </a:p>
                  </a:txBody>
                  <a:tcPr marL="7620" marR="7620" marT="7620" marB="0" anchor="ctr"/>
                </a:tc>
                <a:extLst>
                  <a:ext uri="{0D108BD9-81ED-4DB2-BD59-A6C34878D82A}">
                    <a16:rowId xmlns:a16="http://schemas.microsoft.com/office/drawing/2014/main" val="4225568773"/>
                  </a:ext>
                </a:extLst>
              </a:tr>
              <a:tr h="586193">
                <a:tc>
                  <a:txBody>
                    <a:bodyPr/>
                    <a:lstStyle/>
                    <a:p>
                      <a:pPr algn="ctr" fontAlgn="b">
                        <a:buNone/>
                      </a:pPr>
                      <a:r>
                        <a:rPr lang="ja-JP" altLang="en-US" sz="1800" b="1" i="0" u="none" strike="noStrike">
                          <a:solidFill>
                            <a:srgbClr val="000000"/>
                          </a:solidFill>
                          <a:effectLst/>
                          <a:latin typeface="+mn-lt"/>
                        </a:rPr>
                        <a:t>香川県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36.4%</a:t>
                      </a:r>
                    </a:p>
                  </a:txBody>
                  <a:tcPr marL="7620" marR="7620" marT="7620" marB="0" anchor="ctr"/>
                </a:tc>
                <a:extLst>
                  <a:ext uri="{0D108BD9-81ED-4DB2-BD59-A6C34878D82A}">
                    <a16:rowId xmlns:a16="http://schemas.microsoft.com/office/drawing/2014/main" val="1938006479"/>
                  </a:ext>
                </a:extLst>
              </a:tr>
              <a:tr h="586193">
                <a:tc>
                  <a:txBody>
                    <a:bodyPr/>
                    <a:lstStyle/>
                    <a:p>
                      <a:pPr algn="ctr" fontAlgn="b">
                        <a:buNone/>
                      </a:pPr>
                      <a:r>
                        <a:rPr lang="ja-JP" altLang="en-US" sz="1800" b="1" i="0" u="none" strike="noStrike">
                          <a:solidFill>
                            <a:srgbClr val="000000"/>
                          </a:solidFill>
                          <a:effectLst/>
                          <a:latin typeface="+mn-lt"/>
                        </a:rPr>
                        <a:t>愛媛県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512668420"/>
                  </a:ext>
                </a:extLst>
              </a:tr>
              <a:tr h="586193">
                <a:tc>
                  <a:txBody>
                    <a:bodyPr/>
                    <a:lstStyle/>
                    <a:p>
                      <a:pPr algn="ctr" fontAlgn="b">
                        <a:buNone/>
                      </a:pPr>
                      <a:r>
                        <a:rPr lang="ja-JP" altLang="en-US" sz="1800" b="1" i="0" u="none" strike="noStrike">
                          <a:solidFill>
                            <a:srgbClr val="000000"/>
                          </a:solidFill>
                          <a:effectLst/>
                          <a:latin typeface="+mn-lt"/>
                        </a:rPr>
                        <a:t>高知県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20.0%</a:t>
                      </a:r>
                    </a:p>
                  </a:txBody>
                  <a:tcPr marL="7620" marR="7620" marT="7620" marB="0" anchor="ctr"/>
                </a:tc>
                <a:extLst>
                  <a:ext uri="{0D108BD9-81ED-4DB2-BD59-A6C34878D82A}">
                    <a16:rowId xmlns:a16="http://schemas.microsoft.com/office/drawing/2014/main" val="2636402916"/>
                  </a:ext>
                </a:extLst>
              </a:tr>
            </a:tbl>
          </a:graphicData>
        </a:graphic>
      </p:graphicFrame>
      <p:sp>
        <p:nvSpPr>
          <p:cNvPr id="8" name="テキスト ボックス 7">
            <a:extLst>
              <a:ext uri="{FF2B5EF4-FFF2-40B4-BE49-F238E27FC236}">
                <a16:creationId xmlns:a16="http://schemas.microsoft.com/office/drawing/2014/main" id="{5B8734FE-A69F-3387-D2D9-553FBCFDC358}"/>
              </a:ext>
            </a:extLst>
          </p:cNvPr>
          <p:cNvSpPr txBox="1"/>
          <p:nvPr/>
        </p:nvSpPr>
        <p:spPr>
          <a:xfrm>
            <a:off x="500744" y="1933636"/>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中国地方</a:t>
            </a:r>
          </a:p>
        </p:txBody>
      </p:sp>
      <p:sp>
        <p:nvSpPr>
          <p:cNvPr id="9" name="テキスト ボックス 8">
            <a:extLst>
              <a:ext uri="{FF2B5EF4-FFF2-40B4-BE49-F238E27FC236}">
                <a16:creationId xmlns:a16="http://schemas.microsoft.com/office/drawing/2014/main" id="{085B2455-C01F-A4E7-BEB5-7DC36CFA2722}"/>
              </a:ext>
            </a:extLst>
          </p:cNvPr>
          <p:cNvSpPr txBox="1"/>
          <p:nvPr/>
        </p:nvSpPr>
        <p:spPr>
          <a:xfrm>
            <a:off x="6270175" y="1933636"/>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四国地方</a:t>
            </a:r>
          </a:p>
        </p:txBody>
      </p:sp>
    </p:spTree>
    <p:extLst>
      <p:ext uri="{BB962C8B-B14F-4D97-AF65-F5344CB8AC3E}">
        <p14:creationId xmlns:p14="http://schemas.microsoft.com/office/powerpoint/2010/main" val="2180535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633A4-0D35-C372-C859-E2745BBBE6D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654BC37-A127-4354-6E1E-23523F9407E2}"/>
              </a:ext>
            </a:extLst>
          </p:cNvPr>
          <p:cNvSpPr txBox="1"/>
          <p:nvPr/>
        </p:nvSpPr>
        <p:spPr>
          <a:xfrm>
            <a:off x="1545771" y="379608"/>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ご回答施設について（都道府県毎）　計：</a:t>
            </a:r>
            <a:r>
              <a:rPr lang="en-US" altLang="ja-JP" sz="3200" dirty="0"/>
              <a:t>289</a:t>
            </a:r>
            <a:r>
              <a:rPr lang="ja-JP" altLang="en-US" sz="3200" dirty="0"/>
              <a:t>件</a:t>
            </a:r>
          </a:p>
        </p:txBody>
      </p:sp>
      <p:graphicFrame>
        <p:nvGraphicFramePr>
          <p:cNvPr id="6" name="表 5">
            <a:extLst>
              <a:ext uri="{FF2B5EF4-FFF2-40B4-BE49-F238E27FC236}">
                <a16:creationId xmlns:a16="http://schemas.microsoft.com/office/drawing/2014/main" id="{2D04CF3C-2B72-9384-0ADA-F9C01318865C}"/>
              </a:ext>
            </a:extLst>
          </p:cNvPr>
          <p:cNvGraphicFramePr>
            <a:graphicFrameLocks noGrp="1"/>
          </p:cNvGraphicFramePr>
          <p:nvPr>
            <p:extLst>
              <p:ext uri="{D42A27DB-BD31-4B8C-83A1-F6EECF244321}">
                <p14:modId xmlns:p14="http://schemas.microsoft.com/office/powerpoint/2010/main" val="241831711"/>
              </p:ext>
            </p:extLst>
          </p:nvPr>
        </p:nvGraphicFramePr>
        <p:xfrm>
          <a:off x="3374570" y="1737317"/>
          <a:ext cx="5442859" cy="4246932"/>
        </p:xfrm>
        <a:graphic>
          <a:graphicData uri="http://schemas.openxmlformats.org/drawingml/2006/table">
            <a:tbl>
              <a:tblPr firstRow="1" bandRow="1">
                <a:tableStyleId>{5C22544A-7EE6-4342-B048-85BDC9FD1C3A}</a:tableStyleId>
              </a:tblPr>
              <a:tblGrid>
                <a:gridCol w="1095829">
                  <a:extLst>
                    <a:ext uri="{9D8B030D-6E8A-4147-A177-3AD203B41FA5}">
                      <a16:colId xmlns:a16="http://schemas.microsoft.com/office/drawing/2014/main" val="1550377052"/>
                    </a:ext>
                  </a:extLst>
                </a:gridCol>
                <a:gridCol w="1095829">
                  <a:extLst>
                    <a:ext uri="{9D8B030D-6E8A-4147-A177-3AD203B41FA5}">
                      <a16:colId xmlns:a16="http://schemas.microsoft.com/office/drawing/2014/main" val="4232593559"/>
                    </a:ext>
                  </a:extLst>
                </a:gridCol>
                <a:gridCol w="1117599">
                  <a:extLst>
                    <a:ext uri="{9D8B030D-6E8A-4147-A177-3AD203B41FA5}">
                      <a16:colId xmlns:a16="http://schemas.microsoft.com/office/drawing/2014/main" val="117568639"/>
                    </a:ext>
                  </a:extLst>
                </a:gridCol>
                <a:gridCol w="2133602">
                  <a:extLst>
                    <a:ext uri="{9D8B030D-6E8A-4147-A177-3AD203B41FA5}">
                      <a16:colId xmlns:a16="http://schemas.microsoft.com/office/drawing/2014/main" val="2662092945"/>
                    </a:ext>
                  </a:extLst>
                </a:gridCol>
              </a:tblGrid>
              <a:tr h="468954">
                <a:tc>
                  <a:txBody>
                    <a:bodyPr/>
                    <a:lstStyle/>
                    <a:p>
                      <a:pPr algn="ctr" fontAlgn="b">
                        <a:buNone/>
                      </a:pPr>
                      <a:r>
                        <a:rPr lang="ja-JP" altLang="en-US" sz="1600" b="1" i="0" u="none" strike="noStrike" dirty="0">
                          <a:solidFill>
                            <a:schemeClr val="bg1"/>
                          </a:solidFill>
                          <a:effectLst/>
                          <a:latin typeface="Arial" panose="020B0604020202020204" pitchFamily="34" charset="0"/>
                        </a:rPr>
                        <a:t>都道府県</a:t>
                      </a: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回答施設数</a:t>
                      </a:r>
                      <a:endParaRPr lang="en-US" altLang="ja-JP" sz="1600" b="1" i="0" u="none" strike="noStrike" dirty="0">
                        <a:solidFill>
                          <a:schemeClr val="bg1"/>
                        </a:solidFill>
                        <a:effectLst/>
                        <a:latin typeface="+mn-lt"/>
                      </a:endParaRPr>
                    </a:p>
                  </a:txBody>
                  <a:tcPr marL="7620" marR="7620" marT="7620" marB="0" anchor="ctr"/>
                </a:tc>
                <a:tc>
                  <a:txBody>
                    <a:bodyPr/>
                    <a:lstStyle/>
                    <a:p>
                      <a:pPr algn="ctr" fontAlgn="b">
                        <a:buNone/>
                      </a:pPr>
                      <a:r>
                        <a:rPr lang="ja-JP" altLang="en-US" sz="1600" b="1" i="0" u="none" strike="noStrike" dirty="0">
                          <a:solidFill>
                            <a:schemeClr val="bg1"/>
                          </a:solidFill>
                          <a:effectLst/>
                          <a:latin typeface="+mn-lt"/>
                        </a:rPr>
                        <a:t>施設会員数</a:t>
                      </a:r>
                      <a:endParaRPr lang="en-US" altLang="ja-JP" sz="1600" b="1" i="0" u="none" strike="noStrike" dirty="0">
                        <a:solidFill>
                          <a:schemeClr val="bg1"/>
                        </a:solidFill>
                        <a:effectLst/>
                        <a:latin typeface="+mn-lt"/>
                      </a:endParaRPr>
                    </a:p>
                  </a:txBody>
                  <a:tcPr marL="7620" marR="7620" marT="7620" marB="0"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marL="7620" marR="7620" marT="7620" marB="0" anchor="ctr"/>
                </a:tc>
                <a:extLst>
                  <a:ext uri="{0D108BD9-81ED-4DB2-BD59-A6C34878D82A}">
                    <a16:rowId xmlns:a16="http://schemas.microsoft.com/office/drawing/2014/main" val="2850673148"/>
                  </a:ext>
                </a:extLst>
              </a:tr>
              <a:tr h="468954">
                <a:tc>
                  <a:txBody>
                    <a:bodyPr/>
                    <a:lstStyle/>
                    <a:p>
                      <a:pPr algn="ctr" fontAlgn="b">
                        <a:buNone/>
                      </a:pPr>
                      <a:r>
                        <a:rPr lang="ja-JP" altLang="en-US" sz="1800" b="1" i="0" u="none" strike="noStrike">
                          <a:solidFill>
                            <a:srgbClr val="000000"/>
                          </a:solidFill>
                          <a:effectLst/>
                          <a:latin typeface="+mn-lt"/>
                        </a:rPr>
                        <a:t>福岡県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32</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25.0%</a:t>
                      </a:r>
                    </a:p>
                  </a:txBody>
                  <a:tcPr marL="7620" marR="7620" marT="7620" marB="0" anchor="ctr"/>
                </a:tc>
                <a:extLst>
                  <a:ext uri="{0D108BD9-81ED-4DB2-BD59-A6C34878D82A}">
                    <a16:rowId xmlns:a16="http://schemas.microsoft.com/office/drawing/2014/main" val="4225568773"/>
                  </a:ext>
                </a:extLst>
              </a:tr>
              <a:tr h="468954">
                <a:tc>
                  <a:txBody>
                    <a:bodyPr/>
                    <a:lstStyle/>
                    <a:p>
                      <a:pPr algn="ctr" fontAlgn="b">
                        <a:buNone/>
                      </a:pPr>
                      <a:r>
                        <a:rPr lang="ja-JP" altLang="en-US" sz="1800" b="1" i="0" u="none" strike="noStrike">
                          <a:solidFill>
                            <a:srgbClr val="000000"/>
                          </a:solidFill>
                          <a:effectLst/>
                          <a:latin typeface="+mn-lt"/>
                        </a:rPr>
                        <a:t>佐賀県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8</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1938006479"/>
                  </a:ext>
                </a:extLst>
              </a:tr>
              <a:tr h="468954">
                <a:tc>
                  <a:txBody>
                    <a:bodyPr/>
                    <a:lstStyle/>
                    <a:p>
                      <a:pPr algn="ctr" fontAlgn="b">
                        <a:buNone/>
                      </a:pPr>
                      <a:r>
                        <a:rPr lang="ja-JP" altLang="en-US" sz="1800" b="1" i="0" u="none" strike="noStrike">
                          <a:solidFill>
                            <a:srgbClr val="000000"/>
                          </a:solidFill>
                          <a:effectLst/>
                          <a:latin typeface="+mn-lt"/>
                        </a:rPr>
                        <a:t>長崎県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50.0%</a:t>
                      </a:r>
                    </a:p>
                  </a:txBody>
                  <a:tcPr marL="7620" marR="7620" marT="7620" marB="0" anchor="ctr"/>
                </a:tc>
                <a:extLst>
                  <a:ext uri="{0D108BD9-81ED-4DB2-BD59-A6C34878D82A}">
                    <a16:rowId xmlns:a16="http://schemas.microsoft.com/office/drawing/2014/main" val="512668420"/>
                  </a:ext>
                </a:extLst>
              </a:tr>
              <a:tr h="468954">
                <a:tc>
                  <a:txBody>
                    <a:bodyPr/>
                    <a:lstStyle/>
                    <a:p>
                      <a:pPr algn="ctr" fontAlgn="b">
                        <a:buNone/>
                      </a:pPr>
                      <a:r>
                        <a:rPr lang="ja-JP" altLang="en-US" sz="1800" b="1" i="0" u="none" strike="noStrike">
                          <a:solidFill>
                            <a:srgbClr val="000000"/>
                          </a:solidFill>
                          <a:effectLst/>
                          <a:latin typeface="+mn-lt"/>
                        </a:rPr>
                        <a:t>熊本県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9</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55.6%</a:t>
                      </a:r>
                    </a:p>
                  </a:txBody>
                  <a:tcPr marL="7620" marR="7620" marT="7620" marB="0" anchor="ctr"/>
                </a:tc>
                <a:extLst>
                  <a:ext uri="{0D108BD9-81ED-4DB2-BD59-A6C34878D82A}">
                    <a16:rowId xmlns:a16="http://schemas.microsoft.com/office/drawing/2014/main" val="2636402916"/>
                  </a:ext>
                </a:extLst>
              </a:tr>
              <a:tr h="468954">
                <a:tc>
                  <a:txBody>
                    <a:bodyPr/>
                    <a:lstStyle/>
                    <a:p>
                      <a:pPr algn="ctr" fontAlgn="b">
                        <a:buNone/>
                      </a:pPr>
                      <a:r>
                        <a:rPr lang="ja-JP" altLang="en-US" sz="1800" b="1" i="0" u="none" strike="noStrike">
                          <a:solidFill>
                            <a:srgbClr val="000000"/>
                          </a:solidFill>
                          <a:effectLst/>
                          <a:latin typeface="+mn-lt"/>
                        </a:rPr>
                        <a:t>大分県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5</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45.5%</a:t>
                      </a:r>
                    </a:p>
                  </a:txBody>
                  <a:tcPr marL="7620" marR="7620" marT="7620" marB="0" anchor="ctr"/>
                </a:tc>
                <a:extLst>
                  <a:ext uri="{0D108BD9-81ED-4DB2-BD59-A6C34878D82A}">
                    <a16:rowId xmlns:a16="http://schemas.microsoft.com/office/drawing/2014/main" val="3019017556"/>
                  </a:ext>
                </a:extLst>
              </a:tr>
              <a:tr h="468954">
                <a:tc>
                  <a:txBody>
                    <a:bodyPr/>
                    <a:lstStyle/>
                    <a:p>
                      <a:pPr algn="ctr" fontAlgn="b">
                        <a:buNone/>
                      </a:pPr>
                      <a:r>
                        <a:rPr lang="ja-JP" altLang="en-US" sz="1800" b="1" i="0" u="none" strike="noStrike">
                          <a:solidFill>
                            <a:srgbClr val="000000"/>
                          </a:solidFill>
                          <a:effectLst/>
                          <a:latin typeface="+mn-lt"/>
                        </a:rPr>
                        <a:t>宮崎県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14.3%</a:t>
                      </a:r>
                    </a:p>
                  </a:txBody>
                  <a:tcPr marL="7620" marR="7620" marT="7620" marB="0" anchor="ctr"/>
                </a:tc>
                <a:extLst>
                  <a:ext uri="{0D108BD9-81ED-4DB2-BD59-A6C34878D82A}">
                    <a16:rowId xmlns:a16="http://schemas.microsoft.com/office/drawing/2014/main" val="1706619286"/>
                  </a:ext>
                </a:extLst>
              </a:tr>
              <a:tr h="468954">
                <a:tc>
                  <a:txBody>
                    <a:bodyPr/>
                    <a:lstStyle/>
                    <a:p>
                      <a:pPr algn="ctr" fontAlgn="b">
                        <a:buNone/>
                      </a:pPr>
                      <a:r>
                        <a:rPr lang="ja-JP" altLang="en-US" sz="1800" b="1" i="0" u="none" strike="noStrike">
                          <a:solidFill>
                            <a:srgbClr val="000000"/>
                          </a:solidFill>
                          <a:effectLst/>
                          <a:latin typeface="+mn-lt"/>
                        </a:rPr>
                        <a:t>鹿児島県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3</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42.9%</a:t>
                      </a:r>
                    </a:p>
                  </a:txBody>
                  <a:tcPr marL="7620" marR="7620" marT="7620" marB="0" anchor="ctr"/>
                </a:tc>
                <a:extLst>
                  <a:ext uri="{0D108BD9-81ED-4DB2-BD59-A6C34878D82A}">
                    <a16:rowId xmlns:a16="http://schemas.microsoft.com/office/drawing/2014/main" val="1975964307"/>
                  </a:ext>
                </a:extLst>
              </a:tr>
              <a:tr h="468954">
                <a:tc>
                  <a:txBody>
                    <a:bodyPr/>
                    <a:lstStyle/>
                    <a:p>
                      <a:pPr algn="ctr" fontAlgn="b">
                        <a:buNone/>
                      </a:pPr>
                      <a:r>
                        <a:rPr lang="ja-JP" altLang="en-US" sz="1800" b="1" i="0" u="none" strike="noStrike">
                          <a:solidFill>
                            <a:srgbClr val="000000"/>
                          </a:solidFill>
                          <a:effectLst/>
                          <a:latin typeface="+mn-lt"/>
                        </a:rPr>
                        <a:t>沖縄県</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10</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40.0%</a:t>
                      </a:r>
                    </a:p>
                  </a:txBody>
                  <a:tcPr marL="7620" marR="7620" marT="7620" marB="0" anchor="ctr"/>
                </a:tc>
                <a:extLst>
                  <a:ext uri="{0D108BD9-81ED-4DB2-BD59-A6C34878D82A}">
                    <a16:rowId xmlns:a16="http://schemas.microsoft.com/office/drawing/2014/main" val="1632596392"/>
                  </a:ext>
                </a:extLst>
              </a:tr>
            </a:tbl>
          </a:graphicData>
        </a:graphic>
      </p:graphicFrame>
      <p:sp>
        <p:nvSpPr>
          <p:cNvPr id="8" name="テキスト ボックス 7">
            <a:extLst>
              <a:ext uri="{FF2B5EF4-FFF2-40B4-BE49-F238E27FC236}">
                <a16:creationId xmlns:a16="http://schemas.microsoft.com/office/drawing/2014/main" id="{B197DC51-6B96-5289-8684-C3F7E81CD509}"/>
              </a:ext>
            </a:extLst>
          </p:cNvPr>
          <p:cNvSpPr txBox="1"/>
          <p:nvPr/>
        </p:nvSpPr>
        <p:spPr>
          <a:xfrm>
            <a:off x="3385456" y="1275652"/>
            <a:ext cx="2699657" cy="461665"/>
          </a:xfrm>
          <a:prstGeom prst="rect">
            <a:avLst/>
          </a:prstGeom>
          <a:noFill/>
          <a:ln w="28575">
            <a:solidFill>
              <a:srgbClr val="397077"/>
            </a:solidFill>
          </a:ln>
        </p:spPr>
        <p:txBody>
          <a:bodyPr wrap="square" anchor="ctr">
            <a:spAutoFit/>
          </a:bodyPr>
          <a:lstStyle/>
          <a:p>
            <a:pPr algn="ctr" rtl="0">
              <a:defRPr sz="2800" b="1" i="0" u="none" strike="noStrike" kern="1200" baseline="0">
                <a:solidFill>
                  <a:prstClr val="black"/>
                </a:solidFill>
                <a:latin typeface="+mn-lt"/>
                <a:ea typeface="+mn-ea"/>
                <a:cs typeface="+mn-cs"/>
              </a:defRPr>
            </a:pPr>
            <a:r>
              <a:rPr lang="ja-JP" altLang="en-US" sz="2400" dirty="0"/>
              <a:t>九州地方・沖縄</a:t>
            </a:r>
          </a:p>
        </p:txBody>
      </p:sp>
    </p:spTree>
    <p:extLst>
      <p:ext uri="{BB962C8B-B14F-4D97-AF65-F5344CB8AC3E}">
        <p14:creationId xmlns:p14="http://schemas.microsoft.com/office/powerpoint/2010/main" val="3344606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D923-A0AA-12EA-67BD-C4B38ED4A93F}"/>
            </a:ext>
          </a:extLst>
        </p:cNvPr>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5628CBF-8696-C227-4161-2BBA4F42C4C0}"/>
              </a:ext>
            </a:extLst>
          </p:cNvPr>
          <p:cNvSpPr>
            <a:spLocks noGrp="1"/>
          </p:cNvSpPr>
          <p:nvPr>
            <p:ph type="ftr" sz="quarter" idx="11"/>
          </p:nvPr>
        </p:nvSpPr>
        <p:spPr>
          <a:xfrm>
            <a:off x="8712748" y="6295519"/>
            <a:ext cx="3130910" cy="315021"/>
          </a:xfrm>
        </p:spPr>
        <p:txBody>
          <a:bodyPr/>
          <a:lstStyle/>
          <a:p>
            <a:r>
              <a:rPr kumimoji="1" lang="en-US" altLang="ja-JP" dirty="0">
                <a:solidFill>
                  <a:schemeClr val="tx1"/>
                </a:solidFill>
              </a:rPr>
              <a:t>※</a:t>
            </a:r>
            <a:r>
              <a:rPr kumimoji="1" lang="ja-JP" altLang="en-US" dirty="0">
                <a:solidFill>
                  <a:schemeClr val="tx1"/>
                </a:solidFill>
              </a:rPr>
              <a:t>三重県については、近畿地方として扱う</a:t>
            </a:r>
          </a:p>
        </p:txBody>
      </p:sp>
      <p:sp>
        <p:nvSpPr>
          <p:cNvPr id="4" name="テキスト ボックス 3">
            <a:extLst>
              <a:ext uri="{FF2B5EF4-FFF2-40B4-BE49-F238E27FC236}">
                <a16:creationId xmlns:a16="http://schemas.microsoft.com/office/drawing/2014/main" id="{ECA17BA9-19B6-8910-5E98-C7666BB9B982}"/>
              </a:ext>
            </a:extLst>
          </p:cNvPr>
          <p:cNvSpPr txBox="1"/>
          <p:nvPr/>
        </p:nvSpPr>
        <p:spPr>
          <a:xfrm>
            <a:off x="1545771" y="399197"/>
            <a:ext cx="9100458" cy="584775"/>
          </a:xfrm>
          <a:prstGeom prst="rect">
            <a:avLst/>
          </a:prstGeom>
          <a:noFill/>
        </p:spPr>
        <p:txBody>
          <a:bodyPr wrap="square">
            <a:spAutoFit/>
          </a:bodyPr>
          <a:lstStyle/>
          <a:p>
            <a:pPr algn="ctr" rtl="0">
              <a:defRPr sz="2800" b="1" i="0" u="none" strike="noStrike" kern="1200" baseline="0">
                <a:solidFill>
                  <a:prstClr val="black"/>
                </a:solidFill>
                <a:latin typeface="+mn-lt"/>
                <a:ea typeface="+mn-ea"/>
                <a:cs typeface="+mn-cs"/>
              </a:defRPr>
            </a:pPr>
            <a:r>
              <a:rPr lang="ja-JP" altLang="en-US" sz="3200" dirty="0"/>
              <a:t>ご回答施設について（地方毎）　計：</a:t>
            </a:r>
            <a:r>
              <a:rPr lang="en-US" altLang="ja-JP" sz="3200" dirty="0"/>
              <a:t>289</a:t>
            </a:r>
            <a:r>
              <a:rPr lang="ja-JP" altLang="en-US" sz="3200" dirty="0"/>
              <a:t>件</a:t>
            </a:r>
          </a:p>
        </p:txBody>
      </p:sp>
      <p:graphicFrame>
        <p:nvGraphicFramePr>
          <p:cNvPr id="5" name="表 4">
            <a:extLst>
              <a:ext uri="{FF2B5EF4-FFF2-40B4-BE49-F238E27FC236}">
                <a16:creationId xmlns:a16="http://schemas.microsoft.com/office/drawing/2014/main" id="{187F4088-0303-C905-C77A-04FA1BA0E286}"/>
              </a:ext>
            </a:extLst>
          </p:cNvPr>
          <p:cNvGraphicFramePr>
            <a:graphicFrameLocks noGrp="1"/>
          </p:cNvGraphicFramePr>
          <p:nvPr>
            <p:extLst>
              <p:ext uri="{D42A27DB-BD31-4B8C-83A1-F6EECF244321}">
                <p14:modId xmlns:p14="http://schemas.microsoft.com/office/powerpoint/2010/main" val="432015776"/>
              </p:ext>
            </p:extLst>
          </p:nvPr>
        </p:nvGraphicFramePr>
        <p:xfrm>
          <a:off x="707572" y="1143000"/>
          <a:ext cx="10798630" cy="5152519"/>
        </p:xfrm>
        <a:graphic>
          <a:graphicData uri="http://schemas.openxmlformats.org/drawingml/2006/table">
            <a:tbl>
              <a:tblPr firstRow="1" bandRow="1">
                <a:tableStyleId>{5C22544A-7EE6-4342-B048-85BDC9FD1C3A}</a:tableStyleId>
              </a:tblPr>
              <a:tblGrid>
                <a:gridCol w="2159726">
                  <a:extLst>
                    <a:ext uri="{9D8B030D-6E8A-4147-A177-3AD203B41FA5}">
                      <a16:colId xmlns:a16="http://schemas.microsoft.com/office/drawing/2014/main" val="1550377052"/>
                    </a:ext>
                  </a:extLst>
                </a:gridCol>
                <a:gridCol w="2159726">
                  <a:extLst>
                    <a:ext uri="{9D8B030D-6E8A-4147-A177-3AD203B41FA5}">
                      <a16:colId xmlns:a16="http://schemas.microsoft.com/office/drawing/2014/main" val="4232593559"/>
                    </a:ext>
                  </a:extLst>
                </a:gridCol>
                <a:gridCol w="2159726">
                  <a:extLst>
                    <a:ext uri="{9D8B030D-6E8A-4147-A177-3AD203B41FA5}">
                      <a16:colId xmlns:a16="http://schemas.microsoft.com/office/drawing/2014/main" val="576873399"/>
                    </a:ext>
                  </a:extLst>
                </a:gridCol>
                <a:gridCol w="2159726">
                  <a:extLst>
                    <a:ext uri="{9D8B030D-6E8A-4147-A177-3AD203B41FA5}">
                      <a16:colId xmlns:a16="http://schemas.microsoft.com/office/drawing/2014/main" val="2545789952"/>
                    </a:ext>
                  </a:extLst>
                </a:gridCol>
                <a:gridCol w="2159726">
                  <a:extLst>
                    <a:ext uri="{9D8B030D-6E8A-4147-A177-3AD203B41FA5}">
                      <a16:colId xmlns:a16="http://schemas.microsoft.com/office/drawing/2014/main" val="1209472694"/>
                    </a:ext>
                  </a:extLst>
                </a:gridCol>
              </a:tblGrid>
              <a:tr h="667119">
                <a:tc>
                  <a:txBody>
                    <a:bodyPr/>
                    <a:lstStyle/>
                    <a:p>
                      <a:pPr algn="ctr"/>
                      <a:r>
                        <a:rPr kumimoji="1" lang="ja-JP" altLang="en-US" sz="2400" b="1" dirty="0"/>
                        <a:t>地方</a:t>
                      </a:r>
                      <a:endParaRPr kumimoji="1" lang="ja-JP" altLang="en-US" sz="2000" b="1" dirty="0">
                        <a:latin typeface="+mn-lt"/>
                      </a:endParaRPr>
                    </a:p>
                  </a:txBody>
                  <a:tcPr anchor="ctr"/>
                </a:tc>
                <a:tc>
                  <a:txBody>
                    <a:bodyPr/>
                    <a:lstStyle/>
                    <a:p>
                      <a:pPr algn="ctr"/>
                      <a:r>
                        <a:rPr kumimoji="1" lang="ja-JP" altLang="en-US" sz="1600" b="1" dirty="0"/>
                        <a:t>回答施設数</a:t>
                      </a:r>
                      <a:endParaRPr kumimoji="1" lang="ja-JP" altLang="en-US" sz="1600" b="1" dirty="0">
                        <a:latin typeface="+mn-lt"/>
                      </a:endParaRPr>
                    </a:p>
                  </a:txBody>
                  <a:tcPr anchor="ctr"/>
                </a:tc>
                <a:tc>
                  <a:txBody>
                    <a:bodyPr/>
                    <a:lstStyle/>
                    <a:p>
                      <a:pPr algn="ctr"/>
                      <a:r>
                        <a:rPr kumimoji="1" lang="ja-JP" altLang="en-US" sz="1600" b="1" dirty="0"/>
                        <a:t>施設会員数</a:t>
                      </a:r>
                      <a:endParaRPr kumimoji="1" lang="ja-JP" altLang="en-US" sz="1600" b="1" dirty="0">
                        <a:latin typeface="+mn-lt"/>
                      </a:endParaRPr>
                    </a:p>
                  </a:txBody>
                  <a:tcPr anchor="ctr"/>
                </a:tc>
                <a:tc>
                  <a:txBody>
                    <a:bodyPr/>
                    <a:lstStyle/>
                    <a:p>
                      <a:pPr algn="ctr"/>
                      <a:r>
                        <a:rPr kumimoji="1" lang="ja-JP" altLang="en-US" sz="1600" b="1" dirty="0">
                          <a:latin typeface="+mn-lt"/>
                        </a:rPr>
                        <a:t>施設会員数に占める</a:t>
                      </a:r>
                      <a:endParaRPr kumimoji="1" lang="en-US" altLang="ja-JP" sz="1600" b="1" dirty="0">
                        <a:latin typeface="+mn-lt"/>
                      </a:endParaRPr>
                    </a:p>
                    <a:p>
                      <a:pPr algn="ctr"/>
                      <a:r>
                        <a:rPr kumimoji="1" lang="ja-JP" altLang="en-US" sz="1600" b="1" dirty="0">
                          <a:latin typeface="+mn-lt"/>
                        </a:rPr>
                        <a:t>回答施設の割合</a:t>
                      </a:r>
                    </a:p>
                  </a:txBody>
                  <a:tcPr anchor="ctr"/>
                </a:tc>
                <a:tc>
                  <a:txBody>
                    <a:bodyPr/>
                    <a:lstStyle/>
                    <a:p>
                      <a:pPr algn="ctr"/>
                      <a:r>
                        <a:rPr kumimoji="1" lang="ja-JP" altLang="en-US" sz="1600" b="1" dirty="0"/>
                        <a:t>調査全体に占める</a:t>
                      </a:r>
                      <a:br>
                        <a:rPr kumimoji="1" lang="en-US" altLang="ja-JP" sz="1600" b="1" dirty="0"/>
                      </a:br>
                      <a:r>
                        <a:rPr kumimoji="1" lang="ja-JP" altLang="en-US" sz="1600" b="1" dirty="0"/>
                        <a:t>回答割合</a:t>
                      </a:r>
                      <a:endParaRPr kumimoji="1" lang="ja-JP" altLang="en-US" sz="1600" b="1" dirty="0">
                        <a:latin typeface="+mn-lt"/>
                      </a:endParaRPr>
                    </a:p>
                  </a:txBody>
                  <a:tcPr anchor="ctr"/>
                </a:tc>
                <a:extLst>
                  <a:ext uri="{0D108BD9-81ED-4DB2-BD59-A6C34878D82A}">
                    <a16:rowId xmlns:a16="http://schemas.microsoft.com/office/drawing/2014/main" val="3135144923"/>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北海道</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12</a:t>
                      </a:r>
                    </a:p>
                  </a:txBody>
                  <a:tcPr marL="7620" marR="7620" marT="7620" marB="0" anchor="ctr"/>
                </a:tc>
                <a:tc>
                  <a:txBody>
                    <a:bodyPr/>
                    <a:lstStyle/>
                    <a:p>
                      <a:pPr algn="ctr" rtl="0" fontAlgn="b">
                        <a:buNone/>
                      </a:pPr>
                      <a:r>
                        <a:rPr lang="en-US" altLang="ja-JP" b="1">
                          <a:effectLst/>
                        </a:rPr>
                        <a:t>31</a:t>
                      </a:r>
                    </a:p>
                  </a:txBody>
                  <a:tcPr marL="22860" marR="22860" marT="15240" marB="15240" anchor="ctr"/>
                </a:tc>
                <a:tc>
                  <a:txBody>
                    <a:bodyPr/>
                    <a:lstStyle/>
                    <a:p>
                      <a:pPr algn="ctr" fontAlgn="b">
                        <a:buNone/>
                      </a:pPr>
                      <a:r>
                        <a:rPr lang="en-US" altLang="ja-JP" sz="1800" b="1" i="0" u="none" strike="noStrike">
                          <a:solidFill>
                            <a:srgbClr val="000000"/>
                          </a:solidFill>
                          <a:effectLst/>
                          <a:latin typeface="+mn-lt"/>
                        </a:rPr>
                        <a:t>38.7%</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4.2%</a:t>
                      </a:r>
                    </a:p>
                  </a:txBody>
                  <a:tcPr marL="7620" marR="7620" marT="7620" marB="0" anchor="ctr"/>
                </a:tc>
                <a:extLst>
                  <a:ext uri="{0D108BD9-81ED-4DB2-BD59-A6C34878D82A}">
                    <a16:rowId xmlns:a16="http://schemas.microsoft.com/office/drawing/2014/main" val="2850673148"/>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東北</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22</a:t>
                      </a:r>
                    </a:p>
                  </a:txBody>
                  <a:tcPr marL="7620" marR="7620" marT="7620" marB="0" anchor="ctr"/>
                </a:tc>
                <a:tc>
                  <a:txBody>
                    <a:bodyPr/>
                    <a:lstStyle/>
                    <a:p>
                      <a:pPr algn="ctr" rtl="0" fontAlgn="b">
                        <a:buNone/>
                      </a:pPr>
                      <a:r>
                        <a:rPr lang="en-US" altLang="ja-JP" b="1" dirty="0">
                          <a:effectLst/>
                        </a:rPr>
                        <a:t>44</a:t>
                      </a:r>
                    </a:p>
                  </a:txBody>
                  <a:tcPr marL="22860" marR="22860" marT="15240" marB="15240" anchor="ctr"/>
                </a:tc>
                <a:tc>
                  <a:txBody>
                    <a:bodyPr/>
                    <a:lstStyle/>
                    <a:p>
                      <a:pPr algn="ctr" fontAlgn="b">
                        <a:buNone/>
                      </a:pPr>
                      <a:r>
                        <a:rPr lang="en-US" altLang="ja-JP" sz="1800" b="1" i="0" u="none" strike="noStrike" dirty="0">
                          <a:solidFill>
                            <a:srgbClr val="FF0000"/>
                          </a:solidFill>
                          <a:effectLst/>
                          <a:latin typeface="+mn-lt"/>
                        </a:rPr>
                        <a:t>50.0%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7.6%</a:t>
                      </a:r>
                    </a:p>
                  </a:txBody>
                  <a:tcPr marL="7620" marR="7620" marT="7620" marB="0" anchor="ctr"/>
                </a:tc>
                <a:extLst>
                  <a:ext uri="{0D108BD9-81ED-4DB2-BD59-A6C34878D82A}">
                    <a16:rowId xmlns:a16="http://schemas.microsoft.com/office/drawing/2014/main" val="3922651057"/>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関東</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56</a:t>
                      </a:r>
                    </a:p>
                  </a:txBody>
                  <a:tcPr marL="7620" marR="7620" marT="7620" marB="0" anchor="ctr"/>
                </a:tc>
                <a:tc>
                  <a:txBody>
                    <a:bodyPr/>
                    <a:lstStyle/>
                    <a:p>
                      <a:pPr algn="ctr" rtl="0" fontAlgn="b">
                        <a:buNone/>
                      </a:pPr>
                      <a:r>
                        <a:rPr lang="en-US" altLang="ja-JP" b="1" dirty="0">
                          <a:effectLst/>
                        </a:rPr>
                        <a:t>160</a:t>
                      </a:r>
                    </a:p>
                  </a:txBody>
                  <a:tcPr marL="22860" marR="22860" marT="15240" marB="15240" anchor="ctr"/>
                </a:tc>
                <a:tc>
                  <a:txBody>
                    <a:bodyPr/>
                    <a:lstStyle/>
                    <a:p>
                      <a:pPr algn="ctr" fontAlgn="b">
                        <a:buNone/>
                      </a:pPr>
                      <a:r>
                        <a:rPr lang="en-US" altLang="ja-JP" sz="1800" b="1" i="0" u="none" strike="noStrike" dirty="0">
                          <a:solidFill>
                            <a:srgbClr val="0070C0"/>
                          </a:solidFill>
                          <a:effectLst/>
                          <a:latin typeface="+mn-lt"/>
                        </a:rPr>
                        <a:t>35.0%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19.4%</a:t>
                      </a:r>
                    </a:p>
                  </a:txBody>
                  <a:tcPr marL="7620" marR="7620" marT="7620" marB="0" anchor="ctr"/>
                </a:tc>
                <a:extLst>
                  <a:ext uri="{0D108BD9-81ED-4DB2-BD59-A6C34878D82A}">
                    <a16:rowId xmlns:a16="http://schemas.microsoft.com/office/drawing/2014/main" val="4225568773"/>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中部</a:t>
                      </a:r>
                      <a:endParaRPr lang="en-US" altLang="ja-JP" sz="24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altLang="ja-JP" sz="1800" b="1" i="0" u="none" strike="noStrike">
                          <a:solidFill>
                            <a:srgbClr val="000000"/>
                          </a:solidFill>
                          <a:effectLst/>
                          <a:latin typeface="+mn-lt"/>
                        </a:rPr>
                        <a:t>63</a:t>
                      </a:r>
                    </a:p>
                  </a:txBody>
                  <a:tcPr marL="7620" marR="7620" marT="7620" marB="0" anchor="ctr"/>
                </a:tc>
                <a:tc>
                  <a:txBody>
                    <a:bodyPr/>
                    <a:lstStyle/>
                    <a:p>
                      <a:pPr algn="ctr" rtl="0" fontAlgn="b">
                        <a:buNone/>
                      </a:pPr>
                      <a:r>
                        <a:rPr lang="en-US" altLang="ja-JP" b="1" dirty="0">
                          <a:effectLst/>
                        </a:rPr>
                        <a:t>143</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44.1%</a:t>
                      </a:r>
                    </a:p>
                  </a:txBody>
                  <a:tcPr marL="7620" marR="7620" marT="7620" marB="0" anchor="ctr"/>
                </a:tc>
                <a:tc>
                  <a:txBody>
                    <a:bodyPr/>
                    <a:lstStyle/>
                    <a:p>
                      <a:pPr algn="ctr" fontAlgn="b">
                        <a:buNone/>
                      </a:pPr>
                      <a:r>
                        <a:rPr lang="en-US" altLang="ja-JP" sz="1800" b="1" i="0" u="none" strike="noStrike" dirty="0">
                          <a:solidFill>
                            <a:srgbClr val="FF0000"/>
                          </a:solidFill>
                          <a:effectLst/>
                          <a:latin typeface="+mn-lt"/>
                        </a:rPr>
                        <a:t>21.8%</a:t>
                      </a:r>
                    </a:p>
                  </a:txBody>
                  <a:tcPr marL="7620" marR="7620" marT="7620" marB="0" anchor="ctr"/>
                </a:tc>
                <a:extLst>
                  <a:ext uri="{0D108BD9-81ED-4DB2-BD59-A6C34878D82A}">
                    <a16:rowId xmlns:a16="http://schemas.microsoft.com/office/drawing/2014/main" val="1938006479"/>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近畿</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62</a:t>
                      </a:r>
                    </a:p>
                  </a:txBody>
                  <a:tcPr marL="7620" marR="7620" marT="7620" marB="0" anchor="ctr"/>
                </a:tc>
                <a:tc>
                  <a:txBody>
                    <a:bodyPr/>
                    <a:lstStyle/>
                    <a:p>
                      <a:pPr algn="ctr" rtl="0" fontAlgn="b">
                        <a:buNone/>
                      </a:pPr>
                      <a:r>
                        <a:rPr lang="en-US" altLang="ja-JP" b="1">
                          <a:effectLst/>
                        </a:rPr>
                        <a:t>139</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44.6%</a:t>
                      </a:r>
                    </a:p>
                  </a:txBody>
                  <a:tcPr marL="7620" marR="7620" marT="7620" marB="0" anchor="ctr"/>
                </a:tc>
                <a:tc>
                  <a:txBody>
                    <a:bodyPr/>
                    <a:lstStyle/>
                    <a:p>
                      <a:pPr algn="ctr" fontAlgn="b">
                        <a:buNone/>
                      </a:pPr>
                      <a:r>
                        <a:rPr lang="en-US" altLang="ja-JP" sz="1800" b="1" i="0" u="none" strike="noStrike" dirty="0">
                          <a:solidFill>
                            <a:srgbClr val="0070C0"/>
                          </a:solidFill>
                          <a:effectLst/>
                          <a:latin typeface="+mn-lt"/>
                        </a:rPr>
                        <a:t>21.5%</a:t>
                      </a:r>
                    </a:p>
                  </a:txBody>
                  <a:tcPr marL="7620" marR="7620" marT="7620" marB="0" anchor="ctr"/>
                </a:tc>
                <a:extLst>
                  <a:ext uri="{0D108BD9-81ED-4DB2-BD59-A6C34878D82A}">
                    <a16:rowId xmlns:a16="http://schemas.microsoft.com/office/drawing/2014/main" val="1818008695"/>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中国</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21</a:t>
                      </a:r>
                    </a:p>
                  </a:txBody>
                  <a:tcPr marL="7620" marR="7620" marT="7620" marB="0" anchor="ctr"/>
                </a:tc>
                <a:tc>
                  <a:txBody>
                    <a:bodyPr/>
                    <a:lstStyle/>
                    <a:p>
                      <a:pPr algn="ctr" rtl="0" fontAlgn="b">
                        <a:buNone/>
                      </a:pPr>
                      <a:r>
                        <a:rPr lang="en-US" altLang="ja-JP" b="1">
                          <a:effectLst/>
                        </a:rPr>
                        <a:t>50</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42.0%</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7.3%</a:t>
                      </a:r>
                    </a:p>
                  </a:txBody>
                  <a:tcPr marL="7620" marR="7620" marT="7620" marB="0" anchor="ctr"/>
                </a:tc>
                <a:extLst>
                  <a:ext uri="{0D108BD9-81ED-4DB2-BD59-A6C34878D82A}">
                    <a16:rowId xmlns:a16="http://schemas.microsoft.com/office/drawing/2014/main" val="512668420"/>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四国</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16</a:t>
                      </a:r>
                    </a:p>
                  </a:txBody>
                  <a:tcPr marL="7620" marR="7620" marT="7620" marB="0" anchor="ctr"/>
                </a:tc>
                <a:tc>
                  <a:txBody>
                    <a:bodyPr/>
                    <a:lstStyle/>
                    <a:p>
                      <a:pPr algn="ctr" rtl="0" fontAlgn="b">
                        <a:buNone/>
                      </a:pPr>
                      <a:r>
                        <a:rPr lang="en-US" altLang="ja-JP" b="1">
                          <a:effectLst/>
                        </a:rPr>
                        <a:t>34</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47.1%</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5.5%</a:t>
                      </a:r>
                    </a:p>
                  </a:txBody>
                  <a:tcPr marL="7620" marR="7620" marT="7620" marB="0" anchor="ctr"/>
                </a:tc>
                <a:extLst>
                  <a:ext uri="{0D108BD9-81ED-4DB2-BD59-A6C34878D82A}">
                    <a16:rowId xmlns:a16="http://schemas.microsoft.com/office/drawing/2014/main" val="2849577882"/>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九州</a:t>
                      </a:r>
                      <a:endParaRPr lang="en-US" altLang="ja-JP" sz="2400" b="1" i="0" u="none" strike="noStrike" dirty="0">
                        <a:solidFill>
                          <a:srgbClr val="000000"/>
                        </a:solidFill>
                        <a:effectLst/>
                        <a:latin typeface="Arial" panose="020B0604020202020204" pitchFamily="34" charset="0"/>
                      </a:endParaRPr>
                    </a:p>
                  </a:txBody>
                  <a:tcPr marL="7620" marR="7620" marT="7620" marB="0" anchor="ctr"/>
                </a:tc>
                <a:tc>
                  <a:txBody>
                    <a:bodyPr/>
                    <a:lstStyle/>
                    <a:p>
                      <a:pPr algn="ctr" fontAlgn="b">
                        <a:buNone/>
                      </a:pPr>
                      <a:r>
                        <a:rPr lang="en-US" altLang="ja-JP" sz="1800" b="1" i="0" u="none" strike="noStrike">
                          <a:solidFill>
                            <a:srgbClr val="000000"/>
                          </a:solidFill>
                          <a:effectLst/>
                          <a:latin typeface="+mn-lt"/>
                        </a:rPr>
                        <a:t>33</a:t>
                      </a:r>
                    </a:p>
                  </a:txBody>
                  <a:tcPr marL="7620" marR="7620" marT="7620" marB="0" anchor="ctr"/>
                </a:tc>
                <a:tc>
                  <a:txBody>
                    <a:bodyPr/>
                    <a:lstStyle/>
                    <a:p>
                      <a:pPr algn="ctr" rtl="0" fontAlgn="b">
                        <a:buNone/>
                      </a:pPr>
                      <a:r>
                        <a:rPr lang="en-US" altLang="ja-JP" b="1">
                          <a:effectLst/>
                        </a:rPr>
                        <a:t>88</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37.5%</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11.4%</a:t>
                      </a:r>
                    </a:p>
                  </a:txBody>
                  <a:tcPr marL="7620" marR="7620" marT="7620" marB="0" anchor="ctr"/>
                </a:tc>
                <a:extLst>
                  <a:ext uri="{0D108BD9-81ED-4DB2-BD59-A6C34878D82A}">
                    <a16:rowId xmlns:a16="http://schemas.microsoft.com/office/drawing/2014/main" val="2209313969"/>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沖縄</a:t>
                      </a:r>
                    </a:p>
                  </a:txBody>
                  <a:tcPr marL="7620" marR="7620" marT="7620" marB="0" anchor="ctr"/>
                </a:tc>
                <a:tc>
                  <a:txBody>
                    <a:bodyPr/>
                    <a:lstStyle/>
                    <a:p>
                      <a:pPr algn="ctr" fontAlgn="b">
                        <a:buNone/>
                      </a:pPr>
                      <a:r>
                        <a:rPr lang="en-US" altLang="ja-JP" sz="1800" b="1" i="0" u="none" strike="noStrike">
                          <a:solidFill>
                            <a:srgbClr val="000000"/>
                          </a:solidFill>
                          <a:effectLst/>
                          <a:latin typeface="+mn-lt"/>
                        </a:rPr>
                        <a:t>4</a:t>
                      </a:r>
                    </a:p>
                  </a:txBody>
                  <a:tcPr marL="7620" marR="7620" marT="7620" marB="0" anchor="ctr"/>
                </a:tc>
                <a:tc>
                  <a:txBody>
                    <a:bodyPr/>
                    <a:lstStyle/>
                    <a:p>
                      <a:pPr algn="ctr" rtl="0" fontAlgn="b">
                        <a:buNone/>
                      </a:pPr>
                      <a:r>
                        <a:rPr lang="en-US" altLang="ja-JP" b="1" dirty="0">
                          <a:effectLst/>
                        </a:rPr>
                        <a:t>10</a:t>
                      </a:r>
                    </a:p>
                  </a:txBody>
                  <a:tcPr marL="22860" marR="22860" marT="15240" marB="15240" anchor="ctr"/>
                </a:tc>
                <a:tc>
                  <a:txBody>
                    <a:bodyPr/>
                    <a:lstStyle/>
                    <a:p>
                      <a:pPr algn="ctr" fontAlgn="b">
                        <a:buNone/>
                      </a:pPr>
                      <a:r>
                        <a:rPr lang="en-US" altLang="ja-JP" sz="1800" b="1" i="0" u="none" strike="noStrike" dirty="0">
                          <a:solidFill>
                            <a:srgbClr val="000000"/>
                          </a:solidFill>
                          <a:effectLst/>
                          <a:latin typeface="+mn-lt"/>
                        </a:rPr>
                        <a:t>40.0%</a:t>
                      </a:r>
                    </a:p>
                  </a:txBody>
                  <a:tcPr marL="7620" marR="7620" marT="7620" marB="0" anchor="ctr"/>
                </a:tc>
                <a:tc>
                  <a:txBody>
                    <a:bodyPr/>
                    <a:lstStyle/>
                    <a:p>
                      <a:pPr algn="ctr" fontAlgn="b">
                        <a:buNone/>
                      </a:pPr>
                      <a:r>
                        <a:rPr lang="en-US" altLang="ja-JP" sz="1800" b="1" i="0" u="none" strike="noStrike" dirty="0">
                          <a:solidFill>
                            <a:srgbClr val="000000"/>
                          </a:solidFill>
                          <a:effectLst/>
                          <a:latin typeface="+mn-lt"/>
                        </a:rPr>
                        <a:t>1.4%</a:t>
                      </a:r>
                    </a:p>
                  </a:txBody>
                  <a:tcPr marL="7620" marR="7620" marT="7620" marB="0" anchor="ctr"/>
                </a:tc>
                <a:extLst>
                  <a:ext uri="{0D108BD9-81ED-4DB2-BD59-A6C34878D82A}">
                    <a16:rowId xmlns:a16="http://schemas.microsoft.com/office/drawing/2014/main" val="2962391929"/>
                  </a:ext>
                </a:extLst>
              </a:tr>
              <a:tr h="448540">
                <a:tc>
                  <a:txBody>
                    <a:bodyPr/>
                    <a:lstStyle/>
                    <a:p>
                      <a:pPr algn="ctr" fontAlgn="b">
                        <a:buNone/>
                      </a:pPr>
                      <a:r>
                        <a:rPr lang="ja-JP" altLang="en-US" sz="2400" b="1" i="0" u="none" strike="noStrike" dirty="0">
                          <a:solidFill>
                            <a:srgbClr val="000000"/>
                          </a:solidFill>
                          <a:effectLst/>
                          <a:latin typeface="Arial" panose="020B0604020202020204" pitchFamily="34" charset="0"/>
                        </a:rPr>
                        <a:t>合計</a:t>
                      </a:r>
                    </a:p>
                  </a:txBody>
                  <a:tcPr marL="7620" marR="7620" marT="7620" marB="0" anchor="ctr">
                    <a:solidFill>
                      <a:schemeClr val="accent1">
                        <a:lumMod val="60000"/>
                        <a:lumOff val="40000"/>
                      </a:schemeClr>
                    </a:solidFill>
                  </a:tcPr>
                </a:tc>
                <a:tc>
                  <a:txBody>
                    <a:bodyPr/>
                    <a:lstStyle/>
                    <a:p>
                      <a:pPr algn="ctr" fontAlgn="b">
                        <a:buNone/>
                      </a:pPr>
                      <a:r>
                        <a:rPr lang="en-US" altLang="ja-JP" sz="1800" b="1" i="0" u="none" strike="noStrike" dirty="0">
                          <a:solidFill>
                            <a:srgbClr val="000000"/>
                          </a:solidFill>
                          <a:effectLst/>
                          <a:latin typeface="Arial" panose="020B0604020202020204" pitchFamily="34" charset="0"/>
                        </a:rPr>
                        <a:t>289</a:t>
                      </a:r>
                      <a:r>
                        <a:rPr lang="ja-JP" altLang="en-US" sz="1800" b="1" i="0" u="none" strike="noStrike" dirty="0">
                          <a:solidFill>
                            <a:srgbClr val="000000"/>
                          </a:solidFill>
                          <a:effectLst/>
                          <a:latin typeface="Arial" panose="020B0604020202020204" pitchFamily="34" charset="0"/>
                        </a:rPr>
                        <a:t>施設</a:t>
                      </a:r>
                      <a:endParaRPr lang="en-US" altLang="ja-JP" sz="1800" b="1" i="0" u="none" strike="noStrike" dirty="0">
                        <a:solidFill>
                          <a:srgbClr val="000000"/>
                        </a:solidFill>
                        <a:effectLst/>
                        <a:latin typeface="Arial" panose="020B0604020202020204" pitchFamily="34" charset="0"/>
                      </a:endParaRPr>
                    </a:p>
                  </a:txBody>
                  <a:tcPr marL="7620" marR="7620" marT="7620" marB="0" anchor="ctr">
                    <a:solidFill>
                      <a:schemeClr val="accent1">
                        <a:lumMod val="60000"/>
                        <a:lumOff val="40000"/>
                      </a:schemeClr>
                    </a:solidFill>
                  </a:tcPr>
                </a:tc>
                <a:tc>
                  <a:txBody>
                    <a:bodyPr/>
                    <a:lstStyle/>
                    <a:p>
                      <a:pPr algn="ctr" fontAlgn="b">
                        <a:buNone/>
                      </a:pPr>
                      <a:r>
                        <a:rPr lang="en-US" altLang="ja-JP" sz="1800" b="1" i="0" u="none" strike="noStrike" dirty="0">
                          <a:solidFill>
                            <a:srgbClr val="000000"/>
                          </a:solidFill>
                          <a:effectLst/>
                          <a:latin typeface="Arial" panose="020B0604020202020204" pitchFamily="34" charset="0"/>
                        </a:rPr>
                        <a:t>699</a:t>
                      </a:r>
                      <a:r>
                        <a:rPr lang="ja-JP" altLang="en-US" sz="1800" b="1" i="0" u="none" strike="noStrike" dirty="0">
                          <a:solidFill>
                            <a:srgbClr val="000000"/>
                          </a:solidFill>
                          <a:effectLst/>
                          <a:latin typeface="Arial" panose="020B0604020202020204" pitchFamily="34" charset="0"/>
                        </a:rPr>
                        <a:t>施設</a:t>
                      </a:r>
                    </a:p>
                  </a:txBody>
                  <a:tcPr marL="7620" marR="7620" marT="7620" marB="0" anchor="ctr">
                    <a:solidFill>
                      <a:schemeClr val="accent1">
                        <a:lumMod val="60000"/>
                        <a:lumOff val="40000"/>
                      </a:schemeClr>
                    </a:solidFill>
                  </a:tcPr>
                </a:tc>
                <a:tc>
                  <a:txBody>
                    <a:bodyPr/>
                    <a:lstStyle/>
                    <a:p>
                      <a:pPr algn="ctr" fontAlgn="b">
                        <a:buNone/>
                      </a:pPr>
                      <a:r>
                        <a:rPr lang="en-US" altLang="ja-JP" sz="2000" b="1" i="0" u="none" strike="noStrike" dirty="0">
                          <a:solidFill>
                            <a:srgbClr val="000000"/>
                          </a:solidFill>
                          <a:effectLst/>
                          <a:latin typeface="+mn-lt"/>
                        </a:rPr>
                        <a:t>42.1%</a:t>
                      </a:r>
                    </a:p>
                  </a:txBody>
                  <a:tcPr marL="7620" marR="7620" marT="7620" marB="0" anchor="ctr">
                    <a:solidFill>
                      <a:schemeClr val="accent1">
                        <a:lumMod val="60000"/>
                        <a:lumOff val="40000"/>
                      </a:schemeClr>
                    </a:solidFill>
                  </a:tcPr>
                </a:tc>
                <a:tc>
                  <a:txBody>
                    <a:bodyPr/>
                    <a:lstStyle/>
                    <a:p>
                      <a:pPr algn="ctr" fontAlgn="b">
                        <a:buNone/>
                      </a:pPr>
                      <a:endParaRPr lang="ja-JP" altLang="en-US" sz="1800" b="1" i="0" u="none" strike="noStrike" dirty="0">
                        <a:solidFill>
                          <a:srgbClr val="000000"/>
                        </a:solidFill>
                        <a:effectLst/>
                        <a:latin typeface="Arial" panose="020B0604020202020204" pitchFamily="34" charset="0"/>
                      </a:endParaRPr>
                    </a:p>
                  </a:txBody>
                  <a:tcPr marL="7620" marR="7620" marT="7620" marB="0" anchor="ctr">
                    <a:solidFill>
                      <a:schemeClr val="tx1"/>
                    </a:solidFill>
                  </a:tcPr>
                </a:tc>
                <a:extLst>
                  <a:ext uri="{0D108BD9-81ED-4DB2-BD59-A6C34878D82A}">
                    <a16:rowId xmlns:a16="http://schemas.microsoft.com/office/drawing/2014/main" val="784346743"/>
                  </a:ext>
                </a:extLst>
              </a:tr>
            </a:tbl>
          </a:graphicData>
        </a:graphic>
      </p:graphicFrame>
    </p:spTree>
    <p:extLst>
      <p:ext uri="{BB962C8B-B14F-4D97-AF65-F5344CB8AC3E}">
        <p14:creationId xmlns:p14="http://schemas.microsoft.com/office/powerpoint/2010/main" val="40482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438F3-D8C5-F135-14D2-B5EE7391D73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1A00EF4-CA58-0EDD-3B9B-CAD5C8DC06FA}"/>
              </a:ext>
            </a:extLst>
          </p:cNvPr>
          <p:cNvSpPr txBox="1"/>
          <p:nvPr/>
        </p:nvSpPr>
        <p:spPr>
          <a:xfrm>
            <a:off x="626301" y="543351"/>
            <a:ext cx="10939398" cy="1077218"/>
          </a:xfrm>
          <a:prstGeom prst="rect">
            <a:avLst/>
          </a:prstGeom>
          <a:noFill/>
        </p:spPr>
        <p:txBody>
          <a:bodyPr wrap="square" rtlCol="0">
            <a:spAutoFit/>
          </a:bodyPr>
          <a:lstStyle/>
          <a:p>
            <a:pPr lvl="0" algn="ctr">
              <a:defRPr/>
            </a:pPr>
            <a:r>
              <a:rPr lang="ja-JP" altLang="en-US" sz="3200" b="1" dirty="0">
                <a:solidFill>
                  <a:prstClr val="black"/>
                </a:solidFill>
                <a:latin typeface="游ゴシック" panose="020F0502020204030204"/>
              </a:rPr>
              <a:t>回答者のご所属部署名・職種</a:t>
            </a:r>
            <a:br>
              <a:rPr lang="en-US" altLang="ja-JP" sz="3200" b="1" dirty="0">
                <a:solidFill>
                  <a:prstClr val="black"/>
                </a:solidFill>
                <a:latin typeface="游ゴシック" panose="020F0502020204030204"/>
              </a:rPr>
            </a:br>
            <a:r>
              <a:rPr lang="ja-JP" altLang="en-US" sz="3200" b="1" dirty="0">
                <a:solidFill>
                  <a:prstClr val="black"/>
                </a:solidFill>
                <a:latin typeface="游ゴシック" panose="020F0502020204030204"/>
              </a:rPr>
              <a:t>（任意回答）</a:t>
            </a:r>
            <a:endParaRPr kumimoji="1" lang="ja-JP" altLang="en-US"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aphicFrame>
        <p:nvGraphicFramePr>
          <p:cNvPr id="7" name="表 6">
            <a:extLst>
              <a:ext uri="{FF2B5EF4-FFF2-40B4-BE49-F238E27FC236}">
                <a16:creationId xmlns:a16="http://schemas.microsoft.com/office/drawing/2014/main" id="{2FA4BBA4-E292-F6D4-5B74-884167E3CDD3}"/>
              </a:ext>
            </a:extLst>
          </p:cNvPr>
          <p:cNvGraphicFramePr>
            <a:graphicFrameLocks noGrp="1"/>
          </p:cNvGraphicFramePr>
          <p:nvPr>
            <p:extLst>
              <p:ext uri="{D42A27DB-BD31-4B8C-83A1-F6EECF244321}">
                <p14:modId xmlns:p14="http://schemas.microsoft.com/office/powerpoint/2010/main" val="2076452679"/>
              </p:ext>
            </p:extLst>
          </p:nvPr>
        </p:nvGraphicFramePr>
        <p:xfrm>
          <a:off x="7225281" y="1731188"/>
          <a:ext cx="4461504" cy="3848240"/>
        </p:xfrm>
        <a:graphic>
          <a:graphicData uri="http://schemas.openxmlformats.org/drawingml/2006/table">
            <a:tbl>
              <a:tblPr firstRow="1" bandRow="1">
                <a:tableStyleId>{5C22544A-7EE6-4342-B048-85BDC9FD1C3A}</a:tableStyleId>
              </a:tblPr>
              <a:tblGrid>
                <a:gridCol w="1707132">
                  <a:extLst>
                    <a:ext uri="{9D8B030D-6E8A-4147-A177-3AD203B41FA5}">
                      <a16:colId xmlns:a16="http://schemas.microsoft.com/office/drawing/2014/main" val="2847142415"/>
                    </a:ext>
                  </a:extLst>
                </a:gridCol>
                <a:gridCol w="1463259">
                  <a:extLst>
                    <a:ext uri="{9D8B030D-6E8A-4147-A177-3AD203B41FA5}">
                      <a16:colId xmlns:a16="http://schemas.microsoft.com/office/drawing/2014/main" val="1200424832"/>
                    </a:ext>
                  </a:extLst>
                </a:gridCol>
                <a:gridCol w="1291113">
                  <a:extLst>
                    <a:ext uri="{9D8B030D-6E8A-4147-A177-3AD203B41FA5}">
                      <a16:colId xmlns:a16="http://schemas.microsoft.com/office/drawing/2014/main" val="369224846"/>
                    </a:ext>
                  </a:extLst>
                </a:gridCol>
              </a:tblGrid>
              <a:tr h="647204">
                <a:tc>
                  <a:txBody>
                    <a:bodyPr/>
                    <a:lstStyle/>
                    <a:p>
                      <a:pPr algn="ctr" fontAlgn="ctr">
                        <a:buNone/>
                      </a:pPr>
                      <a:r>
                        <a:rPr lang="ja-JP" altLang="en-US" sz="1600" b="1" u="none" strike="noStrike" dirty="0">
                          <a:solidFill>
                            <a:srgbClr val="FFFFFF"/>
                          </a:solidFill>
                          <a:effectLst/>
                        </a:rPr>
                        <a:t>回答</a:t>
                      </a:r>
                      <a:endParaRPr lang="en-US" altLang="ja-JP" sz="1600" b="1" u="none" strike="noStrike" dirty="0">
                        <a:solidFill>
                          <a:srgbClr val="FFFFFF"/>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ctr" fontAlgn="ctr">
                        <a:buNone/>
                      </a:pPr>
                      <a:r>
                        <a:rPr lang="ja-JP" altLang="en-US" sz="1600" b="1" u="none" strike="noStrike" dirty="0">
                          <a:solidFill>
                            <a:srgbClr val="FFFFFF"/>
                          </a:solidFill>
                          <a:effectLst/>
                        </a:rPr>
                        <a:t>人数</a:t>
                      </a:r>
                      <a:endPar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350" marR="6350" marT="6350" marB="0" anchor="ctr"/>
                </a:tc>
                <a:tc>
                  <a:txBody>
                    <a:bodyPr/>
                    <a:lstStyle/>
                    <a:p>
                      <a:pPr algn="ctr" fontAlgn="ctr">
                        <a:buNone/>
                      </a:pPr>
                      <a:r>
                        <a:rPr lang="ja-JP" altLang="en-US" sz="1600" b="1" u="none" strike="noStrike" dirty="0">
                          <a:solidFill>
                            <a:srgbClr val="FFFFFF"/>
                          </a:solidFill>
                          <a:effectLst/>
                        </a:rPr>
                        <a:t>割合</a:t>
                      </a:r>
                      <a:endParaRPr lang="ja-JP" altLang="en-US" sz="1600" b="1" i="0" u="none" strike="noStrike" dirty="0">
                        <a:solidFill>
                          <a:srgbClr val="FFFFFF"/>
                        </a:solidFill>
                        <a:effectLst/>
                        <a:latin typeface="游ゴシック" panose="020B0400000000000000" pitchFamily="50" charset="-128"/>
                        <a:ea typeface="游ゴシック" panose="020B0400000000000000" pitchFamily="50" charset="-128"/>
                      </a:endParaRPr>
                    </a:p>
                  </a:txBody>
                  <a:tcPr marL="6350" marR="6350" marT="6350" marB="0" anchor="ctr"/>
                </a:tc>
                <a:extLst>
                  <a:ext uri="{0D108BD9-81ED-4DB2-BD59-A6C34878D82A}">
                    <a16:rowId xmlns:a16="http://schemas.microsoft.com/office/drawing/2014/main" val="2960141520"/>
                  </a:ext>
                </a:extLst>
              </a:tr>
              <a:tr h="629712">
                <a:tc>
                  <a:txBody>
                    <a:bodyPr/>
                    <a:lstStyle/>
                    <a:p>
                      <a:pPr algn="ctr" fontAlgn="ctr">
                        <a:buNone/>
                      </a:pPr>
                      <a:r>
                        <a:rPr lang="ja-JP" altLang="en-US" sz="1200" b="1" u="none" strike="noStrike" dirty="0">
                          <a:solidFill>
                            <a:schemeClr val="tx1"/>
                          </a:solidFill>
                          <a:effectLst/>
                        </a:rPr>
                        <a:t>リハビリテーション科（部・室・課・センター等も含む）</a:t>
                      </a:r>
                      <a:endParaRPr lang="en-US" altLang="ja-JP" sz="1200" b="1" u="none" strike="noStrike" dirty="0">
                        <a:solidFill>
                          <a:schemeClr val="tx1"/>
                        </a:solidFill>
                        <a:effectLst/>
                      </a:endParaRPr>
                    </a:p>
                    <a:p>
                      <a:pPr algn="ctr" fontAlgn="ctr">
                        <a:buNone/>
                      </a:pPr>
                      <a:r>
                        <a:rPr lang="ja-JP" altLang="en-US" sz="1200" b="1" u="none" strike="noStrike" dirty="0">
                          <a:solidFill>
                            <a:schemeClr val="tx1"/>
                          </a:solidFill>
                          <a:effectLst/>
                          <a:latin typeface="+mn-lt"/>
                        </a:rPr>
                        <a:t/>
                      </a:r>
                      <a:endParaRPr lang="en-US" altLang="ja-JP" sz="1200" b="1" u="none" strike="noStrike" dirty="0">
                        <a:solidFill>
                          <a:schemeClr val="tx1"/>
                        </a:solidFill>
                        <a:effectLst/>
                        <a:latin typeface="+mn-lt"/>
                      </a:endParaRPr>
                    </a:p>
                  </a:txBody>
                  <a:tcPr marL="6350" marR="6350" marT="6350" marB="0" anchor="ctr"/>
                </a:tc>
                <a:tc>
                  <a:txBody>
                    <a:bodyPr/>
                    <a:lstStyle/>
                    <a:p>
                      <a:pPr algn="ctr" fontAlgn="ctr">
                        <a:buNone/>
                      </a:pPr>
                      <a:r>
                        <a:rPr lang="en-US" altLang="ja-JP" sz="1200" b="1" u="none" strike="noStrike" dirty="0">
                          <a:solidFill>
                            <a:schemeClr val="tx1"/>
                          </a:solidFill>
                          <a:effectLst/>
                        </a:rPr>
                        <a:t>140</a:t>
                      </a:r>
                      <a:endParaRPr lang="en-US" altLang="ja-JP" sz="1200" b="1" i="0" u="none" strike="noStrike" dirty="0">
                        <a:solidFill>
                          <a:schemeClr val="tx1"/>
                        </a:solidFill>
                        <a:effectLst/>
                        <a:latin typeface="+mn-lt"/>
                        <a:ea typeface="游ゴシック" panose="020B0400000000000000" pitchFamily="50" charset="-128"/>
                      </a:endParaRPr>
                    </a:p>
                  </a:txBody>
                  <a:tcPr marL="6350" marR="6350" marT="6350" marB="0" anchor="ctr"/>
                </a:tc>
                <a:tc>
                  <a:txBody>
                    <a:bodyPr/>
                    <a:lstStyle/>
                    <a:p>
                      <a:pPr algn="ctr" fontAlgn="ctr">
                        <a:buNone/>
                      </a:pPr>
                      <a:r>
                        <a:rPr lang="en-US" altLang="ja-JP" sz="1200" b="1" u="none" strike="noStrike" dirty="0">
                          <a:solidFill>
                            <a:schemeClr val="tx1"/>
                          </a:solidFill>
                          <a:effectLst/>
                        </a:rPr>
                        <a:t>48.4%</a:t>
                      </a:r>
                      <a:endParaRPr lang="en-US" altLang="ja-JP" sz="1200" b="1" i="0" u="none" strike="noStrike" dirty="0">
                        <a:solidFill>
                          <a:schemeClr val="tx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1992398370"/>
                  </a:ext>
                </a:extLst>
              </a:tr>
              <a:tr h="629712">
                <a:tc>
                  <a:txBody>
                    <a:bodyPr/>
                    <a:lstStyle/>
                    <a:p>
                      <a:pPr algn="ctr" fontAlgn="ctr">
                        <a:buNone/>
                      </a:pPr>
                      <a:r>
                        <a:rPr lang="ja-JP" altLang="en-US" sz="1200" b="1" i="0" u="none" strike="noStrike" dirty="0">
                          <a:solidFill>
                            <a:schemeClr val="tx1"/>
                          </a:solidFill>
                          <a:effectLst/>
                          <a:latin typeface="+mn-lt"/>
                          <a:ea typeface="游ゴシック" panose="020B0400000000000000" pitchFamily="50" charset="-128"/>
                        </a:rPr>
                        <a:t>理学療法士</a:t>
                      </a:r>
                      <a:endParaRPr lang="zh-CN" altLang="en-US" sz="1200" b="1" i="0" u="none" strike="noStrike" dirty="0">
                        <a:solidFill>
                          <a:schemeClr val="tx1"/>
                        </a:solidFill>
                        <a:effectLst/>
                        <a:latin typeface="+mn-lt"/>
                        <a:ea typeface="游ゴシック" panose="020B0400000000000000" pitchFamily="50" charset="-128"/>
                      </a:endParaRPr>
                    </a:p>
                  </a:txBody>
                  <a:tcPr marL="6350" marR="6350" marT="6350" marB="0" anchor="ctr"/>
                </a:tc>
                <a:tc>
                  <a:txBody>
                    <a:bodyPr/>
                    <a:lstStyle/>
                    <a:p>
                      <a:pPr algn="ctr" fontAlgn="ctr">
                        <a:buNone/>
                      </a:pPr>
                      <a:r>
                        <a:rPr lang="en-US" altLang="ja-JP" sz="1200" b="1" u="none" strike="noStrike" dirty="0">
                          <a:solidFill>
                            <a:schemeClr val="tx1"/>
                          </a:solidFill>
                          <a:effectLst/>
                        </a:rPr>
                        <a:t>106</a:t>
                      </a:r>
                      <a:endParaRPr lang="en-US" altLang="ja-JP" sz="1200" b="1" i="0" u="none" strike="noStrike" dirty="0">
                        <a:solidFill>
                          <a:schemeClr val="tx1"/>
                        </a:solidFill>
                        <a:effectLst/>
                        <a:latin typeface="+mn-lt"/>
                        <a:ea typeface="游ゴシック" panose="020B0400000000000000" pitchFamily="50" charset="-128"/>
                      </a:endParaRPr>
                    </a:p>
                  </a:txBody>
                  <a:tcPr marL="6350" marR="6350" marT="6350" marB="0" anchor="ctr"/>
                </a:tc>
                <a:tc>
                  <a:txBody>
                    <a:bodyPr/>
                    <a:lstStyle/>
                    <a:p>
                      <a:pPr algn="ctr" fontAlgn="ctr">
                        <a:buNone/>
                      </a:pPr>
                      <a:r>
                        <a:rPr lang="en-US" altLang="ja-JP" sz="1200" b="1" u="none" strike="noStrike" dirty="0">
                          <a:solidFill>
                            <a:schemeClr val="tx1"/>
                          </a:solidFill>
                          <a:effectLst/>
                        </a:rPr>
                        <a:t>36.7%</a:t>
                      </a:r>
                      <a:endParaRPr lang="en-US" altLang="ja-JP" sz="1200" b="1" i="0" u="none" strike="noStrike" dirty="0">
                        <a:solidFill>
                          <a:schemeClr val="tx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483987803"/>
                  </a:ext>
                </a:extLst>
              </a:tr>
              <a:tr h="647204">
                <a:tc>
                  <a:txBody>
                    <a:bodyPr/>
                    <a:lstStyle/>
                    <a:p>
                      <a:pPr algn="ctr" fontAlgn="ctr">
                        <a:buNone/>
                      </a:pPr>
                      <a:r>
                        <a:rPr lang="ja-JP" altLang="en-US" sz="1200" b="1" i="0" u="none" strike="noStrike" dirty="0">
                          <a:solidFill>
                            <a:schemeClr val="tx1"/>
                          </a:solidFill>
                          <a:effectLst/>
                          <a:latin typeface="+mn-lt"/>
                          <a:ea typeface="游ゴシック" panose="020B0400000000000000" pitchFamily="50" charset="-128"/>
                        </a:rPr>
                        <a:t>作業療法士</a:t>
                      </a:r>
                      <a:endParaRPr lang="en-US" altLang="ja-JP" sz="1200" b="1" i="0" u="none" strike="noStrike" dirty="0">
                        <a:solidFill>
                          <a:schemeClr val="tx1"/>
                        </a:solidFill>
                        <a:effectLst/>
                        <a:latin typeface="+mn-lt"/>
                        <a:ea typeface="游ゴシック" panose="020B0400000000000000" pitchFamily="50" charset="-128"/>
                      </a:endParaRPr>
                    </a:p>
                  </a:txBody>
                  <a:tcPr marL="6350" marR="6350" marT="6350" marB="0" anchor="ctr"/>
                </a:tc>
                <a:tc>
                  <a:txBody>
                    <a:bodyPr/>
                    <a:lstStyle/>
                    <a:p>
                      <a:pPr algn="ctr" fontAlgn="ctr">
                        <a:buNone/>
                      </a:pPr>
                      <a:r>
                        <a:t>9</a:t>
                      </a:r>
                      <a:endParaRPr lang="en-US" altLang="ja-JP" sz="1200" b="1" i="0" u="none" strike="noStrike" dirty="0">
                        <a:solidFill>
                          <a:schemeClr val="tx1"/>
                        </a:solidFill>
                        <a:effectLst/>
                        <a:latin typeface="+mn-lt"/>
                        <a:ea typeface="游ゴシック" panose="020B0400000000000000" pitchFamily="50" charset="-128"/>
                      </a:endParaRPr>
                    </a:p>
                  </a:txBody>
                  <a:tcPr marL="6350" marR="6350" marT="6350" marB="0" anchor="ctr"/>
                </a:tc>
                <a:tc>
                  <a:txBody>
                    <a:bodyPr/>
                    <a:lstStyle/>
                    <a:p>
                      <a:pPr algn="ctr" fontAlgn="ctr">
                        <a:buNone/>
                      </a:pPr>
                      <a:r>
                        <a:t>3.1%</a:t>
                      </a:r>
                      <a:endParaRPr lang="ja-JP" altLang="en-US" sz="1200" b="1" i="0" u="none" strike="noStrike" dirty="0">
                        <a:solidFill>
                          <a:schemeClr val="tx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125131763"/>
                  </a:ext>
                </a:extLst>
              </a:tr>
              <a:tr h="647204">
                <a:tc>
                  <a:txBody>
                    <a:bodyPr/>
                    <a:lstStyle/>
                    <a:p>
                      <a:pPr algn="ctr" fontAlgn="ctr">
                        <a:buNone/>
                      </a:pPr>
                      <a:r>
                        <a:t>その他</a:t>
                      </a:r>
                      <a:endParaRPr lang="ja-JP" altLang="en-US" sz="1200" b="1" i="0" u="none" strike="noStrike" dirty="0">
                        <a:solidFill>
                          <a:schemeClr val="tx1"/>
                        </a:solidFill>
                        <a:effectLst/>
                        <a:latin typeface="+mn-lt"/>
                        <a:ea typeface="游ゴシック" panose="020B0400000000000000" pitchFamily="50" charset="-128"/>
                      </a:endParaRPr>
                    </a:p>
                  </a:txBody>
                  <a:tcPr marL="6350" marR="6350" marT="6350" marB="0" anchor="ctr"/>
                </a:tc>
                <a:tc>
                  <a:txBody>
                    <a:bodyPr/>
                    <a:lstStyle/>
                    <a:p>
                      <a:pPr algn="ctr" fontAlgn="ctr">
                        <a:buNone/>
                      </a:pPr>
                      <a:r>
                        <a:t>34</a:t>
                      </a:r>
                      <a:endParaRPr lang="en-US" altLang="ja-JP" sz="1200" b="1" i="0" u="none" strike="noStrike" dirty="0">
                        <a:solidFill>
                          <a:schemeClr val="tx1"/>
                        </a:solidFill>
                        <a:effectLst/>
                        <a:latin typeface="+mn-lt"/>
                        <a:ea typeface="游ゴシック" panose="020B0400000000000000" pitchFamily="50" charset="-128"/>
                      </a:endParaRPr>
                    </a:p>
                  </a:txBody>
                  <a:tcPr marL="6350" marR="6350" marT="6350" marB="0" anchor="ctr"/>
                </a:tc>
                <a:tc>
                  <a:txBody>
                    <a:bodyPr/>
                    <a:lstStyle/>
                    <a:p>
                      <a:pPr algn="ctr" fontAlgn="ctr">
                        <a:buNone/>
                      </a:pPr>
                      <a:r>
                        <a:t>11.8%</a:t>
                      </a:r>
                      <a:endParaRPr lang="ja-JP" altLang="en-US" sz="1200" b="1" i="0" u="none" strike="noStrike" dirty="0">
                        <a:solidFill>
                          <a:schemeClr val="tx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3590486249"/>
                  </a:ext>
                </a:extLst>
              </a:tr>
            </a:tbl>
          </a:graphicData>
        </a:graphic>
      </p:graphicFrame>
      <p:graphicFrame>
        <p:nvGraphicFramePr>
          <p:cNvPr id="11" name="グラフ 10">
            <a:extLst>
              <a:ext uri="{FF2B5EF4-FFF2-40B4-BE49-F238E27FC236}">
                <a16:creationId xmlns:a16="http://schemas.microsoft.com/office/drawing/2014/main" id="{D1B3008A-AD3A-A723-BF2A-C2BCE75F23DB}"/>
              </a:ext>
            </a:extLst>
          </p:cNvPr>
          <p:cNvGraphicFramePr/>
          <p:nvPr>
            <p:extLst>
              <p:ext uri="{D42A27DB-BD31-4B8C-83A1-F6EECF244321}">
                <p14:modId xmlns:p14="http://schemas.microsoft.com/office/powerpoint/2010/main" val="2148586583"/>
              </p:ext>
            </p:extLst>
          </p:nvPr>
        </p:nvGraphicFramePr>
        <p:xfrm>
          <a:off x="-902719" y="1096090"/>
          <a:ext cx="8128000" cy="54186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948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F4393-C8C8-0994-E689-F1945D75024E}"/>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980F8A25-1C96-8522-C5BE-71104A79085E}"/>
              </a:ext>
            </a:extLst>
          </p:cNvPr>
          <p:cNvSpPr txBox="1"/>
          <p:nvPr/>
        </p:nvSpPr>
        <p:spPr>
          <a:xfrm>
            <a:off x="669471" y="508518"/>
            <a:ext cx="10853057" cy="830997"/>
          </a:xfrm>
          <a:prstGeom prst="rect">
            <a:avLst/>
          </a:prstGeom>
          <a:noFill/>
        </p:spPr>
        <p:txBody>
          <a:bodyPr wrap="square" rtlCol="0">
            <a:spAutoFit/>
          </a:bodyPr>
          <a:lstStyle/>
          <a:p>
            <a:pPr lvl="0" algn="ctr">
              <a:defRPr/>
            </a:pPr>
            <a:r>
              <a:rPr lang="en-US" altLang="ja-JP" sz="2400" b="1" dirty="0">
                <a:solidFill>
                  <a:prstClr val="black"/>
                </a:solidFill>
                <a:latin typeface="游ゴシック" panose="020F0502020204030204"/>
              </a:rPr>
              <a:t>Q1.  2025</a:t>
            </a:r>
            <a:r>
              <a:rPr lang="ja-JP" altLang="en-US" sz="2400" b="1" dirty="0">
                <a:solidFill>
                  <a:prstClr val="black"/>
                </a:solidFill>
                <a:latin typeface="游ゴシック" panose="020F0502020204030204"/>
              </a:rPr>
              <a:t>年</a:t>
            </a:r>
            <a:r>
              <a:rPr lang="en-US" altLang="ja-JP" sz="2400" b="1" dirty="0">
                <a:solidFill>
                  <a:prstClr val="black"/>
                </a:solidFill>
                <a:latin typeface="游ゴシック" panose="020F0502020204030204"/>
              </a:rPr>
              <a:t>1</a:t>
            </a:r>
            <a:r>
              <a:rPr lang="ja-JP" altLang="en-US" sz="2400" b="1" dirty="0">
                <a:solidFill>
                  <a:prstClr val="black"/>
                </a:solidFill>
                <a:latin typeface="游ゴシック" panose="020F0502020204030204"/>
              </a:rPr>
              <a:t>月～</a:t>
            </a:r>
            <a:r>
              <a:rPr lang="en-US" altLang="ja-JP" sz="2400" b="1" dirty="0">
                <a:solidFill>
                  <a:prstClr val="black"/>
                </a:solidFill>
                <a:latin typeface="游ゴシック" panose="020F0502020204030204"/>
              </a:rPr>
              <a:t>12</a:t>
            </a:r>
            <a:r>
              <a:rPr lang="ja-JP" altLang="en-US" sz="2400" b="1" dirty="0">
                <a:solidFill>
                  <a:prstClr val="black"/>
                </a:solidFill>
                <a:latin typeface="游ゴシック" panose="020F0502020204030204"/>
              </a:rPr>
              <a:t>月における大腿骨近位部骨折の症例数を教えてください。</a:t>
            </a:r>
            <a:endParaRPr lang="en-US" altLang="ja-JP" sz="2400" b="1" dirty="0">
              <a:solidFill>
                <a:prstClr val="black"/>
              </a:solidFill>
              <a:latin typeface="游ゴシック" panose="020F0502020204030204"/>
            </a:endParaRPr>
          </a:p>
          <a:p>
            <a:pPr lvl="0" algn="ctr">
              <a:defRPr/>
            </a:pPr>
            <a:r>
              <a:rPr lang="ja-JP" altLang="en-US" sz="2400" b="1" dirty="0">
                <a:solidFill>
                  <a:prstClr val="black"/>
                </a:solidFill>
                <a:latin typeface="游ゴシック" panose="020F0502020204030204"/>
              </a:rPr>
              <a:t>（</a:t>
            </a:r>
            <a:r>
              <a:rPr lang="en-US" altLang="ja-JP" sz="2400" b="1" dirty="0">
                <a:solidFill>
                  <a:prstClr val="black"/>
                </a:solidFill>
                <a:latin typeface="游ゴシック" panose="020F0502020204030204"/>
              </a:rPr>
              <a:t>※</a:t>
            </a:r>
            <a:r>
              <a:rPr lang="ja-JP" altLang="en-US" sz="2400" b="1" dirty="0">
                <a:solidFill>
                  <a:prstClr val="black"/>
                </a:solidFill>
                <a:latin typeface="游ゴシック" panose="020F0502020204030204"/>
              </a:rPr>
              <a:t>保存加療症例を含む）</a:t>
            </a:r>
            <a:endParaRPr kumimoji="1" lang="ja-JP" altLang="en-US" sz="24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aphicFrame>
        <p:nvGraphicFramePr>
          <p:cNvPr id="16" name="症例数分布">
            <a:extLst>
              <a:ext uri="{FF2B5EF4-FFF2-40B4-BE49-F238E27FC236}">
                <a16:creationId xmlns:a16="http://schemas.microsoft.com/office/drawing/2014/main" id="{DD962376-B5EA-E05C-580E-C2D21A12C58E}"/>
              </a:ext>
            </a:extLst>
          </p:cNvPr>
          <p:cNvGraphicFramePr>
            <a:graphicFrameLocks/>
          </p:cNvGraphicFramePr>
          <p:nvPr>
            <p:extLst>
              <p:ext uri="{D42A27DB-BD31-4B8C-83A1-F6EECF244321}">
                <p14:modId xmlns:p14="http://schemas.microsoft.com/office/powerpoint/2010/main" val="3651241277"/>
              </p:ext>
            </p:extLst>
          </p:nvPr>
        </p:nvGraphicFramePr>
        <p:xfrm>
          <a:off x="968387" y="1491343"/>
          <a:ext cx="10554141" cy="48581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00485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CD3CD-989D-DDD5-4E27-3B4048A6DF40}"/>
            </a:ext>
          </a:extLst>
        </p:cNvPr>
        <p:cNvGrpSpPr/>
        <p:nvPr/>
      </p:nvGrpSpPr>
      <p:grpSpPr>
        <a:xfrm>
          <a:off x="0" y="0"/>
          <a:ext cx="0" cy="0"/>
          <a:chOff x="0" y="0"/>
          <a:chExt cx="0" cy="0"/>
        </a:xfrm>
      </p:grpSpPr>
      <p:graphicFrame>
        <p:nvGraphicFramePr>
          <p:cNvPr id="4" name="グラフ 3">
            <a:extLst>
              <a:ext uri="{FF2B5EF4-FFF2-40B4-BE49-F238E27FC236}">
                <a16:creationId xmlns:a16="http://schemas.microsoft.com/office/drawing/2014/main" id="{F23C0BA5-8A78-3BF6-1C2F-8BFA602F6356}"/>
              </a:ext>
            </a:extLst>
          </p:cNvPr>
          <p:cNvGraphicFramePr/>
          <p:nvPr>
            <p:extLst>
              <p:ext uri="{D42A27DB-BD31-4B8C-83A1-F6EECF244321}">
                <p14:modId xmlns:p14="http://schemas.microsoft.com/office/powerpoint/2010/main" val="2544170929"/>
              </p:ext>
            </p:extLst>
          </p:nvPr>
        </p:nvGraphicFramePr>
        <p:xfrm>
          <a:off x="-3838277" y="907561"/>
          <a:ext cx="15016901" cy="5539891"/>
        </p:xfrm>
        <a:graphic>
          <a:graphicData uri="http://schemas.openxmlformats.org/drawingml/2006/chart">
            <c:chart xmlns:c="http://schemas.openxmlformats.org/drawingml/2006/chart" xmlns:r="http://schemas.openxmlformats.org/officeDocument/2006/relationships" r:id="rId2"/>
          </a:graphicData>
        </a:graphic>
      </p:graphicFrame>
      <p:sp>
        <p:nvSpPr>
          <p:cNvPr id="8" name="テキスト ボックス 7">
            <a:extLst>
              <a:ext uri="{FF2B5EF4-FFF2-40B4-BE49-F238E27FC236}">
                <a16:creationId xmlns:a16="http://schemas.microsoft.com/office/drawing/2014/main" id="{F0BCCA48-E80C-BA67-5166-F62B084DE073}"/>
              </a:ext>
            </a:extLst>
          </p:cNvPr>
          <p:cNvSpPr txBox="1"/>
          <p:nvPr/>
        </p:nvSpPr>
        <p:spPr>
          <a:xfrm>
            <a:off x="882638" y="461285"/>
            <a:ext cx="10426724" cy="892552"/>
          </a:xfrm>
          <a:prstGeom prst="rect">
            <a:avLst/>
          </a:prstGeom>
          <a:noFill/>
        </p:spPr>
        <p:txBody>
          <a:bodyPr wrap="square" rtlCol="0">
            <a:spAutoFit/>
          </a:bodyPr>
          <a:lstStyle/>
          <a:p>
            <a:pPr lvl="0">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Q1</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sz="2600" b="1" dirty="0">
                <a:solidFill>
                  <a:prstClr val="black"/>
                </a:solidFill>
                <a:latin typeface="游ゴシック" panose="020F0502020204030204"/>
              </a:rPr>
              <a:t>事前</a:t>
            </a:r>
            <a:r>
              <a:rPr lang="en-US" altLang="ja-JP" sz="2600" b="1" dirty="0">
                <a:solidFill>
                  <a:prstClr val="black"/>
                </a:solidFill>
                <a:latin typeface="游ゴシック" panose="020F0502020204030204"/>
              </a:rPr>
              <a:t>WEB</a:t>
            </a:r>
            <a:r>
              <a:rPr lang="ja-JP" altLang="en-US" sz="2600" b="1" dirty="0">
                <a:solidFill>
                  <a:prstClr val="black"/>
                </a:solidFill>
                <a:latin typeface="游ゴシック" panose="020F0502020204030204"/>
              </a:rPr>
              <a:t>講義の講義内容について、十分に理解できましたか？</a:t>
            </a:r>
            <a:endParaRPr lang="en-US" altLang="ja-JP" sz="2600" b="1" dirty="0">
              <a:solidFill>
                <a:prstClr val="black"/>
              </a:solidFill>
              <a:latin typeface="游ゴシック" panose="020F0502020204030204"/>
            </a:endParaRPr>
          </a:p>
          <a:p>
            <a:pPr lvl="0">
              <a:defRPr/>
            </a:pP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1~10</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で評価）</a:t>
            </a:r>
          </a:p>
        </p:txBody>
      </p:sp>
      <p:graphicFrame>
        <p:nvGraphicFramePr>
          <p:cNvPr id="6" name="表 5">
            <a:extLst>
              <a:ext uri="{FF2B5EF4-FFF2-40B4-BE49-F238E27FC236}">
                <a16:creationId xmlns:a16="http://schemas.microsoft.com/office/drawing/2014/main" id="{97633572-1A71-52F3-E4E4-34AB6826F33C}"/>
              </a:ext>
            </a:extLst>
          </p:cNvPr>
          <p:cNvGraphicFramePr>
            <a:graphicFrameLocks noGrp="1"/>
          </p:cNvGraphicFramePr>
          <p:nvPr>
            <p:extLst>
              <p:ext uri="{D42A27DB-BD31-4B8C-83A1-F6EECF244321}">
                <p14:modId xmlns:p14="http://schemas.microsoft.com/office/powerpoint/2010/main" val="1895045536"/>
              </p:ext>
            </p:extLst>
          </p:nvPr>
        </p:nvGraphicFramePr>
        <p:xfrm>
          <a:off x="6602186" y="4031219"/>
          <a:ext cx="3956190" cy="1299210"/>
        </p:xfrm>
        <a:graphic>
          <a:graphicData uri="http://schemas.openxmlformats.org/drawingml/2006/table">
            <a:tbl>
              <a:tblPr bandRow="1">
                <a:tableStyleId>{B301B821-A1FF-4177-AEE7-76D212191A09}</a:tableStyleId>
              </a:tblPr>
              <a:tblGrid>
                <a:gridCol w="1978095">
                  <a:extLst>
                    <a:ext uri="{9D8B030D-6E8A-4147-A177-3AD203B41FA5}">
                      <a16:colId xmlns:a16="http://schemas.microsoft.com/office/drawing/2014/main" val="3161775891"/>
                    </a:ext>
                  </a:extLst>
                </a:gridCol>
                <a:gridCol w="1978095">
                  <a:extLst>
                    <a:ext uri="{9D8B030D-6E8A-4147-A177-3AD203B41FA5}">
                      <a16:colId xmlns:a16="http://schemas.microsoft.com/office/drawing/2014/main" val="1936387739"/>
                    </a:ext>
                  </a:extLst>
                </a:gridCol>
              </a:tblGrid>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平均値</a:t>
                      </a:r>
                      <a:endParaRPr kumimoji="1" lang="en-US" altLang="ja-JP" sz="2800" b="1" u="none" strike="noStrike" kern="1200" dirty="0">
                        <a:solidFill>
                          <a:schemeClr val="tx1"/>
                        </a:solidFill>
                        <a:effectLst/>
                        <a:latin typeface="+mn-lt"/>
                        <a:ea typeface="+mn-ea"/>
                        <a:cs typeface="+mn-cs"/>
                      </a:endParaRP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9.10</a:t>
                      </a:r>
                    </a:p>
                  </a:txBody>
                  <a:tcPr marL="0" marR="0" marT="0" marB="0" anchor="b"/>
                </a:tc>
                <a:extLst>
                  <a:ext uri="{0D108BD9-81ED-4DB2-BD59-A6C34878D82A}">
                    <a16:rowId xmlns:a16="http://schemas.microsoft.com/office/drawing/2014/main" val="1901818471"/>
                  </a:ext>
                </a:extLst>
              </a:tr>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中央値</a:t>
                      </a: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9</a:t>
                      </a:r>
                    </a:p>
                  </a:txBody>
                  <a:tcPr marL="0" marR="0" marT="0" marB="0" anchor="b"/>
                </a:tc>
                <a:extLst>
                  <a:ext uri="{0D108BD9-81ED-4DB2-BD59-A6C34878D82A}">
                    <a16:rowId xmlns:a16="http://schemas.microsoft.com/office/drawing/2014/main" val="2871062763"/>
                  </a:ext>
                </a:extLst>
              </a:tr>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en-US" altLang="ja-JP" sz="2800" b="1" u="none" strike="noStrike" kern="1200" dirty="0">
                          <a:solidFill>
                            <a:schemeClr val="tx1"/>
                          </a:solidFill>
                          <a:effectLst/>
                          <a:latin typeface="+mn-lt"/>
                          <a:ea typeface="+mn-ea"/>
                          <a:cs typeface="+mn-cs"/>
                        </a:rPr>
                        <a:t>Top2Box</a:t>
                      </a:r>
                    </a:p>
                  </a:txBody>
                  <a:tcPr marL="6350" marR="6350" marT="6350" marB="0" anchor="ctr"/>
                </a:tc>
                <a:tc>
                  <a:txBody>
                    <a:bodyPr/>
                    <a:lstStyle/>
                    <a:p>
                      <a:pPr algn="ctr" fontAlgn="b">
                        <a:buNone/>
                      </a:pPr>
                      <a:r>
                        <a:rPr lang="en-US" altLang="ja-JP" sz="2800" b="1" i="0" u="none" strike="noStrike">
                          <a:solidFill>
                            <a:srgbClr val="000000"/>
                          </a:solidFill>
                          <a:effectLst/>
                          <a:latin typeface="Yu Gothic" panose="020B0400000000000000" pitchFamily="50" charset="-128"/>
                          <a:ea typeface="Yu Gothic" panose="020B0400000000000000" pitchFamily="50" charset="-128"/>
                        </a:rPr>
                        <a:t>72.7%</a:t>
                      </a:r>
                      <a:endParaRPr lang="en-US" altLang="ja-JP" sz="2800" b="1" i="0" u="none" strike="noStrike" dirty="0">
                        <a:solidFill>
                          <a:srgbClr val="000000"/>
                        </a:solidFill>
                        <a:effectLst/>
                        <a:latin typeface="Yu Gothic" panose="020B0400000000000000" pitchFamily="50" charset="-128"/>
                        <a:ea typeface="Yu Gothic" panose="020B0400000000000000" pitchFamily="50" charset="-128"/>
                      </a:endParaRPr>
                    </a:p>
                  </a:txBody>
                  <a:tcPr marL="0" marR="0" marT="0" marB="0" anchor="b"/>
                </a:tc>
                <a:extLst>
                  <a:ext uri="{0D108BD9-81ED-4DB2-BD59-A6C34878D82A}">
                    <a16:rowId xmlns:a16="http://schemas.microsoft.com/office/drawing/2014/main" val="2223684025"/>
                  </a:ext>
                </a:extLst>
              </a:tr>
            </a:tbl>
          </a:graphicData>
        </a:graphic>
      </p:graphicFrame>
    </p:spTree>
    <p:extLst>
      <p:ext uri="{BB962C8B-B14F-4D97-AF65-F5344CB8AC3E}">
        <p14:creationId xmlns:p14="http://schemas.microsoft.com/office/powerpoint/2010/main" val="1569556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13DD-9922-C7F9-2A36-41D5BD411033}"/>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7D4C95C1-963C-4AE1-FC76-87E1212B3C0D}"/>
              </a:ext>
            </a:extLst>
          </p:cNvPr>
          <p:cNvSpPr txBox="1"/>
          <p:nvPr/>
        </p:nvSpPr>
        <p:spPr>
          <a:xfrm>
            <a:off x="641168" y="276818"/>
            <a:ext cx="10074841" cy="49244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Q2</a:t>
            </a:r>
            <a:r>
              <a:rPr lang="ja-JP" altLang="en-US" sz="2600" b="1" dirty="0">
                <a:solidFill>
                  <a:prstClr val="black"/>
                </a:solidFill>
                <a:latin typeface="游ゴシック" panose="020F0502020204030204"/>
                <a:ea typeface="游ゴシック" panose="020B0400000000000000" pitchFamily="50" charset="-128"/>
              </a:rPr>
              <a:t>：</a:t>
            </a: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Q1</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のように回答した理由をお書きください。 </a:t>
            </a:r>
          </a:p>
        </p:txBody>
      </p:sp>
      <p:graphicFrame>
        <p:nvGraphicFramePr>
          <p:cNvPr id="10" name="表 9">
            <a:extLst>
              <a:ext uri="{FF2B5EF4-FFF2-40B4-BE49-F238E27FC236}">
                <a16:creationId xmlns:a16="http://schemas.microsoft.com/office/drawing/2014/main" id="{08903698-B64E-8626-3368-681258B75569}"/>
              </a:ext>
            </a:extLst>
          </p:cNvPr>
          <p:cNvGraphicFramePr>
            <a:graphicFrameLocks noGrp="1"/>
          </p:cNvGraphicFramePr>
          <p:nvPr>
            <p:extLst>
              <p:ext uri="{D42A27DB-BD31-4B8C-83A1-F6EECF244321}">
                <p14:modId xmlns:p14="http://schemas.microsoft.com/office/powerpoint/2010/main" val="3517313090"/>
              </p:ext>
            </p:extLst>
          </p:nvPr>
        </p:nvGraphicFramePr>
        <p:xfrm>
          <a:off x="1287862" y="1049547"/>
          <a:ext cx="9616276" cy="3888000"/>
        </p:xfrm>
        <a:graphic>
          <a:graphicData uri="http://schemas.openxmlformats.org/drawingml/2006/table">
            <a:tbl>
              <a:tblPr firstRow="1" bandRow="1">
                <a:tableStyleId>{5C22544A-7EE6-4342-B048-85BDC9FD1C3A}</a:tableStyleId>
              </a:tblPr>
              <a:tblGrid>
                <a:gridCol w="681955">
                  <a:extLst>
                    <a:ext uri="{9D8B030D-6E8A-4147-A177-3AD203B41FA5}">
                      <a16:colId xmlns:a16="http://schemas.microsoft.com/office/drawing/2014/main" val="3161775891"/>
                    </a:ext>
                  </a:extLst>
                </a:gridCol>
                <a:gridCol w="8934321">
                  <a:extLst>
                    <a:ext uri="{9D8B030D-6E8A-4147-A177-3AD203B41FA5}">
                      <a16:colId xmlns:a16="http://schemas.microsoft.com/office/drawing/2014/main" val="1936387739"/>
                    </a:ext>
                  </a:extLst>
                </a:gridCol>
              </a:tblGrid>
              <a:tr h="432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dirty="0">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u="none" strike="noStrike" dirty="0">
                          <a:solidFill>
                            <a:schemeClr val="bg1"/>
                          </a:solidFill>
                          <a:effectLst/>
                        </a:rPr>
                        <a:t>評価点</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32000">
                <a:tc>
                  <a:txBody>
                    <a:bodyPr/>
                    <a:lstStyle/>
                    <a:p>
                      <a:pPr algn="ctr" fontAlgn="b">
                        <a:buNone/>
                      </a:pPr>
                      <a:r>
                        <a:rPr lang="en-US" altLang="ja-JP" sz="1800" b="1" u="none" strike="noStrike" dirty="0">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動画と資料があり分かりやすかった。</a:t>
                      </a:r>
                    </a:p>
                  </a:txBody>
                  <a:tcPr marL="6350" marR="6350" marT="6350" marB="0" anchor="ctr"/>
                </a:tc>
                <a:extLst>
                  <a:ext uri="{0D108BD9-81ED-4DB2-BD59-A6C34878D82A}">
                    <a16:rowId xmlns:a16="http://schemas.microsoft.com/office/drawing/2014/main" val="1901818471"/>
                  </a:ext>
                </a:extLst>
              </a:tr>
              <a:tr h="432000">
                <a:tc>
                  <a:txBody>
                    <a:bodyPr/>
                    <a:lstStyle/>
                    <a:p>
                      <a:pPr algn="ctr" fontAlgn="b">
                        <a:buNone/>
                      </a:pPr>
                      <a:r>
                        <a:rPr lang="en-US" altLang="ja-JP" sz="1800" b="1" u="none" strike="noStrike" dirty="0">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基礎から詳しく幅広く学べた。</a:t>
                      </a:r>
                    </a:p>
                  </a:txBody>
                  <a:tcPr marL="6350" marR="6350" marT="6350" marB="0" anchor="ctr"/>
                </a:tc>
                <a:extLst>
                  <a:ext uri="{0D108BD9-81ED-4DB2-BD59-A6C34878D82A}">
                    <a16:rowId xmlns:a16="http://schemas.microsoft.com/office/drawing/2014/main" val="2871062763"/>
                  </a:ext>
                </a:extLst>
              </a:tr>
              <a:tr h="432000">
                <a:tc>
                  <a:txBody>
                    <a:bodyPr/>
                    <a:lstStyle/>
                    <a:p>
                      <a:pPr algn="ctr" fontAlgn="b">
                        <a:buNone/>
                      </a:pPr>
                      <a:r>
                        <a:rPr lang="en-US" altLang="ja-JP" sz="1800" b="1" u="none" strike="noStrike" dirty="0">
                          <a:solidFill>
                            <a:srgbClr val="000000"/>
                          </a:solidFill>
                          <a:effectLst/>
                        </a:rPr>
                        <a:t>3</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多職種の視点で理解が深まった。</a:t>
                      </a:r>
                    </a:p>
                  </a:txBody>
                  <a:tcPr marL="6350" marR="6350" marT="6350" marB="0" anchor="ctr"/>
                </a:tc>
                <a:extLst>
                  <a:ext uri="{0D108BD9-81ED-4DB2-BD59-A6C34878D82A}">
                    <a16:rowId xmlns:a16="http://schemas.microsoft.com/office/drawing/2014/main" val="2223684025"/>
                  </a:ext>
                </a:extLst>
              </a:tr>
              <a:tr h="432000">
                <a:tc>
                  <a:txBody>
                    <a:bodyPr/>
                    <a:lstStyle/>
                    <a:p>
                      <a:pPr algn="ctr" fontAlgn="b">
                        <a:buNone/>
                      </a:pPr>
                      <a:r>
                        <a:rPr lang="en-US" altLang="ja-JP" sz="1800" b="1" u="none" strike="noStrike" dirty="0">
                          <a:solidFill>
                            <a:srgbClr val="000000"/>
                          </a:solidFill>
                          <a:effectLst/>
                        </a:rPr>
                        <a:t>4</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事前学習で研修に対する理解が高まった。</a:t>
                      </a:r>
                    </a:p>
                  </a:txBody>
                  <a:tcPr marL="6350" marR="6350" marT="6350" marB="0" anchor="ctr"/>
                </a:tc>
                <a:extLst>
                  <a:ext uri="{0D108BD9-81ED-4DB2-BD59-A6C34878D82A}">
                    <a16:rowId xmlns:a16="http://schemas.microsoft.com/office/drawing/2014/main" val="2116186090"/>
                  </a:ext>
                </a:extLst>
              </a:tr>
              <a:tr h="432000">
                <a:tc>
                  <a:txBody>
                    <a:bodyPr/>
                    <a:lstStyle/>
                    <a:p>
                      <a:pPr algn="ctr" fontAlgn="b">
                        <a:buNone/>
                      </a:pPr>
                      <a:r>
                        <a:rPr lang="en-US" altLang="ja-JP" sz="1800" b="1" u="none" strike="noStrike" dirty="0">
                          <a:solidFill>
                            <a:srgbClr val="000000"/>
                          </a:solidFill>
                          <a:effectLst/>
                        </a:rPr>
                        <a:t>5</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繰り返し視聴できたことで、復習がしやすかった。</a:t>
                      </a:r>
                    </a:p>
                  </a:txBody>
                  <a:tcPr marL="6350" marR="6350" marT="6350" marB="0" anchor="ctr"/>
                </a:tc>
                <a:extLst>
                  <a:ext uri="{0D108BD9-81ED-4DB2-BD59-A6C34878D82A}">
                    <a16:rowId xmlns:a16="http://schemas.microsoft.com/office/drawing/2014/main" val="1905789153"/>
                  </a:ext>
                </a:extLst>
              </a:tr>
              <a:tr h="432000">
                <a:tc>
                  <a:txBody>
                    <a:bodyPr/>
                    <a:lstStyle/>
                    <a:p>
                      <a:pPr algn="ctr" fontAlgn="b">
                        <a:buNone/>
                      </a:pPr>
                      <a:r>
                        <a:rPr lang="en-US" altLang="ja-JP" sz="1800" b="1" u="none" strike="noStrike" dirty="0">
                          <a:solidFill>
                            <a:srgbClr val="000000"/>
                          </a:solidFill>
                          <a:effectLst/>
                        </a:rPr>
                        <a:t>6</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現場業務や看護実践に活かせる具体的内容であった。</a:t>
                      </a:r>
                      <a:endParaRPr lang="en-US" altLang="ja-JP" dirty="0"/>
                    </a:p>
                  </a:txBody>
                  <a:tcPr marL="6350" marR="6350" marT="6350" marB="0" anchor="ctr"/>
                </a:tc>
                <a:extLst>
                  <a:ext uri="{0D108BD9-81ED-4DB2-BD59-A6C34878D82A}">
                    <a16:rowId xmlns:a16="http://schemas.microsoft.com/office/drawing/2014/main" val="748102509"/>
                  </a:ext>
                </a:extLst>
              </a:tr>
              <a:tr h="432000">
                <a:tc>
                  <a:txBody>
                    <a:bodyPr/>
                    <a:lstStyle/>
                    <a:p>
                      <a:pPr algn="ctr" fontAlgn="b">
                        <a:buNone/>
                      </a:pPr>
                      <a:r>
                        <a:rPr lang="en-US" altLang="ja-JP" sz="1800" b="1" u="none" strike="noStrike" dirty="0">
                          <a:solidFill>
                            <a:srgbClr val="000000"/>
                          </a:solidFill>
                          <a:effectLst/>
                        </a:rPr>
                        <a:t>7</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自身の知識不足や役割を再認識できる機会であった。</a:t>
                      </a:r>
                    </a:p>
                  </a:txBody>
                  <a:tcPr marL="6350" marR="6350" marT="6350" marB="0" anchor="ctr"/>
                </a:tc>
                <a:extLst>
                  <a:ext uri="{0D108BD9-81ED-4DB2-BD59-A6C34878D82A}">
                    <a16:rowId xmlns:a16="http://schemas.microsoft.com/office/drawing/2014/main" val="2874533998"/>
                  </a:ext>
                </a:extLst>
              </a:tr>
              <a:tr h="432000">
                <a:tc>
                  <a:txBody>
                    <a:bodyPr/>
                    <a:lstStyle/>
                    <a:p>
                      <a:pPr algn="ctr" fontAlgn="b">
                        <a:buNone/>
                      </a:pPr>
                      <a:r>
                        <a:rPr lang="en-US" altLang="ja-JP" sz="1800" b="1" u="none" strike="noStrike" dirty="0">
                          <a:solidFill>
                            <a:srgbClr val="000000"/>
                          </a:solidFill>
                          <a:effectLst/>
                        </a:rPr>
                        <a:t>8</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en-US" altLang="ja-JP" dirty="0"/>
                        <a:t>FLS</a:t>
                      </a:r>
                      <a:r>
                        <a:rPr lang="ja-JP" altLang="en-US" dirty="0"/>
                        <a:t>全体の流れを体系的に理解できる内容であった。</a:t>
                      </a:r>
                    </a:p>
                  </a:txBody>
                  <a:tcPr marL="6350" marR="6350" marT="6350" marB="0" anchor="ctr"/>
                </a:tc>
                <a:extLst>
                  <a:ext uri="{0D108BD9-81ED-4DB2-BD59-A6C34878D82A}">
                    <a16:rowId xmlns:a16="http://schemas.microsoft.com/office/drawing/2014/main" val="978687493"/>
                  </a:ext>
                </a:extLst>
              </a:tr>
            </a:tbl>
          </a:graphicData>
        </a:graphic>
      </p:graphicFrame>
      <p:graphicFrame>
        <p:nvGraphicFramePr>
          <p:cNvPr id="11" name="表 10">
            <a:extLst>
              <a:ext uri="{FF2B5EF4-FFF2-40B4-BE49-F238E27FC236}">
                <a16:creationId xmlns:a16="http://schemas.microsoft.com/office/drawing/2014/main" id="{5164815A-5F5B-4043-36AD-0BFC4C863BAD}"/>
              </a:ext>
            </a:extLst>
          </p:cNvPr>
          <p:cNvGraphicFramePr>
            <a:graphicFrameLocks noGrp="1"/>
          </p:cNvGraphicFramePr>
          <p:nvPr>
            <p:extLst>
              <p:ext uri="{D42A27DB-BD31-4B8C-83A1-F6EECF244321}">
                <p14:modId xmlns:p14="http://schemas.microsoft.com/office/powerpoint/2010/main" val="1093191292"/>
              </p:ext>
            </p:extLst>
          </p:nvPr>
        </p:nvGraphicFramePr>
        <p:xfrm>
          <a:off x="1284426" y="5158076"/>
          <a:ext cx="9623149" cy="1296000"/>
        </p:xfrm>
        <a:graphic>
          <a:graphicData uri="http://schemas.openxmlformats.org/drawingml/2006/table">
            <a:tbl>
              <a:tblPr firstRow="1" bandRow="1">
                <a:tableStyleId>{21E4AEA4-8DFA-4A89-87EB-49C32662AFE0}</a:tableStyleId>
              </a:tblPr>
              <a:tblGrid>
                <a:gridCol w="682475">
                  <a:extLst>
                    <a:ext uri="{9D8B030D-6E8A-4147-A177-3AD203B41FA5}">
                      <a16:colId xmlns:a16="http://schemas.microsoft.com/office/drawing/2014/main" val="3161775891"/>
                    </a:ext>
                  </a:extLst>
                </a:gridCol>
                <a:gridCol w="8940674">
                  <a:extLst>
                    <a:ext uri="{9D8B030D-6E8A-4147-A177-3AD203B41FA5}">
                      <a16:colId xmlns:a16="http://schemas.microsoft.com/office/drawing/2014/main" val="1936387739"/>
                    </a:ext>
                  </a:extLst>
                </a:gridCol>
              </a:tblGrid>
              <a:tr h="432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dirty="0">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u="none" strike="noStrike" dirty="0">
                          <a:solidFill>
                            <a:schemeClr val="bg1"/>
                          </a:solidFill>
                          <a:effectLst/>
                        </a:rPr>
                        <a:t>改善点</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32000">
                <a:tc>
                  <a:txBody>
                    <a:bodyPr/>
                    <a:lstStyle/>
                    <a:p>
                      <a:pPr algn="ctr" fontAlgn="b">
                        <a:buNone/>
                      </a:pPr>
                      <a:r>
                        <a:rPr lang="en-US" altLang="ja-JP" sz="1800" b="1" u="none" strike="noStrike" dirty="0">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lvl="0" algn="l" eaLnBrk="0" fontAlgn="base" hangingPunct="0">
                        <a:lnSpc>
                          <a:spcPts val="3200"/>
                        </a:lnSpc>
                        <a:spcBef>
                          <a:spcPct val="0"/>
                        </a:spcBef>
                        <a:spcAft>
                          <a:spcPct val="0"/>
                        </a:spcAft>
                        <a:buFontTx/>
                        <a:buNone/>
                      </a:pPr>
                      <a:r>
                        <a:rPr lang="ja-JP" altLang="en-US" dirty="0"/>
                        <a:t>視聴時間が長く一度にまとめて受講しづらい部分があった。</a:t>
                      </a:r>
                      <a:endParaRPr kumimoji="0" lang="ja-JP" altLang="en-US" sz="1800" b="0" dirty="0"/>
                    </a:p>
                  </a:txBody>
                  <a:tcPr marL="6350" marR="6350" marT="6350" marB="0" anchor="ctr"/>
                </a:tc>
                <a:extLst>
                  <a:ext uri="{0D108BD9-81ED-4DB2-BD59-A6C34878D82A}">
                    <a16:rowId xmlns:a16="http://schemas.microsoft.com/office/drawing/2014/main" val="1901818471"/>
                  </a:ext>
                </a:extLst>
              </a:tr>
              <a:tr h="432000">
                <a:tc>
                  <a:txBody>
                    <a:bodyPr/>
                    <a:lstStyle/>
                    <a:p>
                      <a:pPr algn="ctr" fontAlgn="b">
                        <a:buNone/>
                      </a:pPr>
                      <a:r>
                        <a:rPr lang="en-US" altLang="ja-JP" sz="1800" b="1" u="none" strike="noStrike" dirty="0">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dirty="0"/>
                        <a:t>数値や専門知識の暗記が難しい内容が一部あった。</a:t>
                      </a:r>
                      <a:endParaRPr kumimoji="0" lang="ja-JP" altLang="en-US" sz="1800" b="0" dirty="0"/>
                    </a:p>
                  </a:txBody>
                  <a:tcPr marL="6350" marR="6350" marT="6350" marB="0" anchor="ctr"/>
                </a:tc>
                <a:extLst>
                  <a:ext uri="{0D108BD9-81ED-4DB2-BD59-A6C34878D82A}">
                    <a16:rowId xmlns:a16="http://schemas.microsoft.com/office/drawing/2014/main" val="2871062763"/>
                  </a:ext>
                </a:extLst>
              </a:tr>
            </a:tbl>
          </a:graphicData>
        </a:graphic>
      </p:graphicFrame>
    </p:spTree>
    <p:extLst>
      <p:ext uri="{BB962C8B-B14F-4D97-AF65-F5344CB8AC3E}">
        <p14:creationId xmlns:p14="http://schemas.microsoft.com/office/powerpoint/2010/main" val="4189137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AEFEB-8A32-9805-E5C2-2F9984506190}"/>
            </a:ext>
          </a:extLst>
        </p:cNvPr>
        <p:cNvGrpSpPr/>
        <p:nvPr/>
      </p:nvGrpSpPr>
      <p:grpSpPr>
        <a:xfrm>
          <a:off x="0" y="0"/>
          <a:ext cx="0" cy="0"/>
          <a:chOff x="0" y="0"/>
          <a:chExt cx="0" cy="0"/>
        </a:xfrm>
      </p:grpSpPr>
      <p:graphicFrame>
        <p:nvGraphicFramePr>
          <p:cNvPr id="4" name="グラフ 3">
            <a:extLst>
              <a:ext uri="{FF2B5EF4-FFF2-40B4-BE49-F238E27FC236}">
                <a16:creationId xmlns:a16="http://schemas.microsoft.com/office/drawing/2014/main" id="{B669BB39-4038-4888-33C4-084B66A3D2ED}"/>
              </a:ext>
            </a:extLst>
          </p:cNvPr>
          <p:cNvGraphicFramePr/>
          <p:nvPr>
            <p:extLst>
              <p:ext uri="{D42A27DB-BD31-4B8C-83A1-F6EECF244321}">
                <p14:modId xmlns:p14="http://schemas.microsoft.com/office/powerpoint/2010/main" val="2738049787"/>
              </p:ext>
            </p:extLst>
          </p:nvPr>
        </p:nvGraphicFramePr>
        <p:xfrm>
          <a:off x="-3838278" y="907561"/>
          <a:ext cx="15016901" cy="5539891"/>
        </p:xfrm>
        <a:graphic>
          <a:graphicData uri="http://schemas.openxmlformats.org/drawingml/2006/chart">
            <c:chart xmlns:c="http://schemas.openxmlformats.org/drawingml/2006/chart" xmlns:r="http://schemas.openxmlformats.org/officeDocument/2006/relationships" r:id="rId2"/>
          </a:graphicData>
        </a:graphic>
      </p:graphicFrame>
      <p:sp>
        <p:nvSpPr>
          <p:cNvPr id="8" name="テキスト ボックス 7">
            <a:extLst>
              <a:ext uri="{FF2B5EF4-FFF2-40B4-BE49-F238E27FC236}">
                <a16:creationId xmlns:a16="http://schemas.microsoft.com/office/drawing/2014/main" id="{89097879-CBC2-B182-6DF5-9F607CF28FFB}"/>
              </a:ext>
            </a:extLst>
          </p:cNvPr>
          <p:cNvSpPr txBox="1"/>
          <p:nvPr/>
        </p:nvSpPr>
        <p:spPr>
          <a:xfrm>
            <a:off x="1514333" y="482893"/>
            <a:ext cx="9163334" cy="892552"/>
          </a:xfrm>
          <a:prstGeom prst="rect">
            <a:avLst/>
          </a:prstGeom>
          <a:noFill/>
        </p:spPr>
        <p:txBody>
          <a:bodyPr wrap="square" rtlCol="0">
            <a:spAutoFit/>
          </a:bodyPr>
          <a:lstStyle/>
          <a:p>
            <a:pPr lvl="0">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Q3</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sz="2600" b="1" dirty="0">
                <a:solidFill>
                  <a:prstClr val="black"/>
                </a:solidFill>
                <a:latin typeface="游ゴシック" panose="020F0502020204030204"/>
              </a:rPr>
              <a:t>グループワークについて、ご満足いただけましたか？</a:t>
            </a:r>
            <a:endParaRPr lang="en-US" altLang="ja-JP" sz="2600" b="1" dirty="0">
              <a:solidFill>
                <a:prstClr val="black"/>
              </a:solidFill>
              <a:latin typeface="游ゴシック" panose="020F0502020204030204"/>
            </a:endParaRPr>
          </a:p>
          <a:p>
            <a:pPr lvl="0">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1~10</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で評価）</a:t>
            </a:r>
          </a:p>
        </p:txBody>
      </p:sp>
      <p:graphicFrame>
        <p:nvGraphicFramePr>
          <p:cNvPr id="3" name="表 2">
            <a:extLst>
              <a:ext uri="{FF2B5EF4-FFF2-40B4-BE49-F238E27FC236}">
                <a16:creationId xmlns:a16="http://schemas.microsoft.com/office/drawing/2014/main" id="{79307CC9-393C-E308-A01F-72D4EA3E7C57}"/>
              </a:ext>
            </a:extLst>
          </p:cNvPr>
          <p:cNvGraphicFramePr>
            <a:graphicFrameLocks noGrp="1"/>
          </p:cNvGraphicFramePr>
          <p:nvPr>
            <p:extLst>
              <p:ext uri="{D42A27DB-BD31-4B8C-83A1-F6EECF244321}">
                <p14:modId xmlns:p14="http://schemas.microsoft.com/office/powerpoint/2010/main" val="3712808885"/>
              </p:ext>
            </p:extLst>
          </p:nvPr>
        </p:nvGraphicFramePr>
        <p:xfrm>
          <a:off x="6426821" y="3993641"/>
          <a:ext cx="3956190" cy="1299210"/>
        </p:xfrm>
        <a:graphic>
          <a:graphicData uri="http://schemas.openxmlformats.org/drawingml/2006/table">
            <a:tbl>
              <a:tblPr bandRow="1">
                <a:tableStyleId>{B301B821-A1FF-4177-AEE7-76D212191A09}</a:tableStyleId>
              </a:tblPr>
              <a:tblGrid>
                <a:gridCol w="1978095">
                  <a:extLst>
                    <a:ext uri="{9D8B030D-6E8A-4147-A177-3AD203B41FA5}">
                      <a16:colId xmlns:a16="http://schemas.microsoft.com/office/drawing/2014/main" val="3161775891"/>
                    </a:ext>
                  </a:extLst>
                </a:gridCol>
                <a:gridCol w="1978095">
                  <a:extLst>
                    <a:ext uri="{9D8B030D-6E8A-4147-A177-3AD203B41FA5}">
                      <a16:colId xmlns:a16="http://schemas.microsoft.com/office/drawing/2014/main" val="1936387739"/>
                    </a:ext>
                  </a:extLst>
                </a:gridCol>
              </a:tblGrid>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平均値</a:t>
                      </a:r>
                      <a:endParaRPr kumimoji="1" lang="en-US" altLang="ja-JP" sz="2800" b="1" u="none" strike="noStrike" kern="1200" dirty="0">
                        <a:solidFill>
                          <a:schemeClr val="tx1"/>
                        </a:solidFill>
                        <a:effectLst/>
                        <a:latin typeface="+mn-lt"/>
                        <a:ea typeface="+mn-ea"/>
                        <a:cs typeface="+mn-cs"/>
                      </a:endParaRP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9.35</a:t>
                      </a:r>
                    </a:p>
                  </a:txBody>
                  <a:tcPr marL="0" marR="0" marT="0" marB="0" anchor="b"/>
                </a:tc>
                <a:extLst>
                  <a:ext uri="{0D108BD9-81ED-4DB2-BD59-A6C34878D82A}">
                    <a16:rowId xmlns:a16="http://schemas.microsoft.com/office/drawing/2014/main" val="1901818471"/>
                  </a:ext>
                </a:extLst>
              </a:tr>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中央値</a:t>
                      </a: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10</a:t>
                      </a:r>
                    </a:p>
                  </a:txBody>
                  <a:tcPr marL="0" marR="0" marT="0" marB="0" anchor="b"/>
                </a:tc>
                <a:extLst>
                  <a:ext uri="{0D108BD9-81ED-4DB2-BD59-A6C34878D82A}">
                    <a16:rowId xmlns:a16="http://schemas.microsoft.com/office/drawing/2014/main" val="2871062763"/>
                  </a:ext>
                </a:extLst>
              </a:tr>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en-US" altLang="ja-JP" sz="2800" b="1" u="none" strike="noStrike" kern="1200" dirty="0">
                          <a:solidFill>
                            <a:schemeClr val="tx1"/>
                          </a:solidFill>
                          <a:effectLst/>
                          <a:latin typeface="+mn-lt"/>
                          <a:ea typeface="+mn-ea"/>
                          <a:cs typeface="+mn-cs"/>
                        </a:rPr>
                        <a:t>Top2Box</a:t>
                      </a: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80.5%</a:t>
                      </a:r>
                    </a:p>
                  </a:txBody>
                  <a:tcPr marL="0" marR="0" marT="0" marB="0" anchor="b"/>
                </a:tc>
                <a:extLst>
                  <a:ext uri="{0D108BD9-81ED-4DB2-BD59-A6C34878D82A}">
                    <a16:rowId xmlns:a16="http://schemas.microsoft.com/office/drawing/2014/main" val="2223684025"/>
                  </a:ext>
                </a:extLst>
              </a:tr>
            </a:tbl>
          </a:graphicData>
        </a:graphic>
      </p:graphicFrame>
    </p:spTree>
    <p:extLst>
      <p:ext uri="{BB962C8B-B14F-4D97-AF65-F5344CB8AC3E}">
        <p14:creationId xmlns:p14="http://schemas.microsoft.com/office/powerpoint/2010/main" val="1921443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8DE54-DF6A-8A84-34A9-C5FA7C73923B}"/>
            </a:ext>
          </a:extLst>
        </p:cNvPr>
        <p:cNvGrpSpPr/>
        <p:nvPr/>
      </p:nvGrpSpPr>
      <p:grpSpPr>
        <a:xfrm>
          <a:off x="0" y="0"/>
          <a:ext cx="0" cy="0"/>
          <a:chOff x="0" y="0"/>
          <a:chExt cx="0" cy="0"/>
        </a:xfrm>
      </p:grpSpPr>
      <p:graphicFrame>
        <p:nvGraphicFramePr>
          <p:cNvPr id="6" name="表 5">
            <a:extLst>
              <a:ext uri="{FF2B5EF4-FFF2-40B4-BE49-F238E27FC236}">
                <a16:creationId xmlns:a16="http://schemas.microsoft.com/office/drawing/2014/main" id="{7F581457-C917-D7D0-55F7-9B6E28E597A2}"/>
              </a:ext>
            </a:extLst>
          </p:cNvPr>
          <p:cNvGraphicFramePr>
            <a:graphicFrameLocks noGrp="1"/>
          </p:cNvGraphicFramePr>
          <p:nvPr>
            <p:extLst>
              <p:ext uri="{D42A27DB-BD31-4B8C-83A1-F6EECF244321}">
                <p14:modId xmlns:p14="http://schemas.microsoft.com/office/powerpoint/2010/main" val="1031275205"/>
              </p:ext>
            </p:extLst>
          </p:nvPr>
        </p:nvGraphicFramePr>
        <p:xfrm>
          <a:off x="1288200" y="1060340"/>
          <a:ext cx="9615600" cy="3944206"/>
        </p:xfrm>
        <a:graphic>
          <a:graphicData uri="http://schemas.openxmlformats.org/drawingml/2006/table">
            <a:tbl>
              <a:tblPr firstRow="1" bandRow="1">
                <a:tableStyleId>{5C22544A-7EE6-4342-B048-85BDC9FD1C3A}</a:tableStyleId>
              </a:tblPr>
              <a:tblGrid>
                <a:gridCol w="681421">
                  <a:extLst>
                    <a:ext uri="{9D8B030D-6E8A-4147-A177-3AD203B41FA5}">
                      <a16:colId xmlns:a16="http://schemas.microsoft.com/office/drawing/2014/main" val="3161775891"/>
                    </a:ext>
                  </a:extLst>
                </a:gridCol>
                <a:gridCol w="8934179">
                  <a:extLst>
                    <a:ext uri="{9D8B030D-6E8A-4147-A177-3AD203B41FA5}">
                      <a16:colId xmlns:a16="http://schemas.microsoft.com/office/drawing/2014/main" val="1936387739"/>
                    </a:ext>
                  </a:extLst>
                </a:gridCol>
              </a:tblGrid>
              <a:tr h="315905">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dirty="0">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u="none" strike="noStrike" dirty="0">
                          <a:solidFill>
                            <a:schemeClr val="bg1"/>
                          </a:solidFill>
                          <a:effectLst/>
                        </a:rPr>
                        <a:t>評価点</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46512">
                <a:tc>
                  <a:txBody>
                    <a:bodyPr/>
                    <a:lstStyle/>
                    <a:p>
                      <a:pPr algn="ctr" fontAlgn="b">
                        <a:buNone/>
                      </a:pPr>
                      <a:r>
                        <a:rPr lang="en-US" altLang="ja-JP" sz="1800" b="1" u="none" strike="noStrike" dirty="0">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lvl="0" algn="l" eaLnBrk="0" fontAlgn="base" hangingPunct="0">
                        <a:lnSpc>
                          <a:spcPts val="3200"/>
                        </a:lnSpc>
                        <a:spcBef>
                          <a:spcPct val="0"/>
                        </a:spcBef>
                        <a:spcAft>
                          <a:spcPct val="0"/>
                        </a:spcAft>
                        <a:buFontTx/>
                        <a:buNone/>
                      </a:pPr>
                      <a:r>
                        <a:rPr lang="ja-JP" altLang="en-US" dirty="0"/>
                        <a:t>他施設の現状や取り組みを知ることができ有意義であった。</a:t>
                      </a:r>
                      <a:endParaRPr kumimoji="0" lang="ja-JP" altLang="en-US" sz="1800" b="0" dirty="0"/>
                    </a:p>
                  </a:txBody>
                  <a:tcPr marL="6350" marR="6350" marT="6350" marB="0" anchor="ctr"/>
                </a:tc>
                <a:extLst>
                  <a:ext uri="{0D108BD9-81ED-4DB2-BD59-A6C34878D82A}">
                    <a16:rowId xmlns:a16="http://schemas.microsoft.com/office/drawing/2014/main" val="1901818471"/>
                  </a:ext>
                </a:extLst>
              </a:tr>
              <a:tr h="446512">
                <a:tc>
                  <a:txBody>
                    <a:bodyPr/>
                    <a:lstStyle/>
                    <a:p>
                      <a:pPr algn="ctr" fontAlgn="b">
                        <a:buNone/>
                      </a:pPr>
                      <a:r>
                        <a:rPr lang="en-US" altLang="ja-JP" sz="1800" b="1" u="none" strike="noStrike" dirty="0">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同じ立場の参加者と意見交換ができ充実した時間であった。</a:t>
                      </a:r>
                    </a:p>
                  </a:txBody>
                  <a:tcPr marL="6350" marR="6350" marT="6350" marB="0" anchor="ctr"/>
                </a:tc>
                <a:extLst>
                  <a:ext uri="{0D108BD9-81ED-4DB2-BD59-A6C34878D82A}">
                    <a16:rowId xmlns:a16="http://schemas.microsoft.com/office/drawing/2014/main" val="2871062763"/>
                  </a:ext>
                </a:extLst>
              </a:tr>
              <a:tr h="446512">
                <a:tc>
                  <a:txBody>
                    <a:bodyPr/>
                    <a:lstStyle/>
                    <a:p>
                      <a:pPr algn="ctr" fontAlgn="b">
                        <a:buNone/>
                      </a:pPr>
                      <a:r>
                        <a:rPr lang="en-US" altLang="ja-JP" sz="1800" b="1" u="none" strike="noStrike" dirty="0">
                          <a:solidFill>
                            <a:srgbClr val="000000"/>
                          </a:solidFill>
                          <a:effectLst/>
                        </a:rPr>
                        <a:t>3</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dirty="0"/>
                        <a:t>多様な意見を聞くことで知識や視野が広がった。</a:t>
                      </a:r>
                    </a:p>
                  </a:txBody>
                  <a:tcPr marL="6350" marR="6350" marT="6350" marB="0" anchor="ctr"/>
                </a:tc>
                <a:extLst>
                  <a:ext uri="{0D108BD9-81ED-4DB2-BD59-A6C34878D82A}">
                    <a16:rowId xmlns:a16="http://schemas.microsoft.com/office/drawing/2014/main" val="2223684025"/>
                  </a:ext>
                </a:extLst>
              </a:tr>
              <a:tr h="446512">
                <a:tc>
                  <a:txBody>
                    <a:bodyPr/>
                    <a:lstStyle/>
                    <a:p>
                      <a:pPr algn="ctr" fontAlgn="b">
                        <a:buNone/>
                      </a:pPr>
                      <a:r>
                        <a:rPr lang="en-US" altLang="ja-JP" sz="1800" b="1" u="none" strike="noStrike" dirty="0">
                          <a:solidFill>
                            <a:srgbClr val="000000"/>
                          </a:solidFill>
                          <a:effectLst/>
                        </a:rPr>
                        <a:t>4</a:t>
                      </a:r>
                      <a:endParaRPr lang="en-US" altLang="ja-JP" sz="1800" b="1" i="0" u="none" strike="noStrike" dirty="0">
                        <a:solidFill>
                          <a:srgbClr val="000000"/>
                        </a:solidFill>
                        <a:effectLst/>
                        <a:latin typeface="+mn-lt"/>
                        <a:ea typeface="+mn-ea"/>
                      </a:endParaRPr>
                    </a:p>
                  </a:txBody>
                  <a:tcPr marL="6350" marR="6350" marT="6350" marB="0" anchor="ctr"/>
                </a:tc>
                <a:tc>
                  <a:txBody>
                    <a:bodyPr/>
                    <a:lstStyle/>
                    <a:p>
                      <a:r>
                        <a:rPr lang="ja-JP" altLang="en-US" dirty="0"/>
                        <a:t>悩みや課題を共有でき共感と勇気を得られた。</a:t>
                      </a:r>
                    </a:p>
                  </a:txBody>
                  <a:tcPr marL="6350" marR="6350" marT="6350" marB="0" anchor="ctr"/>
                </a:tc>
                <a:extLst>
                  <a:ext uri="{0D108BD9-81ED-4DB2-BD59-A6C34878D82A}">
                    <a16:rowId xmlns:a16="http://schemas.microsoft.com/office/drawing/2014/main" val="2116186090"/>
                  </a:ext>
                </a:extLst>
              </a:tr>
              <a:tr h="446512">
                <a:tc>
                  <a:txBody>
                    <a:bodyPr/>
                    <a:lstStyle/>
                    <a:p>
                      <a:pPr algn="ctr" fontAlgn="b">
                        <a:buNone/>
                      </a:pPr>
                      <a:r>
                        <a:rPr lang="en-US" altLang="ja-JP" sz="1800" b="1" u="none" strike="noStrike" dirty="0">
                          <a:solidFill>
                            <a:srgbClr val="000000"/>
                          </a:solidFill>
                          <a:effectLst/>
                        </a:rPr>
                        <a:t>5</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自施設の問題解決の糸口を見出す機会となった。</a:t>
                      </a:r>
                    </a:p>
                  </a:txBody>
                  <a:tcPr marL="6350" marR="6350" marT="6350" marB="0" anchor="ctr"/>
                </a:tc>
                <a:extLst>
                  <a:ext uri="{0D108BD9-81ED-4DB2-BD59-A6C34878D82A}">
                    <a16:rowId xmlns:a16="http://schemas.microsoft.com/office/drawing/2014/main" val="1905789153"/>
                  </a:ext>
                </a:extLst>
              </a:tr>
              <a:tr h="446512">
                <a:tc>
                  <a:txBody>
                    <a:bodyPr/>
                    <a:lstStyle/>
                    <a:p>
                      <a:pPr algn="ctr" fontAlgn="b">
                        <a:buNone/>
                      </a:pPr>
                      <a:r>
                        <a:rPr lang="en-US" altLang="ja-JP" sz="1800" b="1" u="none" strike="noStrike" dirty="0">
                          <a:solidFill>
                            <a:srgbClr val="000000"/>
                          </a:solidFill>
                          <a:effectLst/>
                        </a:rPr>
                        <a:t>6</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dirty="0"/>
                        <a:t>他院の良い取り組みを持ち帰り実践したいと感じた。</a:t>
                      </a:r>
                      <a:endParaRPr kumimoji="0" lang="ja-JP" altLang="en-US" sz="1800" b="0" dirty="0"/>
                    </a:p>
                  </a:txBody>
                  <a:tcPr marL="6350" marR="6350" marT="6350" marB="0" anchor="ctr"/>
                </a:tc>
                <a:extLst>
                  <a:ext uri="{0D108BD9-81ED-4DB2-BD59-A6C34878D82A}">
                    <a16:rowId xmlns:a16="http://schemas.microsoft.com/office/drawing/2014/main" val="748102509"/>
                  </a:ext>
                </a:extLst>
              </a:tr>
              <a:tr h="446512">
                <a:tc>
                  <a:txBody>
                    <a:bodyPr/>
                    <a:lstStyle/>
                    <a:p>
                      <a:pPr algn="ctr" fontAlgn="b">
                        <a:buNone/>
                      </a:pPr>
                      <a:r>
                        <a:rPr lang="en-US" altLang="ja-JP" sz="1800" b="1" u="none" strike="noStrike" dirty="0">
                          <a:solidFill>
                            <a:srgbClr val="000000"/>
                          </a:solidFill>
                          <a:effectLst/>
                        </a:rPr>
                        <a:t>7</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活発な話し合いができ学びの多い内容であった。</a:t>
                      </a:r>
                    </a:p>
                  </a:txBody>
                  <a:tcPr marL="6350" marR="6350" marT="6350" marB="0" anchor="ctr"/>
                </a:tc>
                <a:extLst>
                  <a:ext uri="{0D108BD9-81ED-4DB2-BD59-A6C34878D82A}">
                    <a16:rowId xmlns:a16="http://schemas.microsoft.com/office/drawing/2014/main" val="2874533998"/>
                  </a:ext>
                </a:extLst>
              </a:tr>
              <a:tr h="446512">
                <a:tc>
                  <a:txBody>
                    <a:bodyPr/>
                    <a:lstStyle/>
                    <a:p>
                      <a:pPr algn="ctr" fontAlgn="b">
                        <a:buNone/>
                      </a:pPr>
                      <a:r>
                        <a:rPr lang="en-US" altLang="ja-JP" sz="1800" b="1" u="none" strike="noStrike" dirty="0">
                          <a:solidFill>
                            <a:srgbClr val="000000"/>
                          </a:solidFill>
                          <a:effectLst/>
                        </a:rPr>
                        <a:t>8</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交流機会が少ない中で貴重な情報共有の場であった。</a:t>
                      </a:r>
                    </a:p>
                  </a:txBody>
                  <a:tcPr marL="6350" marR="6350" marT="6350" marB="0" anchor="ctr"/>
                </a:tc>
                <a:extLst>
                  <a:ext uri="{0D108BD9-81ED-4DB2-BD59-A6C34878D82A}">
                    <a16:rowId xmlns:a16="http://schemas.microsoft.com/office/drawing/2014/main" val="978687493"/>
                  </a:ext>
                </a:extLst>
              </a:tr>
            </a:tbl>
          </a:graphicData>
        </a:graphic>
      </p:graphicFrame>
      <p:graphicFrame>
        <p:nvGraphicFramePr>
          <p:cNvPr id="7" name="表 6">
            <a:extLst>
              <a:ext uri="{FF2B5EF4-FFF2-40B4-BE49-F238E27FC236}">
                <a16:creationId xmlns:a16="http://schemas.microsoft.com/office/drawing/2014/main" id="{EC7CCD34-71D2-BB62-59B5-71E359EF34FA}"/>
              </a:ext>
            </a:extLst>
          </p:cNvPr>
          <p:cNvGraphicFramePr>
            <a:graphicFrameLocks noGrp="1"/>
          </p:cNvGraphicFramePr>
          <p:nvPr>
            <p:extLst>
              <p:ext uri="{D42A27DB-BD31-4B8C-83A1-F6EECF244321}">
                <p14:modId xmlns:p14="http://schemas.microsoft.com/office/powerpoint/2010/main" val="794405031"/>
              </p:ext>
            </p:extLst>
          </p:nvPr>
        </p:nvGraphicFramePr>
        <p:xfrm>
          <a:off x="1288200" y="5117542"/>
          <a:ext cx="9615600" cy="1296000"/>
        </p:xfrm>
        <a:graphic>
          <a:graphicData uri="http://schemas.openxmlformats.org/drawingml/2006/table">
            <a:tbl>
              <a:tblPr firstRow="1" bandRow="1">
                <a:tableStyleId>{21E4AEA4-8DFA-4A89-87EB-49C32662AFE0}</a:tableStyleId>
              </a:tblPr>
              <a:tblGrid>
                <a:gridCol w="681421">
                  <a:extLst>
                    <a:ext uri="{9D8B030D-6E8A-4147-A177-3AD203B41FA5}">
                      <a16:colId xmlns:a16="http://schemas.microsoft.com/office/drawing/2014/main" val="3161775891"/>
                    </a:ext>
                  </a:extLst>
                </a:gridCol>
                <a:gridCol w="8934179">
                  <a:extLst>
                    <a:ext uri="{9D8B030D-6E8A-4147-A177-3AD203B41FA5}">
                      <a16:colId xmlns:a16="http://schemas.microsoft.com/office/drawing/2014/main" val="1936387739"/>
                    </a:ext>
                  </a:extLst>
                </a:gridCol>
              </a:tblGrid>
              <a:tr h="432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u="none" strike="noStrike">
                          <a:solidFill>
                            <a:schemeClr val="bg1"/>
                          </a:solidFill>
                          <a:effectLst/>
                        </a:rPr>
                        <a:t>改善点</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32000">
                <a:tc>
                  <a:txBody>
                    <a:bodyPr/>
                    <a:lstStyle/>
                    <a:p>
                      <a:pPr algn="ctr" fontAlgn="b">
                        <a:buNone/>
                      </a:pPr>
                      <a:r>
                        <a:rPr lang="en-US" altLang="ja-JP" sz="1800" b="1" u="none" strike="noStrike">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r>
                        <a:rPr lang="ja-JP" altLang="en-US"/>
                        <a:t>話題が本題から逸れる場面があり進行に課題があった。</a:t>
                      </a:r>
                      <a:endParaRPr lang="ja-JP" altLang="en-US" dirty="0"/>
                    </a:p>
                  </a:txBody>
                  <a:tcPr marL="6350" marR="6350" marT="6350" marB="0" anchor="ctr"/>
                </a:tc>
                <a:extLst>
                  <a:ext uri="{0D108BD9-81ED-4DB2-BD59-A6C34878D82A}">
                    <a16:rowId xmlns:a16="http://schemas.microsoft.com/office/drawing/2014/main" val="1901818471"/>
                  </a:ext>
                </a:extLst>
              </a:tr>
              <a:tr h="432000">
                <a:tc>
                  <a:txBody>
                    <a:bodyPr/>
                    <a:lstStyle/>
                    <a:p>
                      <a:pPr algn="ctr" fontAlgn="b">
                        <a:buNone/>
                      </a:pPr>
                      <a:r>
                        <a:rPr lang="en-US" altLang="ja-JP" sz="1800" b="1" u="none" strike="noStrike">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r>
                        <a:rPr lang="ja-JP" altLang="en-US" dirty="0"/>
                        <a:t>ファシリテーターの進行が難しく議論の深まりに不安があった。</a:t>
                      </a:r>
                    </a:p>
                  </a:txBody>
                  <a:tcPr marL="6350" marR="6350" marT="6350" marB="0" anchor="ctr"/>
                </a:tc>
                <a:extLst>
                  <a:ext uri="{0D108BD9-81ED-4DB2-BD59-A6C34878D82A}">
                    <a16:rowId xmlns:a16="http://schemas.microsoft.com/office/drawing/2014/main" val="2871062763"/>
                  </a:ext>
                </a:extLst>
              </a:tr>
            </a:tbl>
          </a:graphicData>
        </a:graphic>
      </p:graphicFrame>
      <p:sp>
        <p:nvSpPr>
          <p:cNvPr id="3" name="テキスト ボックス 2">
            <a:extLst>
              <a:ext uri="{FF2B5EF4-FFF2-40B4-BE49-F238E27FC236}">
                <a16:creationId xmlns:a16="http://schemas.microsoft.com/office/drawing/2014/main" id="{D4337019-8759-2AC5-3EBE-C4EAED4C8F1A}"/>
              </a:ext>
            </a:extLst>
          </p:cNvPr>
          <p:cNvSpPr txBox="1"/>
          <p:nvPr/>
        </p:nvSpPr>
        <p:spPr>
          <a:xfrm>
            <a:off x="641168" y="276818"/>
            <a:ext cx="10074841" cy="492443"/>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Q4</a:t>
            </a:r>
            <a:r>
              <a:rPr lang="ja-JP" altLang="en-US" sz="2600" b="1" dirty="0">
                <a:solidFill>
                  <a:prstClr val="black"/>
                </a:solidFill>
                <a:latin typeface="游ゴシック" panose="020F0502020204030204"/>
                <a:ea typeface="游ゴシック" panose="020B0400000000000000" pitchFamily="50" charset="-128"/>
              </a:rPr>
              <a:t>：</a:t>
            </a: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Q3</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のように回答した理由をお書きください。 </a:t>
            </a:r>
          </a:p>
        </p:txBody>
      </p:sp>
    </p:spTree>
    <p:extLst>
      <p:ext uri="{BB962C8B-B14F-4D97-AF65-F5344CB8AC3E}">
        <p14:creationId xmlns:p14="http://schemas.microsoft.com/office/powerpoint/2010/main" val="2699965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08FAE-92AE-3E3F-FDB6-173E6FC87FB4}"/>
            </a:ext>
          </a:extLst>
        </p:cNvPr>
        <p:cNvGrpSpPr/>
        <p:nvPr/>
      </p:nvGrpSpPr>
      <p:grpSpPr>
        <a:xfrm>
          <a:off x="0" y="0"/>
          <a:ext cx="0" cy="0"/>
          <a:chOff x="0" y="0"/>
          <a:chExt cx="0" cy="0"/>
        </a:xfrm>
      </p:grpSpPr>
      <p:graphicFrame>
        <p:nvGraphicFramePr>
          <p:cNvPr id="4" name="グラフ 3">
            <a:extLst>
              <a:ext uri="{FF2B5EF4-FFF2-40B4-BE49-F238E27FC236}">
                <a16:creationId xmlns:a16="http://schemas.microsoft.com/office/drawing/2014/main" id="{AAB668C7-ACD9-6231-3626-D0E9FEFB48EE}"/>
              </a:ext>
            </a:extLst>
          </p:cNvPr>
          <p:cNvGraphicFramePr/>
          <p:nvPr>
            <p:extLst>
              <p:ext uri="{D42A27DB-BD31-4B8C-83A1-F6EECF244321}">
                <p14:modId xmlns:p14="http://schemas.microsoft.com/office/powerpoint/2010/main" val="3820865250"/>
              </p:ext>
            </p:extLst>
          </p:nvPr>
        </p:nvGraphicFramePr>
        <p:xfrm>
          <a:off x="-3838278" y="907561"/>
          <a:ext cx="15016901" cy="5539891"/>
        </p:xfrm>
        <a:graphic>
          <a:graphicData uri="http://schemas.openxmlformats.org/drawingml/2006/chart">
            <c:chart xmlns:c="http://schemas.openxmlformats.org/drawingml/2006/chart" xmlns:r="http://schemas.openxmlformats.org/officeDocument/2006/relationships" r:id="rId2"/>
          </a:graphicData>
        </a:graphic>
      </p:graphicFrame>
      <p:sp>
        <p:nvSpPr>
          <p:cNvPr id="8" name="テキスト ボックス 7">
            <a:extLst>
              <a:ext uri="{FF2B5EF4-FFF2-40B4-BE49-F238E27FC236}">
                <a16:creationId xmlns:a16="http://schemas.microsoft.com/office/drawing/2014/main" id="{A8FC56F5-FC01-B1A5-714F-76840E696E0F}"/>
              </a:ext>
            </a:extLst>
          </p:cNvPr>
          <p:cNvSpPr txBox="1"/>
          <p:nvPr/>
        </p:nvSpPr>
        <p:spPr>
          <a:xfrm>
            <a:off x="654584" y="482893"/>
            <a:ext cx="10882832" cy="892552"/>
          </a:xfrm>
          <a:prstGeom prst="rect">
            <a:avLst/>
          </a:prstGeom>
          <a:noFill/>
        </p:spPr>
        <p:txBody>
          <a:bodyPr wrap="square" rtlCol="0">
            <a:spAutoFit/>
          </a:bodyPr>
          <a:lstStyle/>
          <a:p>
            <a:pPr lvl="0">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Q5</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lang="ja-JP" altLang="en-US" sz="2600" b="1" dirty="0">
                <a:solidFill>
                  <a:prstClr val="black"/>
                </a:solidFill>
                <a:latin typeface="游ゴシック" panose="020F0502020204030204"/>
              </a:rPr>
              <a:t>本セミナーを、同僚や関係者にどの程度すすめたいと思いますか？</a:t>
            </a:r>
            <a:endParaRPr lang="en-US" altLang="ja-JP" sz="2600" b="1" dirty="0">
              <a:solidFill>
                <a:prstClr val="black"/>
              </a:solidFill>
              <a:latin typeface="游ゴシック" panose="020F0502020204030204"/>
            </a:endParaRPr>
          </a:p>
          <a:p>
            <a:pPr lvl="0">
              <a:defRPr/>
            </a:pP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en-US" altLang="ja-JP"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1~10</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で評価）</a:t>
            </a:r>
          </a:p>
        </p:txBody>
      </p:sp>
      <p:graphicFrame>
        <p:nvGraphicFramePr>
          <p:cNvPr id="3" name="表 2">
            <a:extLst>
              <a:ext uri="{FF2B5EF4-FFF2-40B4-BE49-F238E27FC236}">
                <a16:creationId xmlns:a16="http://schemas.microsoft.com/office/drawing/2014/main" id="{D969883E-6E48-D9F2-7B41-61E1595E1A1D}"/>
              </a:ext>
            </a:extLst>
          </p:cNvPr>
          <p:cNvGraphicFramePr>
            <a:graphicFrameLocks noGrp="1"/>
          </p:cNvGraphicFramePr>
          <p:nvPr>
            <p:extLst>
              <p:ext uri="{D42A27DB-BD31-4B8C-83A1-F6EECF244321}">
                <p14:modId xmlns:p14="http://schemas.microsoft.com/office/powerpoint/2010/main" val="2757264418"/>
              </p:ext>
            </p:extLst>
          </p:nvPr>
        </p:nvGraphicFramePr>
        <p:xfrm>
          <a:off x="6426821" y="3993641"/>
          <a:ext cx="3956190" cy="1299210"/>
        </p:xfrm>
        <a:graphic>
          <a:graphicData uri="http://schemas.openxmlformats.org/drawingml/2006/table">
            <a:tbl>
              <a:tblPr bandRow="1">
                <a:tableStyleId>{B301B821-A1FF-4177-AEE7-76D212191A09}</a:tableStyleId>
              </a:tblPr>
              <a:tblGrid>
                <a:gridCol w="1978095">
                  <a:extLst>
                    <a:ext uri="{9D8B030D-6E8A-4147-A177-3AD203B41FA5}">
                      <a16:colId xmlns:a16="http://schemas.microsoft.com/office/drawing/2014/main" val="3161775891"/>
                    </a:ext>
                  </a:extLst>
                </a:gridCol>
                <a:gridCol w="1978095">
                  <a:extLst>
                    <a:ext uri="{9D8B030D-6E8A-4147-A177-3AD203B41FA5}">
                      <a16:colId xmlns:a16="http://schemas.microsoft.com/office/drawing/2014/main" val="1936387739"/>
                    </a:ext>
                  </a:extLst>
                </a:gridCol>
              </a:tblGrid>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平均値</a:t>
                      </a:r>
                      <a:endParaRPr kumimoji="1" lang="en-US" altLang="ja-JP" sz="2800" b="1" u="none" strike="noStrike" kern="1200" dirty="0">
                        <a:solidFill>
                          <a:schemeClr val="tx1"/>
                        </a:solidFill>
                        <a:effectLst/>
                        <a:latin typeface="+mn-lt"/>
                        <a:ea typeface="+mn-ea"/>
                        <a:cs typeface="+mn-cs"/>
                      </a:endParaRP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8.69</a:t>
                      </a:r>
                    </a:p>
                  </a:txBody>
                  <a:tcPr marL="0" marR="0" marT="0" marB="0" anchor="b"/>
                </a:tc>
                <a:extLst>
                  <a:ext uri="{0D108BD9-81ED-4DB2-BD59-A6C34878D82A}">
                    <a16:rowId xmlns:a16="http://schemas.microsoft.com/office/drawing/2014/main" val="1901818471"/>
                  </a:ext>
                </a:extLst>
              </a:tr>
              <a:tr h="324318">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ja-JP" altLang="en-US" sz="2800" b="1" u="none" strike="noStrike" kern="1200" dirty="0">
                          <a:solidFill>
                            <a:schemeClr val="tx1"/>
                          </a:solidFill>
                          <a:effectLst/>
                          <a:latin typeface="+mn-lt"/>
                          <a:ea typeface="+mn-ea"/>
                          <a:cs typeface="+mn-cs"/>
                        </a:rPr>
                        <a:t>中央値</a:t>
                      </a: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9</a:t>
                      </a:r>
                    </a:p>
                  </a:txBody>
                  <a:tcPr marL="0" marR="0" marT="0" marB="0" anchor="b"/>
                </a:tc>
                <a:extLst>
                  <a:ext uri="{0D108BD9-81ED-4DB2-BD59-A6C34878D82A}">
                    <a16:rowId xmlns:a16="http://schemas.microsoft.com/office/drawing/2014/main" val="2871062763"/>
                  </a:ext>
                </a:extLst>
              </a:tr>
              <a:tr h="324000">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1" lang="en-US" altLang="ja-JP" sz="2800" b="1" u="none" strike="noStrike" kern="1200" dirty="0">
                          <a:solidFill>
                            <a:schemeClr val="tx1"/>
                          </a:solidFill>
                          <a:effectLst/>
                          <a:latin typeface="+mn-lt"/>
                          <a:ea typeface="+mn-ea"/>
                          <a:cs typeface="+mn-cs"/>
                        </a:rPr>
                        <a:t>Top2Box</a:t>
                      </a:r>
                    </a:p>
                  </a:txBody>
                  <a:tcPr marL="6350" marR="6350" marT="6350" marB="0" anchor="ctr"/>
                </a:tc>
                <a:tc>
                  <a:txBody>
                    <a:bodyPr/>
                    <a:lstStyle/>
                    <a:p>
                      <a:pPr algn="ctr" fontAlgn="b">
                        <a:buNone/>
                      </a:pPr>
                      <a:r>
                        <a:rPr lang="en-US" altLang="ja-JP" sz="2800" b="1" i="0" u="none" strike="noStrike" dirty="0">
                          <a:solidFill>
                            <a:srgbClr val="000000"/>
                          </a:solidFill>
                          <a:effectLst/>
                          <a:latin typeface="Yu Gothic" panose="020B0400000000000000" pitchFamily="50" charset="-128"/>
                          <a:ea typeface="Yu Gothic" panose="020B0400000000000000" pitchFamily="50" charset="-128"/>
                        </a:rPr>
                        <a:t>54.5%</a:t>
                      </a:r>
                    </a:p>
                  </a:txBody>
                  <a:tcPr marL="0" marR="0" marT="0" marB="0" anchor="ctr"/>
                </a:tc>
                <a:extLst>
                  <a:ext uri="{0D108BD9-81ED-4DB2-BD59-A6C34878D82A}">
                    <a16:rowId xmlns:a16="http://schemas.microsoft.com/office/drawing/2014/main" val="2223684025"/>
                  </a:ext>
                </a:extLst>
              </a:tr>
            </a:tbl>
          </a:graphicData>
        </a:graphic>
      </p:graphicFrame>
    </p:spTree>
    <p:extLst>
      <p:ext uri="{BB962C8B-B14F-4D97-AF65-F5344CB8AC3E}">
        <p14:creationId xmlns:p14="http://schemas.microsoft.com/office/powerpoint/2010/main" val="35951807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88589-EEA3-97CD-A62B-7F9F7C75C5BE}"/>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A6666747-0332-598E-48FF-0BA97BA5112A}"/>
              </a:ext>
            </a:extLst>
          </p:cNvPr>
          <p:cNvSpPr txBox="1"/>
          <p:nvPr/>
        </p:nvSpPr>
        <p:spPr>
          <a:xfrm>
            <a:off x="1058578" y="211765"/>
            <a:ext cx="10074841" cy="1692771"/>
          </a:xfrm>
          <a:prstGeom prst="rect">
            <a:avLst/>
          </a:prstGeom>
          <a:noFill/>
        </p:spPr>
        <p:txBody>
          <a:bodyPr wrap="square" rtlCol="0">
            <a:spAutoFit/>
          </a:bodyPr>
          <a:lstStyle/>
          <a:p>
            <a:pPr lvl="0">
              <a:defRPr/>
            </a:pPr>
            <a:r>
              <a:rPr lang="ja-JP" altLang="en-US" sz="2600" b="1" dirty="0">
                <a:solidFill>
                  <a:prstClr val="black"/>
                </a:solidFill>
                <a:latin typeface="游ゴシック" panose="020F0502020204030204"/>
                <a:ea typeface="游ゴシック" panose="020B0400000000000000" pitchFamily="50" charset="-128"/>
              </a:rPr>
              <a:t>　　</a:t>
            </a:r>
            <a:r>
              <a:rPr lang="ja-JP" altLang="en-US" sz="2600" b="1" dirty="0">
                <a:solidFill>
                  <a:prstClr val="black"/>
                </a:solidFill>
                <a:latin typeface="游ゴシック" panose="020F0502020204030204"/>
              </a:rPr>
              <a:t>本日の講義以外に、</a:t>
            </a:r>
            <a:r>
              <a:rPr lang="en-US" altLang="ja-JP" sz="2600" b="1" dirty="0">
                <a:solidFill>
                  <a:prstClr val="black"/>
                </a:solidFill>
                <a:latin typeface="游ゴシック" panose="020F0502020204030204"/>
              </a:rPr>
              <a:t>FLS</a:t>
            </a:r>
            <a:r>
              <a:rPr lang="ja-JP" altLang="en-US" sz="2600" b="1" dirty="0">
                <a:solidFill>
                  <a:prstClr val="black"/>
                </a:solidFill>
                <a:latin typeface="游ゴシック" panose="020F0502020204030204"/>
              </a:rPr>
              <a:t>コーディネーター認定研修会で</a:t>
            </a:r>
            <a:br>
              <a:rPr lang="en-US" altLang="ja-JP" sz="2600" b="1" dirty="0">
                <a:solidFill>
                  <a:prstClr val="black"/>
                </a:solidFill>
                <a:latin typeface="游ゴシック" panose="020F0502020204030204"/>
              </a:rPr>
            </a:br>
            <a:r>
              <a:rPr lang="ja-JP" altLang="en-US" sz="2600" b="1" dirty="0">
                <a:solidFill>
                  <a:prstClr val="black"/>
                </a:solidFill>
                <a:latin typeface="游ゴシック" panose="020F0502020204030204"/>
              </a:rPr>
              <a:t>　　学びたい内容や取り上げてほしいテーマがあれば</a:t>
            </a:r>
            <a:br>
              <a:rPr lang="en-US" altLang="ja-JP" sz="2600" b="1" dirty="0">
                <a:solidFill>
                  <a:prstClr val="black"/>
                </a:solidFill>
                <a:latin typeface="游ゴシック" panose="020F0502020204030204"/>
              </a:rPr>
            </a:br>
            <a:r>
              <a:rPr lang="ja-JP" altLang="en-US" sz="2600" b="1" dirty="0">
                <a:solidFill>
                  <a:prstClr val="black"/>
                </a:solidFill>
                <a:latin typeface="游ゴシック" panose="020F0502020204030204"/>
              </a:rPr>
              <a:t>　　ご自由にご記入ください。</a:t>
            </a:r>
            <a:br>
              <a:rPr lang="en-US" altLang="ja-JP" sz="2600" b="1" dirty="0">
                <a:solidFill>
                  <a:prstClr val="black"/>
                </a:solidFill>
                <a:latin typeface="游ゴシック" panose="020F0502020204030204"/>
                <a:ea typeface="游ゴシック" panose="020B0400000000000000" pitchFamily="50" charset="-128"/>
              </a:rPr>
            </a:br>
            <a:r>
              <a:rPr lang="en-US" altLang="ja-JP" sz="2600" b="1" dirty="0">
                <a:solidFill>
                  <a:prstClr val="black"/>
                </a:solidFill>
                <a:latin typeface="游ゴシック" panose="020F0502020204030204"/>
                <a:ea typeface="游ゴシック" panose="020B0400000000000000" pitchFamily="50" charset="-128"/>
              </a:rPr>
              <a:t>       </a:t>
            </a:r>
            <a:r>
              <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（参加者のコメントのまとめ）</a:t>
            </a:r>
          </a:p>
        </p:txBody>
      </p:sp>
      <p:graphicFrame>
        <p:nvGraphicFramePr>
          <p:cNvPr id="4" name="表 3">
            <a:extLst>
              <a:ext uri="{FF2B5EF4-FFF2-40B4-BE49-F238E27FC236}">
                <a16:creationId xmlns:a16="http://schemas.microsoft.com/office/drawing/2014/main" id="{998F0616-3EAD-35AE-6D35-C202A80614B0}"/>
              </a:ext>
            </a:extLst>
          </p:cNvPr>
          <p:cNvGraphicFramePr>
            <a:graphicFrameLocks noGrp="1"/>
          </p:cNvGraphicFramePr>
          <p:nvPr>
            <p:extLst>
              <p:ext uri="{D42A27DB-BD31-4B8C-83A1-F6EECF244321}">
                <p14:modId xmlns:p14="http://schemas.microsoft.com/office/powerpoint/2010/main" val="439384640"/>
              </p:ext>
            </p:extLst>
          </p:nvPr>
        </p:nvGraphicFramePr>
        <p:xfrm>
          <a:off x="1121250" y="1828800"/>
          <a:ext cx="9949500" cy="4636797"/>
        </p:xfrm>
        <a:graphic>
          <a:graphicData uri="http://schemas.openxmlformats.org/drawingml/2006/table">
            <a:tbl>
              <a:tblPr firstRow="1" bandRow="1">
                <a:tableStyleId>{5C22544A-7EE6-4342-B048-85BDC9FD1C3A}</a:tableStyleId>
              </a:tblPr>
              <a:tblGrid>
                <a:gridCol w="704166">
                  <a:extLst>
                    <a:ext uri="{9D8B030D-6E8A-4147-A177-3AD203B41FA5}">
                      <a16:colId xmlns:a16="http://schemas.microsoft.com/office/drawing/2014/main" val="3161775891"/>
                    </a:ext>
                  </a:extLst>
                </a:gridCol>
                <a:gridCol w="9245334">
                  <a:extLst>
                    <a:ext uri="{9D8B030D-6E8A-4147-A177-3AD203B41FA5}">
                      <a16:colId xmlns:a16="http://schemas.microsoft.com/office/drawing/2014/main" val="1936387739"/>
                    </a:ext>
                  </a:extLst>
                </a:gridCol>
              </a:tblGrid>
              <a:tr h="42152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dirty="0">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i="0" u="none" strike="noStrike" dirty="0">
                          <a:solidFill>
                            <a:schemeClr val="bg1"/>
                          </a:solidFill>
                          <a:effectLst/>
                          <a:latin typeface="+mn-lt"/>
                          <a:ea typeface="游ゴシック" panose="020B0400000000000000" pitchFamily="50" charset="-128"/>
                        </a:rPr>
                        <a:t>コメント</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21527">
                <a:tc>
                  <a:txBody>
                    <a:bodyPr/>
                    <a:lstStyle/>
                    <a:p>
                      <a:pPr algn="ctr" fontAlgn="b">
                        <a:buNone/>
                      </a:pPr>
                      <a:r>
                        <a:rPr lang="en-US" altLang="ja-JP" sz="1800" b="1" u="none" strike="noStrike" dirty="0">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診療報酬や算定要件について詳しく学びたい。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1901818471"/>
                  </a:ext>
                </a:extLst>
              </a:tr>
              <a:tr h="421527">
                <a:tc>
                  <a:txBody>
                    <a:bodyPr/>
                    <a:lstStyle/>
                    <a:p>
                      <a:pPr algn="ctr" fontAlgn="b">
                        <a:buNone/>
                      </a:pPr>
                      <a:r>
                        <a:rPr lang="en-US" altLang="ja-JP" sz="1800" b="1" u="none" strike="noStrike" dirty="0">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各施設の具体的な活動内容や達成事例を知りたい。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871062763"/>
                  </a:ext>
                </a:extLst>
              </a:tr>
              <a:tr h="421527">
                <a:tc>
                  <a:txBody>
                    <a:bodyPr/>
                    <a:lstStyle/>
                    <a:p>
                      <a:pPr algn="ctr" fontAlgn="b">
                        <a:buNone/>
                      </a:pPr>
                      <a:r>
                        <a:rPr lang="en-US" altLang="ja-JP" sz="1800" b="1" u="none" strike="noStrike" dirty="0">
                          <a:solidFill>
                            <a:srgbClr val="000000"/>
                          </a:solidFill>
                          <a:effectLst/>
                        </a:rPr>
                        <a:t>3</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コーディネーターの役割や要件を明確にしてほしい。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223684025"/>
                  </a:ext>
                </a:extLst>
              </a:tr>
              <a:tr h="421527">
                <a:tc>
                  <a:txBody>
                    <a:bodyPr/>
                    <a:lstStyle/>
                    <a:p>
                      <a:pPr algn="ctr" fontAlgn="b">
                        <a:buNone/>
                      </a:pPr>
                      <a:r>
                        <a:rPr lang="en-US" altLang="ja-JP" sz="1800" b="1" u="none" strike="noStrike" dirty="0">
                          <a:solidFill>
                            <a:srgbClr val="000000"/>
                          </a:solidFill>
                          <a:effectLst/>
                        </a:rPr>
                        <a:t>4</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実際の運営方法や活動の進め方を具体的に知りたい。</a:t>
                      </a:r>
                      <a:endParaRPr lang="en-US" altLang="ja-JP"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116186090"/>
                  </a:ext>
                </a:extLst>
              </a:tr>
              <a:tr h="421527">
                <a:tc>
                  <a:txBody>
                    <a:bodyPr/>
                    <a:lstStyle/>
                    <a:p>
                      <a:pPr algn="ctr" fontAlgn="b">
                        <a:buNone/>
                      </a:pPr>
                      <a:r>
                        <a:rPr lang="en-US" altLang="ja-JP" sz="1800" b="1" u="none" strike="noStrike" dirty="0">
                          <a:solidFill>
                            <a:srgbClr val="000000"/>
                          </a:solidFill>
                          <a:effectLst/>
                        </a:rPr>
                        <a:t>5</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多職種連携や院内での効果的な働きかけ方法を学びたい。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1905789153"/>
                  </a:ext>
                </a:extLst>
              </a:tr>
              <a:tr h="421527">
                <a:tc>
                  <a:txBody>
                    <a:bodyPr/>
                    <a:lstStyle/>
                    <a:p>
                      <a:pPr algn="ctr" fontAlgn="b">
                        <a:buNone/>
                      </a:pPr>
                      <a:r>
                        <a:rPr lang="en-US" altLang="ja-JP" sz="1800" b="1" u="none" strike="noStrike" dirty="0">
                          <a:solidFill>
                            <a:srgbClr val="000000"/>
                          </a:solidFill>
                          <a:effectLst/>
                        </a:rPr>
                        <a:t>6</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データ活用や分析方法、学会報告の方法を知りたい。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748102509"/>
                  </a:ext>
                </a:extLst>
              </a:tr>
              <a:tr h="421527">
                <a:tc>
                  <a:txBody>
                    <a:bodyPr/>
                    <a:lstStyle/>
                    <a:p>
                      <a:pPr algn="ctr" fontAlgn="b">
                        <a:buNone/>
                      </a:pPr>
                      <a:r>
                        <a:rPr lang="en-US" altLang="ja-JP" sz="1800" b="1" u="none" strike="noStrike" dirty="0">
                          <a:solidFill>
                            <a:srgbClr val="000000"/>
                          </a:solidFill>
                          <a:effectLst/>
                        </a:rPr>
                        <a:t>7</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チーム立ち上げやモデル施設の活動報告を聞きたい。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874533998"/>
                  </a:ext>
                </a:extLst>
              </a:tr>
              <a:tr h="421527">
                <a:tc>
                  <a:txBody>
                    <a:bodyPr/>
                    <a:lstStyle/>
                    <a:p>
                      <a:pPr algn="ctr" fontAlgn="b">
                        <a:buNone/>
                      </a:pPr>
                      <a:r>
                        <a:rPr lang="en-US" altLang="ja-JP" sz="1800" b="1" u="none" strike="noStrike" dirty="0">
                          <a:solidFill>
                            <a:srgbClr val="000000"/>
                          </a:solidFill>
                          <a:effectLst/>
                        </a:rPr>
                        <a:t>8</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fontAlgn="ctr">
                        <a:buNone/>
                      </a:pPr>
                      <a:r>
                        <a:rPr lang="ja-JP" altLang="en-US" dirty="0"/>
                        <a:t>疼痛管理や薬物療法など臨床的内容を深めたい。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978687493"/>
                  </a:ext>
                </a:extLst>
              </a:tr>
              <a:tr h="421527">
                <a:tc>
                  <a:txBody>
                    <a:bodyPr/>
                    <a:lstStyle/>
                    <a:p>
                      <a:pPr algn="ctr" fontAlgn="b">
                        <a:buNone/>
                      </a:pPr>
                      <a:r>
                        <a:rPr lang="en-US" altLang="ja-JP" sz="1800" b="1" i="0" u="none" strike="noStrike" dirty="0">
                          <a:solidFill>
                            <a:srgbClr val="000000"/>
                          </a:solidFill>
                          <a:effectLst/>
                          <a:latin typeface="+mn-lt"/>
                          <a:ea typeface="+mn-ea"/>
                        </a:rPr>
                        <a:t>9</a:t>
                      </a:r>
                    </a:p>
                  </a:txBody>
                  <a:tcPr marL="6350" marR="6350" marT="635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dirty="0"/>
                        <a:t>外来と病棟の連携や外来看護師の役割について学びたい。</a:t>
                      </a:r>
                      <a:endParaRPr lang="ja-JP" altLang="en-US" sz="1800" b="0" dirty="0">
                        <a:latin typeface="+mn-lt"/>
                      </a:endParaRPr>
                    </a:p>
                  </a:txBody>
                  <a:tcPr marL="6350" marR="6350" marT="6350" marB="0" anchor="ctr"/>
                </a:tc>
                <a:extLst>
                  <a:ext uri="{0D108BD9-81ED-4DB2-BD59-A6C34878D82A}">
                    <a16:rowId xmlns:a16="http://schemas.microsoft.com/office/drawing/2014/main" val="2181310935"/>
                  </a:ext>
                </a:extLst>
              </a:tr>
              <a:tr h="421527">
                <a:tc>
                  <a:txBody>
                    <a:bodyPr/>
                    <a:lstStyle/>
                    <a:p>
                      <a:pPr algn="ctr" fontAlgn="b">
                        <a:buNone/>
                      </a:pPr>
                      <a:r>
                        <a:rPr lang="en-US" altLang="ja-JP" sz="1800" b="1" i="0" u="none" strike="noStrike" dirty="0">
                          <a:solidFill>
                            <a:srgbClr val="000000"/>
                          </a:solidFill>
                          <a:effectLst/>
                          <a:latin typeface="+mn-lt"/>
                          <a:ea typeface="+mn-ea"/>
                        </a:rPr>
                        <a:t>10</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fontAlgn="ctr">
                        <a:buNone/>
                      </a:pPr>
                      <a:r>
                        <a:rPr lang="ja-JP" altLang="en-US" dirty="0"/>
                        <a:t>フォローアップ研修や交流機会を増やしてほしい。</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883872972"/>
                  </a:ext>
                </a:extLst>
              </a:tr>
            </a:tbl>
          </a:graphicData>
        </a:graphic>
      </p:graphicFrame>
    </p:spTree>
    <p:extLst>
      <p:ext uri="{BB962C8B-B14F-4D97-AF65-F5344CB8AC3E}">
        <p14:creationId xmlns:p14="http://schemas.microsoft.com/office/powerpoint/2010/main" val="4182019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DB7B8-C4D5-09CF-6CDA-E71370254912}"/>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4E08FFAA-79C0-0C36-CD69-6EE0F45286AB}"/>
              </a:ext>
            </a:extLst>
          </p:cNvPr>
          <p:cNvSpPr txBox="1"/>
          <p:nvPr/>
        </p:nvSpPr>
        <p:spPr>
          <a:xfrm>
            <a:off x="995909" y="587546"/>
            <a:ext cx="10074841" cy="584775"/>
          </a:xfrm>
          <a:prstGeom prst="rect">
            <a:avLst/>
          </a:prstGeom>
          <a:noFill/>
        </p:spPr>
        <p:txBody>
          <a:bodyPr wrap="square" rtlCol="0">
            <a:spAutoFit/>
          </a:bodyPr>
          <a:lstStyle/>
          <a:p>
            <a:pPr lvl="0" algn="ctr">
              <a:defRPr/>
            </a:pPr>
            <a:r>
              <a:rPr kumimoji="1" lang="en-US" altLang="ja-JP"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ja-JP" altLang="en-US"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ご意見・ご感想</a:t>
            </a:r>
            <a:r>
              <a:rPr kumimoji="1" lang="en-US" altLang="ja-JP"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endParaRPr kumimoji="1" lang="ja-JP" altLang="en-US" sz="32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aphicFrame>
        <p:nvGraphicFramePr>
          <p:cNvPr id="4" name="表 3">
            <a:extLst>
              <a:ext uri="{FF2B5EF4-FFF2-40B4-BE49-F238E27FC236}">
                <a16:creationId xmlns:a16="http://schemas.microsoft.com/office/drawing/2014/main" id="{9CE8C90A-C934-B446-6792-56B6A7AAAD6C}"/>
              </a:ext>
            </a:extLst>
          </p:cNvPr>
          <p:cNvGraphicFramePr>
            <a:graphicFrameLocks noGrp="1"/>
          </p:cNvGraphicFramePr>
          <p:nvPr>
            <p:extLst>
              <p:ext uri="{D42A27DB-BD31-4B8C-83A1-F6EECF244321}">
                <p14:modId xmlns:p14="http://schemas.microsoft.com/office/powerpoint/2010/main" val="1778909257"/>
              </p:ext>
            </p:extLst>
          </p:nvPr>
        </p:nvGraphicFramePr>
        <p:xfrm>
          <a:off x="1121250" y="1633657"/>
          <a:ext cx="9949500" cy="4636797"/>
        </p:xfrm>
        <a:graphic>
          <a:graphicData uri="http://schemas.openxmlformats.org/drawingml/2006/table">
            <a:tbl>
              <a:tblPr firstRow="1" bandRow="1">
                <a:tableStyleId>{5C22544A-7EE6-4342-B048-85BDC9FD1C3A}</a:tableStyleId>
              </a:tblPr>
              <a:tblGrid>
                <a:gridCol w="704166">
                  <a:extLst>
                    <a:ext uri="{9D8B030D-6E8A-4147-A177-3AD203B41FA5}">
                      <a16:colId xmlns:a16="http://schemas.microsoft.com/office/drawing/2014/main" val="3161775891"/>
                    </a:ext>
                  </a:extLst>
                </a:gridCol>
                <a:gridCol w="9245334">
                  <a:extLst>
                    <a:ext uri="{9D8B030D-6E8A-4147-A177-3AD203B41FA5}">
                      <a16:colId xmlns:a16="http://schemas.microsoft.com/office/drawing/2014/main" val="1936387739"/>
                    </a:ext>
                  </a:extLst>
                </a:gridCol>
              </a:tblGrid>
              <a:tr h="421527">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TW" sz="1600" b="1" u="none" strike="noStrike" dirty="0">
                          <a:solidFill>
                            <a:schemeClr val="bg1"/>
                          </a:solidFill>
                          <a:effectLst/>
                        </a:rPr>
                        <a:t>No.</a:t>
                      </a:r>
                      <a:endParaRPr lang="zh-TW" altLang="en-US" sz="1600" b="1" i="0" u="none" strike="noStrike" dirty="0">
                        <a:solidFill>
                          <a:schemeClr val="bg1"/>
                        </a:solidFill>
                        <a:effectLst/>
                        <a:latin typeface="+mn-lt"/>
                        <a:ea typeface="游ゴシック" panose="020B0400000000000000" pitchFamily="50" charset="-128"/>
                      </a:endParaRPr>
                    </a:p>
                  </a:txBody>
                  <a:tcPr marL="6350" marR="6350" marT="6350" marB="0" anchor="ctr"/>
                </a:tc>
                <a:tc>
                  <a:txBody>
                    <a:bodyPr/>
                    <a:lstStyle/>
                    <a:p>
                      <a:pPr algn="ctr" fontAlgn="b">
                        <a:buNone/>
                      </a:pPr>
                      <a:r>
                        <a:rPr lang="ja-JP" altLang="en-US" sz="2400" b="1" i="0" u="none" strike="noStrike" dirty="0">
                          <a:solidFill>
                            <a:schemeClr val="bg1"/>
                          </a:solidFill>
                          <a:effectLst/>
                          <a:latin typeface="+mn-lt"/>
                          <a:ea typeface="游ゴシック" panose="020B0400000000000000" pitchFamily="50" charset="-128"/>
                        </a:rPr>
                        <a:t>コメント</a:t>
                      </a:r>
                      <a:endParaRPr lang="zh-TW" altLang="en-US" sz="2400" b="1" i="0" u="none" strike="noStrike" dirty="0">
                        <a:solidFill>
                          <a:schemeClr val="bg1"/>
                        </a:solidFill>
                        <a:effectLst/>
                        <a:latin typeface="+mn-lt"/>
                        <a:ea typeface="游ゴシック" panose="020B0400000000000000" pitchFamily="50" charset="-128"/>
                      </a:endParaRPr>
                    </a:p>
                  </a:txBody>
                  <a:tcPr marL="6350" marR="6350" marT="6350" marB="0" anchor="ctr"/>
                </a:tc>
                <a:extLst>
                  <a:ext uri="{0D108BD9-81ED-4DB2-BD59-A6C34878D82A}">
                    <a16:rowId xmlns:a16="http://schemas.microsoft.com/office/drawing/2014/main" val="2519518319"/>
                  </a:ext>
                </a:extLst>
              </a:tr>
              <a:tr h="421527">
                <a:tc>
                  <a:txBody>
                    <a:bodyPr/>
                    <a:lstStyle/>
                    <a:p>
                      <a:pPr algn="ctr" fontAlgn="b">
                        <a:buNone/>
                      </a:pPr>
                      <a:r>
                        <a:rPr lang="en-US" altLang="ja-JP" sz="1800" b="1" u="none" strike="noStrike" dirty="0">
                          <a:solidFill>
                            <a:srgbClr val="000000"/>
                          </a:solidFill>
                          <a:effectLst/>
                        </a:rPr>
                        <a:t>1</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他院との情報交換ができ有意義であった。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1901818471"/>
                  </a:ext>
                </a:extLst>
              </a:tr>
              <a:tr h="421527">
                <a:tc>
                  <a:txBody>
                    <a:bodyPr/>
                    <a:lstStyle/>
                    <a:p>
                      <a:pPr algn="ctr" fontAlgn="b">
                        <a:buNone/>
                      </a:pPr>
                      <a:r>
                        <a:rPr lang="en-US" altLang="ja-JP" sz="1800" b="1" u="none" strike="noStrike" dirty="0">
                          <a:solidFill>
                            <a:srgbClr val="000000"/>
                          </a:solidFill>
                          <a:effectLst/>
                        </a:rPr>
                        <a:t>2</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他施設の取り組みを知り自院活動の参考になった。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871062763"/>
                  </a:ext>
                </a:extLst>
              </a:tr>
              <a:tr h="421527">
                <a:tc>
                  <a:txBody>
                    <a:bodyPr/>
                    <a:lstStyle/>
                    <a:p>
                      <a:pPr algn="ctr" fontAlgn="b">
                        <a:buNone/>
                      </a:pPr>
                      <a:r>
                        <a:rPr lang="en-US" altLang="ja-JP" sz="1800" b="1" u="none" strike="noStrike" dirty="0">
                          <a:solidFill>
                            <a:srgbClr val="000000"/>
                          </a:solidFill>
                          <a:effectLst/>
                        </a:rPr>
                        <a:t>3</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グループワークが楽しく刺激を受ける機会であった。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223684025"/>
                  </a:ext>
                </a:extLst>
              </a:tr>
              <a:tr h="421527">
                <a:tc>
                  <a:txBody>
                    <a:bodyPr/>
                    <a:lstStyle/>
                    <a:p>
                      <a:pPr algn="ctr" fontAlgn="b">
                        <a:buNone/>
                      </a:pPr>
                      <a:r>
                        <a:rPr lang="en-US" altLang="ja-JP" sz="1800" b="1" u="none" strike="noStrike" dirty="0">
                          <a:solidFill>
                            <a:srgbClr val="000000"/>
                          </a:solidFill>
                          <a:effectLst/>
                        </a:rPr>
                        <a:t>4</a:t>
                      </a:r>
                      <a:endParaRPr lang="en-US" altLang="ja-JP"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en-US" altLang="ja-JP" dirty="0"/>
                        <a:t>FLS</a:t>
                      </a:r>
                      <a:r>
                        <a:rPr lang="ja-JP" altLang="en-US" dirty="0"/>
                        <a:t>への理解が深まり今後の活動意欲が高まった。</a:t>
                      </a:r>
                      <a:endParaRPr lang="en-US" altLang="ja-JP"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116186090"/>
                  </a:ext>
                </a:extLst>
              </a:tr>
              <a:tr h="421527">
                <a:tc>
                  <a:txBody>
                    <a:bodyPr/>
                    <a:lstStyle/>
                    <a:p>
                      <a:pPr algn="ctr" fontAlgn="b">
                        <a:buNone/>
                      </a:pPr>
                      <a:r>
                        <a:rPr lang="en-US" altLang="ja-JP" sz="1800" b="1" u="none" strike="noStrike" dirty="0">
                          <a:solidFill>
                            <a:srgbClr val="000000"/>
                          </a:solidFill>
                          <a:effectLst/>
                        </a:rPr>
                        <a:t>5</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同じ悩みを共有でき安心感を得られた。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1905789153"/>
                  </a:ext>
                </a:extLst>
              </a:tr>
              <a:tr h="421527">
                <a:tc>
                  <a:txBody>
                    <a:bodyPr/>
                    <a:lstStyle/>
                    <a:p>
                      <a:pPr algn="ctr" fontAlgn="b">
                        <a:buNone/>
                      </a:pPr>
                      <a:r>
                        <a:rPr lang="en-US" altLang="ja-JP" sz="1800" b="1" u="none" strike="noStrike" dirty="0">
                          <a:solidFill>
                            <a:srgbClr val="000000"/>
                          </a:solidFill>
                          <a:effectLst/>
                        </a:rPr>
                        <a:t>6</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研修内容を院内へ持ち帰り共有したいと思えた。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748102509"/>
                  </a:ext>
                </a:extLst>
              </a:tr>
              <a:tr h="421527">
                <a:tc>
                  <a:txBody>
                    <a:bodyPr/>
                    <a:lstStyle/>
                    <a:p>
                      <a:pPr algn="ctr" fontAlgn="b">
                        <a:buNone/>
                      </a:pPr>
                      <a:r>
                        <a:rPr lang="en-US" altLang="ja-JP" sz="1800" b="1" u="none" strike="noStrike" dirty="0">
                          <a:solidFill>
                            <a:srgbClr val="000000"/>
                          </a:solidFill>
                          <a:effectLst/>
                        </a:rPr>
                        <a:t>7</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rtl="0" fontAlgn="ctr">
                        <a:buNone/>
                      </a:pPr>
                      <a:r>
                        <a:rPr lang="ja-JP" altLang="en-US" dirty="0"/>
                        <a:t>自身の知識不足を認識しスキル向上の必要性を感じた。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2874533998"/>
                  </a:ext>
                </a:extLst>
              </a:tr>
              <a:tr h="421527">
                <a:tc>
                  <a:txBody>
                    <a:bodyPr/>
                    <a:lstStyle/>
                    <a:p>
                      <a:pPr algn="ctr" fontAlgn="b">
                        <a:buNone/>
                      </a:pPr>
                      <a:r>
                        <a:rPr lang="en-US" altLang="ja-JP" sz="1800" b="1" u="none" strike="noStrike" dirty="0">
                          <a:solidFill>
                            <a:srgbClr val="000000"/>
                          </a:solidFill>
                          <a:effectLst/>
                        </a:rPr>
                        <a:t>8</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fontAlgn="ctr">
                        <a:buNone/>
                      </a:pPr>
                      <a:r>
                        <a:rPr lang="ja-JP" altLang="en-US" dirty="0"/>
                        <a:t>今後も継続して参加したいと感じる研修であった。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978687493"/>
                  </a:ext>
                </a:extLst>
              </a:tr>
              <a:tr h="421527">
                <a:tc>
                  <a:txBody>
                    <a:bodyPr/>
                    <a:lstStyle/>
                    <a:p>
                      <a:pPr algn="ctr" fontAlgn="b">
                        <a:buNone/>
                      </a:pPr>
                      <a:r>
                        <a:rPr lang="en-US" altLang="ja-JP" sz="1800" b="1" i="0" u="none" strike="noStrike" dirty="0">
                          <a:solidFill>
                            <a:srgbClr val="000000"/>
                          </a:solidFill>
                          <a:effectLst/>
                          <a:latin typeface="+mn-lt"/>
                          <a:ea typeface="+mn-ea"/>
                        </a:rPr>
                        <a:t>9</a:t>
                      </a:r>
                    </a:p>
                  </a:txBody>
                  <a:tcPr marL="6350" marR="6350" marT="635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ja-JP" dirty="0"/>
                        <a:t>FLS</a:t>
                      </a:r>
                      <a:r>
                        <a:rPr lang="ja-JP" altLang="en-US" dirty="0"/>
                        <a:t>の具体的活動事例をさらに知りたいと感じた。</a:t>
                      </a:r>
                      <a:endParaRPr lang="ja-JP" altLang="en-US" sz="1800" b="0" dirty="0">
                        <a:latin typeface="+mn-lt"/>
                      </a:endParaRPr>
                    </a:p>
                  </a:txBody>
                  <a:tcPr marL="6350" marR="6350" marT="6350" marB="0" anchor="ctr"/>
                </a:tc>
                <a:extLst>
                  <a:ext uri="{0D108BD9-81ED-4DB2-BD59-A6C34878D82A}">
                    <a16:rowId xmlns:a16="http://schemas.microsoft.com/office/drawing/2014/main" val="2181310935"/>
                  </a:ext>
                </a:extLst>
              </a:tr>
              <a:tr h="421527">
                <a:tc>
                  <a:txBody>
                    <a:bodyPr/>
                    <a:lstStyle/>
                    <a:p>
                      <a:pPr algn="ctr" fontAlgn="b">
                        <a:buNone/>
                      </a:pPr>
                      <a:r>
                        <a:rPr lang="en-US" altLang="ja-JP" sz="1800" b="1" i="0" u="none" strike="noStrike" dirty="0">
                          <a:solidFill>
                            <a:srgbClr val="000000"/>
                          </a:solidFill>
                          <a:effectLst/>
                          <a:latin typeface="+mn-lt"/>
                          <a:ea typeface="+mn-ea"/>
                        </a:rPr>
                        <a:t>10</a:t>
                      </a:r>
                      <a:endParaRPr lang="ja-JP" altLang="en-US" sz="1800" b="1" i="0" u="none" strike="noStrike" dirty="0">
                        <a:solidFill>
                          <a:srgbClr val="000000"/>
                        </a:solidFill>
                        <a:effectLst/>
                        <a:latin typeface="+mn-lt"/>
                        <a:ea typeface="+mn-ea"/>
                      </a:endParaRPr>
                    </a:p>
                  </a:txBody>
                  <a:tcPr marL="6350" marR="6350" marT="6350" marB="0" anchor="ctr"/>
                </a:tc>
                <a:tc>
                  <a:txBody>
                    <a:bodyPr/>
                    <a:lstStyle/>
                    <a:p>
                      <a:pPr algn="l" fontAlgn="ctr">
                        <a:buNone/>
                      </a:pPr>
                      <a:r>
                        <a:rPr lang="ja-JP" altLang="en-US" dirty="0"/>
                        <a:t>開催場所や会場構成に配慮があるとより良い</a:t>
                      </a:r>
                      <a:r>
                        <a:rPr lang="ja-JP" altLang="en-US"/>
                        <a:t>と感じた。</a:t>
                      </a:r>
                      <a:endParaRPr lang="ja-JP" altLang="en-US" sz="1800" b="0" i="0" u="none" strike="noStrike" dirty="0">
                        <a:solidFill>
                          <a:srgbClr val="000000"/>
                        </a:solidFill>
                        <a:effectLst/>
                        <a:latin typeface="+mn-lt"/>
                        <a:ea typeface="+mn-ea"/>
                      </a:endParaRPr>
                    </a:p>
                  </a:txBody>
                  <a:tcPr marL="6350" marR="6350" marT="6350" marB="0" anchor="ctr"/>
                </a:tc>
                <a:extLst>
                  <a:ext uri="{0D108BD9-81ED-4DB2-BD59-A6C34878D82A}">
                    <a16:rowId xmlns:a16="http://schemas.microsoft.com/office/drawing/2014/main" val="883872972"/>
                  </a:ext>
                </a:extLst>
              </a:tr>
            </a:tbl>
          </a:graphicData>
        </a:graphic>
      </p:graphicFrame>
    </p:spTree>
    <p:extLst>
      <p:ext uri="{BB962C8B-B14F-4D97-AF65-F5344CB8AC3E}">
        <p14:creationId xmlns:p14="http://schemas.microsoft.com/office/powerpoint/2010/main" val="1019207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248C8-853F-6B7E-79BD-6033A66D733F}"/>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ED086D64-2A7E-2EAF-2304-18CB259309AB}"/>
              </a:ext>
            </a:extLst>
          </p:cNvPr>
          <p:cNvSpPr txBox="1"/>
          <p:nvPr/>
        </p:nvSpPr>
        <p:spPr>
          <a:xfrm>
            <a:off x="1058579" y="540150"/>
            <a:ext cx="100748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10</a:t>
            </a:r>
            <a:r>
              <a:rPr kumimoji="1" lang="ja-JP" altLang="en-US" sz="3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段階指標設問サマリー</a:t>
            </a:r>
          </a:p>
        </p:txBody>
      </p:sp>
      <p:graphicFrame>
        <p:nvGraphicFramePr>
          <p:cNvPr id="6" name="表 5">
            <a:extLst>
              <a:ext uri="{FF2B5EF4-FFF2-40B4-BE49-F238E27FC236}">
                <a16:creationId xmlns:a16="http://schemas.microsoft.com/office/drawing/2014/main" id="{33E04CFE-1C6D-8BE4-E174-C7AE918E17BA}"/>
              </a:ext>
            </a:extLst>
          </p:cNvPr>
          <p:cNvGraphicFramePr>
            <a:graphicFrameLocks noGrp="1"/>
          </p:cNvGraphicFramePr>
          <p:nvPr>
            <p:extLst>
              <p:ext uri="{D42A27DB-BD31-4B8C-83A1-F6EECF244321}">
                <p14:modId xmlns:p14="http://schemas.microsoft.com/office/powerpoint/2010/main" val="204241137"/>
              </p:ext>
            </p:extLst>
          </p:nvPr>
        </p:nvGraphicFramePr>
        <p:xfrm>
          <a:off x="442232" y="1547419"/>
          <a:ext cx="11307537" cy="2116241"/>
        </p:xfrm>
        <a:graphic>
          <a:graphicData uri="http://schemas.openxmlformats.org/drawingml/2006/table">
            <a:tbl>
              <a:tblPr firstRow="1" bandRow="1">
                <a:tableStyleId>{5C22544A-7EE6-4342-B048-85BDC9FD1C3A}</a:tableStyleId>
              </a:tblPr>
              <a:tblGrid>
                <a:gridCol w="2826884">
                  <a:extLst>
                    <a:ext uri="{9D8B030D-6E8A-4147-A177-3AD203B41FA5}">
                      <a16:colId xmlns:a16="http://schemas.microsoft.com/office/drawing/2014/main" val="3927135150"/>
                    </a:ext>
                  </a:extLst>
                </a:gridCol>
                <a:gridCol w="2641767">
                  <a:extLst>
                    <a:ext uri="{9D8B030D-6E8A-4147-A177-3AD203B41FA5}">
                      <a16:colId xmlns:a16="http://schemas.microsoft.com/office/drawing/2014/main" val="1604675056"/>
                    </a:ext>
                  </a:extLst>
                </a:gridCol>
                <a:gridCol w="2641767">
                  <a:extLst>
                    <a:ext uri="{9D8B030D-6E8A-4147-A177-3AD203B41FA5}">
                      <a16:colId xmlns:a16="http://schemas.microsoft.com/office/drawing/2014/main" val="3080587633"/>
                    </a:ext>
                  </a:extLst>
                </a:gridCol>
                <a:gridCol w="3197119">
                  <a:extLst>
                    <a:ext uri="{9D8B030D-6E8A-4147-A177-3AD203B41FA5}">
                      <a16:colId xmlns:a16="http://schemas.microsoft.com/office/drawing/2014/main" val="2437138152"/>
                    </a:ext>
                  </a:extLst>
                </a:gridCol>
              </a:tblGrid>
              <a:tr h="714161">
                <a:tc>
                  <a:txBody>
                    <a:bodyPr/>
                    <a:lstStyle/>
                    <a:p>
                      <a:endParaRPr kumimoji="1" lang="ja-JP" altLang="en-US" dirty="0"/>
                    </a:p>
                  </a:txBody>
                  <a:tcPr/>
                </a:tc>
                <a:tc>
                  <a:txBody>
                    <a:bodyPr/>
                    <a:lstStyle/>
                    <a:p>
                      <a:pPr algn="ctr"/>
                      <a:r>
                        <a:rPr kumimoji="1" lang="ja-JP" altLang="en-US" dirty="0"/>
                        <a:t>視聴前平均値</a:t>
                      </a:r>
                    </a:p>
                    <a:p>
                      <a:pPr algn="ctr"/>
                      <a:r>
                        <a:rPr kumimoji="1" lang="ja-JP" altLang="en-US" dirty="0"/>
                        <a:t>（全体の理解度水準）</a:t>
                      </a:r>
                    </a:p>
                  </a:txBody>
                  <a:tcPr/>
                </a:tc>
                <a:tc>
                  <a:txBody>
                    <a:bodyPr/>
                    <a:lstStyle/>
                    <a:p>
                      <a:pPr algn="ctr"/>
                      <a:r>
                        <a:rPr kumimoji="1" lang="ja-JP" altLang="en-US" dirty="0"/>
                        <a:t>中央値</a:t>
                      </a:r>
                      <a:endParaRPr kumimoji="1" lang="en-US" altLang="ja-JP" dirty="0"/>
                    </a:p>
                    <a:p>
                      <a:pPr algn="ctr"/>
                      <a:r>
                        <a:rPr kumimoji="1" lang="ja-JP" altLang="en-US" dirty="0"/>
                        <a:t>（評価の中心値）</a:t>
                      </a:r>
                    </a:p>
                  </a:txBody>
                  <a:tcPr/>
                </a:tc>
                <a:tc>
                  <a:txBody>
                    <a:bodyPr/>
                    <a:lstStyle/>
                    <a:p>
                      <a:pPr algn="ctr"/>
                      <a:r>
                        <a:rPr kumimoji="1" lang="en-US" altLang="ja-JP" dirty="0"/>
                        <a:t>Top2Box</a:t>
                      </a:r>
                    </a:p>
                    <a:p>
                      <a:pPr algn="ctr"/>
                      <a:r>
                        <a:rPr kumimoji="1" lang="ja-JP" altLang="en-US" dirty="0"/>
                        <a:t>（高評価（</a:t>
                      </a:r>
                      <a:r>
                        <a:rPr kumimoji="1" lang="en-US" altLang="ja-JP" dirty="0"/>
                        <a:t>9–10</a:t>
                      </a:r>
                      <a:r>
                        <a:rPr kumimoji="1" lang="ja-JP" altLang="en-US" dirty="0"/>
                        <a:t>点）割合）</a:t>
                      </a:r>
                    </a:p>
                  </a:txBody>
                  <a:tcPr/>
                </a:tc>
                <a:extLst>
                  <a:ext uri="{0D108BD9-81ED-4DB2-BD59-A6C34878D82A}">
                    <a16:rowId xmlns:a16="http://schemas.microsoft.com/office/drawing/2014/main" val="1614262352"/>
                  </a:ext>
                </a:extLst>
              </a:tr>
              <a:tr h="684571">
                <a:tc>
                  <a:txBody>
                    <a:bodyPr/>
                    <a:lstStyle/>
                    <a:p>
                      <a:pPr algn="ctr"/>
                      <a:r>
                        <a:rPr kumimoji="1" lang="ja-JP" altLang="en-US" sz="2000" b="1" dirty="0"/>
                        <a:t>事前</a:t>
                      </a:r>
                      <a:r>
                        <a:rPr kumimoji="1" lang="en-US" altLang="ja-JP" sz="2000" b="1" dirty="0"/>
                        <a:t>web</a:t>
                      </a:r>
                      <a:r>
                        <a:rPr kumimoji="1" lang="ja-JP" altLang="en-US" sz="2000" b="1" dirty="0"/>
                        <a:t>講義</a:t>
                      </a:r>
                      <a:endParaRPr kumimoji="1" lang="en-US" altLang="ja-JP" sz="2000" b="1" dirty="0"/>
                    </a:p>
                    <a:p>
                      <a:pPr algn="ctr"/>
                      <a:r>
                        <a:rPr kumimoji="1" lang="ja-JP" altLang="en-US" sz="2000" b="1" dirty="0"/>
                        <a:t>理解度</a:t>
                      </a:r>
                    </a:p>
                  </a:txBody>
                  <a:tcPr anchor="ctr"/>
                </a:tc>
                <a:tc>
                  <a:txBody>
                    <a:bodyPr/>
                    <a:lstStyle/>
                    <a:p>
                      <a:pPr algn="ctr"/>
                      <a:r>
                        <a:rPr kumimoji="1" lang="en-US" altLang="ja-JP" sz="2000" b="1" dirty="0">
                          <a:solidFill>
                            <a:srgbClr val="FF0000"/>
                          </a:solidFill>
                        </a:rPr>
                        <a:t>9.10</a:t>
                      </a:r>
                      <a:br>
                        <a:rPr kumimoji="1" lang="en-US" altLang="ja-JP" sz="2000" b="1" dirty="0">
                          <a:solidFill>
                            <a:srgbClr val="FF0000"/>
                          </a:solidFill>
                        </a:rPr>
                      </a:br>
                      <a:r>
                        <a:rPr kumimoji="1" lang="ja-JP" altLang="en-US" sz="2000" b="1" dirty="0">
                          <a:solidFill>
                            <a:srgbClr val="FF0000"/>
                          </a:solidFill>
                        </a:rPr>
                        <a:t>（</a:t>
                      </a:r>
                      <a:r>
                        <a:rPr kumimoji="1" lang="en-US" altLang="ja-JP" sz="2000" b="1" dirty="0">
                          <a:solidFill>
                            <a:srgbClr val="FF0000"/>
                          </a:solidFill>
                        </a:rPr>
                        <a:t>0.4</a:t>
                      </a:r>
                      <a:r>
                        <a:rPr kumimoji="1" lang="ja-JP" altLang="en-US" sz="2000" b="1" dirty="0">
                          <a:solidFill>
                            <a:srgbClr val="FF0000"/>
                          </a:solidFill>
                        </a:rPr>
                        <a:t>点向上）</a:t>
                      </a:r>
                    </a:p>
                  </a:txBody>
                  <a:tcPr anchor="ctr"/>
                </a:tc>
                <a:tc>
                  <a:txBody>
                    <a:bodyPr/>
                    <a:lstStyle/>
                    <a:p>
                      <a:pPr algn="ctr"/>
                      <a:r>
                        <a:rPr kumimoji="1" lang="en-US" altLang="ja-JP" sz="2000" b="1" dirty="0">
                          <a:solidFill>
                            <a:srgbClr val="FF0000"/>
                          </a:solidFill>
                        </a:rPr>
                        <a:t>9</a:t>
                      </a:r>
                      <a:endParaRPr kumimoji="1" lang="ja-JP" altLang="en-US" sz="2000" b="1" dirty="0">
                        <a:solidFill>
                          <a:srgbClr val="FF0000"/>
                        </a:solidFill>
                      </a:endParaRPr>
                    </a:p>
                  </a:txBody>
                  <a:tcPr anchor="ctr"/>
                </a:tc>
                <a:tc>
                  <a:txBody>
                    <a:bodyPr/>
                    <a:lstStyle/>
                    <a:p>
                      <a:pPr algn="ctr"/>
                      <a:r>
                        <a:rPr kumimoji="1" lang="en-US" altLang="ja-JP" sz="2000" b="1" dirty="0">
                          <a:solidFill>
                            <a:srgbClr val="FF0000"/>
                          </a:solidFill>
                        </a:rPr>
                        <a:t>72.7%</a:t>
                      </a:r>
                    </a:p>
                    <a:p>
                      <a:pPr algn="ctr"/>
                      <a:r>
                        <a:rPr kumimoji="1" lang="ja-JP" altLang="en-US" sz="2000" b="1" dirty="0">
                          <a:solidFill>
                            <a:srgbClr val="FF0000"/>
                          </a:solidFill>
                        </a:rPr>
                        <a:t>（</a:t>
                      </a:r>
                      <a:r>
                        <a:rPr kumimoji="1" lang="en-US" altLang="ja-JP" sz="2000" b="1" dirty="0">
                          <a:solidFill>
                            <a:srgbClr val="FF0000"/>
                          </a:solidFill>
                        </a:rPr>
                        <a:t>20</a:t>
                      </a:r>
                      <a:r>
                        <a:rPr kumimoji="1" lang="ja-JP" altLang="en-US" sz="2000" b="1" dirty="0">
                          <a:solidFill>
                            <a:srgbClr val="FF0000"/>
                          </a:solidFill>
                        </a:rPr>
                        <a:t>％向上）</a:t>
                      </a:r>
                    </a:p>
                  </a:txBody>
                  <a:tcPr anchor="ctr"/>
                </a:tc>
                <a:extLst>
                  <a:ext uri="{0D108BD9-81ED-4DB2-BD59-A6C34878D82A}">
                    <a16:rowId xmlns:a16="http://schemas.microsoft.com/office/drawing/2014/main" val="4288103438"/>
                  </a:ext>
                </a:extLst>
              </a:tr>
              <a:tr h="684571">
                <a:tc>
                  <a:txBody>
                    <a:bodyPr/>
                    <a:lstStyle/>
                    <a:p>
                      <a:pPr algn="ctr"/>
                      <a:r>
                        <a:rPr kumimoji="1" lang="ja-JP" altLang="en-US" sz="2000" b="1" dirty="0"/>
                        <a:t>グループワーク</a:t>
                      </a:r>
                      <a:endParaRPr kumimoji="1" lang="en-US" altLang="ja-JP" sz="2000" b="1" dirty="0"/>
                    </a:p>
                    <a:p>
                      <a:pPr algn="ctr"/>
                      <a:r>
                        <a:rPr kumimoji="1" lang="ja-JP" altLang="en-US" sz="2000" b="1" dirty="0"/>
                        <a:t>満足度</a:t>
                      </a:r>
                      <a:endParaRPr kumimoji="1" lang="en-US" altLang="ja-JP" sz="2000" b="1" dirty="0"/>
                    </a:p>
                  </a:txBody>
                  <a:tcPr anchor="ctr"/>
                </a:tc>
                <a:tc>
                  <a:txBody>
                    <a:bodyPr/>
                    <a:lstStyle/>
                    <a:p>
                      <a:pPr algn="ctr"/>
                      <a:r>
                        <a:rPr kumimoji="1" lang="en-US" altLang="ja-JP" sz="2000" b="1" dirty="0">
                          <a:solidFill>
                            <a:srgbClr val="FF0000"/>
                          </a:solidFill>
                        </a:rPr>
                        <a:t>9.35</a:t>
                      </a:r>
                    </a:p>
                    <a:p>
                      <a:pPr algn="ctr"/>
                      <a:r>
                        <a:rPr kumimoji="1" lang="ja-JP" altLang="en-US" sz="2000" b="1" dirty="0">
                          <a:solidFill>
                            <a:srgbClr val="FF0000"/>
                          </a:solidFill>
                        </a:rPr>
                        <a:t>（</a:t>
                      </a:r>
                      <a:r>
                        <a:rPr kumimoji="1" lang="en-US" altLang="ja-JP" sz="2000" b="1" dirty="0">
                          <a:solidFill>
                            <a:srgbClr val="FF0000"/>
                          </a:solidFill>
                        </a:rPr>
                        <a:t>0.25</a:t>
                      </a:r>
                      <a:r>
                        <a:rPr kumimoji="1" lang="ja-JP" altLang="en-US" sz="2000" b="1" dirty="0">
                          <a:solidFill>
                            <a:srgbClr val="FF0000"/>
                          </a:solidFill>
                        </a:rPr>
                        <a:t>点向上）</a:t>
                      </a:r>
                    </a:p>
                  </a:txBody>
                  <a:tcPr anchor="ctr"/>
                </a:tc>
                <a:tc>
                  <a:txBody>
                    <a:bodyPr/>
                    <a:lstStyle/>
                    <a:p>
                      <a:pPr algn="ctr"/>
                      <a:r>
                        <a:rPr kumimoji="1" lang="en-US" altLang="ja-JP" sz="2000" b="1" dirty="0">
                          <a:solidFill>
                            <a:srgbClr val="FF0000"/>
                          </a:solidFill>
                        </a:rPr>
                        <a:t>10</a:t>
                      </a:r>
                    </a:p>
                    <a:p>
                      <a:pPr algn="ctr"/>
                      <a:r>
                        <a:rPr kumimoji="1" lang="ja-JP" altLang="en-US" sz="2000" b="1" dirty="0">
                          <a:solidFill>
                            <a:srgbClr val="FF0000"/>
                          </a:solidFill>
                        </a:rPr>
                        <a:t>（</a:t>
                      </a:r>
                      <a:r>
                        <a:rPr kumimoji="1" lang="en-US" altLang="ja-JP" sz="2000" b="1" dirty="0">
                          <a:solidFill>
                            <a:srgbClr val="FF0000"/>
                          </a:solidFill>
                        </a:rPr>
                        <a:t>1</a:t>
                      </a:r>
                      <a:r>
                        <a:rPr kumimoji="1" lang="ja-JP" altLang="en-US" sz="2000" b="1" dirty="0">
                          <a:solidFill>
                            <a:srgbClr val="FF0000"/>
                          </a:solidFill>
                        </a:rPr>
                        <a:t>点向上）</a:t>
                      </a:r>
                    </a:p>
                  </a:txBody>
                  <a:tcPr anchor="ctr"/>
                </a:tc>
                <a:tc>
                  <a:txBody>
                    <a:bodyPr/>
                    <a:lstStyle/>
                    <a:p>
                      <a:pPr algn="ctr"/>
                      <a:r>
                        <a:rPr kumimoji="1" lang="en-US" altLang="ja-JP" sz="2000" b="1" dirty="0">
                          <a:solidFill>
                            <a:srgbClr val="FF0000"/>
                          </a:solidFill>
                        </a:rPr>
                        <a:t>80.5%</a:t>
                      </a:r>
                    </a:p>
                    <a:p>
                      <a:pPr algn="ctr"/>
                      <a:r>
                        <a:rPr kumimoji="1" lang="ja-JP" altLang="en-US" sz="2000" b="1" dirty="0">
                          <a:solidFill>
                            <a:srgbClr val="FF0000"/>
                          </a:solidFill>
                        </a:rPr>
                        <a:t>（</a:t>
                      </a:r>
                      <a:r>
                        <a:rPr kumimoji="1" lang="en-US" altLang="ja-JP" sz="2000" b="1" dirty="0">
                          <a:solidFill>
                            <a:srgbClr val="FF0000"/>
                          </a:solidFill>
                        </a:rPr>
                        <a:t>12.9</a:t>
                      </a:r>
                      <a:r>
                        <a:rPr kumimoji="1" lang="ja-JP" altLang="en-US" sz="2000" b="1" dirty="0">
                          <a:solidFill>
                            <a:srgbClr val="FF0000"/>
                          </a:solidFill>
                        </a:rPr>
                        <a:t>％向上）</a:t>
                      </a:r>
                    </a:p>
                  </a:txBody>
                  <a:tcPr anchor="ctr"/>
                </a:tc>
                <a:extLst>
                  <a:ext uri="{0D108BD9-81ED-4DB2-BD59-A6C34878D82A}">
                    <a16:rowId xmlns:a16="http://schemas.microsoft.com/office/drawing/2014/main" val="3131488315"/>
                  </a:ext>
                </a:extLst>
              </a:tr>
            </a:tbl>
          </a:graphicData>
        </a:graphic>
      </p:graphicFrame>
      <p:sp>
        <p:nvSpPr>
          <p:cNvPr id="9" name="テキスト ボックス 8">
            <a:extLst>
              <a:ext uri="{FF2B5EF4-FFF2-40B4-BE49-F238E27FC236}">
                <a16:creationId xmlns:a16="http://schemas.microsoft.com/office/drawing/2014/main" id="{121AF2D2-8B42-51E3-940B-05D0A49E08CE}"/>
              </a:ext>
            </a:extLst>
          </p:cNvPr>
          <p:cNvSpPr txBox="1"/>
          <p:nvPr/>
        </p:nvSpPr>
        <p:spPr>
          <a:xfrm>
            <a:off x="442232" y="3910198"/>
            <a:ext cx="5578408" cy="2554545"/>
          </a:xfrm>
          <a:prstGeom prst="rect">
            <a:avLst/>
          </a:prstGeom>
          <a:noFill/>
          <a:ln>
            <a:solidFill>
              <a:schemeClr val="accent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平均値（全体の理解度水準）</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参加者全体の評価平均であり、講義全体の理解度・納得度を示す基本指標。</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中央値（評価の中心値）</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評価分布の中心を示し、参加者の典型的な評価傾向を把握。</a:t>
            </a:r>
            <a:b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平均値だけでは判断しづらい分布の偏りを補完。</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en-US" altLang="ja-JP"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Top2Box</a:t>
            </a:r>
            <a:r>
              <a:rPr kumimoji="1" lang="ja-JP" altLang="en-US" sz="1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（高評価層の割合）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9</a:t>
            </a: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en-US" altLang="ja-JP"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10</a:t>
            </a: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点を選択した参加者の割合。</a:t>
            </a:r>
            <a:b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6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講義内容に対する“強い理解・高い満足度”を示す層の厚みを評価。</a:t>
            </a:r>
          </a:p>
        </p:txBody>
      </p:sp>
      <p:sp>
        <p:nvSpPr>
          <p:cNvPr id="3" name="テキスト ボックス 2">
            <a:extLst>
              <a:ext uri="{FF2B5EF4-FFF2-40B4-BE49-F238E27FC236}">
                <a16:creationId xmlns:a16="http://schemas.microsoft.com/office/drawing/2014/main" id="{A7BC5F12-3BB9-9DF0-B152-471C2F675320}"/>
              </a:ext>
            </a:extLst>
          </p:cNvPr>
          <p:cNvSpPr txBox="1"/>
          <p:nvPr/>
        </p:nvSpPr>
        <p:spPr>
          <a:xfrm>
            <a:off x="6171362" y="3939873"/>
            <a:ext cx="609391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＜参考＞</a:t>
            </a:r>
            <a:r>
              <a:rPr lang="ja-JP" altLang="en-US" b="1" dirty="0">
                <a:solidFill>
                  <a:prstClr val="black"/>
                </a:solidFill>
                <a:latin typeface="游ゴシック" panose="020F0502020204030204"/>
                <a:ea typeface="游ゴシック" panose="020B0400000000000000" pitchFamily="50" charset="-128"/>
              </a:rPr>
              <a:t>第</a:t>
            </a:r>
            <a:r>
              <a:rPr lang="en-US" altLang="ja-JP" b="1" dirty="0">
                <a:solidFill>
                  <a:prstClr val="black"/>
                </a:solidFill>
                <a:latin typeface="游ゴシック" panose="020F0502020204030204"/>
                <a:ea typeface="游ゴシック" panose="020B0400000000000000" pitchFamily="50" charset="-128"/>
              </a:rPr>
              <a:t>6</a:t>
            </a:r>
            <a:r>
              <a:rPr lang="ja-JP" altLang="en-US" b="1" dirty="0">
                <a:solidFill>
                  <a:prstClr val="black"/>
                </a:solidFill>
                <a:latin typeface="游ゴシック" panose="020F0502020204030204"/>
                <a:ea typeface="游ゴシック" panose="020B0400000000000000" pitchFamily="50" charset="-128"/>
              </a:rPr>
              <a:t>回研修会（仙台）開催時</a:t>
            </a: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との比較</a:t>
            </a: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aphicFrame>
        <p:nvGraphicFramePr>
          <p:cNvPr id="4" name="表 3">
            <a:extLst>
              <a:ext uri="{FF2B5EF4-FFF2-40B4-BE49-F238E27FC236}">
                <a16:creationId xmlns:a16="http://schemas.microsoft.com/office/drawing/2014/main" id="{92E92DFD-AA0D-9BE1-C544-8A257D7FE2A0}"/>
              </a:ext>
            </a:extLst>
          </p:cNvPr>
          <p:cNvGraphicFramePr>
            <a:graphicFrameLocks noGrp="1"/>
          </p:cNvGraphicFramePr>
          <p:nvPr>
            <p:extLst>
              <p:ext uri="{D42A27DB-BD31-4B8C-83A1-F6EECF244321}">
                <p14:modId xmlns:p14="http://schemas.microsoft.com/office/powerpoint/2010/main" val="368986875"/>
              </p:ext>
            </p:extLst>
          </p:nvPr>
        </p:nvGraphicFramePr>
        <p:xfrm>
          <a:off x="6171362" y="4384751"/>
          <a:ext cx="5452790" cy="1927860"/>
        </p:xfrm>
        <a:graphic>
          <a:graphicData uri="http://schemas.openxmlformats.org/drawingml/2006/table">
            <a:tbl>
              <a:tblPr firstRow="1" bandRow="1">
                <a:tableStyleId>{5C22544A-7EE6-4342-B048-85BDC9FD1C3A}</a:tableStyleId>
              </a:tblPr>
              <a:tblGrid>
                <a:gridCol w="930896">
                  <a:extLst>
                    <a:ext uri="{9D8B030D-6E8A-4147-A177-3AD203B41FA5}">
                      <a16:colId xmlns:a16="http://schemas.microsoft.com/office/drawing/2014/main" val="3927135150"/>
                    </a:ext>
                  </a:extLst>
                </a:gridCol>
                <a:gridCol w="1507298">
                  <a:extLst>
                    <a:ext uri="{9D8B030D-6E8A-4147-A177-3AD203B41FA5}">
                      <a16:colId xmlns:a16="http://schemas.microsoft.com/office/drawing/2014/main" val="1604675056"/>
                    </a:ext>
                  </a:extLst>
                </a:gridCol>
                <a:gridCol w="1507298">
                  <a:extLst>
                    <a:ext uri="{9D8B030D-6E8A-4147-A177-3AD203B41FA5}">
                      <a16:colId xmlns:a16="http://schemas.microsoft.com/office/drawing/2014/main" val="3080587633"/>
                    </a:ext>
                  </a:extLst>
                </a:gridCol>
                <a:gridCol w="1507298">
                  <a:extLst>
                    <a:ext uri="{9D8B030D-6E8A-4147-A177-3AD203B41FA5}">
                      <a16:colId xmlns:a16="http://schemas.microsoft.com/office/drawing/2014/main" val="2437138152"/>
                    </a:ext>
                  </a:extLst>
                </a:gridCol>
              </a:tblGrid>
              <a:tr h="320691">
                <a:tc>
                  <a:txBody>
                    <a:bodyPr/>
                    <a:lstStyle/>
                    <a:p>
                      <a:endParaRPr kumimoji="1" lang="ja-JP" altLang="en-US" sz="1050" dirty="0"/>
                    </a:p>
                  </a:txBody>
                  <a:tcPr/>
                </a:tc>
                <a:tc>
                  <a:txBody>
                    <a:bodyPr/>
                    <a:lstStyle/>
                    <a:p>
                      <a:pPr algn="ctr"/>
                      <a:r>
                        <a:rPr kumimoji="1" lang="ja-JP" altLang="en-US" sz="1050" dirty="0"/>
                        <a:t>平均</a:t>
                      </a:r>
                      <a:endParaRPr kumimoji="1" lang="en-US" altLang="ja-JP" sz="1050" dirty="0"/>
                    </a:p>
                    <a:p>
                      <a:pPr algn="ctr"/>
                      <a:r>
                        <a:rPr kumimoji="1" lang="ja-JP" altLang="en-US" sz="1050" dirty="0"/>
                        <a:t>（全体の理解度水準）</a:t>
                      </a:r>
                    </a:p>
                  </a:txBody>
                  <a:tcPr marL="0" marR="0" marT="0" marB="0" anchor="ctr"/>
                </a:tc>
                <a:tc>
                  <a:txBody>
                    <a:bodyPr/>
                    <a:lstStyle/>
                    <a:p>
                      <a:pPr algn="ctr"/>
                      <a:r>
                        <a:rPr kumimoji="1" lang="ja-JP" altLang="en-US" sz="1050" dirty="0"/>
                        <a:t>中央値</a:t>
                      </a:r>
                      <a:endParaRPr kumimoji="1" lang="en-US" altLang="ja-JP" sz="1050" dirty="0"/>
                    </a:p>
                    <a:p>
                      <a:pPr algn="ctr"/>
                      <a:r>
                        <a:rPr kumimoji="1" lang="ja-JP" altLang="en-US" sz="1050" dirty="0"/>
                        <a:t>（評価の中心値）</a:t>
                      </a:r>
                    </a:p>
                  </a:txBody>
                  <a:tcPr marL="0" marR="0" marT="0" marB="0" anchor="ctr"/>
                </a:tc>
                <a:tc>
                  <a:txBody>
                    <a:bodyPr/>
                    <a:lstStyle/>
                    <a:p>
                      <a:pPr algn="ctr"/>
                      <a:r>
                        <a:rPr kumimoji="1" lang="en-US" altLang="ja-JP" sz="1050" dirty="0"/>
                        <a:t>Top2Box</a:t>
                      </a:r>
                    </a:p>
                    <a:p>
                      <a:pPr algn="ctr"/>
                      <a:r>
                        <a:rPr kumimoji="1" lang="ja-JP" altLang="en-US" sz="1050" dirty="0"/>
                        <a:t>（高評価（</a:t>
                      </a:r>
                      <a:r>
                        <a:rPr kumimoji="1" lang="en-US" altLang="ja-JP" sz="1050" dirty="0"/>
                        <a:t>9–10</a:t>
                      </a:r>
                      <a:r>
                        <a:rPr kumimoji="1" lang="ja-JP" altLang="en-US" sz="1050" dirty="0"/>
                        <a:t>点）</a:t>
                      </a:r>
                      <a:br>
                        <a:rPr kumimoji="1" lang="en-US" altLang="ja-JP" sz="1050" dirty="0"/>
                      </a:br>
                      <a:r>
                        <a:rPr kumimoji="1" lang="ja-JP" altLang="en-US" sz="1050" dirty="0"/>
                        <a:t>割合）</a:t>
                      </a:r>
                    </a:p>
                  </a:txBody>
                  <a:tcPr marL="0" marR="0" marT="0" marB="0" anchor="ctr"/>
                </a:tc>
                <a:extLst>
                  <a:ext uri="{0D108BD9-81ED-4DB2-BD59-A6C34878D82A}">
                    <a16:rowId xmlns:a16="http://schemas.microsoft.com/office/drawing/2014/main" val="1614262352"/>
                  </a:ext>
                </a:extLst>
              </a:tr>
              <a:tr h="314799">
                <a:tc>
                  <a:txBody>
                    <a:bodyPr/>
                    <a:lstStyle/>
                    <a:p>
                      <a:pPr algn="ctr"/>
                      <a:r>
                        <a:rPr kumimoji="1" lang="ja-JP" altLang="en-US" sz="1100" b="1" dirty="0"/>
                        <a:t>第一部講義</a:t>
                      </a:r>
                      <a:endParaRPr kumimoji="1" lang="en-US" altLang="ja-JP" sz="1100" b="1" dirty="0"/>
                    </a:p>
                    <a:p>
                      <a:pPr algn="ctr"/>
                      <a:r>
                        <a:rPr kumimoji="1" lang="ja-JP" altLang="en-US" sz="1100" b="1" dirty="0"/>
                        <a:t>理解度</a:t>
                      </a:r>
                    </a:p>
                  </a:txBody>
                  <a:tcPr anchor="ctr"/>
                </a:tc>
                <a:tc>
                  <a:txBody>
                    <a:bodyPr/>
                    <a:lstStyle/>
                    <a:p>
                      <a:pPr algn="ctr"/>
                      <a:r>
                        <a:rPr kumimoji="1" lang="en-US" altLang="ja-JP" sz="1600" b="1" dirty="0"/>
                        <a:t>8.7</a:t>
                      </a:r>
                      <a:endParaRPr kumimoji="1" lang="ja-JP" altLang="en-US" sz="1600" b="1" dirty="0"/>
                    </a:p>
                  </a:txBody>
                  <a:tcPr anchor="ctr"/>
                </a:tc>
                <a:tc>
                  <a:txBody>
                    <a:bodyPr/>
                    <a:lstStyle/>
                    <a:p>
                      <a:pPr algn="ctr"/>
                      <a:r>
                        <a:rPr kumimoji="1" lang="en-US" altLang="ja-JP" sz="1600" b="1" dirty="0"/>
                        <a:t>9</a:t>
                      </a:r>
                      <a:endParaRPr kumimoji="1" lang="ja-JP" altLang="en-US" sz="1600" b="1" dirty="0"/>
                    </a:p>
                  </a:txBody>
                  <a:tcPr anchor="ctr"/>
                </a:tc>
                <a:tc>
                  <a:txBody>
                    <a:bodyPr/>
                    <a:lstStyle/>
                    <a:p>
                      <a:pPr algn="ctr"/>
                      <a:r>
                        <a:rPr kumimoji="1" lang="en-US" altLang="ja-JP" sz="1600" b="1" dirty="0"/>
                        <a:t>52.7%</a:t>
                      </a:r>
                      <a:endParaRPr kumimoji="1" lang="ja-JP" altLang="en-US" sz="1600" b="1" dirty="0"/>
                    </a:p>
                  </a:txBody>
                  <a:tcPr anchor="ctr"/>
                </a:tc>
                <a:extLst>
                  <a:ext uri="{0D108BD9-81ED-4DB2-BD59-A6C34878D82A}">
                    <a16:rowId xmlns:a16="http://schemas.microsoft.com/office/drawing/2014/main" val="4288103438"/>
                  </a:ext>
                </a:extLst>
              </a:tr>
              <a:tr h="314799">
                <a:tc>
                  <a:txBody>
                    <a:bodyPr/>
                    <a:lstStyle/>
                    <a:p>
                      <a:pPr algn="ctr"/>
                      <a:r>
                        <a:rPr kumimoji="1" lang="ja-JP" altLang="en-US" sz="1100" b="1" dirty="0"/>
                        <a:t>第二部講義</a:t>
                      </a:r>
                      <a:endParaRPr kumimoji="1" lang="en-US" altLang="ja-JP" sz="1100" b="1" dirty="0"/>
                    </a:p>
                    <a:p>
                      <a:pPr algn="ctr"/>
                      <a:r>
                        <a:rPr kumimoji="1" lang="ja-JP" altLang="en-US" sz="1100" b="1" dirty="0"/>
                        <a:t>理解度</a:t>
                      </a:r>
                    </a:p>
                  </a:txBody>
                  <a:tcPr anchor="ctr"/>
                </a:tc>
                <a:tc>
                  <a:txBody>
                    <a:bodyPr/>
                    <a:lstStyle/>
                    <a:p>
                      <a:pPr algn="ctr"/>
                      <a:r>
                        <a:rPr kumimoji="1" lang="en-US" altLang="ja-JP" sz="1600" b="1" dirty="0"/>
                        <a:t>8.6</a:t>
                      </a:r>
                      <a:endParaRPr kumimoji="1" lang="ja-JP" altLang="en-US" sz="1600" b="1" dirty="0"/>
                    </a:p>
                  </a:txBody>
                  <a:tcPr anchor="ctr"/>
                </a:tc>
                <a:tc>
                  <a:txBody>
                    <a:bodyPr/>
                    <a:lstStyle/>
                    <a:p>
                      <a:pPr algn="ctr"/>
                      <a:r>
                        <a:rPr kumimoji="1" lang="en-US" altLang="ja-JP" sz="1600" b="1" dirty="0"/>
                        <a:t>9</a:t>
                      </a:r>
                      <a:endParaRPr kumimoji="1" lang="ja-JP" altLang="en-US" sz="1600" b="1" dirty="0"/>
                    </a:p>
                  </a:txBody>
                  <a:tcPr anchor="ctr"/>
                </a:tc>
                <a:tc>
                  <a:txBody>
                    <a:bodyPr/>
                    <a:lstStyle/>
                    <a:p>
                      <a:pPr algn="ctr"/>
                      <a:r>
                        <a:rPr kumimoji="1" lang="en-US" altLang="ja-JP" sz="1600" b="1" dirty="0"/>
                        <a:t>51.4%</a:t>
                      </a:r>
                      <a:endParaRPr kumimoji="1" lang="ja-JP" altLang="en-US" sz="1600" b="1" dirty="0"/>
                    </a:p>
                  </a:txBody>
                  <a:tcPr anchor="ctr"/>
                </a:tc>
                <a:extLst>
                  <a:ext uri="{0D108BD9-81ED-4DB2-BD59-A6C34878D82A}">
                    <a16:rowId xmlns:a16="http://schemas.microsoft.com/office/drawing/2014/main" val="3131488315"/>
                  </a:ext>
                </a:extLst>
              </a:tr>
              <a:tr h="314799">
                <a:tc>
                  <a:txBody>
                    <a:bodyPr/>
                    <a:lstStyle/>
                    <a:p>
                      <a:pPr algn="ctr"/>
                      <a:r>
                        <a:rPr kumimoji="1" lang="ja-JP" altLang="en-US" sz="1100" b="1" dirty="0"/>
                        <a:t>グループワーク</a:t>
                      </a:r>
                      <a:endParaRPr kumimoji="1" lang="en-US" altLang="ja-JP" sz="1100" b="1" dirty="0"/>
                    </a:p>
                    <a:p>
                      <a:pPr algn="ctr"/>
                      <a:r>
                        <a:rPr kumimoji="1" lang="ja-JP" altLang="en-US" sz="1100" b="1" dirty="0"/>
                        <a:t>満足度</a:t>
                      </a:r>
                    </a:p>
                  </a:txBody>
                  <a:tcPr anchor="ctr"/>
                </a:tc>
                <a:tc>
                  <a:txBody>
                    <a:bodyPr/>
                    <a:lstStyle/>
                    <a:p>
                      <a:pPr algn="ctr"/>
                      <a:r>
                        <a:rPr kumimoji="1" lang="en-US" altLang="ja-JP" sz="1600" b="1" dirty="0"/>
                        <a:t>9.1</a:t>
                      </a:r>
                      <a:endParaRPr kumimoji="1" lang="ja-JP" altLang="en-US" sz="1600" b="1" dirty="0"/>
                    </a:p>
                  </a:txBody>
                  <a:tcPr anchor="ctr"/>
                </a:tc>
                <a:tc>
                  <a:txBody>
                    <a:bodyPr/>
                    <a:lstStyle/>
                    <a:p>
                      <a:pPr algn="ctr"/>
                      <a:r>
                        <a:rPr kumimoji="1" lang="en-US" altLang="ja-JP" sz="1600" b="1" dirty="0"/>
                        <a:t>10</a:t>
                      </a:r>
                      <a:endParaRPr kumimoji="1" lang="ja-JP" altLang="en-US" sz="1600" b="1" dirty="0"/>
                    </a:p>
                  </a:txBody>
                  <a:tcPr anchor="ctr"/>
                </a:tc>
                <a:tc>
                  <a:txBody>
                    <a:bodyPr/>
                    <a:lstStyle/>
                    <a:p>
                      <a:pPr algn="ctr"/>
                      <a:r>
                        <a:rPr kumimoji="1" lang="en-US" altLang="ja-JP" sz="1600" b="1" dirty="0"/>
                        <a:t>67.6%</a:t>
                      </a:r>
                      <a:endParaRPr kumimoji="1" lang="ja-JP" altLang="en-US" sz="1600" b="1" dirty="0"/>
                    </a:p>
                  </a:txBody>
                  <a:tcPr anchor="ctr"/>
                </a:tc>
                <a:extLst>
                  <a:ext uri="{0D108BD9-81ED-4DB2-BD59-A6C34878D82A}">
                    <a16:rowId xmlns:a16="http://schemas.microsoft.com/office/drawing/2014/main" val="1627271060"/>
                  </a:ext>
                </a:extLst>
              </a:tr>
            </a:tbl>
          </a:graphicData>
        </a:graphic>
      </p:graphicFrame>
    </p:spTree>
    <p:extLst>
      <p:ext uri="{BB962C8B-B14F-4D97-AF65-F5344CB8AC3E}">
        <p14:creationId xmlns:p14="http://schemas.microsoft.com/office/powerpoint/2010/main" val="3597940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52D53-5D06-26CA-C724-3C0A1441F194}"/>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259F149F-A815-4B2A-D7BA-95F0C83F5E1A}"/>
              </a:ext>
            </a:extLst>
          </p:cNvPr>
          <p:cNvSpPr txBox="1"/>
          <p:nvPr/>
        </p:nvSpPr>
        <p:spPr>
          <a:xfrm>
            <a:off x="1058577" y="572553"/>
            <a:ext cx="10074841"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3600" b="1" dirty="0">
                <a:solidFill>
                  <a:prstClr val="black"/>
                </a:solidFill>
                <a:latin typeface="游ゴシック" panose="020F0502020204030204"/>
                <a:ea typeface="游ゴシック" panose="020B0400000000000000" pitchFamily="50" charset="-128"/>
              </a:rPr>
              <a:t>受講前後における理解度の変化</a:t>
            </a:r>
            <a:endParaRPr kumimoji="1" lang="ja-JP" altLang="en-US" sz="3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9" name="テキスト ボックス 8">
            <a:extLst>
              <a:ext uri="{FF2B5EF4-FFF2-40B4-BE49-F238E27FC236}">
                <a16:creationId xmlns:a16="http://schemas.microsoft.com/office/drawing/2014/main" id="{18C8858D-63BB-5AE2-4738-0F2B2AC174BB}"/>
              </a:ext>
            </a:extLst>
          </p:cNvPr>
          <p:cNvSpPr txBox="1"/>
          <p:nvPr/>
        </p:nvSpPr>
        <p:spPr>
          <a:xfrm>
            <a:off x="589896" y="4806993"/>
            <a:ext cx="11012208" cy="2308324"/>
          </a:xfrm>
          <a:prstGeom prst="rect">
            <a:avLst/>
          </a:prstGeom>
          <a:noFill/>
        </p:spPr>
        <p:txBody>
          <a:bodyPr wrap="square" numCol="3">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平均値（全体の理解度水準）</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参加者全体の評価平均であり、</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講義全体の理解度・納得度</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を示す基本指標。</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ja-JP" b="1" dirty="0">
              <a:solidFill>
                <a:prstClr val="black"/>
              </a:solidFill>
              <a:latin typeface="游ゴシック" panose="020F0502020204030204"/>
              <a:ea typeface="游ゴシック" panose="020B0400000000000000"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中央値（評価の中心値）</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評価分布の中心を示し、</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参加者の典型的な評価傾向を把握。</a:t>
            </a:r>
            <a:b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平均値だけでは判断しづらい</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分布の偏りを補完。</a:t>
            </a:r>
            <a:endPar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ja-JP" dirty="0">
              <a:solidFill>
                <a:prstClr val="black"/>
              </a:solidFill>
              <a:latin typeface="游ゴシック" panose="020F0502020204030204"/>
              <a:ea typeface="游ゴシック" panose="020B0400000000000000"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 </a:t>
            </a:r>
            <a:r>
              <a:rPr kumimoji="1" lang="en-US" altLang="ja-JP"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Top2Box</a:t>
            </a:r>
            <a:r>
              <a:rPr kumimoji="1" lang="ja-JP" altLang="en-US" sz="1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（高評価層の割合）</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9</a:t>
            </a: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a:t>
            </a:r>
            <a: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10</a:t>
            </a: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点を選択した参加者の割合。</a:t>
            </a:r>
            <a:b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講義内容に対する</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“強い理解・高い満足度”</a:t>
            </a:r>
            <a:br>
              <a:rPr kumimoji="1" lang="en-US" altLang="ja-JP"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br>
            <a:r>
              <a:rPr kumimoji="1" lang="ja-JP" altLang="en-US" sz="1800" b="0"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rPr>
              <a:t>を示す層の厚みを評価。</a:t>
            </a:r>
          </a:p>
        </p:txBody>
      </p:sp>
      <p:graphicFrame>
        <p:nvGraphicFramePr>
          <p:cNvPr id="2" name="表 1">
            <a:extLst>
              <a:ext uri="{FF2B5EF4-FFF2-40B4-BE49-F238E27FC236}">
                <a16:creationId xmlns:a16="http://schemas.microsoft.com/office/drawing/2014/main" id="{D7FFAF70-26ED-EAAE-C1EB-BB1376BEC5F3}"/>
              </a:ext>
            </a:extLst>
          </p:cNvPr>
          <p:cNvGraphicFramePr>
            <a:graphicFrameLocks noGrp="1"/>
          </p:cNvGraphicFramePr>
          <p:nvPr>
            <p:extLst>
              <p:ext uri="{D42A27DB-BD31-4B8C-83A1-F6EECF244321}">
                <p14:modId xmlns:p14="http://schemas.microsoft.com/office/powerpoint/2010/main" val="2472386621"/>
              </p:ext>
            </p:extLst>
          </p:nvPr>
        </p:nvGraphicFramePr>
        <p:xfrm>
          <a:off x="442228" y="1954818"/>
          <a:ext cx="11307537" cy="2116241"/>
        </p:xfrm>
        <a:graphic>
          <a:graphicData uri="http://schemas.openxmlformats.org/drawingml/2006/table">
            <a:tbl>
              <a:tblPr firstRow="1" bandRow="1">
                <a:tableStyleId>{5C22544A-7EE6-4342-B048-85BDC9FD1C3A}</a:tableStyleId>
              </a:tblPr>
              <a:tblGrid>
                <a:gridCol w="2826884">
                  <a:extLst>
                    <a:ext uri="{9D8B030D-6E8A-4147-A177-3AD203B41FA5}">
                      <a16:colId xmlns:a16="http://schemas.microsoft.com/office/drawing/2014/main" val="3927135150"/>
                    </a:ext>
                  </a:extLst>
                </a:gridCol>
                <a:gridCol w="2641767">
                  <a:extLst>
                    <a:ext uri="{9D8B030D-6E8A-4147-A177-3AD203B41FA5}">
                      <a16:colId xmlns:a16="http://schemas.microsoft.com/office/drawing/2014/main" val="1604675056"/>
                    </a:ext>
                  </a:extLst>
                </a:gridCol>
                <a:gridCol w="2641767">
                  <a:extLst>
                    <a:ext uri="{9D8B030D-6E8A-4147-A177-3AD203B41FA5}">
                      <a16:colId xmlns:a16="http://schemas.microsoft.com/office/drawing/2014/main" val="3080587633"/>
                    </a:ext>
                  </a:extLst>
                </a:gridCol>
                <a:gridCol w="3197119">
                  <a:extLst>
                    <a:ext uri="{9D8B030D-6E8A-4147-A177-3AD203B41FA5}">
                      <a16:colId xmlns:a16="http://schemas.microsoft.com/office/drawing/2014/main" val="2437138152"/>
                    </a:ext>
                  </a:extLst>
                </a:gridCol>
              </a:tblGrid>
              <a:tr h="714161">
                <a:tc>
                  <a:txBody>
                    <a:bodyPr/>
                    <a:lstStyle/>
                    <a:p>
                      <a:endParaRPr kumimoji="1" lang="ja-JP" altLang="en-US" dirty="0"/>
                    </a:p>
                  </a:txBody>
                  <a:tcPr/>
                </a:tc>
                <a:tc>
                  <a:txBody>
                    <a:bodyPr/>
                    <a:lstStyle/>
                    <a:p>
                      <a:pPr algn="ctr"/>
                      <a:r>
                        <a:rPr kumimoji="1" lang="ja-JP" altLang="en-US" dirty="0"/>
                        <a:t>視聴前平均値</a:t>
                      </a:r>
                    </a:p>
                    <a:p>
                      <a:pPr algn="ctr"/>
                      <a:r>
                        <a:rPr kumimoji="1" lang="ja-JP" altLang="en-US" dirty="0"/>
                        <a:t>（全体の理解度水準）</a:t>
                      </a:r>
                    </a:p>
                  </a:txBody>
                  <a:tcPr/>
                </a:tc>
                <a:tc>
                  <a:txBody>
                    <a:bodyPr/>
                    <a:lstStyle/>
                    <a:p>
                      <a:pPr algn="ctr"/>
                      <a:r>
                        <a:rPr kumimoji="1" lang="ja-JP" altLang="en-US" dirty="0"/>
                        <a:t>中央値</a:t>
                      </a:r>
                      <a:endParaRPr kumimoji="1" lang="en-US" altLang="ja-JP" dirty="0"/>
                    </a:p>
                    <a:p>
                      <a:pPr algn="ctr"/>
                      <a:r>
                        <a:rPr kumimoji="1" lang="ja-JP" altLang="en-US" dirty="0"/>
                        <a:t>（評価の中心値）</a:t>
                      </a:r>
                    </a:p>
                  </a:txBody>
                  <a:tcPr/>
                </a:tc>
                <a:tc>
                  <a:txBody>
                    <a:bodyPr/>
                    <a:lstStyle/>
                    <a:p>
                      <a:pPr algn="ctr"/>
                      <a:r>
                        <a:rPr kumimoji="1" lang="en-US" altLang="ja-JP" dirty="0"/>
                        <a:t>Top2Box</a:t>
                      </a:r>
                    </a:p>
                    <a:p>
                      <a:pPr algn="ctr"/>
                      <a:r>
                        <a:rPr kumimoji="1" lang="ja-JP" altLang="en-US" dirty="0"/>
                        <a:t>（高評価（</a:t>
                      </a:r>
                      <a:r>
                        <a:rPr kumimoji="1" lang="en-US" altLang="ja-JP" dirty="0"/>
                        <a:t>9–10</a:t>
                      </a:r>
                      <a:r>
                        <a:rPr kumimoji="1" lang="ja-JP" altLang="en-US" dirty="0"/>
                        <a:t>点）割合）</a:t>
                      </a:r>
                    </a:p>
                  </a:txBody>
                  <a:tcPr/>
                </a:tc>
                <a:extLst>
                  <a:ext uri="{0D108BD9-81ED-4DB2-BD59-A6C34878D82A}">
                    <a16:rowId xmlns:a16="http://schemas.microsoft.com/office/drawing/2014/main" val="1614262352"/>
                  </a:ext>
                </a:extLst>
              </a:tr>
              <a:tr h="684571">
                <a:tc>
                  <a:txBody>
                    <a:bodyPr/>
                    <a:lstStyle/>
                    <a:p>
                      <a:pPr algn="ctr"/>
                      <a:r>
                        <a:rPr kumimoji="1" lang="ja-JP" altLang="en-US" sz="2000" b="1" dirty="0"/>
                        <a:t>事前</a:t>
                      </a:r>
                      <a:r>
                        <a:rPr kumimoji="1" lang="en-US" altLang="ja-JP" sz="2000" b="1" dirty="0"/>
                        <a:t>web</a:t>
                      </a:r>
                      <a:r>
                        <a:rPr kumimoji="1" lang="ja-JP" altLang="en-US" sz="2000" b="1" dirty="0"/>
                        <a:t>講義</a:t>
                      </a:r>
                      <a:endParaRPr kumimoji="1" lang="en-US" altLang="ja-JP" sz="2000" b="1" dirty="0"/>
                    </a:p>
                    <a:p>
                      <a:pPr algn="ctr"/>
                      <a:r>
                        <a:rPr kumimoji="1" lang="ja-JP" altLang="en-US" sz="2000" b="1" dirty="0"/>
                        <a:t>受講前理解度</a:t>
                      </a:r>
                    </a:p>
                  </a:txBody>
                  <a:tcPr anchor="ctr"/>
                </a:tc>
                <a:tc>
                  <a:txBody>
                    <a:bodyPr/>
                    <a:lstStyle/>
                    <a:p>
                      <a:pPr algn="ctr" fontAlgn="b">
                        <a:buNone/>
                      </a:pPr>
                      <a:r>
                        <a:rPr lang="en-US" altLang="ja-JP" sz="2000" b="1" i="0" u="none" strike="noStrike" dirty="0">
                          <a:solidFill>
                            <a:srgbClr val="000000"/>
                          </a:solidFill>
                          <a:effectLst/>
                          <a:latin typeface="Yu Gothic" panose="020B0400000000000000" pitchFamily="50" charset="-128"/>
                          <a:ea typeface="Yu Gothic" panose="020B0400000000000000" pitchFamily="50" charset="-128"/>
                        </a:rPr>
                        <a:t>7.49</a:t>
                      </a:r>
                    </a:p>
                  </a:txBody>
                  <a:tcPr marL="0" marR="0" marT="0" marB="0" anchor="ctr"/>
                </a:tc>
                <a:tc>
                  <a:txBody>
                    <a:bodyPr/>
                    <a:lstStyle/>
                    <a:p>
                      <a:pPr algn="ctr" fontAlgn="b">
                        <a:buNone/>
                      </a:pPr>
                      <a:r>
                        <a:rPr lang="en-US" altLang="ja-JP" sz="2000" b="1" i="0" u="none" strike="noStrike" dirty="0">
                          <a:solidFill>
                            <a:srgbClr val="000000"/>
                          </a:solidFill>
                          <a:effectLst/>
                          <a:latin typeface="Yu Gothic" panose="020B0400000000000000" pitchFamily="50" charset="-128"/>
                          <a:ea typeface="Yu Gothic" panose="020B0400000000000000" pitchFamily="50" charset="-128"/>
                        </a:rPr>
                        <a:t>8</a:t>
                      </a:r>
                    </a:p>
                  </a:txBody>
                  <a:tcPr marL="0" marR="0" marT="0" marB="0" anchor="ctr"/>
                </a:tc>
                <a:tc>
                  <a:txBody>
                    <a:bodyPr/>
                    <a:lstStyle/>
                    <a:p>
                      <a:pPr algn="ctr" fontAlgn="b">
                        <a:buNone/>
                      </a:pPr>
                      <a:r>
                        <a:rPr lang="en-US" altLang="ja-JP" sz="2000" b="1" i="0" u="none" strike="noStrike" dirty="0">
                          <a:solidFill>
                            <a:srgbClr val="000000"/>
                          </a:solidFill>
                          <a:effectLst/>
                          <a:latin typeface="Yu Gothic" panose="020B0400000000000000" pitchFamily="50" charset="-128"/>
                          <a:ea typeface="Yu Gothic" panose="020B0400000000000000" pitchFamily="50" charset="-128"/>
                        </a:rPr>
                        <a:t>33.8%</a:t>
                      </a:r>
                    </a:p>
                  </a:txBody>
                  <a:tcPr marL="0" marR="0" marT="0" marB="0" anchor="ctr"/>
                </a:tc>
                <a:extLst>
                  <a:ext uri="{0D108BD9-81ED-4DB2-BD59-A6C34878D82A}">
                    <a16:rowId xmlns:a16="http://schemas.microsoft.com/office/drawing/2014/main" val="4288103438"/>
                  </a:ext>
                </a:extLst>
              </a:tr>
              <a:tr h="684571">
                <a:tc>
                  <a:txBody>
                    <a:bodyPr/>
                    <a:lstStyle/>
                    <a:p>
                      <a:pPr algn="ctr"/>
                      <a:r>
                        <a:rPr kumimoji="1" lang="ja-JP" altLang="en-US" sz="2000" b="1" dirty="0"/>
                        <a:t>事前</a:t>
                      </a:r>
                      <a:r>
                        <a:rPr kumimoji="1" lang="en-US" altLang="ja-JP" sz="2000" b="1" dirty="0"/>
                        <a:t>web</a:t>
                      </a:r>
                      <a:r>
                        <a:rPr kumimoji="1" lang="ja-JP" altLang="en-US" sz="2000" b="1" dirty="0"/>
                        <a:t>講義</a:t>
                      </a:r>
                      <a:endParaRPr kumimoji="1" lang="en-US" altLang="ja-JP" sz="2000" b="1" dirty="0"/>
                    </a:p>
                    <a:p>
                      <a:pPr algn="ctr"/>
                      <a:r>
                        <a:rPr kumimoji="1" lang="ja-JP" altLang="en-US" sz="2000" b="1" dirty="0">
                          <a:solidFill>
                            <a:srgbClr val="FF0000"/>
                          </a:solidFill>
                        </a:rPr>
                        <a:t>受講後</a:t>
                      </a:r>
                      <a:r>
                        <a:rPr kumimoji="1" lang="ja-JP" altLang="en-US" sz="2000" b="1" dirty="0"/>
                        <a:t>理解度</a:t>
                      </a:r>
                    </a:p>
                  </a:txBody>
                  <a:tcPr anchor="ctr"/>
                </a:tc>
                <a:tc>
                  <a:txBody>
                    <a:bodyPr/>
                    <a:lstStyle/>
                    <a:p>
                      <a:pPr algn="ctr"/>
                      <a:r>
                        <a:rPr kumimoji="1" lang="en-US" altLang="ja-JP" sz="2000" b="1" dirty="0">
                          <a:solidFill>
                            <a:srgbClr val="FF0000"/>
                          </a:solidFill>
                        </a:rPr>
                        <a:t>9.10</a:t>
                      </a:r>
                      <a:br>
                        <a:rPr kumimoji="1" lang="en-US" altLang="ja-JP" sz="2000" b="1" dirty="0">
                          <a:solidFill>
                            <a:srgbClr val="FF0000"/>
                          </a:solidFill>
                        </a:rPr>
                      </a:br>
                      <a:r>
                        <a:rPr kumimoji="1" lang="ja-JP" altLang="en-US" sz="2000" b="1" u="sng" dirty="0">
                          <a:solidFill>
                            <a:srgbClr val="FF0000"/>
                          </a:solidFill>
                        </a:rPr>
                        <a:t>（</a:t>
                      </a:r>
                      <a:r>
                        <a:rPr kumimoji="1" lang="en-US" altLang="ja-JP" sz="2000" b="1" u="sng" dirty="0">
                          <a:solidFill>
                            <a:srgbClr val="FF0000"/>
                          </a:solidFill>
                        </a:rPr>
                        <a:t>2.61</a:t>
                      </a:r>
                      <a:r>
                        <a:rPr kumimoji="1" lang="ja-JP" altLang="en-US" sz="2000" b="1" u="sng" dirty="0">
                          <a:solidFill>
                            <a:srgbClr val="FF0000"/>
                          </a:solidFill>
                        </a:rPr>
                        <a:t>点向上）</a:t>
                      </a:r>
                    </a:p>
                  </a:txBody>
                  <a:tcPr anchor="ctr"/>
                </a:tc>
                <a:tc>
                  <a:txBody>
                    <a:bodyPr/>
                    <a:lstStyle/>
                    <a:p>
                      <a:pPr algn="ctr"/>
                      <a:r>
                        <a:rPr kumimoji="1" lang="en-US" altLang="ja-JP" sz="2000" b="1" dirty="0">
                          <a:solidFill>
                            <a:srgbClr val="FF0000"/>
                          </a:solidFill>
                        </a:rPr>
                        <a:t>9</a:t>
                      </a:r>
                      <a:br>
                        <a:rPr kumimoji="1" lang="en-US" altLang="ja-JP" sz="2000" b="1" dirty="0">
                          <a:solidFill>
                            <a:srgbClr val="FF0000"/>
                          </a:solidFill>
                        </a:rPr>
                      </a:br>
                      <a:r>
                        <a:rPr kumimoji="1" lang="ja-JP" altLang="en-US" sz="2000" b="1" u="sng" dirty="0">
                          <a:solidFill>
                            <a:srgbClr val="FF0000"/>
                          </a:solidFill>
                        </a:rPr>
                        <a:t>（</a:t>
                      </a:r>
                      <a:r>
                        <a:rPr kumimoji="1" lang="en-US" altLang="ja-JP" sz="2000" b="1" u="sng" dirty="0">
                          <a:solidFill>
                            <a:srgbClr val="FF0000"/>
                          </a:solidFill>
                        </a:rPr>
                        <a:t>1</a:t>
                      </a:r>
                      <a:r>
                        <a:rPr kumimoji="1" lang="ja-JP" altLang="en-US" sz="2000" b="1" u="sng" dirty="0">
                          <a:solidFill>
                            <a:srgbClr val="FF0000"/>
                          </a:solidFill>
                        </a:rPr>
                        <a:t>点向上）</a:t>
                      </a:r>
                    </a:p>
                  </a:txBody>
                  <a:tcPr anchor="ctr"/>
                </a:tc>
                <a:tc>
                  <a:txBody>
                    <a:bodyPr/>
                    <a:lstStyle/>
                    <a:p>
                      <a:pPr algn="ctr"/>
                      <a:r>
                        <a:rPr kumimoji="1" lang="en-US" altLang="ja-JP" sz="2000" b="1" dirty="0">
                          <a:solidFill>
                            <a:srgbClr val="FF0000"/>
                          </a:solidFill>
                        </a:rPr>
                        <a:t>72.7%</a:t>
                      </a:r>
                      <a:br>
                        <a:rPr kumimoji="1" lang="en-US" altLang="ja-JP" sz="2000" b="1" dirty="0">
                          <a:solidFill>
                            <a:srgbClr val="FF0000"/>
                          </a:solidFill>
                        </a:rPr>
                      </a:br>
                      <a:r>
                        <a:rPr kumimoji="1" lang="ja-JP" altLang="en-US" sz="2000" b="1" u="sng" dirty="0">
                          <a:solidFill>
                            <a:srgbClr val="FF0000"/>
                          </a:solidFill>
                        </a:rPr>
                        <a:t>（</a:t>
                      </a:r>
                      <a:r>
                        <a:rPr kumimoji="1" lang="en-US" altLang="ja-JP" sz="2000" b="1" u="sng" dirty="0">
                          <a:solidFill>
                            <a:srgbClr val="FF0000"/>
                          </a:solidFill>
                        </a:rPr>
                        <a:t>38.9%</a:t>
                      </a:r>
                      <a:r>
                        <a:rPr kumimoji="1" lang="ja-JP" altLang="en-US" sz="2000" b="1" u="sng" dirty="0">
                          <a:solidFill>
                            <a:srgbClr val="FF0000"/>
                          </a:solidFill>
                        </a:rPr>
                        <a:t>向上）</a:t>
                      </a:r>
                    </a:p>
                  </a:txBody>
                  <a:tcPr anchor="ctr"/>
                </a:tc>
                <a:extLst>
                  <a:ext uri="{0D108BD9-81ED-4DB2-BD59-A6C34878D82A}">
                    <a16:rowId xmlns:a16="http://schemas.microsoft.com/office/drawing/2014/main" val="3131488315"/>
                  </a:ext>
                </a:extLst>
              </a:tr>
            </a:tbl>
          </a:graphicData>
        </a:graphic>
      </p:graphicFrame>
    </p:spTree>
    <p:extLst>
      <p:ext uri="{BB962C8B-B14F-4D97-AF65-F5344CB8AC3E}">
        <p14:creationId xmlns:p14="http://schemas.microsoft.com/office/powerpoint/2010/main" val="935119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CA892-D30B-F658-507B-92F81C271105}"/>
            </a:ext>
          </a:extLst>
        </p:cNvPr>
        <p:cNvGrpSpPr/>
        <p:nvPr/>
      </p:nvGrpSpPr>
      <p:grpSpPr>
        <a:xfrm>
          <a:off x="0" y="0"/>
          <a:ext cx="0" cy="0"/>
          <a:chOff x="0" y="0"/>
          <a:chExt cx="0" cy="0"/>
        </a:xfrm>
      </p:grpSpPr>
      <p:sp>
        <p:nvSpPr>
          <p:cNvPr id="8" name="テキスト ボックス 7">
            <a:extLst>
              <a:ext uri="{FF2B5EF4-FFF2-40B4-BE49-F238E27FC236}">
                <a16:creationId xmlns:a16="http://schemas.microsoft.com/office/drawing/2014/main" id="{39C815B9-8B6D-6AB2-0329-253ED03B091D}"/>
              </a:ext>
            </a:extLst>
          </p:cNvPr>
          <p:cNvSpPr txBox="1"/>
          <p:nvPr/>
        </p:nvSpPr>
        <p:spPr>
          <a:xfrm>
            <a:off x="3850822" y="677795"/>
            <a:ext cx="4490357"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2600" b="1" dirty="0">
                <a:solidFill>
                  <a:prstClr val="black"/>
                </a:solidFill>
                <a:latin typeface="游ゴシック" panose="020F0502020204030204"/>
                <a:ea typeface="游ゴシック" panose="020B0400000000000000" pitchFamily="50" charset="-128"/>
              </a:rPr>
              <a:t>認定試験　採点結果について</a:t>
            </a:r>
            <a:endParaRPr kumimoji="1" lang="ja-JP" altLang="en-US" sz="26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p:txBody>
      </p:sp>
      <p:graphicFrame>
        <p:nvGraphicFramePr>
          <p:cNvPr id="7" name="グラフ 6">
            <a:extLst>
              <a:ext uri="{FF2B5EF4-FFF2-40B4-BE49-F238E27FC236}">
                <a16:creationId xmlns:a16="http://schemas.microsoft.com/office/drawing/2014/main" id="{B73E9526-5F48-F2F8-B04F-CE09CC001922}"/>
              </a:ext>
            </a:extLst>
          </p:cNvPr>
          <p:cNvGraphicFramePr/>
          <p:nvPr>
            <p:extLst>
              <p:ext uri="{D42A27DB-BD31-4B8C-83A1-F6EECF244321}">
                <p14:modId xmlns:p14="http://schemas.microsoft.com/office/powerpoint/2010/main" val="4117403969"/>
              </p:ext>
            </p:extLst>
          </p:nvPr>
        </p:nvGraphicFramePr>
        <p:xfrm>
          <a:off x="878114" y="771616"/>
          <a:ext cx="10435771" cy="553989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表 8">
            <a:extLst>
              <a:ext uri="{FF2B5EF4-FFF2-40B4-BE49-F238E27FC236}">
                <a16:creationId xmlns:a16="http://schemas.microsoft.com/office/drawing/2014/main" id="{F7FC6922-9171-13E7-C879-B91130586084}"/>
              </a:ext>
            </a:extLst>
          </p:cNvPr>
          <p:cNvGraphicFramePr>
            <a:graphicFrameLocks noGrp="1"/>
          </p:cNvGraphicFramePr>
          <p:nvPr>
            <p:extLst>
              <p:ext uri="{D42A27DB-BD31-4B8C-83A1-F6EECF244321}">
                <p14:modId xmlns:p14="http://schemas.microsoft.com/office/powerpoint/2010/main" val="3571259290"/>
              </p:ext>
            </p:extLst>
          </p:nvPr>
        </p:nvGraphicFramePr>
        <p:xfrm>
          <a:off x="8733251" y="1164296"/>
          <a:ext cx="2468150" cy="1718472"/>
        </p:xfrm>
        <a:graphic>
          <a:graphicData uri="http://schemas.openxmlformats.org/drawingml/2006/table">
            <a:tbl>
              <a:tblPr lastRow="1" bandRow="1">
                <a:tableStyleId>{5C22544A-7EE6-4342-B048-85BDC9FD1C3A}</a:tableStyleId>
              </a:tblPr>
              <a:tblGrid>
                <a:gridCol w="1329003">
                  <a:extLst>
                    <a:ext uri="{9D8B030D-6E8A-4147-A177-3AD203B41FA5}">
                      <a16:colId xmlns:a16="http://schemas.microsoft.com/office/drawing/2014/main" val="2847142415"/>
                    </a:ext>
                  </a:extLst>
                </a:gridCol>
                <a:gridCol w="1139147">
                  <a:extLst>
                    <a:ext uri="{9D8B030D-6E8A-4147-A177-3AD203B41FA5}">
                      <a16:colId xmlns:a16="http://schemas.microsoft.com/office/drawing/2014/main" val="1200424832"/>
                    </a:ext>
                  </a:extLst>
                </a:gridCol>
              </a:tblGrid>
              <a:tr h="429618">
                <a:tc>
                  <a:txBody>
                    <a:bodyPr/>
                    <a:lstStyle/>
                    <a:p>
                      <a:pPr algn="ctr" fontAlgn="b">
                        <a:buNone/>
                      </a:pPr>
                      <a:r>
                        <a:rPr lang="ja-JP" altLang="en-US" sz="1600" b="1" i="0" u="none" strike="noStrike" dirty="0">
                          <a:solidFill>
                            <a:srgbClr val="000000"/>
                          </a:solidFill>
                          <a:effectLst/>
                          <a:latin typeface="+mn-ea"/>
                          <a:ea typeface="+mn-ea"/>
                        </a:rPr>
                        <a:t>最高点</a:t>
                      </a:r>
                      <a:endParaRPr lang="en-US" altLang="ja-JP" sz="1600" b="1" i="0" u="none" strike="noStrike" dirty="0">
                        <a:solidFill>
                          <a:srgbClr val="000000"/>
                        </a:solidFill>
                        <a:effectLst/>
                        <a:latin typeface="+mn-ea"/>
                        <a:ea typeface="+mn-ea"/>
                      </a:endParaRPr>
                    </a:p>
                  </a:txBody>
                  <a:tcPr marL="0" marR="0" marT="0" marB="0" anchor="ctr"/>
                </a:tc>
                <a:tc>
                  <a:txBody>
                    <a:bodyPr/>
                    <a:lstStyle/>
                    <a:p>
                      <a:pPr algn="ctr" fontAlgn="b">
                        <a:buNone/>
                      </a:pPr>
                      <a:r>
                        <a:rPr lang="en-US" altLang="ja-JP" sz="1600" b="1" i="0" u="none" strike="noStrike" dirty="0">
                          <a:solidFill>
                            <a:srgbClr val="000000"/>
                          </a:solidFill>
                          <a:effectLst/>
                          <a:latin typeface="+mn-ea"/>
                          <a:ea typeface="+mn-ea"/>
                        </a:rPr>
                        <a:t>24</a:t>
                      </a:r>
                    </a:p>
                  </a:txBody>
                  <a:tcPr marL="0" marR="0" marT="0" marB="0" anchor="ctr"/>
                </a:tc>
                <a:extLst>
                  <a:ext uri="{0D108BD9-81ED-4DB2-BD59-A6C34878D82A}">
                    <a16:rowId xmlns:a16="http://schemas.microsoft.com/office/drawing/2014/main" val="2610255160"/>
                  </a:ext>
                </a:extLst>
              </a:tr>
              <a:tr h="429618">
                <a:tc>
                  <a:txBody>
                    <a:bodyPr/>
                    <a:lstStyle/>
                    <a:p>
                      <a:pPr algn="ctr" fontAlgn="b">
                        <a:buNone/>
                      </a:pPr>
                      <a:r>
                        <a:rPr lang="ja-JP" altLang="en-US" sz="1600" b="1" i="0" u="none" strike="noStrike" dirty="0">
                          <a:solidFill>
                            <a:srgbClr val="000000"/>
                          </a:solidFill>
                          <a:effectLst/>
                          <a:latin typeface="+mn-ea"/>
                          <a:ea typeface="+mn-ea"/>
                        </a:rPr>
                        <a:t>最低点</a:t>
                      </a:r>
                    </a:p>
                  </a:txBody>
                  <a:tcPr marL="0" marR="0" marT="0" marB="0" anchor="ctr"/>
                </a:tc>
                <a:tc>
                  <a:txBody>
                    <a:bodyPr/>
                    <a:lstStyle/>
                    <a:p>
                      <a:pPr algn="ctr" fontAlgn="b">
                        <a:buNone/>
                      </a:pPr>
                      <a:r>
                        <a:rPr lang="en-US" altLang="ja-JP" sz="1600" b="1" i="0" u="none" strike="noStrike" dirty="0">
                          <a:solidFill>
                            <a:srgbClr val="000000"/>
                          </a:solidFill>
                          <a:effectLst/>
                          <a:latin typeface="+mn-ea"/>
                          <a:ea typeface="+mn-ea"/>
                        </a:rPr>
                        <a:t>12</a:t>
                      </a:r>
                    </a:p>
                  </a:txBody>
                  <a:tcPr marL="0" marR="0" marT="0" marB="0" anchor="ctr"/>
                </a:tc>
                <a:extLst>
                  <a:ext uri="{0D108BD9-81ED-4DB2-BD59-A6C34878D82A}">
                    <a16:rowId xmlns:a16="http://schemas.microsoft.com/office/drawing/2014/main" val="3005275110"/>
                  </a:ext>
                </a:extLst>
              </a:tr>
              <a:tr h="429618">
                <a:tc>
                  <a:txBody>
                    <a:bodyPr/>
                    <a:lstStyle/>
                    <a:p>
                      <a:pPr algn="ctr" fontAlgn="b">
                        <a:buNone/>
                      </a:pPr>
                      <a:r>
                        <a:rPr lang="ja-JP" altLang="en-US" sz="1600" b="1" i="0" u="none" strike="noStrike" dirty="0">
                          <a:solidFill>
                            <a:srgbClr val="000000"/>
                          </a:solidFill>
                          <a:effectLst/>
                          <a:latin typeface="+mn-ea"/>
                          <a:ea typeface="+mn-ea"/>
                        </a:rPr>
                        <a:t>平均点</a:t>
                      </a:r>
                    </a:p>
                  </a:txBody>
                  <a:tcPr marL="0" marR="0" marT="0" marB="0" anchor="ctr"/>
                </a:tc>
                <a:tc>
                  <a:txBody>
                    <a:bodyPr/>
                    <a:lstStyle/>
                    <a:p>
                      <a:pPr algn="ctr" fontAlgn="b">
                        <a:buNone/>
                      </a:pPr>
                      <a:r>
                        <a:rPr lang="en-US" altLang="ja-JP" sz="1600" b="1" i="0" u="none" strike="noStrike" dirty="0">
                          <a:solidFill>
                            <a:srgbClr val="000000"/>
                          </a:solidFill>
                          <a:effectLst/>
                          <a:latin typeface="+mn-ea"/>
                          <a:ea typeface="+mn-ea"/>
                        </a:rPr>
                        <a:t>21</a:t>
                      </a:r>
                    </a:p>
                  </a:txBody>
                  <a:tcPr marL="0" marR="0" marT="0" marB="0" anchor="ctr"/>
                </a:tc>
                <a:extLst>
                  <a:ext uri="{0D108BD9-81ED-4DB2-BD59-A6C34878D82A}">
                    <a16:rowId xmlns:a16="http://schemas.microsoft.com/office/drawing/2014/main" val="3159464451"/>
                  </a:ext>
                </a:extLst>
              </a:tr>
              <a:tr h="429618">
                <a:tc>
                  <a:txBody>
                    <a:bodyPr/>
                    <a:lstStyle/>
                    <a:p>
                      <a:pPr algn="ctr" fontAlgn="b">
                        <a:buNone/>
                      </a:pPr>
                      <a:r>
                        <a:rPr lang="ja-JP" altLang="en-US" sz="1600" b="1" i="0" u="none" strike="noStrike" dirty="0">
                          <a:solidFill>
                            <a:schemeClr val="bg1"/>
                          </a:solidFill>
                          <a:effectLst/>
                          <a:latin typeface="+mn-ea"/>
                          <a:ea typeface="+mn-ea"/>
                        </a:rPr>
                        <a:t>合格基準点</a:t>
                      </a:r>
                    </a:p>
                  </a:txBody>
                  <a:tcPr marL="0" marR="0" marT="0" marB="0" anchor="ctr"/>
                </a:tc>
                <a:tc>
                  <a:txBody>
                    <a:bodyPr/>
                    <a:lstStyle/>
                    <a:p>
                      <a:pPr algn="ctr" fontAlgn="b">
                        <a:buNone/>
                      </a:pPr>
                      <a:r>
                        <a:rPr lang="en-US" altLang="ja-JP" sz="1600" b="1" i="0" u="none" strike="noStrike" dirty="0">
                          <a:solidFill>
                            <a:schemeClr val="bg1"/>
                          </a:solidFill>
                          <a:effectLst/>
                          <a:latin typeface="+mn-ea"/>
                          <a:ea typeface="+mn-ea"/>
                        </a:rPr>
                        <a:t>15</a:t>
                      </a:r>
                    </a:p>
                  </a:txBody>
                  <a:tcPr marL="0" marR="0" marT="0" marB="0" anchor="ctr"/>
                </a:tc>
                <a:extLst>
                  <a:ext uri="{0D108BD9-81ED-4DB2-BD59-A6C34878D82A}">
                    <a16:rowId xmlns:a16="http://schemas.microsoft.com/office/drawing/2014/main" val="1694204371"/>
                  </a:ext>
                </a:extLst>
              </a:tr>
            </a:tbl>
          </a:graphicData>
        </a:graphic>
      </p:graphicFrame>
      <p:graphicFrame>
        <p:nvGraphicFramePr>
          <p:cNvPr id="10" name="表 9">
            <a:extLst>
              <a:ext uri="{FF2B5EF4-FFF2-40B4-BE49-F238E27FC236}">
                <a16:creationId xmlns:a16="http://schemas.microsoft.com/office/drawing/2014/main" id="{B257308D-AFF4-F375-E1DD-87067D25EB00}"/>
              </a:ext>
            </a:extLst>
          </p:cNvPr>
          <p:cNvGraphicFramePr>
            <a:graphicFrameLocks noGrp="1"/>
          </p:cNvGraphicFramePr>
          <p:nvPr>
            <p:extLst>
              <p:ext uri="{D42A27DB-BD31-4B8C-83A1-F6EECF244321}">
                <p14:modId xmlns:p14="http://schemas.microsoft.com/office/powerpoint/2010/main" val="218616307"/>
              </p:ext>
            </p:extLst>
          </p:nvPr>
        </p:nvGraphicFramePr>
        <p:xfrm>
          <a:off x="8733251" y="3170896"/>
          <a:ext cx="2468150" cy="859236"/>
        </p:xfrm>
        <a:graphic>
          <a:graphicData uri="http://schemas.openxmlformats.org/drawingml/2006/table">
            <a:tbl>
              <a:tblPr lastRow="1" bandRow="1">
                <a:tableStyleId>{5C22544A-7EE6-4342-B048-85BDC9FD1C3A}</a:tableStyleId>
              </a:tblPr>
              <a:tblGrid>
                <a:gridCol w="1329003">
                  <a:extLst>
                    <a:ext uri="{9D8B030D-6E8A-4147-A177-3AD203B41FA5}">
                      <a16:colId xmlns:a16="http://schemas.microsoft.com/office/drawing/2014/main" val="2847142415"/>
                    </a:ext>
                  </a:extLst>
                </a:gridCol>
                <a:gridCol w="1139147">
                  <a:extLst>
                    <a:ext uri="{9D8B030D-6E8A-4147-A177-3AD203B41FA5}">
                      <a16:colId xmlns:a16="http://schemas.microsoft.com/office/drawing/2014/main" val="1200424832"/>
                    </a:ext>
                  </a:extLst>
                </a:gridCol>
              </a:tblGrid>
              <a:tr h="429618">
                <a:tc>
                  <a:txBody>
                    <a:bodyPr/>
                    <a:lstStyle/>
                    <a:p>
                      <a:pPr algn="ctr" fontAlgn="b">
                        <a:buNone/>
                      </a:pPr>
                      <a:r>
                        <a:rPr lang="ja-JP" altLang="en-US" sz="1600" b="1" i="0" u="none" strike="noStrike" dirty="0">
                          <a:solidFill>
                            <a:srgbClr val="000000"/>
                          </a:solidFill>
                          <a:effectLst/>
                          <a:latin typeface="+mn-ea"/>
                          <a:ea typeface="+mn-ea"/>
                        </a:rPr>
                        <a:t>受験者数</a:t>
                      </a:r>
                      <a:endParaRPr lang="en-US" altLang="ja-JP" sz="1600" b="1" i="0" u="none" strike="noStrike" dirty="0">
                        <a:solidFill>
                          <a:srgbClr val="000000"/>
                        </a:solidFill>
                        <a:effectLst/>
                        <a:latin typeface="+mn-ea"/>
                        <a:ea typeface="+mn-ea"/>
                      </a:endParaRPr>
                    </a:p>
                  </a:txBody>
                  <a:tcPr marL="0" marR="0" marT="0" marB="0" anchor="ctr"/>
                </a:tc>
                <a:tc>
                  <a:txBody>
                    <a:bodyPr/>
                    <a:lstStyle/>
                    <a:p>
                      <a:pPr algn="ctr" fontAlgn="b">
                        <a:buNone/>
                      </a:pPr>
                      <a:r>
                        <a:rPr lang="en-US" altLang="ja-JP" sz="1600" b="1" i="0" u="none" strike="noStrike" dirty="0">
                          <a:solidFill>
                            <a:srgbClr val="000000"/>
                          </a:solidFill>
                          <a:effectLst/>
                          <a:latin typeface="+mn-ea"/>
                          <a:ea typeface="+mn-ea"/>
                        </a:rPr>
                        <a:t>77</a:t>
                      </a:r>
                    </a:p>
                  </a:txBody>
                  <a:tcPr marL="0" marR="0" marT="0" marB="0" anchor="ctr"/>
                </a:tc>
                <a:extLst>
                  <a:ext uri="{0D108BD9-81ED-4DB2-BD59-A6C34878D82A}">
                    <a16:rowId xmlns:a16="http://schemas.microsoft.com/office/drawing/2014/main" val="2610255160"/>
                  </a:ext>
                </a:extLst>
              </a:tr>
              <a:tr h="429618">
                <a:tc>
                  <a:txBody>
                    <a:bodyPr/>
                    <a:lstStyle/>
                    <a:p>
                      <a:pPr algn="ctr" fontAlgn="b">
                        <a:buNone/>
                      </a:pPr>
                      <a:r>
                        <a:rPr lang="ja-JP" altLang="en-US" sz="1600" b="1" i="0" u="none" strike="noStrike" dirty="0">
                          <a:solidFill>
                            <a:schemeClr val="bg1"/>
                          </a:solidFill>
                          <a:effectLst/>
                          <a:latin typeface="+mn-ea"/>
                          <a:ea typeface="+mn-ea"/>
                        </a:rPr>
                        <a:t>合格者数</a:t>
                      </a:r>
                    </a:p>
                  </a:txBody>
                  <a:tcPr marL="0" marR="0" marT="0" marB="0" anchor="ctr"/>
                </a:tc>
                <a:tc>
                  <a:txBody>
                    <a:bodyPr/>
                    <a:lstStyle/>
                    <a:p>
                      <a:pPr algn="ctr" fontAlgn="b">
                        <a:buNone/>
                      </a:pPr>
                      <a:r>
                        <a:rPr lang="en-US" altLang="ja-JP" sz="1600" b="1" i="0" u="none" strike="noStrike" dirty="0">
                          <a:solidFill>
                            <a:schemeClr val="bg1"/>
                          </a:solidFill>
                          <a:effectLst/>
                          <a:latin typeface="+mn-ea"/>
                          <a:ea typeface="+mn-ea"/>
                        </a:rPr>
                        <a:t>76</a:t>
                      </a:r>
                    </a:p>
                  </a:txBody>
                  <a:tcPr marL="0" marR="0" marT="0" marB="0" anchor="ctr"/>
                </a:tc>
                <a:extLst>
                  <a:ext uri="{0D108BD9-81ED-4DB2-BD59-A6C34878D82A}">
                    <a16:rowId xmlns:a16="http://schemas.microsoft.com/office/drawing/2014/main" val="1694204371"/>
                  </a:ext>
                </a:extLst>
              </a:tr>
            </a:tbl>
          </a:graphicData>
        </a:graphic>
      </p:graphicFrame>
      <p:sp>
        <p:nvSpPr>
          <p:cNvPr id="11" name="吹き出し: 四角形 10">
            <a:extLst>
              <a:ext uri="{FF2B5EF4-FFF2-40B4-BE49-F238E27FC236}">
                <a16:creationId xmlns:a16="http://schemas.microsoft.com/office/drawing/2014/main" id="{032A5E37-E907-D8EB-2A19-8CF41E27EE22}"/>
              </a:ext>
            </a:extLst>
          </p:cNvPr>
          <p:cNvSpPr/>
          <p:nvPr/>
        </p:nvSpPr>
        <p:spPr>
          <a:xfrm>
            <a:off x="6705600" y="2023532"/>
            <a:ext cx="876300" cy="376767"/>
          </a:xfrm>
          <a:prstGeom prst="wedgeRectCallout">
            <a:avLst>
              <a:gd name="adj1" fmla="val 42608"/>
              <a:gd name="adj2" fmla="val 8459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平均点</a:t>
            </a:r>
          </a:p>
        </p:txBody>
      </p:sp>
      <p:sp>
        <p:nvSpPr>
          <p:cNvPr id="12" name="吹き出し: 四角形 11">
            <a:extLst>
              <a:ext uri="{FF2B5EF4-FFF2-40B4-BE49-F238E27FC236}">
                <a16:creationId xmlns:a16="http://schemas.microsoft.com/office/drawing/2014/main" id="{EF39C314-E235-AA97-6DB4-4F3F60790D14}"/>
              </a:ext>
            </a:extLst>
          </p:cNvPr>
          <p:cNvSpPr/>
          <p:nvPr/>
        </p:nvSpPr>
        <p:spPr>
          <a:xfrm>
            <a:off x="2438400" y="4826000"/>
            <a:ext cx="1412422" cy="368299"/>
          </a:xfrm>
          <a:prstGeom prst="wedgeRectCallout">
            <a:avLst>
              <a:gd name="adj1" fmla="val 47453"/>
              <a:gd name="adj2" fmla="val 112374"/>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t>合格基準点</a:t>
            </a:r>
          </a:p>
        </p:txBody>
      </p:sp>
    </p:spTree>
    <p:extLst>
      <p:ext uri="{BB962C8B-B14F-4D97-AF65-F5344CB8AC3E}">
        <p14:creationId xmlns:p14="http://schemas.microsoft.com/office/powerpoint/2010/main" val="3542099411"/>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2200" b="1">
                <a:solidFill>
                  <a:srgbClr val="262626"/>
                </a:solidFill>
                <a:latin typeface="游ゴシック"/>
              </a:rPr>
              <a:t>Q2.  大腿骨近位部骨折を担当したPT（理学療法士）の在籍人数</a:t>
            </a:r>
          </a:p>
        </p:txBody>
      </p:sp>
      <p:graphicFrame>
        <p:nvGraphicFramePr>
          <p:cNvPr id="3" name="Chart 2"/>
          <p:cNvGraphicFramePr>
            <a:graphicFrameLocks noGrp="1"/>
          </p:cNvGraphicFramePr>
          <p:nvPr/>
        </p:nvGraphicFramePr>
        <p:xfrm>
          <a:off x="300000" y="900000"/>
          <a:ext cx="75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900000" y="1050000"/>
          <a:ext cx="3400000" cy="5657988"/>
        </p:xfrm>
        <a:graphic>
          <a:graphicData uri="http://schemas.openxmlformats.org/drawingml/2006/table">
            <a:tbl>
              <a:tblPr firstRow="1" bandRow="1">
                <a:tableStyleId>{5C22544A-7EE6-4342-B048-85BDC9FD1C3A}</a:tableStyleId>
              </a:tblPr>
              <a:tblGrid>
                <a:gridCol w="1500000"/>
                <a:gridCol w="900000"/>
                <a:gridCol w="1000000"/>
              </a:tblGrid>
              <a:tr h="269428">
                <a:tc>
                  <a:txBody>
                    <a:bodyPr/>
                    <a:lstStyle/>
                    <a:p>
                      <a:pPr algn="ctr"/>
                      <a:r>
                        <a:rPr sz="1400" b="1">
                          <a:solidFill>
                            <a:srgbClr val="FFFFFF"/>
                          </a:solidFill>
                          <a:latin typeface="游ゴシック"/>
                        </a:rPr>
                        <a:t>階級</a:t>
                      </a:r>
                    </a:p>
                  </a:txBody>
                  <a:tcPr>
                    <a:solidFill>
                      <a:srgbClr val="397077"/>
                    </a:solidFill>
                  </a:tcPr>
                </a:tc>
                <a:tc>
                  <a:txBody>
                    <a:bodyPr/>
                    <a:lstStyle/>
                    <a:p>
                      <a:pPr algn="ctr"/>
                      <a:r>
                        <a:rPr sz="1400" b="1">
                          <a:solidFill>
                            <a:srgbClr val="FFFFFF"/>
                          </a:solidFill>
                          <a:latin typeface="游ゴシック"/>
                        </a:rPr>
                        <a:t>施設数</a:t>
                      </a:r>
                    </a:p>
                  </a:txBody>
                  <a:tcPr>
                    <a:solidFill>
                      <a:srgbClr val="397077"/>
                    </a:solidFill>
                  </a:tcPr>
                </a:tc>
                <a:tc>
                  <a:txBody>
                    <a:bodyPr/>
                    <a:lstStyle/>
                    <a:p>
                      <a:pPr algn="ctr"/>
                      <a:r>
                        <a:rPr sz="1400" b="1">
                          <a:solidFill>
                            <a:srgbClr val="FFFFFF"/>
                          </a:solidFill>
                          <a:latin typeface="游ゴシック"/>
                        </a:rPr>
                        <a:t>累積%</a:t>
                      </a:r>
                    </a:p>
                  </a:txBody>
                  <a:tcPr>
                    <a:solidFill>
                      <a:srgbClr val="397077"/>
                    </a:solidFill>
                  </a:tcPr>
                </a:tc>
              </a:tr>
              <a:tr h="269428">
                <a:tc>
                  <a:txBody>
                    <a:bodyPr/>
                    <a:lstStyle/>
                    <a:p>
                      <a:pPr algn="ctr"/>
                      <a:r>
                        <a:rPr sz="1000" b="0">
                          <a:solidFill>
                            <a:srgbClr val="262626"/>
                          </a:solidFill>
                          <a:latin typeface="游ゴシック"/>
                        </a:rPr>
                        <a:t>1〜5</a:t>
                      </a:r>
                    </a:p>
                  </a:txBody>
                  <a:tcPr/>
                </a:tc>
                <a:tc>
                  <a:txBody>
                    <a:bodyPr/>
                    <a:lstStyle/>
                    <a:p>
                      <a:pPr algn="ctr"/>
                      <a:r>
                        <a:rPr sz="1000" b="1">
                          <a:solidFill>
                            <a:srgbClr val="262626"/>
                          </a:solidFill>
                          <a:latin typeface="游ゴシック"/>
                        </a:rPr>
                        <a:t>12</a:t>
                      </a:r>
                    </a:p>
                  </a:txBody>
                  <a:tcPr/>
                </a:tc>
                <a:tc>
                  <a:txBody>
                    <a:bodyPr/>
                    <a:lstStyle/>
                    <a:p>
                      <a:pPr algn="ctr"/>
                      <a:r>
                        <a:rPr sz="1000" b="1">
                          <a:solidFill>
                            <a:srgbClr val="262626"/>
                          </a:solidFill>
                          <a:latin typeface="游ゴシック"/>
                        </a:rPr>
                        <a:t>4.2%</a:t>
                      </a:r>
                    </a:p>
                  </a:txBody>
                  <a:tcPr/>
                </a:tc>
              </a:tr>
              <a:tr h="269428">
                <a:tc>
                  <a:txBody>
                    <a:bodyPr/>
                    <a:lstStyle/>
                    <a:p>
                      <a:pPr algn="ctr"/>
                      <a:r>
                        <a:rPr sz="1000" b="0">
                          <a:solidFill>
                            <a:srgbClr val="262626"/>
                          </a:solidFill>
                          <a:latin typeface="游ゴシック"/>
                        </a:rPr>
                        <a:t>6〜10</a:t>
                      </a:r>
                    </a:p>
                  </a:txBody>
                  <a:tcPr>
                    <a:solidFill>
                      <a:srgbClr val="A8C4C7"/>
                    </a:solidFill>
                  </a:tcPr>
                </a:tc>
                <a:tc>
                  <a:txBody>
                    <a:bodyPr/>
                    <a:lstStyle/>
                    <a:p>
                      <a:pPr algn="ctr"/>
                      <a:r>
                        <a:rPr sz="1000" b="1">
                          <a:solidFill>
                            <a:srgbClr val="262626"/>
                          </a:solidFill>
                          <a:latin typeface="游ゴシック"/>
                        </a:rPr>
                        <a:t>82</a:t>
                      </a:r>
                    </a:p>
                  </a:txBody>
                  <a:tcPr>
                    <a:solidFill>
                      <a:srgbClr val="A8C4C7"/>
                    </a:solidFill>
                  </a:tcPr>
                </a:tc>
                <a:tc>
                  <a:txBody>
                    <a:bodyPr/>
                    <a:lstStyle/>
                    <a:p>
                      <a:pPr algn="ctr"/>
                      <a:r>
                        <a:rPr sz="1000" b="1">
                          <a:solidFill>
                            <a:srgbClr val="262626"/>
                          </a:solidFill>
                          <a:latin typeface="游ゴシック"/>
                        </a:rPr>
                        <a:t>32.5%</a:t>
                      </a:r>
                    </a:p>
                  </a:txBody>
                  <a:tcPr>
                    <a:solidFill>
                      <a:srgbClr val="A8C4C7"/>
                    </a:solidFill>
                  </a:tcPr>
                </a:tc>
              </a:tr>
              <a:tr h="269428">
                <a:tc>
                  <a:txBody>
                    <a:bodyPr/>
                    <a:lstStyle/>
                    <a:p>
                      <a:pPr algn="ctr"/>
                      <a:r>
                        <a:rPr sz="1000" b="0">
                          <a:solidFill>
                            <a:srgbClr val="262626"/>
                          </a:solidFill>
                          <a:latin typeface="游ゴシック"/>
                        </a:rPr>
                        <a:t>11〜15</a:t>
                      </a:r>
                    </a:p>
                  </a:txBody>
                  <a:tcPr/>
                </a:tc>
                <a:tc>
                  <a:txBody>
                    <a:bodyPr/>
                    <a:lstStyle/>
                    <a:p>
                      <a:pPr algn="ctr"/>
                      <a:r>
                        <a:rPr sz="1000" b="1">
                          <a:solidFill>
                            <a:srgbClr val="262626"/>
                          </a:solidFill>
                          <a:latin typeface="游ゴシック"/>
                        </a:rPr>
                        <a:t>93</a:t>
                      </a:r>
                    </a:p>
                  </a:txBody>
                  <a:tcPr/>
                </a:tc>
                <a:tc>
                  <a:txBody>
                    <a:bodyPr/>
                    <a:lstStyle/>
                    <a:p>
                      <a:pPr algn="ctr"/>
                      <a:r>
                        <a:rPr sz="1000" b="1">
                          <a:solidFill>
                            <a:srgbClr val="262626"/>
                          </a:solidFill>
                          <a:latin typeface="游ゴシック"/>
                        </a:rPr>
                        <a:t>64.7%</a:t>
                      </a:r>
                    </a:p>
                  </a:txBody>
                  <a:tcPr/>
                </a:tc>
              </a:tr>
              <a:tr h="269428">
                <a:tc>
                  <a:txBody>
                    <a:bodyPr/>
                    <a:lstStyle/>
                    <a:p>
                      <a:pPr algn="ctr"/>
                      <a:r>
                        <a:rPr sz="1000" b="0">
                          <a:solidFill>
                            <a:srgbClr val="262626"/>
                          </a:solidFill>
                          <a:latin typeface="游ゴシック"/>
                        </a:rPr>
                        <a:t>16〜20</a:t>
                      </a:r>
                    </a:p>
                  </a:txBody>
                  <a:tcPr>
                    <a:solidFill>
                      <a:srgbClr val="A8C4C7"/>
                    </a:solidFill>
                  </a:tcPr>
                </a:tc>
                <a:tc>
                  <a:txBody>
                    <a:bodyPr/>
                    <a:lstStyle/>
                    <a:p>
                      <a:pPr algn="ctr"/>
                      <a:r>
                        <a:rPr sz="1000" b="1">
                          <a:solidFill>
                            <a:srgbClr val="262626"/>
                          </a:solidFill>
                          <a:latin typeface="游ゴシック"/>
                        </a:rPr>
                        <a:t>42</a:t>
                      </a:r>
                    </a:p>
                  </a:txBody>
                  <a:tcPr>
                    <a:solidFill>
                      <a:srgbClr val="A8C4C7"/>
                    </a:solidFill>
                  </a:tcPr>
                </a:tc>
                <a:tc>
                  <a:txBody>
                    <a:bodyPr/>
                    <a:lstStyle/>
                    <a:p>
                      <a:pPr algn="ctr"/>
                      <a:r>
                        <a:rPr sz="1000" b="1">
                          <a:solidFill>
                            <a:srgbClr val="262626"/>
                          </a:solidFill>
                          <a:latin typeface="游ゴシック"/>
                        </a:rPr>
                        <a:t>79.2%</a:t>
                      </a:r>
                    </a:p>
                  </a:txBody>
                  <a:tcPr>
                    <a:solidFill>
                      <a:srgbClr val="A8C4C7"/>
                    </a:solidFill>
                  </a:tcPr>
                </a:tc>
              </a:tr>
              <a:tr h="269428">
                <a:tc>
                  <a:txBody>
                    <a:bodyPr/>
                    <a:lstStyle/>
                    <a:p>
                      <a:pPr algn="ctr"/>
                      <a:r>
                        <a:rPr sz="1000" b="0">
                          <a:solidFill>
                            <a:srgbClr val="262626"/>
                          </a:solidFill>
                          <a:latin typeface="游ゴシック"/>
                        </a:rPr>
                        <a:t>21〜25</a:t>
                      </a:r>
                    </a:p>
                  </a:txBody>
                  <a:tcPr/>
                </a:tc>
                <a:tc>
                  <a:txBody>
                    <a:bodyPr/>
                    <a:lstStyle/>
                    <a:p>
                      <a:pPr algn="ctr"/>
                      <a:r>
                        <a:rPr sz="1000" b="1">
                          <a:solidFill>
                            <a:srgbClr val="262626"/>
                          </a:solidFill>
                          <a:latin typeface="游ゴシック"/>
                        </a:rPr>
                        <a:t>18</a:t>
                      </a:r>
                    </a:p>
                  </a:txBody>
                  <a:tcPr/>
                </a:tc>
                <a:tc>
                  <a:txBody>
                    <a:bodyPr/>
                    <a:lstStyle/>
                    <a:p>
                      <a:pPr algn="ctr"/>
                      <a:r>
                        <a:rPr sz="1000" b="1">
                          <a:solidFill>
                            <a:srgbClr val="262626"/>
                          </a:solidFill>
                          <a:latin typeface="游ゴシック"/>
                        </a:rPr>
                        <a:t>85.5%</a:t>
                      </a:r>
                    </a:p>
                  </a:txBody>
                  <a:tcPr/>
                </a:tc>
              </a:tr>
              <a:tr h="269428">
                <a:tc>
                  <a:txBody>
                    <a:bodyPr/>
                    <a:lstStyle/>
                    <a:p>
                      <a:pPr algn="ctr"/>
                      <a:r>
                        <a:rPr sz="1000" b="0">
                          <a:solidFill>
                            <a:srgbClr val="262626"/>
                          </a:solidFill>
                          <a:latin typeface="游ゴシック"/>
                        </a:rPr>
                        <a:t>26〜30</a:t>
                      </a:r>
                    </a:p>
                  </a:txBody>
                  <a:tcPr>
                    <a:solidFill>
                      <a:srgbClr val="A8C4C7"/>
                    </a:solidFill>
                  </a:tcPr>
                </a:tc>
                <a:tc>
                  <a:txBody>
                    <a:bodyPr/>
                    <a:lstStyle/>
                    <a:p>
                      <a:pPr algn="ctr"/>
                      <a:r>
                        <a:rPr sz="1000" b="1">
                          <a:solidFill>
                            <a:srgbClr val="262626"/>
                          </a:solidFill>
                          <a:latin typeface="游ゴシック"/>
                        </a:rPr>
                        <a:t>20</a:t>
                      </a:r>
                    </a:p>
                  </a:txBody>
                  <a:tcPr>
                    <a:solidFill>
                      <a:srgbClr val="A8C4C7"/>
                    </a:solidFill>
                  </a:tcPr>
                </a:tc>
                <a:tc>
                  <a:txBody>
                    <a:bodyPr/>
                    <a:lstStyle/>
                    <a:p>
                      <a:pPr algn="ctr"/>
                      <a:r>
                        <a:rPr sz="1000" b="1">
                          <a:solidFill>
                            <a:srgbClr val="262626"/>
                          </a:solidFill>
                          <a:latin typeface="游ゴシック"/>
                        </a:rPr>
                        <a:t>92.4%</a:t>
                      </a:r>
                    </a:p>
                  </a:txBody>
                  <a:tcPr>
                    <a:solidFill>
                      <a:srgbClr val="A8C4C7"/>
                    </a:solidFill>
                  </a:tcPr>
                </a:tc>
              </a:tr>
              <a:tr h="269428">
                <a:tc>
                  <a:txBody>
                    <a:bodyPr/>
                    <a:lstStyle/>
                    <a:p>
                      <a:pPr algn="ctr"/>
                      <a:r>
                        <a:rPr sz="1000" b="0">
                          <a:solidFill>
                            <a:srgbClr val="262626"/>
                          </a:solidFill>
                          <a:latin typeface="游ゴシック"/>
                        </a:rPr>
                        <a:t>31〜35</a:t>
                      </a:r>
                    </a:p>
                  </a:txBody>
                  <a:tcPr/>
                </a:tc>
                <a:tc>
                  <a:txBody>
                    <a:bodyPr/>
                    <a:lstStyle/>
                    <a:p>
                      <a:pPr algn="ctr"/>
                      <a:r>
                        <a:rPr sz="1000" b="1">
                          <a:solidFill>
                            <a:srgbClr val="262626"/>
                          </a:solidFill>
                          <a:latin typeface="游ゴシック"/>
                        </a:rPr>
                        <a:t>6</a:t>
                      </a:r>
                    </a:p>
                  </a:txBody>
                  <a:tcPr/>
                </a:tc>
                <a:tc>
                  <a:txBody>
                    <a:bodyPr/>
                    <a:lstStyle/>
                    <a:p>
                      <a:pPr algn="ctr"/>
                      <a:r>
                        <a:rPr sz="1000" b="1">
                          <a:solidFill>
                            <a:srgbClr val="262626"/>
                          </a:solidFill>
                          <a:latin typeface="游ゴシック"/>
                        </a:rPr>
                        <a:t>94.5%</a:t>
                      </a:r>
                    </a:p>
                  </a:txBody>
                  <a:tcPr/>
                </a:tc>
              </a:tr>
              <a:tr h="269428">
                <a:tc>
                  <a:txBody>
                    <a:bodyPr/>
                    <a:lstStyle/>
                    <a:p>
                      <a:pPr algn="ctr"/>
                      <a:r>
                        <a:rPr sz="1000" b="0">
                          <a:solidFill>
                            <a:srgbClr val="262626"/>
                          </a:solidFill>
                          <a:latin typeface="游ゴシック"/>
                        </a:rPr>
                        <a:t>36〜40</a:t>
                      </a:r>
                    </a:p>
                  </a:txBody>
                  <a:tcPr>
                    <a:solidFill>
                      <a:srgbClr val="A8C4C7"/>
                    </a:solidFill>
                  </a:tcPr>
                </a:tc>
                <a:tc>
                  <a:txBody>
                    <a:bodyPr/>
                    <a:lstStyle/>
                    <a:p>
                      <a:pPr algn="ctr"/>
                      <a:r>
                        <a:rPr sz="1000" b="1">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96.5%</a:t>
                      </a:r>
                    </a:p>
                  </a:txBody>
                  <a:tcPr>
                    <a:solidFill>
                      <a:srgbClr val="A8C4C7"/>
                    </a:solidFill>
                  </a:tcPr>
                </a:tc>
              </a:tr>
              <a:tr h="269428">
                <a:tc>
                  <a:txBody>
                    <a:bodyPr/>
                    <a:lstStyle/>
                    <a:p>
                      <a:pPr algn="ctr"/>
                      <a:r>
                        <a:rPr sz="1000" b="0">
                          <a:solidFill>
                            <a:srgbClr val="262626"/>
                          </a:solidFill>
                          <a:latin typeface="游ゴシック"/>
                        </a:rPr>
                        <a:t>41〜45</a:t>
                      </a:r>
                    </a:p>
                  </a:txBody>
                  <a:tcPr/>
                </a:tc>
                <a:tc>
                  <a:txBody>
                    <a:bodyPr/>
                    <a:lstStyle/>
                    <a:p>
                      <a:pPr algn="ctr"/>
                      <a:r>
                        <a:rPr sz="1000" b="1">
                          <a:solidFill>
                            <a:srgbClr val="262626"/>
                          </a:solidFill>
                          <a:latin typeface="游ゴシック"/>
                        </a:rPr>
                        <a:t>3</a:t>
                      </a:r>
                    </a:p>
                  </a:txBody>
                  <a:tcPr/>
                </a:tc>
                <a:tc>
                  <a:txBody>
                    <a:bodyPr/>
                    <a:lstStyle/>
                    <a:p>
                      <a:pPr algn="ctr"/>
                      <a:r>
                        <a:rPr sz="1000" b="1">
                          <a:solidFill>
                            <a:srgbClr val="262626"/>
                          </a:solidFill>
                          <a:latin typeface="游ゴシック"/>
                        </a:rPr>
                        <a:t>97.6%</a:t>
                      </a:r>
                    </a:p>
                  </a:txBody>
                  <a:tcPr/>
                </a:tc>
              </a:tr>
              <a:tr h="269428">
                <a:tc>
                  <a:txBody>
                    <a:bodyPr/>
                    <a:lstStyle/>
                    <a:p>
                      <a:pPr algn="ctr"/>
                      <a:r>
                        <a:rPr sz="1000" b="0">
                          <a:solidFill>
                            <a:srgbClr val="262626"/>
                          </a:solidFill>
                          <a:latin typeface="游ゴシック"/>
                        </a:rPr>
                        <a:t>46〜50</a:t>
                      </a:r>
                    </a:p>
                  </a:txBody>
                  <a:tcPr>
                    <a:solidFill>
                      <a:srgbClr val="A8C4C7"/>
                    </a:solidFill>
                  </a:tcPr>
                </a:tc>
                <a:tc>
                  <a:txBody>
                    <a:bodyPr/>
                    <a:lstStyle/>
                    <a:p>
                      <a:pPr algn="ctr"/>
                      <a:r>
                        <a:rPr sz="1000" b="1">
                          <a:solidFill>
                            <a:srgbClr val="262626"/>
                          </a:solidFill>
                          <a:latin typeface="游ゴシック"/>
                        </a:rPr>
                        <a:t>3</a:t>
                      </a:r>
                    </a:p>
                  </a:txBody>
                  <a:tcPr>
                    <a:solidFill>
                      <a:srgbClr val="A8C4C7"/>
                    </a:solidFill>
                  </a:tcPr>
                </a:tc>
                <a:tc>
                  <a:txBody>
                    <a:bodyPr/>
                    <a:lstStyle/>
                    <a:p>
                      <a:pPr algn="ctr"/>
                      <a:r>
                        <a:rPr sz="1000" b="1">
                          <a:solidFill>
                            <a:srgbClr val="262626"/>
                          </a:solidFill>
                          <a:latin typeface="游ゴシック"/>
                        </a:rPr>
                        <a:t>98.6%</a:t>
                      </a:r>
                    </a:p>
                  </a:txBody>
                  <a:tcPr>
                    <a:solidFill>
                      <a:srgbClr val="A8C4C7"/>
                    </a:solidFill>
                  </a:tcPr>
                </a:tc>
              </a:tr>
              <a:tr h="269428">
                <a:tc>
                  <a:txBody>
                    <a:bodyPr/>
                    <a:lstStyle/>
                    <a:p>
                      <a:pPr algn="ctr"/>
                      <a:r>
                        <a:rPr sz="1000" b="0">
                          <a:solidFill>
                            <a:srgbClr val="262626"/>
                          </a:solidFill>
                          <a:latin typeface="游ゴシック"/>
                        </a:rPr>
                        <a:t>51〜55</a:t>
                      </a:r>
                    </a:p>
                  </a:txBody>
                  <a:tcPr/>
                </a:tc>
                <a:tc>
                  <a:txBody>
                    <a:bodyPr/>
                    <a:lstStyle/>
                    <a:p>
                      <a:pPr algn="ctr"/>
                      <a:r>
                        <a:rPr sz="1000" b="1">
                          <a:solidFill>
                            <a:srgbClr val="262626"/>
                          </a:solidFill>
                          <a:latin typeface="游ゴシック"/>
                        </a:rPr>
                        <a:t>1</a:t>
                      </a:r>
                    </a:p>
                  </a:txBody>
                  <a:tcPr/>
                </a:tc>
                <a:tc>
                  <a:txBody>
                    <a:bodyPr/>
                    <a:lstStyle/>
                    <a:p>
                      <a:pPr algn="ctr"/>
                      <a:r>
                        <a:rPr sz="1000" b="1">
                          <a:solidFill>
                            <a:srgbClr val="262626"/>
                          </a:solidFill>
                          <a:latin typeface="游ゴシック"/>
                        </a:rPr>
                        <a:t>99.0%</a:t>
                      </a:r>
                    </a:p>
                  </a:txBody>
                  <a:tcPr/>
                </a:tc>
              </a:tr>
              <a:tr h="269428">
                <a:tc>
                  <a:txBody>
                    <a:bodyPr/>
                    <a:lstStyle/>
                    <a:p>
                      <a:pPr algn="ctr"/>
                      <a:r>
                        <a:rPr sz="1000" b="0">
                          <a:solidFill>
                            <a:srgbClr val="262626"/>
                          </a:solidFill>
                          <a:latin typeface="游ゴシック"/>
                        </a:rPr>
                        <a:t>56〜60</a:t>
                      </a:r>
                    </a:p>
                  </a:txBody>
                  <a:tcPr>
                    <a:solidFill>
                      <a:srgbClr val="A8C4C7"/>
                    </a:solidFill>
                  </a:tcPr>
                </a:tc>
                <a:tc>
                  <a:txBody>
                    <a:bodyPr/>
                    <a:lstStyle/>
                    <a:p>
                      <a:pPr algn="ctr"/>
                      <a:r>
                        <a:rPr sz="1000" b="1">
                          <a:solidFill>
                            <a:srgbClr val="262626"/>
                          </a:solidFill>
                          <a:latin typeface="游ゴシック"/>
                        </a:rPr>
                        <a:t>0</a:t>
                      </a:r>
                    </a:p>
                  </a:txBody>
                  <a:tcPr>
                    <a:solidFill>
                      <a:srgbClr val="A8C4C7"/>
                    </a:solidFill>
                  </a:tcPr>
                </a:tc>
                <a:tc>
                  <a:txBody>
                    <a:bodyPr/>
                    <a:lstStyle/>
                    <a:p>
                      <a:pPr algn="ctr"/>
                      <a:r>
                        <a:rPr sz="1000" b="1">
                          <a:solidFill>
                            <a:srgbClr val="262626"/>
                          </a:solidFill>
                          <a:latin typeface="游ゴシック"/>
                        </a:rPr>
                        <a:t>99.0%</a:t>
                      </a:r>
                    </a:p>
                  </a:txBody>
                  <a:tcPr>
                    <a:solidFill>
                      <a:srgbClr val="A8C4C7"/>
                    </a:solidFill>
                  </a:tcPr>
                </a:tc>
              </a:tr>
              <a:tr h="269428">
                <a:tc>
                  <a:txBody>
                    <a:bodyPr/>
                    <a:lstStyle/>
                    <a:p>
                      <a:pPr algn="ctr"/>
                      <a:r>
                        <a:rPr sz="1000" b="0">
                          <a:solidFill>
                            <a:srgbClr val="262626"/>
                          </a:solidFill>
                          <a:latin typeface="游ゴシック"/>
                        </a:rPr>
                        <a:t>61〜65</a:t>
                      </a:r>
                    </a:p>
                  </a:txBody>
                  <a:tcPr/>
                </a:tc>
                <a:tc>
                  <a:txBody>
                    <a:bodyPr/>
                    <a:lstStyle/>
                    <a:p>
                      <a:pPr algn="ctr"/>
                      <a:r>
                        <a:rPr sz="1000" b="1">
                          <a:solidFill>
                            <a:srgbClr val="262626"/>
                          </a:solidFill>
                          <a:latin typeface="游ゴシック"/>
                        </a:rPr>
                        <a:t>0</a:t>
                      </a:r>
                    </a:p>
                  </a:txBody>
                  <a:tcPr/>
                </a:tc>
                <a:tc>
                  <a:txBody>
                    <a:bodyPr/>
                    <a:lstStyle/>
                    <a:p>
                      <a:pPr algn="ctr"/>
                      <a:r>
                        <a:rPr sz="1000" b="1">
                          <a:solidFill>
                            <a:srgbClr val="262626"/>
                          </a:solidFill>
                          <a:latin typeface="游ゴシック"/>
                        </a:rPr>
                        <a:t>99.0%</a:t>
                      </a:r>
                    </a:p>
                  </a:txBody>
                  <a:tcPr/>
                </a:tc>
              </a:tr>
              <a:tr h="269428">
                <a:tc>
                  <a:txBody>
                    <a:bodyPr/>
                    <a:lstStyle/>
                    <a:p>
                      <a:pPr algn="ctr"/>
                      <a:r>
                        <a:rPr sz="1000" b="0">
                          <a:solidFill>
                            <a:srgbClr val="262626"/>
                          </a:solidFill>
                          <a:latin typeface="游ゴシック"/>
                        </a:rPr>
                        <a:t>66〜70</a:t>
                      </a:r>
                    </a:p>
                  </a:txBody>
                  <a:tcPr>
                    <a:solidFill>
                      <a:srgbClr val="A8C4C7"/>
                    </a:solidFill>
                  </a:tcPr>
                </a:tc>
                <a:tc>
                  <a:txBody>
                    <a:bodyPr/>
                    <a:lstStyle/>
                    <a:p>
                      <a:pPr algn="ctr"/>
                      <a:r>
                        <a:rPr sz="1000" b="1">
                          <a:solidFill>
                            <a:srgbClr val="262626"/>
                          </a:solidFill>
                          <a:latin typeface="游ゴシック"/>
                        </a:rPr>
                        <a:t>0</a:t>
                      </a:r>
                    </a:p>
                  </a:txBody>
                  <a:tcPr>
                    <a:solidFill>
                      <a:srgbClr val="A8C4C7"/>
                    </a:solidFill>
                  </a:tcPr>
                </a:tc>
                <a:tc>
                  <a:txBody>
                    <a:bodyPr/>
                    <a:lstStyle/>
                    <a:p>
                      <a:pPr algn="ctr"/>
                      <a:r>
                        <a:rPr sz="1000" b="1">
                          <a:solidFill>
                            <a:srgbClr val="262626"/>
                          </a:solidFill>
                          <a:latin typeface="游ゴシック"/>
                        </a:rPr>
                        <a:t>99.0%</a:t>
                      </a:r>
                    </a:p>
                  </a:txBody>
                  <a:tcPr>
                    <a:solidFill>
                      <a:srgbClr val="A8C4C7"/>
                    </a:solidFill>
                  </a:tcPr>
                </a:tc>
              </a:tr>
              <a:tr h="269428">
                <a:tc>
                  <a:txBody>
                    <a:bodyPr/>
                    <a:lstStyle/>
                    <a:p>
                      <a:pPr algn="ctr"/>
                      <a:r>
                        <a:rPr sz="1000" b="0">
                          <a:solidFill>
                            <a:srgbClr val="262626"/>
                          </a:solidFill>
                          <a:latin typeface="游ゴシック"/>
                        </a:rPr>
                        <a:t>71〜75</a:t>
                      </a:r>
                    </a:p>
                  </a:txBody>
                  <a:tcPr/>
                </a:tc>
                <a:tc>
                  <a:txBody>
                    <a:bodyPr/>
                    <a:lstStyle/>
                    <a:p>
                      <a:pPr algn="ctr"/>
                      <a:r>
                        <a:rPr sz="1000" b="1">
                          <a:solidFill>
                            <a:srgbClr val="262626"/>
                          </a:solidFill>
                          <a:latin typeface="游ゴシック"/>
                        </a:rPr>
                        <a:t>0</a:t>
                      </a:r>
                    </a:p>
                  </a:txBody>
                  <a:tcPr/>
                </a:tc>
                <a:tc>
                  <a:txBody>
                    <a:bodyPr/>
                    <a:lstStyle/>
                    <a:p>
                      <a:pPr algn="ctr"/>
                      <a:r>
                        <a:rPr sz="1000" b="1">
                          <a:solidFill>
                            <a:srgbClr val="262626"/>
                          </a:solidFill>
                          <a:latin typeface="游ゴシック"/>
                        </a:rPr>
                        <a:t>99.0%</a:t>
                      </a:r>
                    </a:p>
                  </a:txBody>
                  <a:tcPr/>
                </a:tc>
              </a:tr>
              <a:tr h="269428">
                <a:tc>
                  <a:txBody>
                    <a:bodyPr/>
                    <a:lstStyle/>
                    <a:p>
                      <a:pPr algn="ctr"/>
                      <a:r>
                        <a:rPr sz="1000" b="0">
                          <a:solidFill>
                            <a:srgbClr val="262626"/>
                          </a:solidFill>
                          <a:latin typeface="游ゴシック"/>
                        </a:rPr>
                        <a:t>76〜80</a:t>
                      </a:r>
                    </a:p>
                  </a:txBody>
                  <a:tcPr>
                    <a:solidFill>
                      <a:srgbClr val="A8C4C7"/>
                    </a:solidFill>
                  </a:tcPr>
                </a:tc>
                <a:tc>
                  <a:txBody>
                    <a:bodyPr/>
                    <a:lstStyle/>
                    <a:p>
                      <a:pPr algn="ctr"/>
                      <a:r>
                        <a:rPr sz="1000" b="1">
                          <a:solidFill>
                            <a:srgbClr val="262626"/>
                          </a:solidFill>
                          <a:latin typeface="游ゴシック"/>
                        </a:rPr>
                        <a:t>0</a:t>
                      </a:r>
                    </a:p>
                  </a:txBody>
                  <a:tcPr>
                    <a:solidFill>
                      <a:srgbClr val="A8C4C7"/>
                    </a:solidFill>
                  </a:tcPr>
                </a:tc>
                <a:tc>
                  <a:txBody>
                    <a:bodyPr/>
                    <a:lstStyle/>
                    <a:p>
                      <a:pPr algn="ctr"/>
                      <a:r>
                        <a:rPr sz="1000" b="1">
                          <a:solidFill>
                            <a:srgbClr val="262626"/>
                          </a:solidFill>
                          <a:latin typeface="游ゴシック"/>
                        </a:rPr>
                        <a:t>99.0%</a:t>
                      </a:r>
                    </a:p>
                  </a:txBody>
                  <a:tcPr>
                    <a:solidFill>
                      <a:srgbClr val="A8C4C7"/>
                    </a:solidFill>
                  </a:tcPr>
                </a:tc>
              </a:tr>
              <a:tr h="269428">
                <a:tc>
                  <a:txBody>
                    <a:bodyPr/>
                    <a:lstStyle/>
                    <a:p>
                      <a:pPr algn="ctr"/>
                      <a:r>
                        <a:rPr sz="1000" b="0">
                          <a:solidFill>
                            <a:srgbClr val="262626"/>
                          </a:solidFill>
                          <a:latin typeface="游ゴシック"/>
                        </a:rPr>
                        <a:t>81〜85</a:t>
                      </a:r>
                    </a:p>
                  </a:txBody>
                  <a:tcPr/>
                </a:tc>
                <a:tc>
                  <a:txBody>
                    <a:bodyPr/>
                    <a:lstStyle/>
                    <a:p>
                      <a:pPr algn="ctr"/>
                      <a:r>
                        <a:rPr sz="1000" b="1">
                          <a:solidFill>
                            <a:srgbClr val="262626"/>
                          </a:solidFill>
                          <a:latin typeface="游ゴシック"/>
                        </a:rPr>
                        <a:t>1</a:t>
                      </a:r>
                    </a:p>
                  </a:txBody>
                  <a:tcPr/>
                </a:tc>
                <a:tc>
                  <a:txBody>
                    <a:bodyPr/>
                    <a:lstStyle/>
                    <a:p>
                      <a:pPr algn="ctr"/>
                      <a:r>
                        <a:rPr sz="1000" b="1">
                          <a:solidFill>
                            <a:srgbClr val="262626"/>
                          </a:solidFill>
                          <a:latin typeface="游ゴシック"/>
                        </a:rPr>
                        <a:t>99.3%</a:t>
                      </a:r>
                    </a:p>
                  </a:txBody>
                  <a:tcPr/>
                </a:tc>
              </a:tr>
              <a:tr h="269428">
                <a:tc>
                  <a:txBody>
                    <a:bodyPr/>
                    <a:lstStyle/>
                    <a:p>
                      <a:pPr algn="ctr"/>
                      <a:r>
                        <a:rPr sz="1000" b="0">
                          <a:solidFill>
                            <a:srgbClr val="262626"/>
                          </a:solidFill>
                          <a:latin typeface="游ゴシック"/>
                        </a:rPr>
                        <a:t>86〜90</a:t>
                      </a:r>
                    </a:p>
                  </a:txBody>
                  <a:tcPr>
                    <a:solidFill>
                      <a:srgbClr val="A8C4C7"/>
                    </a:solidFill>
                  </a:tcPr>
                </a:tc>
                <a:tc>
                  <a:txBody>
                    <a:bodyPr/>
                    <a:lstStyle/>
                    <a:p>
                      <a:pPr algn="ctr"/>
                      <a:r>
                        <a:rPr sz="1000" b="1">
                          <a:solidFill>
                            <a:srgbClr val="262626"/>
                          </a:solidFill>
                          <a:latin typeface="游ゴシック"/>
                        </a:rPr>
                        <a:t>0</a:t>
                      </a:r>
                    </a:p>
                  </a:txBody>
                  <a:tcPr>
                    <a:solidFill>
                      <a:srgbClr val="A8C4C7"/>
                    </a:solidFill>
                  </a:tcPr>
                </a:tc>
                <a:tc>
                  <a:txBody>
                    <a:bodyPr/>
                    <a:lstStyle/>
                    <a:p>
                      <a:pPr algn="ctr"/>
                      <a:r>
                        <a:rPr sz="1000" b="1">
                          <a:solidFill>
                            <a:srgbClr val="262626"/>
                          </a:solidFill>
                          <a:latin typeface="游ゴシック"/>
                        </a:rPr>
                        <a:t>99.3%</a:t>
                      </a:r>
                    </a:p>
                  </a:txBody>
                  <a:tcPr>
                    <a:solidFill>
                      <a:srgbClr val="A8C4C7"/>
                    </a:solidFill>
                  </a:tcPr>
                </a:tc>
              </a:tr>
              <a:tr h="269428">
                <a:tc>
                  <a:txBody>
                    <a:bodyPr/>
                    <a:lstStyle/>
                    <a:p>
                      <a:pPr algn="ctr"/>
                      <a:r>
                        <a:rPr sz="1000" b="0">
                          <a:solidFill>
                            <a:srgbClr val="262626"/>
                          </a:solidFill>
                          <a:latin typeface="游ゴシック"/>
                        </a:rPr>
                        <a:t>91〜95</a:t>
                      </a:r>
                    </a:p>
                  </a:txBody>
                  <a:tcPr/>
                </a:tc>
                <a:tc>
                  <a:txBody>
                    <a:bodyPr/>
                    <a:lstStyle/>
                    <a:p>
                      <a:pPr algn="ctr"/>
                      <a:r>
                        <a:rPr sz="1000" b="1">
                          <a:solidFill>
                            <a:srgbClr val="262626"/>
                          </a:solidFill>
                          <a:latin typeface="游ゴシック"/>
                        </a:rPr>
                        <a:t>0</a:t>
                      </a:r>
                    </a:p>
                  </a:txBody>
                  <a:tcPr/>
                </a:tc>
                <a:tc>
                  <a:txBody>
                    <a:bodyPr/>
                    <a:lstStyle/>
                    <a:p>
                      <a:pPr algn="ctr"/>
                      <a:r>
                        <a:rPr sz="1000" b="1">
                          <a:solidFill>
                            <a:srgbClr val="262626"/>
                          </a:solidFill>
                          <a:latin typeface="游ゴシック"/>
                        </a:rPr>
                        <a:t>99.3%</a:t>
                      </a:r>
                    </a:p>
                  </a:txBody>
                  <a:tcPr/>
                </a:tc>
              </a:tr>
              <a:tr h="269428">
                <a:tc>
                  <a:txBody>
                    <a:bodyPr/>
                    <a:lstStyle/>
                    <a:p>
                      <a:pPr algn="ctr"/>
                      <a:r>
                        <a:rPr sz="1000" b="0">
                          <a:solidFill>
                            <a:srgbClr val="262626"/>
                          </a:solidFill>
                          <a:latin typeface="游ゴシック"/>
                        </a:rPr>
                        <a:t>96〜100</a:t>
                      </a:r>
                    </a:p>
                  </a:txBody>
                  <a:tcPr>
                    <a:solidFill>
                      <a:srgbClr val="A8C4C7"/>
                    </a:solidFill>
                  </a:tcPr>
                </a:tc>
                <a:tc>
                  <a:txBody>
                    <a:bodyPr/>
                    <a:lstStyle/>
                    <a:p>
                      <a:pPr algn="ctr"/>
                      <a:r>
                        <a:rPr sz="1000" b="1">
                          <a:solidFill>
                            <a:srgbClr val="262626"/>
                          </a:solidFill>
                          <a:latin typeface="游ゴシック"/>
                        </a:rPr>
                        <a:t>0</a:t>
                      </a:r>
                    </a:p>
                  </a:txBody>
                  <a:tcPr>
                    <a:solidFill>
                      <a:srgbClr val="A8C4C7"/>
                    </a:solidFill>
                  </a:tcPr>
                </a:tc>
                <a:tc>
                  <a:txBody>
                    <a:bodyPr/>
                    <a:lstStyle/>
                    <a:p>
                      <a:pPr algn="ctr"/>
                      <a:r>
                        <a:rPr sz="1000" b="1">
                          <a:solidFill>
                            <a:srgbClr val="262626"/>
                          </a:solidFill>
                          <a:latin typeface="游ゴシック"/>
                        </a:rPr>
                        <a:t>99.3%</a:t>
                      </a:r>
                    </a:p>
                  </a:txBody>
                  <a:tcPr>
                    <a:solidFill>
                      <a:srgbClr val="A8C4C7"/>
                    </a:solidFill>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n=289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2200" b="1">
                <a:solidFill>
                  <a:srgbClr val="262626"/>
                </a:solidFill>
                <a:latin typeface="游ゴシック"/>
              </a:rPr>
              <a:t>Q3.  大腿骨近位部骨折を担当したOT（作業療法士）の在籍人数</a:t>
            </a:r>
          </a:p>
        </p:txBody>
      </p:sp>
      <p:graphicFrame>
        <p:nvGraphicFramePr>
          <p:cNvPr id="3" name="Chart 2"/>
          <p:cNvGraphicFramePr>
            <a:graphicFrameLocks noGrp="1"/>
          </p:cNvGraphicFramePr>
          <p:nvPr/>
        </p:nvGraphicFramePr>
        <p:xfrm>
          <a:off x="300000" y="900000"/>
          <a:ext cx="75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900000" y="1050000"/>
          <a:ext cx="3400000" cy="4320000"/>
        </p:xfrm>
        <a:graphic>
          <a:graphicData uri="http://schemas.openxmlformats.org/drawingml/2006/table">
            <a:tbl>
              <a:tblPr firstRow="1" bandRow="1">
                <a:tableStyleId>{5C22544A-7EE6-4342-B048-85BDC9FD1C3A}</a:tableStyleId>
              </a:tblPr>
              <a:tblGrid>
                <a:gridCol w="1500000"/>
                <a:gridCol w="900000"/>
                <a:gridCol w="1000000"/>
              </a:tblGrid>
              <a:tr h="432000">
                <a:tc>
                  <a:txBody>
                    <a:bodyPr/>
                    <a:lstStyle/>
                    <a:p>
                      <a:pPr algn="ctr"/>
                      <a:r>
                        <a:rPr sz="1400" b="1">
                          <a:solidFill>
                            <a:srgbClr val="FFFFFF"/>
                          </a:solidFill>
                          <a:latin typeface="游ゴシック"/>
                        </a:rPr>
                        <a:t>階級</a:t>
                      </a:r>
                    </a:p>
                  </a:txBody>
                  <a:tcPr>
                    <a:solidFill>
                      <a:srgbClr val="397077"/>
                    </a:solidFill>
                  </a:tcPr>
                </a:tc>
                <a:tc>
                  <a:txBody>
                    <a:bodyPr/>
                    <a:lstStyle/>
                    <a:p>
                      <a:pPr algn="ctr"/>
                      <a:r>
                        <a:rPr sz="1400" b="1">
                          <a:solidFill>
                            <a:srgbClr val="FFFFFF"/>
                          </a:solidFill>
                          <a:latin typeface="游ゴシック"/>
                        </a:rPr>
                        <a:t>施設数</a:t>
                      </a:r>
                    </a:p>
                  </a:txBody>
                  <a:tcPr>
                    <a:solidFill>
                      <a:srgbClr val="397077"/>
                    </a:solidFill>
                  </a:tcPr>
                </a:tc>
                <a:tc>
                  <a:txBody>
                    <a:bodyPr/>
                    <a:lstStyle/>
                    <a:p>
                      <a:pPr algn="ctr"/>
                      <a:r>
                        <a:rPr sz="1400" b="1">
                          <a:solidFill>
                            <a:srgbClr val="FFFFFF"/>
                          </a:solidFill>
                          <a:latin typeface="游ゴシック"/>
                        </a:rPr>
                        <a:t>累積%</a:t>
                      </a:r>
                    </a:p>
                  </a:txBody>
                  <a:tcPr>
                    <a:solidFill>
                      <a:srgbClr val="397077"/>
                    </a:solidFill>
                  </a:tcPr>
                </a:tc>
              </a:tr>
              <a:tr h="432000">
                <a:tc>
                  <a:txBody>
                    <a:bodyPr/>
                    <a:lstStyle/>
                    <a:p>
                      <a:pPr algn="ctr"/>
                      <a:r>
                        <a:rPr sz="1000" b="0">
                          <a:solidFill>
                            <a:srgbClr val="262626"/>
                          </a:solidFill>
                          <a:latin typeface="游ゴシック"/>
                        </a:rPr>
                        <a:t>1〜5</a:t>
                      </a:r>
                    </a:p>
                  </a:txBody>
                  <a:tcPr/>
                </a:tc>
                <a:tc>
                  <a:txBody>
                    <a:bodyPr/>
                    <a:lstStyle/>
                    <a:p>
                      <a:pPr algn="ctr"/>
                      <a:r>
                        <a:rPr sz="1000" b="1">
                          <a:solidFill>
                            <a:srgbClr val="262626"/>
                          </a:solidFill>
                          <a:latin typeface="游ゴシック"/>
                        </a:rPr>
                        <a:t>160</a:t>
                      </a:r>
                    </a:p>
                  </a:txBody>
                  <a:tcPr/>
                </a:tc>
                <a:tc>
                  <a:txBody>
                    <a:bodyPr/>
                    <a:lstStyle/>
                    <a:p>
                      <a:pPr algn="ctr"/>
                      <a:r>
                        <a:rPr sz="1000" b="1">
                          <a:solidFill>
                            <a:srgbClr val="262626"/>
                          </a:solidFill>
                          <a:latin typeface="游ゴシック"/>
                        </a:rPr>
                        <a:t>55.4%</a:t>
                      </a:r>
                    </a:p>
                  </a:txBody>
                  <a:tcPr/>
                </a:tc>
              </a:tr>
              <a:tr h="432000">
                <a:tc>
                  <a:txBody>
                    <a:bodyPr/>
                    <a:lstStyle/>
                    <a:p>
                      <a:pPr algn="ctr"/>
                      <a:r>
                        <a:rPr sz="1000" b="0">
                          <a:solidFill>
                            <a:srgbClr val="262626"/>
                          </a:solidFill>
                          <a:latin typeface="游ゴシック"/>
                        </a:rPr>
                        <a:t>6〜10</a:t>
                      </a:r>
                    </a:p>
                  </a:txBody>
                  <a:tcPr>
                    <a:solidFill>
                      <a:srgbClr val="A8C4C7"/>
                    </a:solidFill>
                  </a:tcPr>
                </a:tc>
                <a:tc>
                  <a:txBody>
                    <a:bodyPr/>
                    <a:lstStyle/>
                    <a:p>
                      <a:pPr algn="ctr"/>
                      <a:r>
                        <a:rPr sz="1000" b="1">
                          <a:solidFill>
                            <a:srgbClr val="262626"/>
                          </a:solidFill>
                          <a:latin typeface="游ゴシック"/>
                        </a:rPr>
                        <a:t>90</a:t>
                      </a:r>
                    </a:p>
                  </a:txBody>
                  <a:tcPr>
                    <a:solidFill>
                      <a:srgbClr val="A8C4C7"/>
                    </a:solidFill>
                  </a:tcPr>
                </a:tc>
                <a:tc>
                  <a:txBody>
                    <a:bodyPr/>
                    <a:lstStyle/>
                    <a:p>
                      <a:pPr algn="ctr"/>
                      <a:r>
                        <a:rPr sz="1000" b="1">
                          <a:solidFill>
                            <a:srgbClr val="262626"/>
                          </a:solidFill>
                          <a:latin typeface="游ゴシック"/>
                        </a:rPr>
                        <a:t>86.5%</a:t>
                      </a:r>
                    </a:p>
                  </a:txBody>
                  <a:tcPr>
                    <a:solidFill>
                      <a:srgbClr val="A8C4C7"/>
                    </a:solidFill>
                  </a:tcPr>
                </a:tc>
              </a:tr>
              <a:tr h="432000">
                <a:tc>
                  <a:txBody>
                    <a:bodyPr/>
                    <a:lstStyle/>
                    <a:p>
                      <a:pPr algn="ctr"/>
                      <a:r>
                        <a:rPr sz="1000" b="0">
                          <a:solidFill>
                            <a:srgbClr val="262626"/>
                          </a:solidFill>
                          <a:latin typeface="游ゴシック"/>
                        </a:rPr>
                        <a:t>11〜15</a:t>
                      </a:r>
                    </a:p>
                  </a:txBody>
                  <a:tcPr/>
                </a:tc>
                <a:tc>
                  <a:txBody>
                    <a:bodyPr/>
                    <a:lstStyle/>
                    <a:p>
                      <a:pPr algn="ctr"/>
                      <a:r>
                        <a:rPr sz="1000" b="1">
                          <a:solidFill>
                            <a:srgbClr val="262626"/>
                          </a:solidFill>
                          <a:latin typeface="游ゴシック"/>
                        </a:rPr>
                        <a:t>25</a:t>
                      </a:r>
                    </a:p>
                  </a:txBody>
                  <a:tcPr/>
                </a:tc>
                <a:tc>
                  <a:txBody>
                    <a:bodyPr/>
                    <a:lstStyle/>
                    <a:p>
                      <a:pPr algn="ctr"/>
                      <a:r>
                        <a:rPr sz="1000" b="1">
                          <a:solidFill>
                            <a:srgbClr val="262626"/>
                          </a:solidFill>
                          <a:latin typeface="游ゴシック"/>
                        </a:rPr>
                        <a:t>95.2%</a:t>
                      </a:r>
                    </a:p>
                  </a:txBody>
                  <a:tcPr/>
                </a:tc>
              </a:tr>
              <a:tr h="432000">
                <a:tc>
                  <a:txBody>
                    <a:bodyPr/>
                    <a:lstStyle/>
                    <a:p>
                      <a:pPr algn="ctr"/>
                      <a:r>
                        <a:rPr sz="1000" b="0">
                          <a:solidFill>
                            <a:srgbClr val="262626"/>
                          </a:solidFill>
                          <a:latin typeface="游ゴシック"/>
                        </a:rPr>
                        <a:t>16〜20</a:t>
                      </a:r>
                    </a:p>
                  </a:txBody>
                  <a:tcPr>
                    <a:solidFill>
                      <a:srgbClr val="A8C4C7"/>
                    </a:solidFill>
                  </a:tcPr>
                </a:tc>
                <a:tc>
                  <a:txBody>
                    <a:bodyPr/>
                    <a:lstStyle/>
                    <a:p>
                      <a:pPr algn="ctr"/>
                      <a:r>
                        <a:rPr sz="1000" b="1">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97.9%</a:t>
                      </a:r>
                    </a:p>
                  </a:txBody>
                  <a:tcPr>
                    <a:solidFill>
                      <a:srgbClr val="A8C4C7"/>
                    </a:solidFill>
                  </a:tcPr>
                </a:tc>
              </a:tr>
              <a:tr h="432000">
                <a:tc>
                  <a:txBody>
                    <a:bodyPr/>
                    <a:lstStyle/>
                    <a:p>
                      <a:pPr algn="ctr"/>
                      <a:r>
                        <a:rPr sz="1000" b="0">
                          <a:solidFill>
                            <a:srgbClr val="262626"/>
                          </a:solidFill>
                          <a:latin typeface="游ゴシック"/>
                        </a:rPr>
                        <a:t>21〜25</a:t>
                      </a:r>
                    </a:p>
                  </a:txBody>
                  <a:tcPr/>
                </a:tc>
                <a:tc>
                  <a:txBody>
                    <a:bodyPr/>
                    <a:lstStyle/>
                    <a:p>
                      <a:pPr algn="ctr"/>
                      <a:r>
                        <a:rPr sz="1000" b="1">
                          <a:solidFill>
                            <a:srgbClr val="262626"/>
                          </a:solidFill>
                          <a:latin typeface="游ゴシック"/>
                        </a:rPr>
                        <a:t>3</a:t>
                      </a:r>
                    </a:p>
                  </a:txBody>
                  <a:tcPr/>
                </a:tc>
                <a:tc>
                  <a:txBody>
                    <a:bodyPr/>
                    <a:lstStyle/>
                    <a:p>
                      <a:pPr algn="ctr"/>
                      <a:r>
                        <a:rPr sz="1000" b="1">
                          <a:solidFill>
                            <a:srgbClr val="262626"/>
                          </a:solidFill>
                          <a:latin typeface="游ゴシック"/>
                        </a:rPr>
                        <a:t>99.0%</a:t>
                      </a:r>
                    </a:p>
                  </a:txBody>
                  <a:tcPr/>
                </a:tc>
              </a:tr>
              <a:tr h="432000">
                <a:tc>
                  <a:txBody>
                    <a:bodyPr/>
                    <a:lstStyle/>
                    <a:p>
                      <a:pPr algn="ctr"/>
                      <a:r>
                        <a:rPr sz="1000" b="0">
                          <a:solidFill>
                            <a:srgbClr val="262626"/>
                          </a:solidFill>
                          <a:latin typeface="游ゴシック"/>
                        </a:rPr>
                        <a:t>26〜30</a:t>
                      </a:r>
                    </a:p>
                  </a:txBody>
                  <a:tcPr>
                    <a:solidFill>
                      <a:srgbClr val="A8C4C7"/>
                    </a:solidFill>
                  </a:tcPr>
                </a:tc>
                <a:tc>
                  <a:txBody>
                    <a:bodyPr/>
                    <a:lstStyle/>
                    <a:p>
                      <a:pPr algn="ctr"/>
                      <a:r>
                        <a:rPr sz="1000" b="1">
                          <a:solidFill>
                            <a:srgbClr val="262626"/>
                          </a:solidFill>
                          <a:latin typeface="游ゴシック"/>
                        </a:rPr>
                        <a:t>0</a:t>
                      </a:r>
                    </a:p>
                  </a:txBody>
                  <a:tcPr>
                    <a:solidFill>
                      <a:srgbClr val="A8C4C7"/>
                    </a:solidFill>
                  </a:tcPr>
                </a:tc>
                <a:tc>
                  <a:txBody>
                    <a:bodyPr/>
                    <a:lstStyle/>
                    <a:p>
                      <a:pPr algn="ctr"/>
                      <a:r>
                        <a:rPr sz="1000" b="1">
                          <a:solidFill>
                            <a:srgbClr val="262626"/>
                          </a:solidFill>
                          <a:latin typeface="游ゴシック"/>
                        </a:rPr>
                        <a:t>99.0%</a:t>
                      </a:r>
                    </a:p>
                  </a:txBody>
                  <a:tcPr>
                    <a:solidFill>
                      <a:srgbClr val="A8C4C7"/>
                    </a:solidFill>
                  </a:tcPr>
                </a:tc>
              </a:tr>
              <a:tr h="432000">
                <a:tc>
                  <a:txBody>
                    <a:bodyPr/>
                    <a:lstStyle/>
                    <a:p>
                      <a:pPr algn="ctr"/>
                      <a:r>
                        <a:rPr sz="1000" b="0">
                          <a:solidFill>
                            <a:srgbClr val="262626"/>
                          </a:solidFill>
                          <a:latin typeface="游ゴシック"/>
                        </a:rPr>
                        <a:t>31〜35</a:t>
                      </a:r>
                    </a:p>
                  </a:txBody>
                  <a:tcPr/>
                </a:tc>
                <a:tc>
                  <a:txBody>
                    <a:bodyPr/>
                    <a:lstStyle/>
                    <a:p>
                      <a:pPr algn="ctr"/>
                      <a:r>
                        <a:rPr sz="1000" b="1">
                          <a:solidFill>
                            <a:srgbClr val="262626"/>
                          </a:solidFill>
                          <a:latin typeface="游ゴシック"/>
                        </a:rPr>
                        <a:t>2</a:t>
                      </a:r>
                    </a:p>
                  </a:txBody>
                  <a:tcPr/>
                </a:tc>
                <a:tc>
                  <a:txBody>
                    <a:bodyPr/>
                    <a:lstStyle/>
                    <a:p>
                      <a:pPr algn="ctr"/>
                      <a:r>
                        <a:rPr sz="1000" b="1">
                          <a:solidFill>
                            <a:srgbClr val="262626"/>
                          </a:solidFill>
                          <a:latin typeface="游ゴシック"/>
                        </a:rPr>
                        <a:t>99.7%</a:t>
                      </a:r>
                    </a:p>
                  </a:txBody>
                  <a:tcPr/>
                </a:tc>
              </a:tr>
              <a:tr h="432000">
                <a:tc>
                  <a:txBody>
                    <a:bodyPr/>
                    <a:lstStyle/>
                    <a:p>
                      <a:pPr algn="ctr"/>
                      <a:r>
                        <a:rPr sz="1000" b="0">
                          <a:solidFill>
                            <a:srgbClr val="262626"/>
                          </a:solidFill>
                          <a:latin typeface="游ゴシック"/>
                        </a:rPr>
                        <a:t>36〜40</a:t>
                      </a:r>
                    </a:p>
                  </a:txBody>
                  <a:tcPr>
                    <a:solidFill>
                      <a:srgbClr val="A8C4C7"/>
                    </a:solidFill>
                  </a:tcPr>
                </a:tc>
                <a:tc>
                  <a:txBody>
                    <a:bodyPr/>
                    <a:lstStyle/>
                    <a:p>
                      <a:pPr algn="ctr"/>
                      <a:r>
                        <a:rPr sz="1000" b="1">
                          <a:solidFill>
                            <a:srgbClr val="262626"/>
                          </a:solidFill>
                          <a:latin typeface="游ゴシック"/>
                        </a:rPr>
                        <a:t>0</a:t>
                      </a:r>
                    </a:p>
                  </a:txBody>
                  <a:tcPr>
                    <a:solidFill>
                      <a:srgbClr val="A8C4C7"/>
                    </a:solidFill>
                  </a:tcPr>
                </a:tc>
                <a:tc>
                  <a:txBody>
                    <a:bodyPr/>
                    <a:lstStyle/>
                    <a:p>
                      <a:pPr algn="ctr"/>
                      <a:r>
                        <a:rPr sz="1000" b="1">
                          <a:solidFill>
                            <a:srgbClr val="262626"/>
                          </a:solidFill>
                          <a:latin typeface="游ゴシック"/>
                        </a:rPr>
                        <a:t>99.7%</a:t>
                      </a:r>
                    </a:p>
                  </a:txBody>
                  <a:tcPr>
                    <a:solidFill>
                      <a:srgbClr val="A8C4C7"/>
                    </a:solidFill>
                  </a:tcPr>
                </a:tc>
              </a:tr>
              <a:tr h="432000">
                <a:tc>
                  <a:txBody>
                    <a:bodyPr/>
                    <a:lstStyle/>
                    <a:p>
                      <a:pPr algn="ctr"/>
                      <a:r>
                        <a:rPr sz="1000" b="0">
                          <a:solidFill>
                            <a:srgbClr val="262626"/>
                          </a:solidFill>
                          <a:latin typeface="游ゴシック"/>
                        </a:rPr>
                        <a:t>41〜45</a:t>
                      </a:r>
                    </a:p>
                  </a:txBody>
                  <a:tcPr/>
                </a:tc>
                <a:tc>
                  <a:txBody>
                    <a:bodyPr/>
                    <a:lstStyle/>
                    <a:p>
                      <a:pPr algn="ctr"/>
                      <a:r>
                        <a:rPr sz="1000" b="1">
                          <a:solidFill>
                            <a:srgbClr val="262626"/>
                          </a:solidFill>
                          <a:latin typeface="游ゴシック"/>
                        </a:rPr>
                        <a:t>1</a:t>
                      </a:r>
                    </a:p>
                  </a:txBody>
                  <a:tcPr/>
                </a:tc>
                <a:tc>
                  <a:txBody>
                    <a:bodyPr/>
                    <a:lstStyle/>
                    <a:p>
                      <a:pPr algn="ctr"/>
                      <a:r>
                        <a:rPr sz="1000" b="1">
                          <a:solidFill>
                            <a:srgbClr val="262626"/>
                          </a:solidFill>
                          <a:latin typeface="游ゴシック"/>
                        </a:rPr>
                        <a:t>100.0%</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n=289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2000" b="1">
                <a:solidFill>
                  <a:srgbClr val="262626"/>
                </a:solidFill>
                <a:latin typeface="游ゴシック"/>
              </a:rPr>
              <a:t>Q4.  リハビリテーション・栄養・口腔連携体制加算の算定状況</a:t>
            </a:r>
          </a:p>
        </p:txBody>
      </p:sp>
      <p:graphicFrame>
        <p:nvGraphicFramePr>
          <p:cNvPr id="3" name="Chart 2"/>
          <p:cNvGraphicFramePr>
            <a:graphicFrameLocks noGrp="1"/>
          </p:cNvGraphicFramePr>
          <p:nvPr/>
        </p:nvGraphicFramePr>
        <p:xfrm>
          <a:off x="200000" y="900000"/>
          <a:ext cx="70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200000" y="1100000"/>
          <a:ext cx="4400000" cy="30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a:lstStyle/>
                    <a:p>
                      <a:pPr algn="ctr"/>
                      <a:r>
                        <a:rPr sz="1400" b="1">
                          <a:solidFill>
                            <a:srgbClr val="FFFFFF"/>
                          </a:solidFill>
                          <a:latin typeface="游ゴシック"/>
                        </a:rPr>
                        <a:t>回答</a:t>
                      </a:r>
                    </a:p>
                  </a:txBody>
                  <a:tcPr>
                    <a:solidFill>
                      <a:srgbClr val="397077"/>
                    </a:solidFill>
                  </a:tcPr>
                </a:tc>
                <a:tc>
                  <a:txBody>
                    <a:bodyPr/>
                    <a:lstStyle/>
                    <a:p>
                      <a:pPr algn="ctr"/>
                      <a:r>
                        <a:rPr sz="1400" b="1">
                          <a:solidFill>
                            <a:srgbClr val="FFFFFF"/>
                          </a:solidFill>
                          <a:latin typeface="游ゴシック"/>
                        </a:rPr>
                        <a:t>件数</a:t>
                      </a:r>
                    </a:p>
                  </a:txBody>
                  <a:tcPr>
                    <a:solidFill>
                      <a:srgbClr val="397077"/>
                    </a:solidFill>
                  </a:tcPr>
                </a:tc>
                <a:tc>
                  <a:txBody>
                    <a:bodyPr/>
                    <a:lstStyle/>
                    <a:p>
                      <a:pPr algn="ctr"/>
                      <a:r>
                        <a:rPr sz="1400" b="1">
                          <a:solidFill>
                            <a:srgbClr val="FFFFFF"/>
                          </a:solidFill>
                          <a:latin typeface="游ゴシック"/>
                        </a:rPr>
                        <a:t>割合</a:t>
                      </a:r>
                    </a:p>
                  </a:txBody>
                  <a:tcPr>
                    <a:solidFill>
                      <a:srgbClr val="397077"/>
                    </a:solidFill>
                  </a:tcPr>
                </a:tc>
              </a:tr>
              <a:tr h="500000">
                <a:tc>
                  <a:txBody>
                    <a:bodyPr/>
                    <a:lstStyle/>
                    <a:p>
                      <a:pPr algn="ctr"/>
                      <a:r>
                        <a:rPr sz="1100" b="0">
                          <a:solidFill>
                            <a:srgbClr val="262626"/>
                          </a:solidFill>
                          <a:latin typeface="游ゴシック"/>
                        </a:rPr>
                        <a:t>現在、算定している</a:t>
                      </a:r>
                    </a:p>
                  </a:txBody>
                  <a:tcPr/>
                </a:tc>
                <a:tc>
                  <a:txBody>
                    <a:bodyPr/>
                    <a:lstStyle/>
                    <a:p>
                      <a:pPr algn="ctr"/>
                      <a:r>
                        <a:rPr sz="1100" b="1">
                          <a:solidFill>
                            <a:srgbClr val="262626"/>
                          </a:solidFill>
                          <a:latin typeface="游ゴシック"/>
                        </a:rPr>
                        <a:t>50</a:t>
                      </a:r>
                    </a:p>
                  </a:txBody>
                  <a:tcPr/>
                </a:tc>
                <a:tc>
                  <a:txBody>
                    <a:bodyPr/>
                    <a:lstStyle/>
                    <a:p>
                      <a:pPr algn="ctr"/>
                      <a:r>
                        <a:rPr sz="1100" b="1">
                          <a:solidFill>
                            <a:srgbClr val="262626"/>
                          </a:solidFill>
                          <a:latin typeface="游ゴシック"/>
                        </a:rPr>
                        <a:t>17.3%</a:t>
                      </a:r>
                    </a:p>
                  </a:txBody>
                  <a:tcPr/>
                </a:tc>
              </a:tr>
              <a:tr h="500000">
                <a:tc>
                  <a:txBody>
                    <a:bodyPr/>
                    <a:lstStyle/>
                    <a:p>
                      <a:pPr algn="ctr"/>
                      <a:r>
                        <a:rPr sz="1100" b="0">
                          <a:solidFill>
                            <a:srgbClr val="262626"/>
                          </a:solidFill>
                          <a:latin typeface="游ゴシック"/>
                        </a:rPr>
                        <a:t>届け出はしているが、算定していない</a:t>
                      </a:r>
                    </a:p>
                  </a:txBody>
                  <a:tcPr>
                    <a:solidFill>
                      <a:srgbClr val="A8C4C7"/>
                    </a:solidFill>
                  </a:tcPr>
                </a:tc>
                <a:tc>
                  <a:txBody>
                    <a:bodyPr/>
                    <a:lstStyle/>
                    <a:p>
                      <a:pPr algn="ctr"/>
                      <a:r>
                        <a:rPr sz="1100" b="1">
                          <a:solidFill>
                            <a:srgbClr val="262626"/>
                          </a:solidFill>
                          <a:latin typeface="游ゴシック"/>
                        </a:rPr>
                        <a:t>4</a:t>
                      </a:r>
                    </a:p>
                  </a:txBody>
                  <a:tcPr>
                    <a:solidFill>
                      <a:srgbClr val="A8C4C7"/>
                    </a:solidFill>
                  </a:tcPr>
                </a:tc>
                <a:tc>
                  <a:txBody>
                    <a:bodyPr/>
                    <a:lstStyle/>
                    <a:p>
                      <a:pPr algn="ctr"/>
                      <a:r>
                        <a:rPr sz="1100" b="1">
                          <a:solidFill>
                            <a:srgbClr val="262626"/>
                          </a:solidFill>
                          <a:latin typeface="游ゴシック"/>
                        </a:rPr>
                        <a:t>1.4%</a:t>
                      </a:r>
                    </a:p>
                  </a:txBody>
                  <a:tcPr>
                    <a:solidFill>
                      <a:srgbClr val="A8C4C7"/>
                    </a:solidFill>
                  </a:tcPr>
                </a:tc>
              </a:tr>
              <a:tr h="500000">
                <a:tc>
                  <a:txBody>
                    <a:bodyPr/>
                    <a:lstStyle/>
                    <a:p>
                      <a:pPr algn="ctr"/>
                      <a:r>
                        <a:rPr sz="1100" b="0">
                          <a:solidFill>
                            <a:srgbClr val="262626"/>
                          </a:solidFill>
                          <a:latin typeface="游ゴシック"/>
                        </a:rPr>
                        <a:t>届け出はしていないが、現在検討中である</a:t>
                      </a:r>
                    </a:p>
                  </a:txBody>
                  <a:tcPr/>
                </a:tc>
                <a:tc>
                  <a:txBody>
                    <a:bodyPr/>
                    <a:lstStyle/>
                    <a:p>
                      <a:pPr algn="ctr"/>
                      <a:r>
                        <a:rPr sz="1100" b="1">
                          <a:solidFill>
                            <a:srgbClr val="262626"/>
                          </a:solidFill>
                          <a:latin typeface="游ゴシック"/>
                        </a:rPr>
                        <a:t>90</a:t>
                      </a:r>
                    </a:p>
                  </a:txBody>
                  <a:tcPr/>
                </a:tc>
                <a:tc>
                  <a:txBody>
                    <a:bodyPr/>
                    <a:lstStyle/>
                    <a:p>
                      <a:pPr algn="ctr"/>
                      <a:r>
                        <a:rPr sz="1100" b="1">
                          <a:solidFill>
                            <a:srgbClr val="262626"/>
                          </a:solidFill>
                          <a:latin typeface="游ゴシック"/>
                        </a:rPr>
                        <a:t>31.1%</a:t>
                      </a:r>
                    </a:p>
                  </a:txBody>
                  <a:tcPr/>
                </a:tc>
              </a:tr>
              <a:tr h="500000">
                <a:tc>
                  <a:txBody>
                    <a:bodyPr/>
                    <a:lstStyle/>
                    <a:p>
                      <a:pPr algn="ctr"/>
                      <a:r>
                        <a:rPr sz="1100" b="0">
                          <a:solidFill>
                            <a:srgbClr val="262626"/>
                          </a:solidFill>
                          <a:latin typeface="游ゴシック"/>
                        </a:rPr>
                        <a:t>届け出をしておらず、検討もしていない</a:t>
                      </a:r>
                    </a:p>
                  </a:txBody>
                  <a:tcPr>
                    <a:solidFill>
                      <a:srgbClr val="A8C4C7"/>
                    </a:solidFill>
                  </a:tcPr>
                </a:tc>
                <a:tc>
                  <a:txBody>
                    <a:bodyPr/>
                    <a:lstStyle/>
                    <a:p>
                      <a:pPr algn="ctr"/>
                      <a:r>
                        <a:rPr sz="1100" b="1">
                          <a:solidFill>
                            <a:srgbClr val="262626"/>
                          </a:solidFill>
                          <a:latin typeface="游ゴシック"/>
                        </a:rPr>
                        <a:t>145</a:t>
                      </a:r>
                    </a:p>
                  </a:txBody>
                  <a:tcPr>
                    <a:solidFill>
                      <a:srgbClr val="A8C4C7"/>
                    </a:solidFill>
                  </a:tcPr>
                </a:tc>
                <a:tc>
                  <a:txBody>
                    <a:bodyPr/>
                    <a:lstStyle/>
                    <a:p>
                      <a:pPr algn="ctr"/>
                      <a:r>
                        <a:rPr sz="1100" b="1">
                          <a:solidFill>
                            <a:srgbClr val="262626"/>
                          </a:solidFill>
                          <a:latin typeface="游ゴシック"/>
                        </a:rPr>
                        <a:t>50.2%</a:t>
                      </a:r>
                    </a:p>
                  </a:txBody>
                  <a:tcPr>
                    <a:solidFill>
                      <a:srgbClr val="A8C4C7"/>
                    </a:solidFill>
                  </a:tcPr>
                </a:tc>
              </a:tr>
              <a:tr h="500000">
                <a:tc>
                  <a:txBody>
                    <a:bodyPr/>
                    <a:lstStyle/>
                    <a:p>
                      <a:pPr algn="ctr"/>
                      <a:r>
                        <a:rPr sz="1100" b="1">
                          <a:solidFill>
                            <a:srgbClr val="262626"/>
                          </a:solidFill>
                          <a:latin typeface="游ゴシック"/>
                        </a:rPr>
                        <a:t>合計</a:t>
                      </a:r>
                    </a:p>
                  </a:txBody>
                  <a:tcPr/>
                </a:tc>
                <a:tc>
                  <a:txBody>
                    <a:bodyPr/>
                    <a:lstStyle/>
                    <a:p>
                      <a:pPr algn="ctr"/>
                      <a:r>
                        <a:rPr sz="1100" b="1">
                          <a:solidFill>
                            <a:srgbClr val="262626"/>
                          </a:solidFill>
                          <a:latin typeface="游ゴシック"/>
                        </a:rPr>
                        <a:t>289</a:t>
                      </a:r>
                    </a:p>
                  </a:txBody>
                  <a:tcPr/>
                </a:tc>
                <a:tc>
                  <a:txBody>
                    <a:bodyPr/>
                    <a:lstStyle/>
                    <a:p>
                      <a:pPr algn="ctr"/>
                      <a:r>
                        <a:rPr sz="1100" b="1">
                          <a:solidFill>
                            <a:srgbClr val="262626"/>
                          </a:solidFill>
                          <a:latin typeface="游ゴシック"/>
                        </a:rPr>
                        <a:t>100.0%</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n=289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800" b="1">
                <a:solidFill>
                  <a:srgbClr val="262626"/>
                </a:solidFill>
                <a:latin typeface="游ゴシック"/>
              </a:rPr>
              <a:t>Q5.  手術前リハビリテーションで実施している内容【複数選択可】</a:t>
            </a:r>
          </a:p>
        </p:txBody>
      </p:sp>
      <p:graphicFrame>
        <p:nvGraphicFramePr>
          <p:cNvPr id="3" name="Chart 2"/>
          <p:cNvGraphicFramePr>
            <a:graphicFrameLocks noGrp="1"/>
          </p:cNvGraphicFramePr>
          <p:nvPr/>
        </p:nvGraphicFramePr>
        <p:xfrm>
          <a:off x="100000" y="900000"/>
          <a:ext cx="76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800000" y="950000"/>
          <a:ext cx="4100000" cy="5460000"/>
        </p:xfrm>
        <a:graphic>
          <a:graphicData uri="http://schemas.openxmlformats.org/drawingml/2006/table">
            <a:tbl>
              <a:tblPr firstRow="1" bandRow="1">
                <a:tableStyleId>{5C22544A-7EE6-4342-B048-85BDC9FD1C3A}</a:tableStyleId>
              </a:tblPr>
              <a:tblGrid>
                <a:gridCol w="2500000"/>
                <a:gridCol w="700000"/>
                <a:gridCol w="900000"/>
              </a:tblGrid>
              <a:tr h="420000">
                <a:tc>
                  <a:txBody>
                    <a:bodyPr/>
                    <a:lstStyle/>
                    <a:p>
                      <a:pPr algn="ctr"/>
                      <a:r>
                        <a:rPr sz="1300" b="1">
                          <a:solidFill>
                            <a:srgbClr val="FFFFFF"/>
                          </a:solidFill>
                          <a:latin typeface="游ゴシック"/>
                        </a:rPr>
                        <a:t>回答</a:t>
                      </a:r>
                    </a:p>
                  </a:txBody>
                  <a:tcPr>
                    <a:solidFill>
                      <a:srgbClr val="397077"/>
                    </a:solidFill>
                  </a:tcPr>
                </a:tc>
                <a:tc>
                  <a:txBody>
                    <a:bodyPr/>
                    <a:lstStyle/>
                    <a:p>
                      <a:pPr algn="ctr"/>
                      <a:r>
                        <a:rPr sz="1300" b="1">
                          <a:solidFill>
                            <a:srgbClr val="FFFFFF"/>
                          </a:solidFill>
                          <a:latin typeface="游ゴシック"/>
                        </a:rPr>
                        <a:t>件数</a:t>
                      </a:r>
                    </a:p>
                  </a:txBody>
                  <a:tcPr>
                    <a:solidFill>
                      <a:srgbClr val="397077"/>
                    </a:solidFill>
                  </a:tcPr>
                </a:tc>
                <a:tc>
                  <a:txBody>
                    <a:bodyPr/>
                    <a:lstStyle/>
                    <a:p>
                      <a:pPr algn="ctr"/>
                      <a:r>
                        <a:rPr sz="1300" b="1">
                          <a:solidFill>
                            <a:srgbClr val="FFFFFF"/>
                          </a:solidFill>
                          <a:latin typeface="游ゴシック"/>
                        </a:rPr>
                        <a:t>割合</a:t>
                      </a:r>
                    </a:p>
                  </a:txBody>
                  <a:tcPr>
                    <a:solidFill>
                      <a:srgbClr val="397077"/>
                    </a:solidFill>
                  </a:tcPr>
                </a:tc>
              </a:tr>
              <a:tr h="420000">
                <a:tc>
                  <a:txBody>
                    <a:bodyPr/>
                    <a:lstStyle/>
                    <a:p>
                      <a:pPr algn="ctr"/>
                      <a:r>
                        <a:rPr sz="950" b="0">
                          <a:solidFill>
                            <a:srgbClr val="262626"/>
                          </a:solidFill>
                          <a:latin typeface="游ゴシック"/>
                        </a:rPr>
                        <a:t>筋力増強運動</a:t>
                      </a:r>
                    </a:p>
                  </a:txBody>
                  <a:tcPr/>
                </a:tc>
                <a:tc>
                  <a:txBody>
                    <a:bodyPr/>
                    <a:lstStyle/>
                    <a:p>
                      <a:pPr algn="ctr"/>
                      <a:r>
                        <a:rPr sz="950" b="1">
                          <a:solidFill>
                            <a:srgbClr val="262626"/>
                          </a:solidFill>
                          <a:latin typeface="游ゴシック"/>
                        </a:rPr>
                        <a:t>196</a:t>
                      </a:r>
                    </a:p>
                  </a:txBody>
                  <a:tcPr/>
                </a:tc>
                <a:tc>
                  <a:txBody>
                    <a:bodyPr/>
                    <a:lstStyle/>
                    <a:p>
                      <a:pPr algn="ctr"/>
                      <a:r>
                        <a:rPr sz="950" b="1">
                          <a:solidFill>
                            <a:srgbClr val="262626"/>
                          </a:solidFill>
                          <a:latin typeface="游ゴシック"/>
                        </a:rPr>
                        <a:t>67.8%</a:t>
                      </a:r>
                    </a:p>
                  </a:txBody>
                  <a:tcPr/>
                </a:tc>
              </a:tr>
              <a:tr h="420000">
                <a:tc>
                  <a:txBody>
                    <a:bodyPr/>
                    <a:lstStyle/>
                    <a:p>
                      <a:pPr algn="ctr"/>
                      <a:r>
                        <a:rPr sz="950" b="0">
                          <a:solidFill>
                            <a:srgbClr val="262626"/>
                          </a:solidFill>
                          <a:latin typeface="游ゴシック"/>
                        </a:rPr>
                        <a:t>関節可動域運動</a:t>
                      </a:r>
                    </a:p>
                  </a:txBody>
                  <a:tcPr>
                    <a:solidFill>
                      <a:srgbClr val="A8C4C7"/>
                    </a:solidFill>
                  </a:tcPr>
                </a:tc>
                <a:tc>
                  <a:txBody>
                    <a:bodyPr/>
                    <a:lstStyle/>
                    <a:p>
                      <a:pPr algn="ctr"/>
                      <a:r>
                        <a:rPr sz="950" b="1">
                          <a:solidFill>
                            <a:srgbClr val="262626"/>
                          </a:solidFill>
                          <a:latin typeface="游ゴシック"/>
                        </a:rPr>
                        <a:t>192</a:t>
                      </a:r>
                    </a:p>
                  </a:txBody>
                  <a:tcPr>
                    <a:solidFill>
                      <a:srgbClr val="A8C4C7"/>
                    </a:solidFill>
                  </a:tcPr>
                </a:tc>
                <a:tc>
                  <a:txBody>
                    <a:bodyPr/>
                    <a:lstStyle/>
                    <a:p>
                      <a:pPr algn="ctr"/>
                      <a:r>
                        <a:rPr sz="950" b="1">
                          <a:solidFill>
                            <a:srgbClr val="262626"/>
                          </a:solidFill>
                          <a:latin typeface="游ゴシック"/>
                        </a:rPr>
                        <a:t>66.4%</a:t>
                      </a:r>
                    </a:p>
                  </a:txBody>
                  <a:tcPr>
                    <a:solidFill>
                      <a:srgbClr val="A8C4C7"/>
                    </a:solidFill>
                  </a:tcPr>
                </a:tc>
              </a:tr>
              <a:tr h="420000">
                <a:tc>
                  <a:txBody>
                    <a:bodyPr/>
                    <a:lstStyle/>
                    <a:p>
                      <a:pPr algn="ctr"/>
                      <a:r>
                        <a:rPr sz="950" b="0">
                          <a:solidFill>
                            <a:srgbClr val="262626"/>
                          </a:solidFill>
                          <a:latin typeface="游ゴシック"/>
                        </a:rPr>
                        <a:t>術後リハビリテーションのオリエンテーション</a:t>
                      </a:r>
                    </a:p>
                  </a:txBody>
                  <a:tcPr/>
                </a:tc>
                <a:tc>
                  <a:txBody>
                    <a:bodyPr/>
                    <a:lstStyle/>
                    <a:p>
                      <a:pPr algn="ctr"/>
                      <a:r>
                        <a:rPr sz="950" b="1">
                          <a:solidFill>
                            <a:srgbClr val="262626"/>
                          </a:solidFill>
                          <a:latin typeface="游ゴシック"/>
                        </a:rPr>
                        <a:t>178</a:t>
                      </a:r>
                    </a:p>
                  </a:txBody>
                  <a:tcPr/>
                </a:tc>
                <a:tc>
                  <a:txBody>
                    <a:bodyPr/>
                    <a:lstStyle/>
                    <a:p>
                      <a:pPr algn="ctr"/>
                      <a:r>
                        <a:rPr sz="950" b="1">
                          <a:solidFill>
                            <a:srgbClr val="262626"/>
                          </a:solidFill>
                          <a:latin typeface="游ゴシック"/>
                        </a:rPr>
                        <a:t>61.6%</a:t>
                      </a:r>
                    </a:p>
                  </a:txBody>
                  <a:tcPr/>
                </a:tc>
              </a:tr>
              <a:tr h="420000">
                <a:tc>
                  <a:txBody>
                    <a:bodyPr/>
                    <a:lstStyle/>
                    <a:p>
                      <a:pPr algn="ctr"/>
                      <a:r>
                        <a:rPr sz="950" b="0">
                          <a:solidFill>
                            <a:srgbClr val="262626"/>
                          </a:solidFill>
                          <a:latin typeface="游ゴシック"/>
                        </a:rPr>
                        <a:t>ポジショニング</a:t>
                      </a:r>
                    </a:p>
                  </a:txBody>
                  <a:tcPr>
                    <a:solidFill>
                      <a:srgbClr val="A8C4C7"/>
                    </a:solidFill>
                  </a:tcPr>
                </a:tc>
                <a:tc>
                  <a:txBody>
                    <a:bodyPr/>
                    <a:lstStyle/>
                    <a:p>
                      <a:pPr algn="ctr"/>
                      <a:r>
                        <a:rPr sz="950" b="1">
                          <a:solidFill>
                            <a:srgbClr val="262626"/>
                          </a:solidFill>
                          <a:latin typeface="游ゴシック"/>
                        </a:rPr>
                        <a:t>175</a:t>
                      </a:r>
                    </a:p>
                  </a:txBody>
                  <a:tcPr>
                    <a:solidFill>
                      <a:srgbClr val="A8C4C7"/>
                    </a:solidFill>
                  </a:tcPr>
                </a:tc>
                <a:tc>
                  <a:txBody>
                    <a:bodyPr/>
                    <a:lstStyle/>
                    <a:p>
                      <a:pPr algn="ctr"/>
                      <a:r>
                        <a:rPr sz="950" b="1">
                          <a:solidFill>
                            <a:srgbClr val="262626"/>
                          </a:solidFill>
                          <a:latin typeface="游ゴシック"/>
                        </a:rPr>
                        <a:t>60.6%</a:t>
                      </a:r>
                    </a:p>
                  </a:txBody>
                  <a:tcPr>
                    <a:solidFill>
                      <a:srgbClr val="A8C4C7"/>
                    </a:solidFill>
                  </a:tcPr>
                </a:tc>
              </a:tr>
              <a:tr h="420000">
                <a:tc>
                  <a:txBody>
                    <a:bodyPr/>
                    <a:lstStyle/>
                    <a:p>
                      <a:pPr algn="ctr"/>
                      <a:r>
                        <a:rPr sz="950" b="0">
                          <a:solidFill>
                            <a:srgbClr val="262626"/>
                          </a:solidFill>
                          <a:latin typeface="游ゴシック"/>
                        </a:rPr>
                        <a:t>DVT予防</a:t>
                      </a:r>
                    </a:p>
                  </a:txBody>
                  <a:tcPr/>
                </a:tc>
                <a:tc>
                  <a:txBody>
                    <a:bodyPr/>
                    <a:lstStyle/>
                    <a:p>
                      <a:pPr algn="ctr"/>
                      <a:r>
                        <a:rPr sz="950" b="1">
                          <a:solidFill>
                            <a:srgbClr val="262626"/>
                          </a:solidFill>
                          <a:latin typeface="游ゴシック"/>
                        </a:rPr>
                        <a:t>171</a:t>
                      </a:r>
                    </a:p>
                  </a:txBody>
                  <a:tcPr/>
                </a:tc>
                <a:tc>
                  <a:txBody>
                    <a:bodyPr/>
                    <a:lstStyle/>
                    <a:p>
                      <a:pPr algn="ctr"/>
                      <a:r>
                        <a:rPr sz="950" b="1">
                          <a:solidFill>
                            <a:srgbClr val="262626"/>
                          </a:solidFill>
                          <a:latin typeface="游ゴシック"/>
                        </a:rPr>
                        <a:t>59.2%</a:t>
                      </a:r>
                    </a:p>
                  </a:txBody>
                  <a:tcPr/>
                </a:tc>
              </a:tr>
              <a:tr h="420000">
                <a:tc>
                  <a:txBody>
                    <a:bodyPr/>
                    <a:lstStyle/>
                    <a:p>
                      <a:pPr algn="ctr"/>
                      <a:r>
                        <a:rPr sz="950" b="0">
                          <a:solidFill>
                            <a:srgbClr val="262626"/>
                          </a:solidFill>
                          <a:latin typeface="游ゴシック"/>
                        </a:rPr>
                        <a:t>自主運動指導</a:t>
                      </a:r>
                    </a:p>
                  </a:txBody>
                  <a:tcPr>
                    <a:solidFill>
                      <a:srgbClr val="A8C4C7"/>
                    </a:solidFill>
                  </a:tcPr>
                </a:tc>
                <a:tc>
                  <a:txBody>
                    <a:bodyPr/>
                    <a:lstStyle/>
                    <a:p>
                      <a:pPr algn="ctr"/>
                      <a:r>
                        <a:rPr sz="950" b="1">
                          <a:solidFill>
                            <a:srgbClr val="262626"/>
                          </a:solidFill>
                          <a:latin typeface="游ゴシック"/>
                        </a:rPr>
                        <a:t>169</a:t>
                      </a:r>
                    </a:p>
                  </a:txBody>
                  <a:tcPr>
                    <a:solidFill>
                      <a:srgbClr val="A8C4C7"/>
                    </a:solidFill>
                  </a:tcPr>
                </a:tc>
                <a:tc>
                  <a:txBody>
                    <a:bodyPr/>
                    <a:lstStyle/>
                    <a:p>
                      <a:pPr algn="ctr"/>
                      <a:r>
                        <a:rPr sz="950" b="1">
                          <a:solidFill>
                            <a:srgbClr val="262626"/>
                          </a:solidFill>
                          <a:latin typeface="游ゴシック"/>
                        </a:rPr>
                        <a:t>58.5%</a:t>
                      </a:r>
                    </a:p>
                  </a:txBody>
                  <a:tcPr>
                    <a:solidFill>
                      <a:srgbClr val="A8C4C7"/>
                    </a:solidFill>
                  </a:tcPr>
                </a:tc>
              </a:tr>
              <a:tr h="420000">
                <a:tc>
                  <a:txBody>
                    <a:bodyPr/>
                    <a:lstStyle/>
                    <a:p>
                      <a:pPr algn="ctr"/>
                      <a:r>
                        <a:rPr sz="950" b="0">
                          <a:solidFill>
                            <a:srgbClr val="262626"/>
                          </a:solidFill>
                          <a:latin typeface="游ゴシック"/>
                        </a:rPr>
                        <a:t>リラクセーション</a:t>
                      </a:r>
                    </a:p>
                  </a:txBody>
                  <a:tcPr/>
                </a:tc>
                <a:tc>
                  <a:txBody>
                    <a:bodyPr/>
                    <a:lstStyle/>
                    <a:p>
                      <a:pPr algn="ctr"/>
                      <a:r>
                        <a:rPr sz="950" b="1">
                          <a:solidFill>
                            <a:srgbClr val="262626"/>
                          </a:solidFill>
                          <a:latin typeface="游ゴシック"/>
                        </a:rPr>
                        <a:t>106</a:t>
                      </a:r>
                    </a:p>
                  </a:txBody>
                  <a:tcPr/>
                </a:tc>
                <a:tc>
                  <a:txBody>
                    <a:bodyPr/>
                    <a:lstStyle/>
                    <a:p>
                      <a:pPr algn="ctr"/>
                      <a:r>
                        <a:rPr sz="950" b="1">
                          <a:solidFill>
                            <a:srgbClr val="262626"/>
                          </a:solidFill>
                          <a:latin typeface="游ゴシック"/>
                        </a:rPr>
                        <a:t>36.7%</a:t>
                      </a:r>
                    </a:p>
                  </a:txBody>
                  <a:tcPr/>
                </a:tc>
              </a:tr>
              <a:tr h="420000">
                <a:tc>
                  <a:txBody>
                    <a:bodyPr/>
                    <a:lstStyle/>
                    <a:p>
                      <a:pPr algn="ctr"/>
                      <a:r>
                        <a:rPr sz="950" b="0">
                          <a:solidFill>
                            <a:srgbClr val="262626"/>
                          </a:solidFill>
                          <a:latin typeface="游ゴシック"/>
                        </a:rPr>
                        <a:t>離床（例：車椅子移乗,立位,歩行など）</a:t>
                      </a:r>
                    </a:p>
                  </a:txBody>
                  <a:tcPr>
                    <a:solidFill>
                      <a:srgbClr val="A8C4C7"/>
                    </a:solidFill>
                  </a:tcPr>
                </a:tc>
                <a:tc>
                  <a:txBody>
                    <a:bodyPr/>
                    <a:lstStyle/>
                    <a:p>
                      <a:pPr algn="ctr"/>
                      <a:r>
                        <a:rPr sz="950" b="1">
                          <a:solidFill>
                            <a:srgbClr val="262626"/>
                          </a:solidFill>
                          <a:latin typeface="游ゴシック"/>
                        </a:rPr>
                        <a:t>80</a:t>
                      </a:r>
                    </a:p>
                  </a:txBody>
                  <a:tcPr>
                    <a:solidFill>
                      <a:srgbClr val="A8C4C7"/>
                    </a:solidFill>
                  </a:tcPr>
                </a:tc>
                <a:tc>
                  <a:txBody>
                    <a:bodyPr/>
                    <a:lstStyle/>
                    <a:p>
                      <a:pPr algn="ctr"/>
                      <a:r>
                        <a:rPr sz="950" b="1">
                          <a:solidFill>
                            <a:srgbClr val="262626"/>
                          </a:solidFill>
                          <a:latin typeface="游ゴシック"/>
                        </a:rPr>
                        <a:t>27.7%</a:t>
                      </a:r>
                    </a:p>
                  </a:txBody>
                  <a:tcPr>
                    <a:solidFill>
                      <a:srgbClr val="A8C4C7"/>
                    </a:solidFill>
                  </a:tcPr>
                </a:tc>
              </a:tr>
              <a:tr h="420000">
                <a:tc>
                  <a:txBody>
                    <a:bodyPr/>
                    <a:lstStyle/>
                    <a:p>
                      <a:pPr algn="ctr"/>
                      <a:r>
                        <a:rPr sz="950" b="0">
                          <a:solidFill>
                            <a:srgbClr val="262626"/>
                          </a:solidFill>
                          <a:latin typeface="游ゴシック"/>
                        </a:rPr>
                        <a:t>呼吸リハビリテーション</a:t>
                      </a:r>
                    </a:p>
                  </a:txBody>
                  <a:tcPr/>
                </a:tc>
                <a:tc>
                  <a:txBody>
                    <a:bodyPr/>
                    <a:lstStyle/>
                    <a:p>
                      <a:pPr algn="ctr"/>
                      <a:r>
                        <a:rPr sz="950" b="1">
                          <a:solidFill>
                            <a:srgbClr val="262626"/>
                          </a:solidFill>
                          <a:latin typeface="游ゴシック"/>
                        </a:rPr>
                        <a:t>69</a:t>
                      </a:r>
                    </a:p>
                  </a:txBody>
                  <a:tcPr/>
                </a:tc>
                <a:tc>
                  <a:txBody>
                    <a:bodyPr/>
                    <a:lstStyle/>
                    <a:p>
                      <a:pPr algn="ctr"/>
                      <a:r>
                        <a:rPr sz="950" b="1">
                          <a:solidFill>
                            <a:srgbClr val="262626"/>
                          </a:solidFill>
                          <a:latin typeface="游ゴシック"/>
                        </a:rPr>
                        <a:t>23.9%</a:t>
                      </a:r>
                    </a:p>
                  </a:txBody>
                  <a:tcPr/>
                </a:tc>
              </a:tr>
              <a:tr h="420000">
                <a:tc>
                  <a:txBody>
                    <a:bodyPr/>
                    <a:lstStyle/>
                    <a:p>
                      <a:pPr algn="ctr"/>
                      <a:r>
                        <a:rPr sz="950" b="0">
                          <a:solidFill>
                            <a:srgbClr val="262626"/>
                          </a:solidFill>
                          <a:latin typeface="游ゴシック"/>
                        </a:rPr>
                        <a:t>実施していない</a:t>
                      </a:r>
                    </a:p>
                  </a:txBody>
                  <a:tcPr>
                    <a:solidFill>
                      <a:srgbClr val="A8C4C7"/>
                    </a:solidFill>
                  </a:tcPr>
                </a:tc>
                <a:tc>
                  <a:txBody>
                    <a:bodyPr/>
                    <a:lstStyle/>
                    <a:p>
                      <a:pPr algn="ctr"/>
                      <a:r>
                        <a:rPr sz="950" b="1">
                          <a:solidFill>
                            <a:srgbClr val="262626"/>
                          </a:solidFill>
                          <a:latin typeface="游ゴシック"/>
                        </a:rPr>
                        <a:t>55</a:t>
                      </a:r>
                    </a:p>
                  </a:txBody>
                  <a:tcPr>
                    <a:solidFill>
                      <a:srgbClr val="A8C4C7"/>
                    </a:solidFill>
                  </a:tcPr>
                </a:tc>
                <a:tc>
                  <a:txBody>
                    <a:bodyPr/>
                    <a:lstStyle/>
                    <a:p>
                      <a:pPr algn="ctr"/>
                      <a:r>
                        <a:rPr sz="950" b="1">
                          <a:solidFill>
                            <a:srgbClr val="262626"/>
                          </a:solidFill>
                          <a:latin typeface="游ゴシック"/>
                        </a:rPr>
                        <a:t>19.0%</a:t>
                      </a:r>
                    </a:p>
                  </a:txBody>
                  <a:tcPr>
                    <a:solidFill>
                      <a:srgbClr val="A8C4C7"/>
                    </a:solidFill>
                  </a:tcPr>
                </a:tc>
              </a:tr>
              <a:tr h="420000">
                <a:tc>
                  <a:txBody>
                    <a:bodyPr/>
                    <a:lstStyle/>
                    <a:p>
                      <a:pPr algn="ctr"/>
                      <a:r>
                        <a:rPr sz="950" b="0">
                          <a:solidFill>
                            <a:srgbClr val="262626"/>
                          </a:solidFill>
                          <a:latin typeface="游ゴシック"/>
                        </a:rPr>
                        <a:t>その他</a:t>
                      </a:r>
                    </a:p>
                  </a:txBody>
                  <a:tcPr/>
                </a:tc>
                <a:tc>
                  <a:txBody>
                    <a:bodyPr/>
                    <a:lstStyle/>
                    <a:p>
                      <a:pPr algn="ctr"/>
                      <a:r>
                        <a:rPr sz="950" b="1">
                          <a:solidFill>
                            <a:srgbClr val="262626"/>
                          </a:solidFill>
                          <a:latin typeface="游ゴシック"/>
                        </a:rPr>
                        <a:t>18</a:t>
                      </a:r>
                    </a:p>
                  </a:txBody>
                  <a:tcPr/>
                </a:tc>
                <a:tc>
                  <a:txBody>
                    <a:bodyPr/>
                    <a:lstStyle/>
                    <a:p>
                      <a:pPr algn="ctr"/>
                      <a:r>
                        <a:rPr sz="950" b="1">
                          <a:solidFill>
                            <a:srgbClr val="262626"/>
                          </a:solidFill>
                          <a:latin typeface="游ゴシック"/>
                        </a:rPr>
                        <a:t>6.2%</a:t>
                      </a:r>
                    </a:p>
                  </a:txBody>
                  <a:tcPr/>
                </a:tc>
              </a:tr>
              <a:tr h="420000">
                <a:tc>
                  <a:txBody>
                    <a:bodyPr/>
                    <a:lstStyle/>
                    <a:p>
                      <a:pPr algn="ctr"/>
                      <a:r>
                        <a:rPr sz="950" b="1">
                          <a:solidFill>
                            <a:srgbClr val="262626"/>
                          </a:solidFill>
                          <a:latin typeface="游ゴシック"/>
                        </a:rPr>
                        <a:t>※複数選択のため合計は
有効回答数を超える</a:t>
                      </a:r>
                    </a:p>
                  </a:txBody>
                  <a:tcPr/>
                </a:tc>
                <a:tc>
                  <a:txBody>
                    <a:bodyPr/>
                    <a:lstStyle/>
                    <a:p>
                      <a:pPr algn="ctr"/>
                      <a:r>
                        <a:rPr sz="950" b="1">
                          <a:solidFill>
                            <a:srgbClr val="262626"/>
                          </a:solidFill>
                          <a:latin typeface="游ゴシック"/>
                        </a:rPr>
                        <a:t/>
                      </a:r>
                    </a:p>
                  </a:txBody>
                  <a:tcPr/>
                </a:tc>
                <a:tc>
                  <a:txBody>
                    <a:bodyPr/>
                    <a:lstStyle/>
                    <a:p>
                      <a:pPr algn="ctr"/>
                      <a:r>
                        <a:rPr sz="950" b="1">
                          <a:solidFill>
                            <a:srgbClr val="262626"/>
                          </a:solidFill>
                          <a:latin typeface="游ゴシック"/>
                        </a:rPr>
                        <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有効回答数 n=289（複数選択可）</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2000" b="1">
                <a:solidFill>
                  <a:srgbClr val="262626"/>
                </a:solidFill>
                <a:latin typeface="游ゴシック"/>
              </a:rPr>
              <a:t>Q6.  身体機能（疼痛、筋力低下など）が原因による制限【4段階評価】</a:t>
            </a:r>
          </a:p>
        </p:txBody>
      </p:sp>
      <p:graphicFrame>
        <p:nvGraphicFramePr>
          <p:cNvPr id="3" name="Chart 2"/>
          <p:cNvGraphicFramePr>
            <a:graphicFrameLocks noGrp="1"/>
          </p:cNvGraphicFramePr>
          <p:nvPr/>
        </p:nvGraphicFramePr>
        <p:xfrm>
          <a:off x="200000" y="900000"/>
          <a:ext cx="70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200000" y="1100000"/>
          <a:ext cx="4400000" cy="30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a:lstStyle/>
                    <a:p>
                      <a:pPr algn="ctr"/>
                      <a:r>
                        <a:rPr sz="1400" b="1">
                          <a:solidFill>
                            <a:srgbClr val="FFFFFF"/>
                          </a:solidFill>
                          <a:latin typeface="游ゴシック"/>
                        </a:rPr>
                        <a:t>回答</a:t>
                      </a:r>
                    </a:p>
                  </a:txBody>
                  <a:tcPr>
                    <a:solidFill>
                      <a:srgbClr val="397077"/>
                    </a:solidFill>
                  </a:tcPr>
                </a:tc>
                <a:tc>
                  <a:txBody>
                    <a:bodyPr/>
                    <a:lstStyle/>
                    <a:p>
                      <a:pPr algn="ctr"/>
                      <a:r>
                        <a:rPr sz="1400" b="1">
                          <a:solidFill>
                            <a:srgbClr val="FFFFFF"/>
                          </a:solidFill>
                          <a:latin typeface="游ゴシック"/>
                        </a:rPr>
                        <a:t>件数</a:t>
                      </a:r>
                    </a:p>
                  </a:txBody>
                  <a:tcPr>
                    <a:solidFill>
                      <a:srgbClr val="397077"/>
                    </a:solidFill>
                  </a:tcPr>
                </a:tc>
                <a:tc>
                  <a:txBody>
                    <a:bodyPr/>
                    <a:lstStyle/>
                    <a:p>
                      <a:pPr algn="ctr"/>
                      <a:r>
                        <a:rPr sz="1400" b="1">
                          <a:solidFill>
                            <a:srgbClr val="FFFFFF"/>
                          </a:solidFill>
                          <a:latin typeface="游ゴシック"/>
                        </a:rPr>
                        <a:t>割合</a:t>
                      </a:r>
                    </a:p>
                  </a:txBody>
                  <a:tcPr>
                    <a:solidFill>
                      <a:srgbClr val="397077"/>
                    </a:solidFill>
                  </a:tcPr>
                </a:tc>
              </a:tr>
              <a:tr h="500000">
                <a:tc>
                  <a:txBody>
                    <a:bodyPr/>
                    <a:lstStyle/>
                    <a:p>
                      <a:pPr algn="ctr"/>
                      <a:r>
                        <a:rPr sz="1100" b="0">
                          <a:solidFill>
                            <a:srgbClr val="262626"/>
                          </a:solidFill>
                          <a:latin typeface="游ゴシック"/>
                        </a:rPr>
                        <a:t>全症例の0％〜24％程度</a:t>
                      </a:r>
                    </a:p>
                  </a:txBody>
                  <a:tcPr/>
                </a:tc>
                <a:tc>
                  <a:txBody>
                    <a:bodyPr/>
                    <a:lstStyle/>
                    <a:p>
                      <a:pPr algn="ctr"/>
                      <a:r>
                        <a:rPr sz="1100" b="1">
                          <a:solidFill>
                            <a:srgbClr val="262626"/>
                          </a:solidFill>
                          <a:latin typeface="游ゴシック"/>
                        </a:rPr>
                        <a:t>107</a:t>
                      </a:r>
                    </a:p>
                  </a:txBody>
                  <a:tcPr/>
                </a:tc>
                <a:tc>
                  <a:txBody>
                    <a:bodyPr/>
                    <a:lstStyle/>
                    <a:p>
                      <a:pPr algn="ctr"/>
                      <a:r>
                        <a:rPr sz="1100" b="1">
                          <a:solidFill>
                            <a:srgbClr val="262626"/>
                          </a:solidFill>
                          <a:latin typeface="游ゴシック"/>
                        </a:rPr>
                        <a:t>37.0%</a:t>
                      </a:r>
                    </a:p>
                  </a:txBody>
                  <a:tcPr/>
                </a:tc>
              </a:tr>
              <a:tr h="500000">
                <a:tc>
                  <a:txBody>
                    <a:bodyPr/>
                    <a:lstStyle/>
                    <a:p>
                      <a:pPr algn="ctr"/>
                      <a:r>
                        <a:rPr sz="1100" b="0">
                          <a:solidFill>
                            <a:srgbClr val="262626"/>
                          </a:solidFill>
                          <a:latin typeface="游ゴシック"/>
                        </a:rPr>
                        <a:t>全症例の25％〜49％程度</a:t>
                      </a:r>
                    </a:p>
                  </a:txBody>
                  <a:tcPr>
                    <a:solidFill>
                      <a:srgbClr val="A8C4C7"/>
                    </a:solidFill>
                  </a:tcPr>
                </a:tc>
                <a:tc>
                  <a:txBody>
                    <a:bodyPr/>
                    <a:lstStyle/>
                    <a:p>
                      <a:pPr algn="ctr"/>
                      <a:r>
                        <a:rPr sz="1100" b="1">
                          <a:solidFill>
                            <a:srgbClr val="262626"/>
                          </a:solidFill>
                          <a:latin typeface="游ゴシック"/>
                        </a:rPr>
                        <a:t>84</a:t>
                      </a:r>
                    </a:p>
                  </a:txBody>
                  <a:tcPr>
                    <a:solidFill>
                      <a:srgbClr val="A8C4C7"/>
                    </a:solidFill>
                  </a:tcPr>
                </a:tc>
                <a:tc>
                  <a:txBody>
                    <a:bodyPr/>
                    <a:lstStyle/>
                    <a:p>
                      <a:pPr algn="ctr"/>
                      <a:r>
                        <a:rPr sz="1100" b="1">
                          <a:solidFill>
                            <a:srgbClr val="262626"/>
                          </a:solidFill>
                          <a:latin typeface="游ゴシック"/>
                        </a:rPr>
                        <a:t>29.1%</a:t>
                      </a:r>
                    </a:p>
                  </a:txBody>
                  <a:tcPr>
                    <a:solidFill>
                      <a:srgbClr val="A8C4C7"/>
                    </a:solidFill>
                  </a:tcPr>
                </a:tc>
              </a:tr>
              <a:tr h="500000">
                <a:tc>
                  <a:txBody>
                    <a:bodyPr/>
                    <a:lstStyle/>
                    <a:p>
                      <a:pPr algn="ctr"/>
                      <a:r>
                        <a:rPr sz="1100" b="0">
                          <a:solidFill>
                            <a:srgbClr val="262626"/>
                          </a:solidFill>
                          <a:latin typeface="游ゴシック"/>
                        </a:rPr>
                        <a:t>全症例の50％〜74％程度</a:t>
                      </a:r>
                    </a:p>
                  </a:txBody>
                  <a:tcPr/>
                </a:tc>
                <a:tc>
                  <a:txBody>
                    <a:bodyPr/>
                    <a:lstStyle/>
                    <a:p>
                      <a:pPr algn="ctr"/>
                      <a:r>
                        <a:rPr sz="1100" b="1">
                          <a:solidFill>
                            <a:srgbClr val="262626"/>
                          </a:solidFill>
                          <a:latin typeface="游ゴシック"/>
                        </a:rPr>
                        <a:t>53</a:t>
                      </a:r>
                    </a:p>
                  </a:txBody>
                  <a:tcPr/>
                </a:tc>
                <a:tc>
                  <a:txBody>
                    <a:bodyPr/>
                    <a:lstStyle/>
                    <a:p>
                      <a:pPr algn="ctr"/>
                      <a:r>
                        <a:rPr sz="1100" b="1">
                          <a:solidFill>
                            <a:srgbClr val="262626"/>
                          </a:solidFill>
                          <a:latin typeface="游ゴシック"/>
                        </a:rPr>
                        <a:t>18.3%</a:t>
                      </a:r>
                    </a:p>
                  </a:txBody>
                  <a:tcPr/>
                </a:tc>
              </a:tr>
              <a:tr h="500000">
                <a:tc>
                  <a:txBody>
                    <a:bodyPr/>
                    <a:lstStyle/>
                    <a:p>
                      <a:pPr algn="ctr"/>
                      <a:r>
                        <a:rPr sz="1100" b="0">
                          <a:solidFill>
                            <a:srgbClr val="262626"/>
                          </a:solidFill>
                          <a:latin typeface="游ゴシック"/>
                        </a:rPr>
                        <a:t>全症例の75％〜100％程度</a:t>
                      </a:r>
                    </a:p>
                  </a:txBody>
                  <a:tcPr>
                    <a:solidFill>
                      <a:srgbClr val="A8C4C7"/>
                    </a:solidFill>
                  </a:tcPr>
                </a:tc>
                <a:tc>
                  <a:txBody>
                    <a:bodyPr/>
                    <a:lstStyle/>
                    <a:p>
                      <a:pPr algn="ctr"/>
                      <a:r>
                        <a:rPr sz="1100" b="1">
                          <a:solidFill>
                            <a:srgbClr val="262626"/>
                          </a:solidFill>
                          <a:latin typeface="游ゴシック"/>
                        </a:rPr>
                        <a:t>45</a:t>
                      </a:r>
                    </a:p>
                  </a:txBody>
                  <a:tcPr>
                    <a:solidFill>
                      <a:srgbClr val="A8C4C7"/>
                    </a:solidFill>
                  </a:tcPr>
                </a:tc>
                <a:tc>
                  <a:txBody>
                    <a:bodyPr/>
                    <a:lstStyle/>
                    <a:p>
                      <a:pPr algn="ctr"/>
                      <a:r>
                        <a:rPr sz="1100" b="1">
                          <a:solidFill>
                            <a:srgbClr val="262626"/>
                          </a:solidFill>
                          <a:latin typeface="游ゴシック"/>
                        </a:rPr>
                        <a:t>15.6%</a:t>
                      </a:r>
                    </a:p>
                  </a:txBody>
                  <a:tcPr>
                    <a:solidFill>
                      <a:srgbClr val="A8C4C7"/>
                    </a:solidFill>
                  </a:tcPr>
                </a:tc>
              </a:tr>
              <a:tr h="500000">
                <a:tc>
                  <a:txBody>
                    <a:bodyPr/>
                    <a:lstStyle/>
                    <a:p>
                      <a:pPr algn="ctr"/>
                      <a:r>
                        <a:rPr sz="1100" b="1">
                          <a:solidFill>
                            <a:srgbClr val="262626"/>
                          </a:solidFill>
                          <a:latin typeface="游ゴシック"/>
                        </a:rPr>
                        <a:t>合計</a:t>
                      </a:r>
                    </a:p>
                  </a:txBody>
                  <a:tcPr/>
                </a:tc>
                <a:tc>
                  <a:txBody>
                    <a:bodyPr/>
                    <a:lstStyle/>
                    <a:p>
                      <a:pPr algn="ctr"/>
                      <a:r>
                        <a:rPr sz="1100" b="1">
                          <a:solidFill>
                            <a:srgbClr val="262626"/>
                          </a:solidFill>
                          <a:latin typeface="游ゴシック"/>
                        </a:rPr>
                        <a:t>289</a:t>
                      </a:r>
                    </a:p>
                  </a:txBody>
                  <a:tcPr/>
                </a:tc>
                <a:tc>
                  <a:txBody>
                    <a:bodyPr/>
                    <a:lstStyle/>
                    <a:p>
                      <a:pPr algn="ctr"/>
                      <a:r>
                        <a:rPr sz="1100" b="1">
                          <a:solidFill>
                            <a:srgbClr val="262626"/>
                          </a:solidFill>
                          <a:latin typeface="游ゴシック"/>
                        </a:rPr>
                        <a:t>100.0%</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n=289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Q6-1.  Q6で「50%〜74%」「75%〜100%」を選択した方の対応策【自由記述】  (1/5)</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術前リハビリ（受傷前ADL確認含め）、医師等との情報交換</a:t>
                      </a:r>
                    </a:p>
                  </a:txBody>
                  <a:tcPr/>
                </a:tc>
              </a:tr>
              <a:tr h="303052">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基本的に術後翌日は疼痛が強いことが多くパスで端座位までとしており、認知機能低下やせん妄予防のため指示がある際に車椅子移乗まで実施している。</a:t>
                      </a:r>
                    </a:p>
                  </a:txBody>
                  <a:tcPr>
                    <a:solidFill>
                      <a:srgbClr val="A8C4C7"/>
                    </a:solidFill>
                  </a:tcPr>
                </a:tc>
              </a:tr>
              <a:tr h="303052">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術後は鎮痛剤を入れて、リハ前に頓服も検討</a:t>
                      </a:r>
                    </a:p>
                  </a:txBody>
                  <a:tcPr/>
                </a:tc>
              </a:tr>
              <a:tr h="303052">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特になし</a:t>
                      </a:r>
                    </a:p>
                  </a:txBody>
                  <a:tcPr>
                    <a:solidFill>
                      <a:srgbClr val="A8C4C7"/>
                    </a:solidFill>
                  </a:tcPr>
                </a:tc>
              </a:tr>
              <a:tr h="303052">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医師による強力な促しがあります。暴れてうまくいかない人は人数かけて行う事もあります。術翌日は最低座位、車椅子乗車まで行うのが普通でそれができない人は免荷が必要な過体重な人か重度脳卒中併存、暴れるなどの人であることが多いのでそういう人をそこまでするか？は適宜判断して行います。</a:t>
                      </a:r>
                    </a:p>
                  </a:txBody>
                  <a:tcPr/>
                </a:tc>
              </a:tr>
              <a:tr h="303052">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鎮痛薬による疼痛コントロール
高頻度介入</a:t>
                      </a:r>
                    </a:p>
                  </a:txBody>
                  <a:tcPr>
                    <a:solidFill>
                      <a:srgbClr val="A8C4C7"/>
                    </a:solidFill>
                  </a:tcPr>
                </a:tc>
              </a:tr>
              <a:tr h="303052">
                <a:tc>
                  <a:txBody>
                    <a:bodyPr/>
                    <a:lstStyle/>
                    <a:p>
                      <a:pPr algn="ctr"/>
                      <a:r>
                        <a:rPr sz="1000" b="0">
                          <a:solidFill>
                            <a:srgbClr val="262626"/>
                          </a:solidFill>
                          <a:latin typeface="游ゴシック"/>
                        </a:rPr>
                        <a:t>7</a:t>
                      </a:r>
                    </a:p>
                  </a:txBody>
                  <a:tcPr/>
                </a:tc>
                <a:tc>
                  <a:txBody>
                    <a:bodyPr/>
                    <a:lstStyle/>
                    <a:p>
                      <a:pPr algn="ctr"/>
                      <a:r>
                        <a:rPr sz="1000" b="1">
                          <a:solidFill>
                            <a:srgbClr val="262626"/>
                          </a:solidFill>
                          <a:latin typeface="游ゴシック"/>
                        </a:rPr>
                        <a:t>術後翌日からのリハビリテーションの介入。</a:t>
                      </a:r>
                    </a:p>
                  </a:txBody>
                  <a:tcPr/>
                </a:tc>
              </a:tr>
              <a:tr h="303052">
                <a:tc>
                  <a:txBody>
                    <a:bodyPr/>
                    <a:lstStyle/>
                    <a:p>
                      <a:pPr algn="ctr"/>
                      <a:r>
                        <a:rPr sz="1000" b="0">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痛みの評価・対症療法（軽めのROM・マッサージ等）</a:t>
                      </a:r>
                    </a:p>
                  </a:txBody>
                  <a:tcPr>
                    <a:solidFill>
                      <a:srgbClr val="A8C4C7"/>
                    </a:solidFill>
                  </a:tcPr>
                </a:tc>
              </a:tr>
              <a:tr h="303052">
                <a:tc>
                  <a:txBody>
                    <a:bodyPr/>
                    <a:lstStyle/>
                    <a:p>
                      <a:pPr algn="ctr"/>
                      <a:r>
                        <a:rPr sz="1000" b="0">
                          <a:solidFill>
                            <a:srgbClr val="262626"/>
                          </a:solidFill>
                          <a:latin typeface="游ゴシック"/>
                        </a:rPr>
                        <a:t>9</a:t>
                      </a:r>
                    </a:p>
                  </a:txBody>
                  <a:tcPr/>
                </a:tc>
                <a:tc>
                  <a:txBody>
                    <a:bodyPr/>
                    <a:lstStyle/>
                    <a:p>
                      <a:pPr algn="ctr"/>
                      <a:r>
                        <a:rPr sz="1000" b="1">
                          <a:solidFill>
                            <a:srgbClr val="262626"/>
                          </a:solidFill>
                          <a:latin typeface="游ゴシック"/>
                        </a:rPr>
                        <a:t>早期離床行い、動作能力を看護師へ報告し、トイレ誘導の依頼を行っている</a:t>
                      </a:r>
                    </a:p>
                  </a:txBody>
                  <a:tcPr/>
                </a:tc>
              </a:tr>
              <a:tr h="303052">
                <a:tc>
                  <a:txBody>
                    <a:bodyPr/>
                    <a:lstStyle/>
                    <a:p>
                      <a:pPr algn="ctr"/>
                      <a:r>
                        <a:rPr sz="1000" b="0">
                          <a:solidFill>
                            <a:srgbClr val="262626"/>
                          </a:solidFill>
                          <a:latin typeface="游ゴシック"/>
                        </a:rPr>
                        <a:t>10</a:t>
                      </a:r>
                    </a:p>
                  </a:txBody>
                  <a:tcPr>
                    <a:solidFill>
                      <a:srgbClr val="A8C4C7"/>
                    </a:solidFill>
                  </a:tcPr>
                </a:tc>
                <a:tc>
                  <a:txBody>
                    <a:bodyPr/>
                    <a:lstStyle/>
                    <a:p>
                      <a:pPr algn="ctr"/>
                      <a:r>
                        <a:rPr sz="1000" b="1">
                          <a:solidFill>
                            <a:srgbClr val="262626"/>
                          </a:solidFill>
                          <a:latin typeface="游ゴシック"/>
                        </a:rPr>
                        <a:t>十分な介助</a:t>
                      </a:r>
                    </a:p>
                  </a:txBody>
                  <a:tcPr>
                    <a:solidFill>
                      <a:srgbClr val="A8C4C7"/>
                    </a:solidFill>
                  </a:tcPr>
                </a:tc>
              </a:tr>
              <a:tr h="303052">
                <a:tc>
                  <a:txBody>
                    <a:bodyPr/>
                    <a:lstStyle/>
                    <a:p>
                      <a:pPr algn="ctr"/>
                      <a:r>
                        <a:rPr sz="1000" b="0">
                          <a:solidFill>
                            <a:srgbClr val="262626"/>
                          </a:solidFill>
                          <a:latin typeface="游ゴシック"/>
                        </a:rPr>
                        <a:t>11</a:t>
                      </a:r>
                    </a:p>
                  </a:txBody>
                  <a:tcPr/>
                </a:tc>
                <a:tc>
                  <a:txBody>
                    <a:bodyPr/>
                    <a:lstStyle/>
                    <a:p>
                      <a:pPr algn="ctr"/>
                      <a:r>
                        <a:rPr sz="1000" b="1">
                          <a:solidFill>
                            <a:srgbClr val="262626"/>
                          </a:solidFill>
                          <a:latin typeface="游ゴシック"/>
                        </a:rPr>
                        <a:t>早期介入</a:t>
                      </a:r>
                    </a:p>
                  </a:txBody>
                  <a:tcPr/>
                </a:tc>
              </a:tr>
              <a:tr h="303052">
                <a:tc>
                  <a:txBody>
                    <a:bodyPr/>
                    <a:lstStyle/>
                    <a:p>
                      <a:pPr algn="ctr"/>
                      <a:r>
                        <a:rPr sz="1000" b="0">
                          <a:solidFill>
                            <a:srgbClr val="262626"/>
                          </a:solidFill>
                          <a:latin typeface="游ゴシック"/>
                        </a:rPr>
                        <a:t>12</a:t>
                      </a:r>
                    </a:p>
                  </a:txBody>
                  <a:tcPr>
                    <a:solidFill>
                      <a:srgbClr val="A8C4C7"/>
                    </a:solidFill>
                  </a:tcPr>
                </a:tc>
                <a:tc>
                  <a:txBody>
                    <a:bodyPr/>
                    <a:lstStyle/>
                    <a:p>
                      <a:pPr algn="ctr"/>
                      <a:r>
                        <a:rPr sz="1000" b="1">
                          <a:solidFill>
                            <a:srgbClr val="262626"/>
                          </a:solidFill>
                          <a:latin typeface="游ゴシック"/>
                        </a:rPr>
                        <a:t>術前のオリエンテーションと早期介入</a:t>
                      </a:r>
                    </a:p>
                  </a:txBody>
                  <a:tcPr>
                    <a:solidFill>
                      <a:srgbClr val="A8C4C7"/>
                    </a:solidFill>
                  </a:tcPr>
                </a:tc>
              </a:tr>
              <a:tr h="303052">
                <a:tc>
                  <a:txBody>
                    <a:bodyPr/>
                    <a:lstStyle/>
                    <a:p>
                      <a:pPr algn="ctr"/>
                      <a:r>
                        <a:rPr sz="1000" b="0">
                          <a:solidFill>
                            <a:srgbClr val="262626"/>
                          </a:solidFill>
                          <a:latin typeface="游ゴシック"/>
                        </a:rPr>
                        <a:t>13</a:t>
                      </a:r>
                    </a:p>
                  </a:txBody>
                  <a:tcPr/>
                </a:tc>
                <a:tc>
                  <a:txBody>
                    <a:bodyPr/>
                    <a:lstStyle/>
                    <a:p>
                      <a:pPr algn="ctr"/>
                      <a:r>
                        <a:rPr sz="1000" b="1">
                          <a:solidFill>
                            <a:srgbClr val="262626"/>
                          </a:solidFill>
                          <a:latin typeface="游ゴシック"/>
                        </a:rPr>
                        <a:t>全身状態を確認の上、安静度の制限がない限り手術翌日離床を予定や目標にしているため。</a:t>
                      </a:r>
                    </a:p>
                  </a:txBody>
                  <a:tcPr/>
                </a:tc>
              </a:tr>
              <a:tr h="303052">
                <a:tc>
                  <a:txBody>
                    <a:bodyPr/>
                    <a:lstStyle/>
                    <a:p>
                      <a:pPr algn="ctr"/>
                      <a:r>
                        <a:rPr sz="1000" b="0">
                          <a:solidFill>
                            <a:srgbClr val="262626"/>
                          </a:solidFill>
                          <a:latin typeface="游ゴシック"/>
                        </a:rPr>
                        <a:t>14</a:t>
                      </a:r>
                    </a:p>
                  </a:txBody>
                  <a:tcPr>
                    <a:solidFill>
                      <a:srgbClr val="A8C4C7"/>
                    </a:solidFill>
                  </a:tcPr>
                </a:tc>
                <a:tc>
                  <a:txBody>
                    <a:bodyPr/>
                    <a:lstStyle/>
                    <a:p>
                      <a:pPr algn="ctr"/>
                      <a:r>
                        <a:rPr sz="1000" b="1">
                          <a:solidFill>
                            <a:srgbClr val="262626"/>
                          </a:solidFill>
                          <a:latin typeface="游ゴシック"/>
                        </a:rPr>
                        <a:t>リラクゼーションやポジショニング、服薬コントロールなどを実施しています</a:t>
                      </a:r>
                    </a:p>
                  </a:txBody>
                  <a:tcPr>
                    <a:solidFill>
                      <a:srgbClr val="A8C4C7"/>
                    </a:solidFill>
                  </a:tcPr>
                </a:tc>
              </a:tr>
              <a:tr h="303052">
                <a:tc>
                  <a:txBody>
                    <a:bodyPr/>
                    <a:lstStyle/>
                    <a:p>
                      <a:pPr algn="ctr"/>
                      <a:r>
                        <a:rPr sz="1000" b="0">
                          <a:solidFill>
                            <a:srgbClr val="262626"/>
                          </a:solidFill>
                          <a:latin typeface="游ゴシック"/>
                        </a:rPr>
                        <a:t>15</a:t>
                      </a:r>
                    </a:p>
                  </a:txBody>
                  <a:tcPr/>
                </a:tc>
                <a:tc>
                  <a:txBody>
                    <a:bodyPr/>
                    <a:lstStyle/>
                    <a:p>
                      <a:pPr algn="ctr"/>
                      <a:r>
                        <a:rPr sz="1000" b="1">
                          <a:solidFill>
                            <a:srgbClr val="262626"/>
                          </a:solidFill>
                          <a:latin typeface="游ゴシック"/>
                        </a:rPr>
                        <a:t>疼痛コントロール</a:t>
                      </a:r>
                    </a:p>
                  </a:txBody>
                  <a:tcPr/>
                </a:tc>
              </a:tr>
              <a:tr h="303052">
                <a:tc>
                  <a:txBody>
                    <a:bodyPr/>
                    <a:lstStyle/>
                    <a:p>
                      <a:pPr algn="ctr"/>
                      <a:r>
                        <a:rPr sz="1000" b="0">
                          <a:solidFill>
                            <a:srgbClr val="262626"/>
                          </a:solidFill>
                          <a:latin typeface="游ゴシック"/>
                        </a:rPr>
                        <a:t>16</a:t>
                      </a:r>
                    </a:p>
                  </a:txBody>
                  <a:tcPr>
                    <a:solidFill>
                      <a:srgbClr val="A8C4C7"/>
                    </a:solidFill>
                  </a:tcPr>
                </a:tc>
                <a:tc>
                  <a:txBody>
                    <a:bodyPr/>
                    <a:lstStyle/>
                    <a:p>
                      <a:pPr algn="ctr"/>
                      <a:r>
                        <a:rPr sz="1000" b="1">
                          <a:solidFill>
                            <a:srgbClr val="262626"/>
                          </a:solidFill>
                          <a:latin typeface="游ゴシック"/>
                        </a:rPr>
                        <a:t>痛みが落ち着けば二日目より歩けるので、翌日は端座位までで、急いで進めていないです。</a:t>
                      </a:r>
                    </a:p>
                  </a:txBody>
                  <a:tcPr>
                    <a:solidFill>
                      <a:srgbClr val="A8C4C7"/>
                    </a:solidFill>
                  </a:tcPr>
                </a:tc>
              </a:tr>
              <a:tr h="303052">
                <a:tc>
                  <a:txBody>
                    <a:bodyPr/>
                    <a:lstStyle/>
                    <a:p>
                      <a:pPr algn="ctr"/>
                      <a:r>
                        <a:rPr sz="1000" b="0">
                          <a:solidFill>
                            <a:srgbClr val="262626"/>
                          </a:solidFill>
                          <a:latin typeface="游ゴシック"/>
                        </a:rPr>
                        <a:t>17</a:t>
                      </a:r>
                    </a:p>
                  </a:txBody>
                  <a:tcPr/>
                </a:tc>
                <a:tc>
                  <a:txBody>
                    <a:bodyPr/>
                    <a:lstStyle/>
                    <a:p>
                      <a:pPr algn="ctr"/>
                      <a:r>
                        <a:rPr sz="1000" b="1">
                          <a:solidFill>
                            <a:srgbClr val="262626"/>
                          </a:solidFill>
                          <a:latin typeface="游ゴシック"/>
                        </a:rPr>
                        <a:t>炎症、腫脹管理、リラクセーション、ポジショニング</a:t>
                      </a:r>
                    </a:p>
                  </a:txBody>
                  <a:tcPr/>
                </a:tc>
              </a:tr>
              <a:tr h="303052">
                <a:tc>
                  <a:txBody>
                    <a:bodyPr/>
                    <a:lstStyle/>
                    <a:p>
                      <a:pPr algn="ctr"/>
                      <a:r>
                        <a:rPr sz="1000" b="0">
                          <a:solidFill>
                            <a:srgbClr val="262626"/>
                          </a:solidFill>
                          <a:latin typeface="游ゴシック"/>
                        </a:rPr>
                        <a:t>18</a:t>
                      </a:r>
                    </a:p>
                  </a:txBody>
                  <a:tcPr>
                    <a:solidFill>
                      <a:srgbClr val="A8C4C7"/>
                    </a:solidFill>
                  </a:tcPr>
                </a:tc>
                <a:tc>
                  <a:txBody>
                    <a:bodyPr/>
                    <a:lstStyle/>
                    <a:p>
                      <a:pPr algn="ctr"/>
                      <a:r>
                        <a:rPr sz="1000" b="1">
                          <a:solidFill>
                            <a:srgbClr val="262626"/>
                          </a:solidFill>
                          <a:latin typeface="游ゴシック"/>
                        </a:rPr>
                        <a:t>特別な対応なし</a:t>
                      </a:r>
                    </a:p>
                  </a:txBody>
                  <a:tcPr>
                    <a:solidFill>
                      <a:srgbClr val="A8C4C7"/>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Q6-1.  Q6で「50%〜74%」「75%〜100%」を選択した方の対応策【自由記述】  (2/5)</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19</a:t>
                      </a:r>
                    </a:p>
                  </a:txBody>
                  <a:tcPr/>
                </a:tc>
                <a:tc>
                  <a:txBody>
                    <a:bodyPr/>
                    <a:lstStyle/>
                    <a:p>
                      <a:pPr algn="ctr"/>
                      <a:r>
                        <a:rPr sz="1000" b="1">
                          <a:solidFill>
                            <a:srgbClr val="262626"/>
                          </a:solidFill>
                          <a:latin typeface="游ゴシック"/>
                        </a:rPr>
                        <a:t>物理療法など電気刺激療法（TENS）による疼痛緩和など</a:t>
                      </a:r>
                    </a:p>
                  </a:txBody>
                  <a:tcPr/>
                </a:tc>
              </a:tr>
              <a:tr h="303052">
                <a:tc>
                  <a:txBody>
                    <a:bodyPr/>
                    <a:lstStyle/>
                    <a:p>
                      <a:pPr algn="ctr"/>
                      <a:r>
                        <a:rPr sz="1000" b="0">
                          <a:solidFill>
                            <a:srgbClr val="262626"/>
                          </a:solidFill>
                          <a:latin typeface="游ゴシック"/>
                        </a:rPr>
                        <a:t>20</a:t>
                      </a:r>
                    </a:p>
                  </a:txBody>
                  <a:tcPr>
                    <a:solidFill>
                      <a:srgbClr val="A8C4C7"/>
                    </a:solidFill>
                  </a:tcPr>
                </a:tc>
                <a:tc>
                  <a:txBody>
                    <a:bodyPr/>
                    <a:lstStyle/>
                    <a:p>
                      <a:pPr algn="ctr"/>
                      <a:r>
                        <a:rPr sz="1000" b="1">
                          <a:solidFill>
                            <a:srgbClr val="262626"/>
                          </a:solidFill>
                          <a:latin typeface="游ゴシック"/>
                        </a:rPr>
                        <a:t>術翌日から介入しており、早期離床を目的としているから</a:t>
                      </a:r>
                    </a:p>
                  </a:txBody>
                  <a:tcPr>
                    <a:solidFill>
                      <a:srgbClr val="A8C4C7"/>
                    </a:solidFill>
                  </a:tcPr>
                </a:tc>
              </a:tr>
              <a:tr h="303052">
                <a:tc>
                  <a:txBody>
                    <a:bodyPr/>
                    <a:lstStyle/>
                    <a:p>
                      <a:pPr algn="ctr"/>
                      <a:r>
                        <a:rPr sz="1000" b="0">
                          <a:solidFill>
                            <a:srgbClr val="262626"/>
                          </a:solidFill>
                          <a:latin typeface="游ゴシック"/>
                        </a:rPr>
                        <a:t>21</a:t>
                      </a:r>
                    </a:p>
                  </a:txBody>
                  <a:tcPr/>
                </a:tc>
                <a:tc>
                  <a:txBody>
                    <a:bodyPr/>
                    <a:lstStyle/>
                    <a:p>
                      <a:pPr algn="ctr"/>
                      <a:r>
                        <a:rPr sz="1000" b="1">
                          <a:solidFill>
                            <a:srgbClr val="262626"/>
                          </a:solidFill>
                          <a:latin typeface="游ゴシック"/>
                        </a:rPr>
                        <a:t>現在統一した対策はとっていない。まずは、クリニカルパスのアウトカム項目を変更し、術翌日立位ができなかった原因のより正確な情報をとれるような体制を整備しているところである。今後、その情報をもとにクリニカルパスなどを活用して疼痛コントロールをはかり術翌日の離床の促進をはかっていきたいと考えている。</a:t>
                      </a:r>
                    </a:p>
                  </a:txBody>
                  <a:tcPr/>
                </a:tc>
              </a:tr>
              <a:tr h="303052">
                <a:tc>
                  <a:txBody>
                    <a:bodyPr/>
                    <a:lstStyle/>
                    <a:p>
                      <a:pPr algn="ctr"/>
                      <a:r>
                        <a:rPr sz="1000" b="0">
                          <a:solidFill>
                            <a:srgbClr val="262626"/>
                          </a:solidFill>
                          <a:latin typeface="游ゴシック"/>
                        </a:rPr>
                        <a:t>22</a:t>
                      </a:r>
                    </a:p>
                  </a:txBody>
                  <a:tcPr>
                    <a:solidFill>
                      <a:srgbClr val="A8C4C7"/>
                    </a:solidFill>
                  </a:tcPr>
                </a:tc>
                <a:tc>
                  <a:txBody>
                    <a:bodyPr/>
                    <a:lstStyle/>
                    <a:p>
                      <a:pPr algn="ctr"/>
                      <a:r>
                        <a:rPr sz="1000" b="1">
                          <a:solidFill>
                            <a:srgbClr val="262626"/>
                          </a:solidFill>
                          <a:latin typeface="游ゴシック"/>
                        </a:rPr>
                        <a:t>内服調整、リハビリ時間調整、愛護的ROM-ex、アイシング</a:t>
                      </a:r>
                    </a:p>
                  </a:txBody>
                  <a:tcPr>
                    <a:solidFill>
                      <a:srgbClr val="A8C4C7"/>
                    </a:solidFill>
                  </a:tcPr>
                </a:tc>
              </a:tr>
              <a:tr h="303052">
                <a:tc>
                  <a:txBody>
                    <a:bodyPr/>
                    <a:lstStyle/>
                    <a:p>
                      <a:pPr algn="ctr"/>
                      <a:r>
                        <a:rPr sz="1000" b="0">
                          <a:solidFill>
                            <a:srgbClr val="262626"/>
                          </a:solidFill>
                          <a:latin typeface="游ゴシック"/>
                        </a:rPr>
                        <a:t>23</a:t>
                      </a:r>
                    </a:p>
                  </a:txBody>
                  <a:tcPr/>
                </a:tc>
                <a:tc>
                  <a:txBody>
                    <a:bodyPr/>
                    <a:lstStyle/>
                    <a:p>
                      <a:pPr algn="ctr"/>
                      <a:r>
                        <a:rPr sz="1000" b="1">
                          <a:solidFill>
                            <a:srgbClr val="262626"/>
                          </a:solidFill>
                          <a:latin typeface="游ゴシック"/>
                        </a:rPr>
                        <a:t>痛みが少なくなるような動作指導・介助方法の実施</a:t>
                      </a:r>
                    </a:p>
                  </a:txBody>
                  <a:tcPr/>
                </a:tc>
              </a:tr>
              <a:tr h="303052">
                <a:tc>
                  <a:txBody>
                    <a:bodyPr/>
                    <a:lstStyle/>
                    <a:p>
                      <a:pPr algn="ctr"/>
                      <a:r>
                        <a:rPr sz="1000" b="0">
                          <a:solidFill>
                            <a:srgbClr val="262626"/>
                          </a:solidFill>
                          <a:latin typeface="游ゴシック"/>
                        </a:rPr>
                        <a:t>24</a:t>
                      </a:r>
                    </a:p>
                  </a:txBody>
                  <a:tcPr>
                    <a:solidFill>
                      <a:srgbClr val="A8C4C7"/>
                    </a:solidFill>
                  </a:tcPr>
                </a:tc>
                <a:tc>
                  <a:txBody>
                    <a:bodyPr/>
                    <a:lstStyle/>
                    <a:p>
                      <a:pPr algn="ctr"/>
                      <a:r>
                        <a:rPr sz="1000" b="1">
                          <a:solidFill>
                            <a:srgbClr val="262626"/>
                          </a:solidFill>
                          <a:latin typeface="游ゴシック"/>
                        </a:rPr>
                        <a:t>リラクゼーションや愛護的なROMを行い、疼痛を緩和させながら行う。</a:t>
                      </a:r>
                    </a:p>
                  </a:txBody>
                  <a:tcPr>
                    <a:solidFill>
                      <a:srgbClr val="A8C4C7"/>
                    </a:solidFill>
                  </a:tcPr>
                </a:tc>
              </a:tr>
              <a:tr h="303052">
                <a:tc>
                  <a:txBody>
                    <a:bodyPr/>
                    <a:lstStyle/>
                    <a:p>
                      <a:pPr algn="ctr"/>
                      <a:r>
                        <a:rPr sz="1000" b="0">
                          <a:solidFill>
                            <a:srgbClr val="262626"/>
                          </a:solidFill>
                          <a:latin typeface="游ゴシック"/>
                        </a:rPr>
                        <a:t>25</a:t>
                      </a:r>
                    </a:p>
                  </a:txBody>
                  <a:tcPr/>
                </a:tc>
                <a:tc>
                  <a:txBody>
                    <a:bodyPr/>
                    <a:lstStyle/>
                    <a:p>
                      <a:pPr algn="ctr"/>
                      <a:r>
                        <a:rPr sz="1000" b="1">
                          <a:solidFill>
                            <a:srgbClr val="262626"/>
                          </a:solidFill>
                          <a:latin typeface="游ゴシック"/>
                        </a:rPr>
                        <a:t>病棟Nrsへの自主トレーニング・離床の協力依頼</a:t>
                      </a:r>
                    </a:p>
                  </a:txBody>
                  <a:tcPr/>
                </a:tc>
              </a:tr>
              <a:tr h="303052">
                <a:tc>
                  <a:txBody>
                    <a:bodyPr/>
                    <a:lstStyle/>
                    <a:p>
                      <a:pPr algn="ctr"/>
                      <a:r>
                        <a:rPr sz="1000" b="0">
                          <a:solidFill>
                            <a:srgbClr val="262626"/>
                          </a:solidFill>
                          <a:latin typeface="游ゴシック"/>
                        </a:rPr>
                        <a:t>26</a:t>
                      </a:r>
                    </a:p>
                  </a:txBody>
                  <a:tcPr>
                    <a:solidFill>
                      <a:srgbClr val="A8C4C7"/>
                    </a:solidFill>
                  </a:tcPr>
                </a:tc>
                <a:tc>
                  <a:txBody>
                    <a:bodyPr/>
                    <a:lstStyle/>
                    <a:p>
                      <a:pPr algn="ctr"/>
                      <a:r>
                        <a:rPr sz="1000" b="1">
                          <a:solidFill>
                            <a:srgbClr val="262626"/>
                          </a:solidFill>
                          <a:latin typeface="游ゴシック"/>
                        </a:rPr>
                        <a:t>リハビリテーションによる早期離床とベッド上の運動よりも移乗動作訓練やトイレ動作訓練等のADL訓練を多く取り入れています。</a:t>
                      </a:r>
                    </a:p>
                  </a:txBody>
                  <a:tcPr>
                    <a:solidFill>
                      <a:srgbClr val="A8C4C7"/>
                    </a:solidFill>
                  </a:tcPr>
                </a:tc>
              </a:tr>
              <a:tr h="303052">
                <a:tc>
                  <a:txBody>
                    <a:bodyPr/>
                    <a:lstStyle/>
                    <a:p>
                      <a:pPr algn="ctr"/>
                      <a:r>
                        <a:rPr sz="1000" b="0">
                          <a:solidFill>
                            <a:srgbClr val="262626"/>
                          </a:solidFill>
                          <a:latin typeface="游ゴシック"/>
                        </a:rPr>
                        <a:t>27</a:t>
                      </a:r>
                    </a:p>
                  </a:txBody>
                  <a:tcPr/>
                </a:tc>
                <a:tc>
                  <a:txBody>
                    <a:bodyPr/>
                    <a:lstStyle/>
                    <a:p>
                      <a:pPr algn="ctr"/>
                      <a:r>
                        <a:rPr sz="1000" b="1">
                          <a:solidFill>
                            <a:srgbClr val="262626"/>
                          </a:solidFill>
                          <a:latin typeface="游ゴシック"/>
                        </a:rPr>
                        <a:t>疼痛軽減のためのアイシングやマッサージ、リラクセーション、可動域運動の実施</a:t>
                      </a:r>
                    </a:p>
                  </a:txBody>
                  <a:tcPr/>
                </a:tc>
              </a:tr>
              <a:tr h="303052">
                <a:tc>
                  <a:txBody>
                    <a:bodyPr/>
                    <a:lstStyle/>
                    <a:p>
                      <a:pPr algn="ctr"/>
                      <a:r>
                        <a:rPr sz="1000" b="0">
                          <a:solidFill>
                            <a:srgbClr val="262626"/>
                          </a:solidFill>
                          <a:latin typeface="游ゴシック"/>
                        </a:rPr>
                        <a:t>28</a:t>
                      </a:r>
                    </a:p>
                  </a:txBody>
                  <a:tcPr>
                    <a:solidFill>
                      <a:srgbClr val="A8C4C7"/>
                    </a:solidFill>
                  </a:tcPr>
                </a:tc>
                <a:tc>
                  <a:txBody>
                    <a:bodyPr/>
                    <a:lstStyle/>
                    <a:p>
                      <a:pPr algn="ctr"/>
                      <a:r>
                        <a:rPr sz="1000" b="1">
                          <a:solidFill>
                            <a:srgbClr val="262626"/>
                          </a:solidFill>
                          <a:latin typeface="游ゴシック"/>
                        </a:rPr>
                        <a:t>術後1日目からの車椅子移乗　立位練習</a:t>
                      </a:r>
                    </a:p>
                  </a:txBody>
                  <a:tcPr>
                    <a:solidFill>
                      <a:srgbClr val="A8C4C7"/>
                    </a:solidFill>
                  </a:tcPr>
                </a:tc>
              </a:tr>
              <a:tr h="303052">
                <a:tc>
                  <a:txBody>
                    <a:bodyPr/>
                    <a:lstStyle/>
                    <a:p>
                      <a:pPr algn="ctr"/>
                      <a:r>
                        <a:rPr sz="1000" b="0">
                          <a:solidFill>
                            <a:srgbClr val="262626"/>
                          </a:solidFill>
                          <a:latin typeface="游ゴシック"/>
                        </a:rPr>
                        <a:t>29</a:t>
                      </a:r>
                    </a:p>
                  </a:txBody>
                  <a:tcPr/>
                </a:tc>
                <a:tc>
                  <a:txBody>
                    <a:bodyPr/>
                    <a:lstStyle/>
                    <a:p>
                      <a:pPr algn="ctr"/>
                      <a:r>
                        <a:rPr sz="1000" b="1">
                          <a:solidFill>
                            <a:srgbClr val="262626"/>
                          </a:solidFill>
                          <a:latin typeface="游ゴシック"/>
                        </a:rPr>
                        <a:t>特になし</a:t>
                      </a:r>
                    </a:p>
                  </a:txBody>
                  <a:tcPr/>
                </a:tc>
              </a:tr>
              <a:tr h="303052">
                <a:tc>
                  <a:txBody>
                    <a:bodyPr/>
                    <a:lstStyle/>
                    <a:p>
                      <a:pPr algn="ctr"/>
                      <a:r>
                        <a:rPr sz="1000" b="0">
                          <a:solidFill>
                            <a:srgbClr val="262626"/>
                          </a:solidFill>
                          <a:latin typeface="游ゴシック"/>
                        </a:rPr>
                        <a:t>30</a:t>
                      </a:r>
                    </a:p>
                  </a:txBody>
                  <a:tcPr>
                    <a:solidFill>
                      <a:srgbClr val="A8C4C7"/>
                    </a:solidFill>
                  </a:tcPr>
                </a:tc>
                <a:tc>
                  <a:txBody>
                    <a:bodyPr/>
                    <a:lstStyle/>
                    <a:p>
                      <a:pPr algn="ctr"/>
                      <a:r>
                        <a:rPr sz="1000" b="1">
                          <a:solidFill>
                            <a:srgbClr val="262626"/>
                          </a:solidFill>
                          <a:latin typeface="游ゴシック"/>
                        </a:rPr>
                        <a:t>なるべく車椅子座位で昼食をとるようにしている</a:t>
                      </a:r>
                    </a:p>
                  </a:txBody>
                  <a:tcPr>
                    <a:solidFill>
                      <a:srgbClr val="A8C4C7"/>
                    </a:solidFill>
                  </a:tcPr>
                </a:tc>
              </a:tr>
              <a:tr h="303052">
                <a:tc>
                  <a:txBody>
                    <a:bodyPr/>
                    <a:lstStyle/>
                    <a:p>
                      <a:pPr algn="ctr"/>
                      <a:r>
                        <a:rPr sz="1000" b="0">
                          <a:solidFill>
                            <a:srgbClr val="262626"/>
                          </a:solidFill>
                          <a:latin typeface="游ゴシック"/>
                        </a:rPr>
                        <a:t>31</a:t>
                      </a:r>
                    </a:p>
                  </a:txBody>
                  <a:tcPr/>
                </a:tc>
                <a:tc>
                  <a:txBody>
                    <a:bodyPr/>
                    <a:lstStyle/>
                    <a:p>
                      <a:pPr algn="ctr"/>
                      <a:r>
                        <a:rPr sz="1000" b="1">
                          <a:solidFill>
                            <a:srgbClr val="262626"/>
                          </a:solidFill>
                          <a:latin typeface="游ゴシック"/>
                        </a:rPr>
                        <a:t>ROMex、筋力強化</a:t>
                      </a:r>
                    </a:p>
                  </a:txBody>
                  <a:tcPr/>
                </a:tc>
              </a:tr>
              <a:tr h="303052">
                <a:tc>
                  <a:txBody>
                    <a:bodyPr/>
                    <a:lstStyle/>
                    <a:p>
                      <a:pPr algn="ctr"/>
                      <a:r>
                        <a:rPr sz="1000" b="0">
                          <a:solidFill>
                            <a:srgbClr val="262626"/>
                          </a:solidFill>
                          <a:latin typeface="游ゴシック"/>
                        </a:rPr>
                        <a:t>32</a:t>
                      </a:r>
                    </a:p>
                  </a:txBody>
                  <a:tcPr>
                    <a:solidFill>
                      <a:srgbClr val="A8C4C7"/>
                    </a:solidFill>
                  </a:tcPr>
                </a:tc>
                <a:tc>
                  <a:txBody>
                    <a:bodyPr/>
                    <a:lstStyle/>
                    <a:p>
                      <a:pPr algn="ctr"/>
                      <a:r>
                        <a:rPr sz="1000" b="1">
                          <a:solidFill>
                            <a:srgbClr val="262626"/>
                          </a:solidFill>
                          <a:latin typeface="游ゴシック"/>
                        </a:rPr>
                        <a:t>多職種連携</a:t>
                      </a:r>
                    </a:p>
                  </a:txBody>
                  <a:tcPr>
                    <a:solidFill>
                      <a:srgbClr val="A8C4C7"/>
                    </a:solidFill>
                  </a:tcPr>
                </a:tc>
              </a:tr>
              <a:tr h="303052">
                <a:tc>
                  <a:txBody>
                    <a:bodyPr/>
                    <a:lstStyle/>
                    <a:p>
                      <a:pPr algn="ctr"/>
                      <a:r>
                        <a:rPr sz="1000" b="0">
                          <a:solidFill>
                            <a:srgbClr val="262626"/>
                          </a:solidFill>
                          <a:latin typeface="游ゴシック"/>
                        </a:rPr>
                        <a:t>33</a:t>
                      </a:r>
                    </a:p>
                  </a:txBody>
                  <a:tcPr/>
                </a:tc>
                <a:tc>
                  <a:txBody>
                    <a:bodyPr/>
                    <a:lstStyle/>
                    <a:p>
                      <a:pPr algn="ctr"/>
                      <a:r>
                        <a:rPr sz="1000" b="1">
                          <a:solidFill>
                            <a:srgbClr val="262626"/>
                          </a:solidFill>
                          <a:latin typeface="游ゴシック"/>
                        </a:rPr>
                        <a:t>午前、午後それぞれで積極的に介入</a:t>
                      </a:r>
                    </a:p>
                  </a:txBody>
                  <a:tcPr/>
                </a:tc>
              </a:tr>
              <a:tr h="303052">
                <a:tc>
                  <a:txBody>
                    <a:bodyPr/>
                    <a:lstStyle/>
                    <a:p>
                      <a:pPr algn="ctr"/>
                      <a:r>
                        <a:rPr sz="1000" b="0">
                          <a:solidFill>
                            <a:srgbClr val="262626"/>
                          </a:solidFill>
                          <a:latin typeface="游ゴシック"/>
                        </a:rPr>
                        <a:t>34</a:t>
                      </a:r>
                    </a:p>
                  </a:txBody>
                  <a:tcPr>
                    <a:solidFill>
                      <a:srgbClr val="A8C4C7"/>
                    </a:solidFill>
                  </a:tcPr>
                </a:tc>
                <a:tc>
                  <a:txBody>
                    <a:bodyPr/>
                    <a:lstStyle/>
                    <a:p>
                      <a:pPr algn="ctr"/>
                      <a:r>
                        <a:rPr sz="1000" b="1">
                          <a:solidFill>
                            <a:srgbClr val="262626"/>
                          </a:solidFill>
                          <a:latin typeface="游ゴシック"/>
                        </a:rPr>
                        <a:t>周術期対応チームと他職種連携した疼痛コントロール</a:t>
                      </a:r>
                    </a:p>
                  </a:txBody>
                  <a:tcPr>
                    <a:solidFill>
                      <a:srgbClr val="A8C4C7"/>
                    </a:solidFill>
                  </a:tcPr>
                </a:tc>
              </a:tr>
              <a:tr h="303052">
                <a:tc>
                  <a:txBody>
                    <a:bodyPr/>
                    <a:lstStyle/>
                    <a:p>
                      <a:pPr algn="ctr"/>
                      <a:r>
                        <a:rPr sz="1000" b="0">
                          <a:solidFill>
                            <a:srgbClr val="262626"/>
                          </a:solidFill>
                          <a:latin typeface="游ゴシック"/>
                        </a:rPr>
                        <a:t>35</a:t>
                      </a:r>
                    </a:p>
                  </a:txBody>
                  <a:tcPr/>
                </a:tc>
                <a:tc>
                  <a:txBody>
                    <a:bodyPr/>
                    <a:lstStyle/>
                    <a:p>
                      <a:pPr algn="ctr"/>
                      <a:r>
                        <a:rPr sz="1000" b="1">
                          <a:solidFill>
                            <a:srgbClr val="262626"/>
                          </a:solidFill>
                          <a:latin typeface="游ゴシック"/>
                        </a:rPr>
                        <a:t>早期離床（医師の指示受け後、早期に車いすへ移乗）</a:t>
                      </a:r>
                    </a:p>
                  </a:txBody>
                  <a:tcPr/>
                </a:tc>
              </a:tr>
              <a:tr h="303052">
                <a:tc>
                  <a:txBody>
                    <a:bodyPr/>
                    <a:lstStyle/>
                    <a:p>
                      <a:pPr algn="ctr"/>
                      <a:r>
                        <a:rPr sz="1000" b="0">
                          <a:solidFill>
                            <a:srgbClr val="262626"/>
                          </a:solidFill>
                          <a:latin typeface="游ゴシック"/>
                        </a:rPr>
                        <a:t>36</a:t>
                      </a:r>
                    </a:p>
                  </a:txBody>
                  <a:tcPr>
                    <a:solidFill>
                      <a:srgbClr val="A8C4C7"/>
                    </a:solidFill>
                  </a:tcPr>
                </a:tc>
                <a:tc>
                  <a:txBody>
                    <a:bodyPr/>
                    <a:lstStyle/>
                    <a:p>
                      <a:pPr algn="ctr"/>
                      <a:r>
                        <a:rPr sz="1000" b="1">
                          <a:solidFill>
                            <a:srgbClr val="262626"/>
                          </a:solidFill>
                          <a:latin typeface="游ゴシック"/>
                        </a:rPr>
                        <a:t>高齢者が多い為、翌日は端坐位までの安静度が多い</a:t>
                      </a:r>
                    </a:p>
                  </a:txBody>
                  <a:tcPr>
                    <a:solidFill>
                      <a:srgbClr val="A8C4C7"/>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Q6-1.  Q6で「50%〜74%」「75%〜100%」を選択した方の対応策【自由記述】  (3/5)</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37</a:t>
                      </a:r>
                    </a:p>
                  </a:txBody>
                  <a:tcPr/>
                </a:tc>
                <a:tc>
                  <a:txBody>
                    <a:bodyPr/>
                    <a:lstStyle/>
                    <a:p>
                      <a:pPr algn="ctr"/>
                      <a:r>
                        <a:rPr sz="1000" b="1">
                          <a:solidFill>
                            <a:srgbClr val="262626"/>
                          </a:solidFill>
                          <a:latin typeface="游ゴシック"/>
                        </a:rPr>
                        <a:t>除痛に向け訓練実施。</a:t>
                      </a:r>
                    </a:p>
                  </a:txBody>
                  <a:tcPr/>
                </a:tc>
              </a:tr>
              <a:tr h="303052">
                <a:tc>
                  <a:txBody>
                    <a:bodyPr/>
                    <a:lstStyle/>
                    <a:p>
                      <a:pPr algn="ctr"/>
                      <a:r>
                        <a:rPr sz="1000" b="0">
                          <a:solidFill>
                            <a:srgbClr val="262626"/>
                          </a:solidFill>
                          <a:latin typeface="游ゴシック"/>
                        </a:rPr>
                        <a:t>38</a:t>
                      </a:r>
                    </a:p>
                  </a:txBody>
                  <a:tcPr>
                    <a:solidFill>
                      <a:srgbClr val="A8C4C7"/>
                    </a:solidFill>
                  </a:tcPr>
                </a:tc>
                <a:tc>
                  <a:txBody>
                    <a:bodyPr/>
                    <a:lstStyle/>
                    <a:p>
                      <a:pPr algn="ctr"/>
                      <a:r>
                        <a:rPr sz="1000" b="1">
                          <a:solidFill>
                            <a:srgbClr val="262626"/>
                          </a:solidFill>
                          <a:latin typeface="游ゴシック"/>
                        </a:rPr>
                        <a:t>内服薬をリハビリ前に内服していただく</a:t>
                      </a:r>
                    </a:p>
                  </a:txBody>
                  <a:tcPr>
                    <a:solidFill>
                      <a:srgbClr val="A8C4C7"/>
                    </a:solidFill>
                  </a:tcPr>
                </a:tc>
              </a:tr>
              <a:tr h="303052">
                <a:tc>
                  <a:txBody>
                    <a:bodyPr/>
                    <a:lstStyle/>
                    <a:p>
                      <a:pPr algn="ctr"/>
                      <a:r>
                        <a:rPr sz="1000" b="0">
                          <a:solidFill>
                            <a:srgbClr val="262626"/>
                          </a:solidFill>
                          <a:latin typeface="游ゴシック"/>
                        </a:rPr>
                        <a:t>39</a:t>
                      </a:r>
                    </a:p>
                  </a:txBody>
                  <a:tcPr/>
                </a:tc>
                <a:tc>
                  <a:txBody>
                    <a:bodyPr/>
                    <a:lstStyle/>
                    <a:p>
                      <a:pPr algn="ctr"/>
                      <a:r>
                        <a:rPr sz="1000" b="1">
                          <a:solidFill>
                            <a:srgbClr val="262626"/>
                          </a:solidFill>
                          <a:latin typeface="游ゴシック"/>
                        </a:rPr>
                        <a:t>繰り返し介入する</a:t>
                      </a:r>
                    </a:p>
                  </a:txBody>
                  <a:tcPr/>
                </a:tc>
              </a:tr>
              <a:tr h="303052">
                <a:tc>
                  <a:txBody>
                    <a:bodyPr/>
                    <a:lstStyle/>
                    <a:p>
                      <a:pPr algn="ctr"/>
                      <a:r>
                        <a:rPr sz="1000" b="0">
                          <a:solidFill>
                            <a:srgbClr val="262626"/>
                          </a:solidFill>
                          <a:latin typeface="游ゴシック"/>
                        </a:rPr>
                        <a:t>40</a:t>
                      </a:r>
                    </a:p>
                  </a:txBody>
                  <a:tcPr>
                    <a:solidFill>
                      <a:srgbClr val="A8C4C7"/>
                    </a:solidFill>
                  </a:tcPr>
                </a:tc>
                <a:tc>
                  <a:txBody>
                    <a:bodyPr/>
                    <a:lstStyle/>
                    <a:p>
                      <a:pPr algn="ctr"/>
                      <a:r>
                        <a:rPr sz="1000" b="1">
                          <a:solidFill>
                            <a:srgbClr val="262626"/>
                          </a:solidFill>
                          <a:latin typeface="游ゴシック"/>
                        </a:rPr>
                        <a:t>鎮痛薬の点滴、内服</a:t>
                      </a:r>
                    </a:p>
                  </a:txBody>
                  <a:tcPr>
                    <a:solidFill>
                      <a:srgbClr val="A8C4C7"/>
                    </a:solidFill>
                  </a:tcPr>
                </a:tc>
              </a:tr>
              <a:tr h="303052">
                <a:tc>
                  <a:txBody>
                    <a:bodyPr/>
                    <a:lstStyle/>
                    <a:p>
                      <a:pPr algn="ctr"/>
                      <a:r>
                        <a:rPr sz="1000" b="0">
                          <a:solidFill>
                            <a:srgbClr val="262626"/>
                          </a:solidFill>
                          <a:latin typeface="游ゴシック"/>
                        </a:rPr>
                        <a:t>41</a:t>
                      </a:r>
                    </a:p>
                  </a:txBody>
                  <a:tcPr/>
                </a:tc>
                <a:tc>
                  <a:txBody>
                    <a:bodyPr/>
                    <a:lstStyle/>
                    <a:p>
                      <a:pPr algn="ctr"/>
                      <a:r>
                        <a:rPr sz="1000" b="1">
                          <a:solidFill>
                            <a:srgbClr val="262626"/>
                          </a:solidFill>
                          <a:latin typeface="游ゴシック"/>
                        </a:rPr>
                        <a:t>ポジショニング</a:t>
                      </a:r>
                    </a:p>
                  </a:txBody>
                  <a:tcPr/>
                </a:tc>
              </a:tr>
              <a:tr h="303052">
                <a:tc>
                  <a:txBody>
                    <a:bodyPr/>
                    <a:lstStyle/>
                    <a:p>
                      <a:pPr algn="ctr"/>
                      <a:r>
                        <a:rPr sz="1000" b="0">
                          <a:solidFill>
                            <a:srgbClr val="262626"/>
                          </a:solidFill>
                          <a:latin typeface="游ゴシック"/>
                        </a:rPr>
                        <a:t>42</a:t>
                      </a:r>
                    </a:p>
                  </a:txBody>
                  <a:tcPr>
                    <a:solidFill>
                      <a:srgbClr val="A8C4C7"/>
                    </a:solidFill>
                  </a:tcPr>
                </a:tc>
                <a:tc>
                  <a:txBody>
                    <a:bodyPr/>
                    <a:lstStyle/>
                    <a:p>
                      <a:pPr algn="ctr"/>
                      <a:r>
                        <a:rPr sz="1000" b="1">
                          <a:solidFill>
                            <a:srgbClr val="262626"/>
                          </a:solidFill>
                          <a:latin typeface="游ゴシック"/>
                        </a:rPr>
                        <a:t>筋のリラクゼーション後に立位練習、介助量を増やす</a:t>
                      </a:r>
                    </a:p>
                  </a:txBody>
                  <a:tcPr>
                    <a:solidFill>
                      <a:srgbClr val="A8C4C7"/>
                    </a:solidFill>
                  </a:tcPr>
                </a:tc>
              </a:tr>
              <a:tr h="303052">
                <a:tc>
                  <a:txBody>
                    <a:bodyPr/>
                    <a:lstStyle/>
                    <a:p>
                      <a:pPr algn="ctr"/>
                      <a:r>
                        <a:rPr sz="1000" b="0">
                          <a:solidFill>
                            <a:srgbClr val="262626"/>
                          </a:solidFill>
                          <a:latin typeface="游ゴシック"/>
                        </a:rPr>
                        <a:t>43</a:t>
                      </a:r>
                    </a:p>
                  </a:txBody>
                  <a:tcPr/>
                </a:tc>
                <a:tc>
                  <a:txBody>
                    <a:bodyPr/>
                    <a:lstStyle/>
                    <a:p>
                      <a:pPr algn="ctr"/>
                      <a:r>
                        <a:rPr sz="1000" b="1">
                          <a:solidFill>
                            <a:srgbClr val="262626"/>
                          </a:solidFill>
                          <a:latin typeface="游ゴシック"/>
                        </a:rPr>
                        <a:t>手すり等の工夫</a:t>
                      </a:r>
                    </a:p>
                  </a:txBody>
                  <a:tcPr/>
                </a:tc>
              </a:tr>
              <a:tr h="303052">
                <a:tc>
                  <a:txBody>
                    <a:bodyPr/>
                    <a:lstStyle/>
                    <a:p>
                      <a:pPr algn="ctr"/>
                      <a:r>
                        <a:rPr sz="1000" b="0">
                          <a:solidFill>
                            <a:srgbClr val="262626"/>
                          </a:solidFill>
                          <a:latin typeface="游ゴシック"/>
                        </a:rPr>
                        <a:t>44</a:t>
                      </a:r>
                    </a:p>
                  </a:txBody>
                  <a:tcPr>
                    <a:solidFill>
                      <a:srgbClr val="A8C4C7"/>
                    </a:solidFill>
                  </a:tcPr>
                </a:tc>
                <a:tc>
                  <a:txBody>
                    <a:bodyPr/>
                    <a:lstStyle/>
                    <a:p>
                      <a:pPr algn="ctr"/>
                      <a:r>
                        <a:rPr sz="1000" b="1">
                          <a:solidFill>
                            <a:srgbClr val="262626"/>
                          </a:solidFill>
                          <a:latin typeface="游ゴシック"/>
                        </a:rPr>
                        <a:t>クーリング</a:t>
                      </a:r>
                    </a:p>
                  </a:txBody>
                  <a:tcPr>
                    <a:solidFill>
                      <a:srgbClr val="A8C4C7"/>
                    </a:solidFill>
                  </a:tcPr>
                </a:tc>
              </a:tr>
              <a:tr h="303052">
                <a:tc>
                  <a:txBody>
                    <a:bodyPr/>
                    <a:lstStyle/>
                    <a:p>
                      <a:pPr algn="ctr"/>
                      <a:r>
                        <a:rPr sz="1000" b="0">
                          <a:solidFill>
                            <a:srgbClr val="262626"/>
                          </a:solidFill>
                          <a:latin typeface="游ゴシック"/>
                        </a:rPr>
                        <a:t>45</a:t>
                      </a:r>
                    </a:p>
                  </a:txBody>
                  <a:tcPr/>
                </a:tc>
                <a:tc>
                  <a:txBody>
                    <a:bodyPr/>
                    <a:lstStyle/>
                    <a:p>
                      <a:pPr algn="ctr"/>
                      <a:r>
                        <a:rPr sz="1000" b="1">
                          <a:solidFill>
                            <a:srgbClr val="262626"/>
                          </a:solidFill>
                          <a:latin typeface="游ゴシック"/>
                        </a:rPr>
                        <a:t>疼痛コントロール、クーリング、ギャッチアップ等を訓練及び病棟内で実施</a:t>
                      </a:r>
                    </a:p>
                  </a:txBody>
                  <a:tcPr/>
                </a:tc>
              </a:tr>
              <a:tr h="303052">
                <a:tc>
                  <a:txBody>
                    <a:bodyPr/>
                    <a:lstStyle/>
                    <a:p>
                      <a:pPr algn="ctr"/>
                      <a:r>
                        <a:rPr sz="1000" b="0">
                          <a:solidFill>
                            <a:srgbClr val="262626"/>
                          </a:solidFill>
                          <a:latin typeface="游ゴシック"/>
                        </a:rPr>
                        <a:t>46</a:t>
                      </a:r>
                    </a:p>
                  </a:txBody>
                  <a:tcPr>
                    <a:solidFill>
                      <a:srgbClr val="A8C4C7"/>
                    </a:solidFill>
                  </a:tcPr>
                </a:tc>
                <a:tc>
                  <a:txBody>
                    <a:bodyPr/>
                    <a:lstStyle/>
                    <a:p>
                      <a:pPr algn="ctr"/>
                      <a:r>
                        <a:rPr sz="1000" b="1">
                          <a:solidFill>
                            <a:srgbClr val="262626"/>
                          </a:solidFill>
                          <a:latin typeface="游ゴシック"/>
                        </a:rPr>
                        <a:t>手術翌日の整形外科回診にて基本全例実施しているため</a:t>
                      </a:r>
                    </a:p>
                  </a:txBody>
                  <a:tcPr>
                    <a:solidFill>
                      <a:srgbClr val="A8C4C7"/>
                    </a:solidFill>
                  </a:tcPr>
                </a:tc>
              </a:tr>
              <a:tr h="303052">
                <a:tc>
                  <a:txBody>
                    <a:bodyPr/>
                    <a:lstStyle/>
                    <a:p>
                      <a:pPr algn="ctr"/>
                      <a:r>
                        <a:rPr sz="1000" b="0">
                          <a:solidFill>
                            <a:srgbClr val="262626"/>
                          </a:solidFill>
                          <a:latin typeface="游ゴシック"/>
                        </a:rPr>
                        <a:t>47</a:t>
                      </a:r>
                    </a:p>
                  </a:txBody>
                  <a:tcPr/>
                </a:tc>
                <a:tc>
                  <a:txBody>
                    <a:bodyPr/>
                    <a:lstStyle/>
                    <a:p>
                      <a:pPr algn="ctr"/>
                      <a:r>
                        <a:rPr sz="1000" b="1">
                          <a:solidFill>
                            <a:srgbClr val="262626"/>
                          </a:solidFill>
                          <a:latin typeface="游ゴシック"/>
                        </a:rPr>
                        <a:t>服薬による疼痛コントロール、環境調整など</a:t>
                      </a:r>
                    </a:p>
                  </a:txBody>
                  <a:tcPr/>
                </a:tc>
              </a:tr>
              <a:tr h="303052">
                <a:tc>
                  <a:txBody>
                    <a:bodyPr/>
                    <a:lstStyle/>
                    <a:p>
                      <a:pPr algn="ctr"/>
                      <a:r>
                        <a:rPr sz="1000" b="0">
                          <a:solidFill>
                            <a:srgbClr val="262626"/>
                          </a:solidFill>
                          <a:latin typeface="游ゴシック"/>
                        </a:rPr>
                        <a:t>48</a:t>
                      </a:r>
                    </a:p>
                  </a:txBody>
                  <a:tcPr>
                    <a:solidFill>
                      <a:srgbClr val="A8C4C7"/>
                    </a:solidFill>
                  </a:tcPr>
                </a:tc>
                <a:tc>
                  <a:txBody>
                    <a:bodyPr/>
                    <a:lstStyle/>
                    <a:p>
                      <a:pPr algn="ctr"/>
                      <a:r>
                        <a:rPr sz="1000" b="1">
                          <a:solidFill>
                            <a:srgbClr val="262626"/>
                          </a:solidFill>
                          <a:latin typeface="游ゴシック"/>
                        </a:rPr>
                        <a:t>術後リハ介入のプロトコル体制の構築、病棟看護師との安静度共有での離床体制構築</a:t>
                      </a:r>
                    </a:p>
                  </a:txBody>
                  <a:tcPr>
                    <a:solidFill>
                      <a:srgbClr val="A8C4C7"/>
                    </a:solidFill>
                  </a:tcPr>
                </a:tc>
              </a:tr>
              <a:tr h="303052">
                <a:tc>
                  <a:txBody>
                    <a:bodyPr/>
                    <a:lstStyle/>
                    <a:p>
                      <a:pPr algn="ctr"/>
                      <a:r>
                        <a:rPr sz="1000" b="0">
                          <a:solidFill>
                            <a:srgbClr val="262626"/>
                          </a:solidFill>
                          <a:latin typeface="游ゴシック"/>
                        </a:rPr>
                        <a:t>49</a:t>
                      </a:r>
                    </a:p>
                  </a:txBody>
                  <a:tcPr/>
                </a:tc>
                <a:tc>
                  <a:txBody>
                    <a:bodyPr/>
                    <a:lstStyle/>
                    <a:p>
                      <a:pPr algn="ctr"/>
                      <a:r>
                        <a:rPr sz="1000" b="1">
                          <a:solidFill>
                            <a:srgbClr val="262626"/>
                          </a:solidFill>
                          <a:latin typeface="游ゴシック"/>
                        </a:rPr>
                        <a:t>鎮痛剤の調整、リハビリテーション介入</a:t>
                      </a:r>
                    </a:p>
                  </a:txBody>
                  <a:tcPr/>
                </a:tc>
              </a:tr>
              <a:tr h="303052">
                <a:tc>
                  <a:txBody>
                    <a:bodyPr/>
                    <a:lstStyle/>
                    <a:p>
                      <a:pPr algn="ctr"/>
                      <a:r>
                        <a:rPr sz="1000" b="0">
                          <a:solidFill>
                            <a:srgbClr val="262626"/>
                          </a:solidFill>
                          <a:latin typeface="游ゴシック"/>
                        </a:rPr>
                        <a:t>50</a:t>
                      </a:r>
                    </a:p>
                  </a:txBody>
                  <a:tcPr>
                    <a:solidFill>
                      <a:srgbClr val="A8C4C7"/>
                    </a:solidFill>
                  </a:tcPr>
                </a:tc>
                <a:tc>
                  <a:txBody>
                    <a:bodyPr/>
                    <a:lstStyle/>
                    <a:p>
                      <a:pPr algn="ctr"/>
                      <a:r>
                        <a:rPr sz="1000" b="1">
                          <a:solidFill>
                            <a:srgbClr val="262626"/>
                          </a:solidFill>
                          <a:latin typeface="游ゴシック"/>
                        </a:rPr>
                        <a:t>介助の際は疼痛に注意する</a:t>
                      </a:r>
                    </a:p>
                  </a:txBody>
                  <a:tcPr>
                    <a:solidFill>
                      <a:srgbClr val="A8C4C7"/>
                    </a:solidFill>
                  </a:tcPr>
                </a:tc>
              </a:tr>
              <a:tr h="303052">
                <a:tc>
                  <a:txBody>
                    <a:bodyPr/>
                    <a:lstStyle/>
                    <a:p>
                      <a:pPr algn="ctr"/>
                      <a:r>
                        <a:rPr sz="1000" b="0">
                          <a:solidFill>
                            <a:srgbClr val="262626"/>
                          </a:solidFill>
                          <a:latin typeface="游ゴシック"/>
                        </a:rPr>
                        <a:t>51</a:t>
                      </a:r>
                    </a:p>
                  </a:txBody>
                  <a:tcPr/>
                </a:tc>
                <a:tc>
                  <a:txBody>
                    <a:bodyPr/>
                    <a:lstStyle/>
                    <a:p>
                      <a:pPr algn="ctr"/>
                      <a:r>
                        <a:rPr sz="1000" b="1">
                          <a:solidFill>
                            <a:srgbClr val="262626"/>
                          </a:solidFill>
                          <a:latin typeface="游ゴシック"/>
                        </a:rPr>
                        <a:t>物理療法（電気超音波複合療法）</a:t>
                      </a:r>
                    </a:p>
                  </a:txBody>
                  <a:tcPr/>
                </a:tc>
              </a:tr>
              <a:tr h="303052">
                <a:tc>
                  <a:txBody>
                    <a:bodyPr/>
                    <a:lstStyle/>
                    <a:p>
                      <a:pPr algn="ctr"/>
                      <a:r>
                        <a:rPr sz="1000" b="0">
                          <a:solidFill>
                            <a:srgbClr val="262626"/>
                          </a:solidFill>
                          <a:latin typeface="游ゴシック"/>
                        </a:rPr>
                        <a:t>52</a:t>
                      </a:r>
                    </a:p>
                  </a:txBody>
                  <a:tcPr>
                    <a:solidFill>
                      <a:srgbClr val="A8C4C7"/>
                    </a:solidFill>
                  </a:tcPr>
                </a:tc>
                <a:tc>
                  <a:txBody>
                    <a:bodyPr/>
                    <a:lstStyle/>
                    <a:p>
                      <a:pPr algn="ctr"/>
                      <a:r>
                        <a:rPr sz="1000" b="1">
                          <a:solidFill>
                            <a:srgbClr val="262626"/>
                          </a:solidFill>
                          <a:latin typeface="游ゴシック"/>
                        </a:rPr>
                        <a:t>術後鎮痛薬投与</a:t>
                      </a:r>
                    </a:p>
                  </a:txBody>
                  <a:tcPr>
                    <a:solidFill>
                      <a:srgbClr val="A8C4C7"/>
                    </a:solidFill>
                  </a:tcPr>
                </a:tc>
              </a:tr>
              <a:tr h="303052">
                <a:tc>
                  <a:txBody>
                    <a:bodyPr/>
                    <a:lstStyle/>
                    <a:p>
                      <a:pPr algn="ctr"/>
                      <a:r>
                        <a:rPr sz="1000" b="0">
                          <a:solidFill>
                            <a:srgbClr val="262626"/>
                          </a:solidFill>
                          <a:latin typeface="游ゴシック"/>
                        </a:rPr>
                        <a:t>53</a:t>
                      </a:r>
                    </a:p>
                  </a:txBody>
                  <a:tcPr/>
                </a:tc>
                <a:tc>
                  <a:txBody>
                    <a:bodyPr/>
                    <a:lstStyle/>
                    <a:p>
                      <a:pPr algn="ctr"/>
                      <a:r>
                        <a:rPr sz="1000" b="1">
                          <a:solidFill>
                            <a:srgbClr val="262626"/>
                          </a:solidFill>
                          <a:latin typeface="游ゴシック"/>
                        </a:rPr>
                        <a:t>補助具使用、介助料調整、リラクゼーション等</a:t>
                      </a:r>
                    </a:p>
                  </a:txBody>
                  <a:tcPr/>
                </a:tc>
              </a:tr>
              <a:tr h="303052">
                <a:tc>
                  <a:txBody>
                    <a:bodyPr/>
                    <a:lstStyle/>
                    <a:p>
                      <a:pPr algn="ctr"/>
                      <a:r>
                        <a:rPr sz="1000" b="0">
                          <a:solidFill>
                            <a:srgbClr val="262626"/>
                          </a:solidFill>
                          <a:latin typeface="游ゴシック"/>
                        </a:rPr>
                        <a:t>54</a:t>
                      </a:r>
                    </a:p>
                  </a:txBody>
                  <a:tcPr>
                    <a:solidFill>
                      <a:srgbClr val="A8C4C7"/>
                    </a:solidFill>
                  </a:tcPr>
                </a:tc>
                <a:tc>
                  <a:txBody>
                    <a:bodyPr/>
                    <a:lstStyle/>
                    <a:p>
                      <a:pPr algn="ctr"/>
                      <a:r>
                        <a:rPr sz="1000" b="1">
                          <a:solidFill>
                            <a:srgbClr val="262626"/>
                          </a:solidFill>
                          <a:latin typeface="游ゴシック"/>
                        </a:rPr>
                        <a:t>服薬管理</a:t>
                      </a:r>
                    </a:p>
                  </a:txBody>
                  <a:tcPr>
                    <a:solidFill>
                      <a:srgbClr val="A8C4C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Q6-1.  Q6で「50%〜74%」「75%〜100%」を選択した方の対応策【自由記述】  (4/5)</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55</a:t>
                      </a:r>
                    </a:p>
                  </a:txBody>
                  <a:tcPr/>
                </a:tc>
                <a:tc>
                  <a:txBody>
                    <a:bodyPr/>
                    <a:lstStyle/>
                    <a:p>
                      <a:pPr algn="ctr"/>
                      <a:r>
                        <a:rPr sz="1000" b="1">
                          <a:solidFill>
                            <a:srgbClr val="262626"/>
                          </a:solidFill>
                          <a:latin typeface="游ゴシック"/>
                        </a:rPr>
                        <a:t>浮腫管理、リラクゼーション、ポジショニング</a:t>
                      </a:r>
                    </a:p>
                  </a:txBody>
                  <a:tcPr/>
                </a:tc>
              </a:tr>
              <a:tr h="303052">
                <a:tc>
                  <a:txBody>
                    <a:bodyPr/>
                    <a:lstStyle/>
                    <a:p>
                      <a:pPr algn="ctr"/>
                      <a:r>
                        <a:rPr sz="1000" b="0">
                          <a:solidFill>
                            <a:srgbClr val="262626"/>
                          </a:solidFill>
                          <a:latin typeface="游ゴシック"/>
                        </a:rPr>
                        <a:t>56</a:t>
                      </a:r>
                    </a:p>
                  </a:txBody>
                  <a:tcPr>
                    <a:solidFill>
                      <a:srgbClr val="A8C4C7"/>
                    </a:solidFill>
                  </a:tcPr>
                </a:tc>
                <a:tc>
                  <a:txBody>
                    <a:bodyPr/>
                    <a:lstStyle/>
                    <a:p>
                      <a:pPr algn="ctr"/>
                      <a:r>
                        <a:rPr sz="1000" b="1">
                          <a:solidFill>
                            <a:srgbClr val="262626"/>
                          </a:solidFill>
                          <a:latin typeface="游ゴシック"/>
                        </a:rPr>
                        <a:t>療法士が体重を支える。鎮痛薬使用。</a:t>
                      </a:r>
                    </a:p>
                  </a:txBody>
                  <a:tcPr>
                    <a:solidFill>
                      <a:srgbClr val="A8C4C7"/>
                    </a:solidFill>
                  </a:tcPr>
                </a:tc>
              </a:tr>
              <a:tr h="303052">
                <a:tc>
                  <a:txBody>
                    <a:bodyPr/>
                    <a:lstStyle/>
                    <a:p>
                      <a:pPr algn="ctr"/>
                      <a:r>
                        <a:rPr sz="1000" b="0">
                          <a:solidFill>
                            <a:srgbClr val="262626"/>
                          </a:solidFill>
                          <a:latin typeface="游ゴシック"/>
                        </a:rPr>
                        <a:t>57</a:t>
                      </a:r>
                    </a:p>
                  </a:txBody>
                  <a:tcPr/>
                </a:tc>
                <a:tc>
                  <a:txBody>
                    <a:bodyPr/>
                    <a:lstStyle/>
                    <a:p>
                      <a:pPr algn="ctr"/>
                      <a:r>
                        <a:rPr sz="1000" b="1">
                          <a:solidFill>
                            <a:srgbClr val="262626"/>
                          </a:solidFill>
                          <a:latin typeface="游ゴシック"/>
                        </a:rPr>
                        <a:t>早期座位指導、トイレ移乗での立位訓練</a:t>
                      </a:r>
                    </a:p>
                  </a:txBody>
                  <a:tcPr/>
                </a:tc>
              </a:tr>
              <a:tr h="303052">
                <a:tc>
                  <a:txBody>
                    <a:bodyPr/>
                    <a:lstStyle/>
                    <a:p>
                      <a:pPr algn="ctr"/>
                      <a:r>
                        <a:rPr sz="1000" b="0">
                          <a:solidFill>
                            <a:srgbClr val="262626"/>
                          </a:solidFill>
                          <a:latin typeface="游ゴシック"/>
                        </a:rPr>
                        <a:t>58</a:t>
                      </a:r>
                    </a:p>
                  </a:txBody>
                  <a:tcPr>
                    <a:solidFill>
                      <a:srgbClr val="A8C4C7"/>
                    </a:solidFill>
                  </a:tcPr>
                </a:tc>
                <a:tc>
                  <a:txBody>
                    <a:bodyPr/>
                    <a:lstStyle/>
                    <a:p>
                      <a:pPr algn="ctr"/>
                      <a:r>
                        <a:rPr sz="1000" b="1">
                          <a:solidFill>
                            <a:srgbClr val="262626"/>
                          </a:solidFill>
                          <a:latin typeface="游ゴシック"/>
                        </a:rPr>
                        <a:t>アイシング、疼痛が少ない動作介助</a:t>
                      </a:r>
                    </a:p>
                  </a:txBody>
                  <a:tcPr>
                    <a:solidFill>
                      <a:srgbClr val="A8C4C7"/>
                    </a:solidFill>
                  </a:tcPr>
                </a:tc>
              </a:tr>
              <a:tr h="303052">
                <a:tc>
                  <a:txBody>
                    <a:bodyPr/>
                    <a:lstStyle/>
                    <a:p>
                      <a:pPr algn="ctr"/>
                      <a:r>
                        <a:rPr sz="1000" b="0">
                          <a:solidFill>
                            <a:srgbClr val="262626"/>
                          </a:solidFill>
                          <a:latin typeface="游ゴシック"/>
                        </a:rPr>
                        <a:t>59</a:t>
                      </a:r>
                    </a:p>
                  </a:txBody>
                  <a:tcPr/>
                </a:tc>
                <a:tc>
                  <a:txBody>
                    <a:bodyPr/>
                    <a:lstStyle/>
                    <a:p>
                      <a:pPr algn="ctr"/>
                      <a:r>
                        <a:rPr sz="1000" b="1">
                          <a:solidFill>
                            <a:srgbClr val="262626"/>
                          </a:solidFill>
                          <a:latin typeface="游ゴシック"/>
                        </a:rPr>
                        <a:t>炎症コントロール</a:t>
                      </a:r>
                    </a:p>
                  </a:txBody>
                  <a:tcPr/>
                </a:tc>
              </a:tr>
              <a:tr h="303052">
                <a:tc>
                  <a:txBody>
                    <a:bodyPr/>
                    <a:lstStyle/>
                    <a:p>
                      <a:pPr algn="ctr"/>
                      <a:r>
                        <a:rPr sz="1000" b="0">
                          <a:solidFill>
                            <a:srgbClr val="262626"/>
                          </a:solidFill>
                          <a:latin typeface="游ゴシック"/>
                        </a:rPr>
                        <a:t>60</a:t>
                      </a:r>
                    </a:p>
                  </a:txBody>
                  <a:tcPr>
                    <a:solidFill>
                      <a:srgbClr val="A8C4C7"/>
                    </a:solidFill>
                  </a:tcPr>
                </a:tc>
                <a:tc>
                  <a:txBody>
                    <a:bodyPr/>
                    <a:lstStyle/>
                    <a:p>
                      <a:pPr algn="ctr"/>
                      <a:r>
                        <a:rPr sz="1000" b="1">
                          <a:solidFill>
                            <a:srgbClr val="262626"/>
                          </a:solidFill>
                          <a:latin typeface="游ゴシック"/>
                        </a:rPr>
                        <a:t>内服による疼痛コントロール　アイシング　ポジショニング</a:t>
                      </a:r>
                    </a:p>
                  </a:txBody>
                  <a:tcPr>
                    <a:solidFill>
                      <a:srgbClr val="A8C4C7"/>
                    </a:solidFill>
                  </a:tcPr>
                </a:tc>
              </a:tr>
              <a:tr h="303052">
                <a:tc>
                  <a:txBody>
                    <a:bodyPr/>
                    <a:lstStyle/>
                    <a:p>
                      <a:pPr algn="ctr"/>
                      <a:r>
                        <a:rPr sz="1000" b="0">
                          <a:solidFill>
                            <a:srgbClr val="262626"/>
                          </a:solidFill>
                          <a:latin typeface="游ゴシック"/>
                        </a:rPr>
                        <a:t>61</a:t>
                      </a:r>
                    </a:p>
                  </a:txBody>
                  <a:tcPr/>
                </a:tc>
                <a:tc>
                  <a:txBody>
                    <a:bodyPr/>
                    <a:lstStyle/>
                    <a:p>
                      <a:pPr algn="ctr"/>
                      <a:r>
                        <a:rPr sz="1000" b="1">
                          <a:solidFill>
                            <a:srgbClr val="262626"/>
                          </a:solidFill>
                          <a:latin typeface="游ゴシック"/>
                        </a:rPr>
                        <a:t>パスに準じているため</a:t>
                      </a:r>
                    </a:p>
                  </a:txBody>
                  <a:tcPr/>
                </a:tc>
              </a:tr>
              <a:tr h="303052">
                <a:tc>
                  <a:txBody>
                    <a:bodyPr/>
                    <a:lstStyle/>
                    <a:p>
                      <a:pPr algn="ctr"/>
                      <a:r>
                        <a:rPr sz="1000" b="0">
                          <a:solidFill>
                            <a:srgbClr val="262626"/>
                          </a:solidFill>
                          <a:latin typeface="游ゴシック"/>
                        </a:rPr>
                        <a:t>62</a:t>
                      </a:r>
                    </a:p>
                  </a:txBody>
                  <a:tcPr>
                    <a:solidFill>
                      <a:srgbClr val="A8C4C7"/>
                    </a:solidFill>
                  </a:tcPr>
                </a:tc>
                <a:tc>
                  <a:txBody>
                    <a:bodyPr/>
                    <a:lstStyle/>
                    <a:p>
                      <a:pPr algn="ctr"/>
                      <a:r>
                        <a:rPr sz="1000" b="1">
                          <a:solidFill>
                            <a:srgbClr val="262626"/>
                          </a:solidFill>
                          <a:latin typeface="游ゴシック"/>
                        </a:rPr>
                        <a:t>鎮痛コントロール、介助者（補助者）を増やしての対応</a:t>
                      </a:r>
                    </a:p>
                  </a:txBody>
                  <a:tcPr>
                    <a:solidFill>
                      <a:srgbClr val="A8C4C7"/>
                    </a:solidFill>
                  </a:tcPr>
                </a:tc>
              </a:tr>
              <a:tr h="303052">
                <a:tc>
                  <a:txBody>
                    <a:bodyPr/>
                    <a:lstStyle/>
                    <a:p>
                      <a:pPr algn="ctr"/>
                      <a:r>
                        <a:rPr sz="1000" b="0">
                          <a:solidFill>
                            <a:srgbClr val="262626"/>
                          </a:solidFill>
                          <a:latin typeface="游ゴシック"/>
                        </a:rPr>
                        <a:t>63</a:t>
                      </a:r>
                    </a:p>
                  </a:txBody>
                  <a:tcPr/>
                </a:tc>
                <a:tc>
                  <a:txBody>
                    <a:bodyPr/>
                    <a:lstStyle/>
                    <a:p>
                      <a:pPr algn="ctr"/>
                      <a:r>
                        <a:rPr sz="1000" b="1">
                          <a:solidFill>
                            <a:srgbClr val="262626"/>
                          </a:solidFill>
                          <a:latin typeface="游ゴシック"/>
                        </a:rPr>
                        <a:t>補助鎮痛薬使用、TENS使用、部分免荷歩行器使用</a:t>
                      </a:r>
                    </a:p>
                  </a:txBody>
                  <a:tcPr/>
                </a:tc>
              </a:tr>
              <a:tr h="303052">
                <a:tc>
                  <a:txBody>
                    <a:bodyPr/>
                    <a:lstStyle/>
                    <a:p>
                      <a:pPr algn="ctr"/>
                      <a:r>
                        <a:rPr sz="1000" b="0">
                          <a:solidFill>
                            <a:srgbClr val="262626"/>
                          </a:solidFill>
                          <a:latin typeface="游ゴシック"/>
                        </a:rPr>
                        <a:t>64</a:t>
                      </a:r>
                    </a:p>
                  </a:txBody>
                  <a:tcPr>
                    <a:solidFill>
                      <a:srgbClr val="A8C4C7"/>
                    </a:solidFill>
                  </a:tcPr>
                </a:tc>
                <a:tc>
                  <a:txBody>
                    <a:bodyPr/>
                    <a:lstStyle/>
                    <a:p>
                      <a:pPr algn="ctr"/>
                      <a:r>
                        <a:rPr sz="1000" b="1">
                          <a:solidFill>
                            <a:srgbClr val="262626"/>
                          </a:solidFill>
                          <a:latin typeface="游ゴシック"/>
                        </a:rPr>
                        <a:t>鎮痛剤の使用時間の調整</a:t>
                      </a:r>
                    </a:p>
                  </a:txBody>
                  <a:tcPr>
                    <a:solidFill>
                      <a:srgbClr val="A8C4C7"/>
                    </a:solidFill>
                  </a:tcPr>
                </a:tc>
              </a:tr>
              <a:tr h="303052">
                <a:tc>
                  <a:txBody>
                    <a:bodyPr/>
                    <a:lstStyle/>
                    <a:p>
                      <a:pPr algn="ctr"/>
                      <a:r>
                        <a:rPr sz="1000" b="0">
                          <a:solidFill>
                            <a:srgbClr val="262626"/>
                          </a:solidFill>
                          <a:latin typeface="游ゴシック"/>
                        </a:rPr>
                        <a:t>65</a:t>
                      </a:r>
                    </a:p>
                  </a:txBody>
                  <a:tcPr/>
                </a:tc>
                <a:tc>
                  <a:txBody>
                    <a:bodyPr/>
                    <a:lstStyle/>
                    <a:p>
                      <a:pPr algn="ctr"/>
                      <a:r>
                        <a:rPr sz="1000" b="1">
                          <a:solidFill>
                            <a:srgbClr val="262626"/>
                          </a:solidFill>
                          <a:latin typeface="游ゴシック"/>
                        </a:rPr>
                        <a:t>術創部の疼痛緩和目的に、リハ開始30分前に鎮痛薬の内服を実施。また、PTOTが午前午後に分けて、少量頻回の関与を行っている。</a:t>
                      </a:r>
                    </a:p>
                  </a:txBody>
                  <a:tcPr/>
                </a:tc>
              </a:tr>
              <a:tr h="303052">
                <a:tc>
                  <a:txBody>
                    <a:bodyPr/>
                    <a:lstStyle/>
                    <a:p>
                      <a:pPr algn="ctr"/>
                      <a:r>
                        <a:rPr sz="1000" b="0">
                          <a:solidFill>
                            <a:srgbClr val="262626"/>
                          </a:solidFill>
                          <a:latin typeface="游ゴシック"/>
                        </a:rPr>
                        <a:t>66</a:t>
                      </a:r>
                    </a:p>
                  </a:txBody>
                  <a:tcPr>
                    <a:solidFill>
                      <a:srgbClr val="A8C4C7"/>
                    </a:solidFill>
                  </a:tcPr>
                </a:tc>
                <a:tc>
                  <a:txBody>
                    <a:bodyPr/>
                    <a:lstStyle/>
                    <a:p>
                      <a:pPr algn="ctr"/>
                      <a:r>
                        <a:rPr sz="1000" b="1">
                          <a:solidFill>
                            <a:srgbClr val="262626"/>
                          </a:solidFill>
                          <a:latin typeface="游ゴシック"/>
                        </a:rPr>
                        <a:t>投薬コントロール　物理療法　自動介助運動　リラグゼーション手技　実施時間の調整　装具の使用　複数人で対応</a:t>
                      </a:r>
                    </a:p>
                  </a:txBody>
                  <a:tcPr>
                    <a:solidFill>
                      <a:srgbClr val="A8C4C7"/>
                    </a:solidFill>
                  </a:tcPr>
                </a:tc>
              </a:tr>
              <a:tr h="303052">
                <a:tc>
                  <a:txBody>
                    <a:bodyPr/>
                    <a:lstStyle/>
                    <a:p>
                      <a:pPr algn="ctr"/>
                      <a:r>
                        <a:rPr sz="1000" b="0">
                          <a:solidFill>
                            <a:srgbClr val="262626"/>
                          </a:solidFill>
                          <a:latin typeface="游ゴシック"/>
                        </a:rPr>
                        <a:t>67</a:t>
                      </a:r>
                    </a:p>
                  </a:txBody>
                  <a:tcPr/>
                </a:tc>
                <a:tc>
                  <a:txBody>
                    <a:bodyPr/>
                    <a:lstStyle/>
                    <a:p>
                      <a:pPr algn="ctr"/>
                      <a:r>
                        <a:rPr sz="1000" b="1">
                          <a:solidFill>
                            <a:srgbClr val="262626"/>
                          </a:solidFill>
                          <a:latin typeface="游ゴシック"/>
                        </a:rPr>
                        <a:t>DVT予防・RICE・牽引</a:t>
                      </a:r>
                    </a:p>
                  </a:txBody>
                  <a:tcPr/>
                </a:tc>
              </a:tr>
              <a:tr h="303052">
                <a:tc>
                  <a:txBody>
                    <a:bodyPr/>
                    <a:lstStyle/>
                    <a:p>
                      <a:pPr algn="ctr"/>
                      <a:r>
                        <a:rPr sz="1000" b="0">
                          <a:solidFill>
                            <a:srgbClr val="262626"/>
                          </a:solidFill>
                          <a:latin typeface="游ゴシック"/>
                        </a:rPr>
                        <a:t>68</a:t>
                      </a:r>
                    </a:p>
                  </a:txBody>
                  <a:tcPr>
                    <a:solidFill>
                      <a:srgbClr val="A8C4C7"/>
                    </a:solidFill>
                  </a:tcPr>
                </a:tc>
                <a:tc>
                  <a:txBody>
                    <a:bodyPr/>
                    <a:lstStyle/>
                    <a:p>
                      <a:pPr algn="ctr"/>
                      <a:r>
                        <a:rPr sz="1000" b="1">
                          <a:solidFill>
                            <a:srgbClr val="262626"/>
                          </a:solidFill>
                          <a:latin typeface="游ゴシック"/>
                        </a:rPr>
                        <a:t>介入当初より端座位や車椅子乗車などをすすめる</a:t>
                      </a:r>
                    </a:p>
                  </a:txBody>
                  <a:tcPr>
                    <a:solidFill>
                      <a:srgbClr val="A8C4C7"/>
                    </a:solidFill>
                  </a:tcPr>
                </a:tc>
              </a:tr>
              <a:tr h="303052">
                <a:tc>
                  <a:txBody>
                    <a:bodyPr/>
                    <a:lstStyle/>
                    <a:p>
                      <a:pPr algn="ctr"/>
                      <a:r>
                        <a:rPr sz="1000" b="0">
                          <a:solidFill>
                            <a:srgbClr val="262626"/>
                          </a:solidFill>
                          <a:latin typeface="游ゴシック"/>
                        </a:rPr>
                        <a:t>69</a:t>
                      </a:r>
                    </a:p>
                  </a:txBody>
                  <a:tcPr/>
                </a:tc>
                <a:tc>
                  <a:txBody>
                    <a:bodyPr/>
                    <a:lstStyle/>
                    <a:p>
                      <a:pPr algn="ctr"/>
                      <a:r>
                        <a:rPr sz="1000" b="1">
                          <a:solidFill>
                            <a:srgbClr val="262626"/>
                          </a:solidFill>
                          <a:latin typeface="游ゴシック"/>
                        </a:rPr>
                        <a:t>痛み止め（主に内服）の調整</a:t>
                      </a:r>
                    </a:p>
                  </a:txBody>
                  <a:tcPr/>
                </a:tc>
              </a:tr>
              <a:tr h="303052">
                <a:tc>
                  <a:txBody>
                    <a:bodyPr/>
                    <a:lstStyle/>
                    <a:p>
                      <a:pPr algn="ctr"/>
                      <a:r>
                        <a:rPr sz="1000" b="0">
                          <a:solidFill>
                            <a:srgbClr val="262626"/>
                          </a:solidFill>
                          <a:latin typeface="游ゴシック"/>
                        </a:rPr>
                        <a:t>70</a:t>
                      </a:r>
                    </a:p>
                  </a:txBody>
                  <a:tcPr>
                    <a:solidFill>
                      <a:srgbClr val="A8C4C7"/>
                    </a:solidFill>
                  </a:tcPr>
                </a:tc>
                <a:tc>
                  <a:txBody>
                    <a:bodyPr/>
                    <a:lstStyle/>
                    <a:p>
                      <a:pPr algn="ctr"/>
                      <a:r>
                        <a:rPr sz="1000" b="1">
                          <a:solidFill>
                            <a:srgbClr val="262626"/>
                          </a:solidFill>
                          <a:latin typeface="游ゴシック"/>
                        </a:rPr>
                        <a:t>筋緊張の低減のためのmobilization・mild-active-assistive関節運動を起居移乗動作・立位動作に先行して実施し、緊張亢進によるstretch painを減少させ、より積極的に運動できるよう準備しています。</a:t>
                      </a:r>
                    </a:p>
                  </a:txBody>
                  <a:tcPr>
                    <a:solidFill>
                      <a:srgbClr val="A8C4C7"/>
                    </a:solidFill>
                  </a:tcPr>
                </a:tc>
              </a:tr>
              <a:tr h="303052">
                <a:tc>
                  <a:txBody>
                    <a:bodyPr/>
                    <a:lstStyle/>
                    <a:p>
                      <a:pPr algn="ctr"/>
                      <a:r>
                        <a:rPr sz="1000" b="0">
                          <a:solidFill>
                            <a:srgbClr val="262626"/>
                          </a:solidFill>
                          <a:latin typeface="游ゴシック"/>
                        </a:rPr>
                        <a:t>71</a:t>
                      </a:r>
                    </a:p>
                  </a:txBody>
                  <a:tcPr/>
                </a:tc>
                <a:tc>
                  <a:txBody>
                    <a:bodyPr/>
                    <a:lstStyle/>
                    <a:p>
                      <a:pPr algn="ctr"/>
                      <a:r>
                        <a:rPr sz="1000" b="1">
                          <a:solidFill>
                            <a:srgbClr val="262626"/>
                          </a:solidFill>
                          <a:latin typeface="游ゴシック"/>
                        </a:rPr>
                        <a:t>手術前下肢モビライゼーション　ストレッチ　端座位での足底接地など</a:t>
                      </a:r>
                    </a:p>
                  </a:txBody>
                  <a:tcPr/>
                </a:tc>
              </a:tr>
              <a:tr h="303052">
                <a:tc>
                  <a:txBody>
                    <a:bodyPr/>
                    <a:lstStyle/>
                    <a:p>
                      <a:pPr algn="ctr"/>
                      <a:r>
                        <a:rPr sz="1000" b="0">
                          <a:solidFill>
                            <a:srgbClr val="262626"/>
                          </a:solidFill>
                          <a:latin typeface="游ゴシック"/>
                        </a:rPr>
                        <a:t>72</a:t>
                      </a:r>
                    </a:p>
                  </a:txBody>
                  <a:tcPr>
                    <a:solidFill>
                      <a:srgbClr val="A8C4C7"/>
                    </a:solidFill>
                  </a:tcPr>
                </a:tc>
                <a:tc>
                  <a:txBody>
                    <a:bodyPr/>
                    <a:lstStyle/>
                    <a:p>
                      <a:pPr algn="ctr"/>
                      <a:r>
                        <a:rPr sz="1000" b="1">
                          <a:solidFill>
                            <a:srgbClr val="262626"/>
                          </a:solidFill>
                          <a:latin typeface="游ゴシック"/>
                        </a:rPr>
                        <a:t>痛みが強い症例は坐薬を検討</a:t>
                      </a:r>
                    </a:p>
                  </a:txBody>
                  <a:tcPr>
                    <a:solidFill>
                      <a:srgbClr val="A8C4C7"/>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Q6-1.  Q6で「50%〜74%」「75%〜100%」を選択した方の対応策【自由記述】  (5/5)</a:t>
            </a:r>
          </a:p>
        </p:txBody>
      </p:sp>
      <p:graphicFrame>
        <p:nvGraphicFramePr>
          <p:cNvPr id="3" name="Table 2"/>
          <p:cNvGraphicFramePr>
            <a:graphicFrameLocks noGrp="1"/>
          </p:cNvGraphicFramePr>
          <p:nvPr/>
        </p:nvGraphicFramePr>
        <p:xfrm>
          <a:off x="200000" y="950000"/>
          <a:ext cx="11377800" cy="5757990"/>
        </p:xfrm>
        <a:graphic>
          <a:graphicData uri="http://schemas.openxmlformats.org/drawingml/2006/table">
            <a:tbl>
              <a:tblPr firstRow="1" bandRow="1">
                <a:tableStyleId>{5C22544A-7EE6-4342-B048-85BDC9FD1C3A}</a:tableStyleId>
              </a:tblPr>
              <a:tblGrid>
                <a:gridCol w="685800"/>
                <a:gridCol w="10692000"/>
              </a:tblGrid>
              <a:tr h="383866">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83866">
                <a:tc>
                  <a:txBody>
                    <a:bodyPr/>
                    <a:lstStyle/>
                    <a:p>
                      <a:pPr algn="ctr"/>
                      <a:r>
                        <a:rPr sz="1000" b="0">
                          <a:solidFill>
                            <a:srgbClr val="262626"/>
                          </a:solidFill>
                          <a:latin typeface="游ゴシック"/>
                        </a:rPr>
                        <a:t>73</a:t>
                      </a:r>
                    </a:p>
                  </a:txBody>
                  <a:tcPr/>
                </a:tc>
                <a:tc>
                  <a:txBody>
                    <a:bodyPr/>
                    <a:lstStyle/>
                    <a:p>
                      <a:pPr algn="ctr"/>
                      <a:r>
                        <a:rPr sz="1000" b="1">
                          <a:solidFill>
                            <a:srgbClr val="262626"/>
                          </a:solidFill>
                          <a:latin typeface="游ゴシック"/>
                        </a:rPr>
                        <a:t>鎮痛剤にて対応</a:t>
                      </a:r>
                    </a:p>
                  </a:txBody>
                  <a:tcPr/>
                </a:tc>
              </a:tr>
              <a:tr h="383866">
                <a:tc>
                  <a:txBody>
                    <a:bodyPr/>
                    <a:lstStyle/>
                    <a:p>
                      <a:pPr algn="ctr"/>
                      <a:r>
                        <a:rPr sz="1000" b="0">
                          <a:solidFill>
                            <a:srgbClr val="262626"/>
                          </a:solidFill>
                          <a:latin typeface="游ゴシック"/>
                        </a:rPr>
                        <a:t>74</a:t>
                      </a:r>
                    </a:p>
                  </a:txBody>
                  <a:tcPr>
                    <a:solidFill>
                      <a:srgbClr val="A8C4C7"/>
                    </a:solidFill>
                  </a:tcPr>
                </a:tc>
                <a:tc>
                  <a:txBody>
                    <a:bodyPr/>
                    <a:lstStyle/>
                    <a:p>
                      <a:pPr algn="ctr"/>
                      <a:r>
                        <a:rPr sz="1000" b="1">
                          <a:solidFill>
                            <a:srgbClr val="262626"/>
                          </a:solidFill>
                          <a:latin typeface="游ゴシック"/>
                        </a:rPr>
                        <a:t>手術的侵襲による疼痛は、術部の炎症を考慮しながら物理療法を中心に対応している。基本的には、「日柄もの」で改善に合わせてADLを上げていく。疼痛改善までの期間は健側を中心としたADL動作の獲得を早期に目指している。</a:t>
                      </a:r>
                    </a:p>
                  </a:txBody>
                  <a:tcPr>
                    <a:solidFill>
                      <a:srgbClr val="A8C4C7"/>
                    </a:solidFill>
                  </a:tcPr>
                </a:tc>
              </a:tr>
              <a:tr h="383866">
                <a:tc>
                  <a:txBody>
                    <a:bodyPr/>
                    <a:lstStyle/>
                    <a:p>
                      <a:pPr algn="ctr"/>
                      <a:r>
                        <a:rPr sz="1000" b="0">
                          <a:solidFill>
                            <a:srgbClr val="262626"/>
                          </a:solidFill>
                          <a:latin typeface="游ゴシック"/>
                        </a:rPr>
                        <a:t>75</a:t>
                      </a:r>
                    </a:p>
                  </a:txBody>
                  <a:tcPr/>
                </a:tc>
                <a:tc>
                  <a:txBody>
                    <a:bodyPr/>
                    <a:lstStyle/>
                    <a:p>
                      <a:pPr algn="ctr"/>
                      <a:r>
                        <a:rPr sz="1000" b="1">
                          <a:solidFill>
                            <a:srgbClr val="262626"/>
                          </a:solidFill>
                          <a:latin typeface="游ゴシック"/>
                        </a:rPr>
                        <a:t>理学療法、作業療法実施前の鎮痛薬の使用</a:t>
                      </a:r>
                    </a:p>
                  </a:txBody>
                  <a:tcPr/>
                </a:tc>
              </a:tr>
              <a:tr h="383866">
                <a:tc>
                  <a:txBody>
                    <a:bodyPr/>
                    <a:lstStyle/>
                    <a:p>
                      <a:pPr algn="ctr"/>
                      <a:r>
                        <a:rPr sz="1000" b="0">
                          <a:solidFill>
                            <a:srgbClr val="262626"/>
                          </a:solidFill>
                          <a:latin typeface="游ゴシック"/>
                        </a:rPr>
                        <a:t>76</a:t>
                      </a:r>
                    </a:p>
                  </a:txBody>
                  <a:tcPr>
                    <a:solidFill>
                      <a:srgbClr val="A8C4C7"/>
                    </a:solidFill>
                  </a:tcPr>
                </a:tc>
                <a:tc>
                  <a:txBody>
                    <a:bodyPr/>
                    <a:lstStyle/>
                    <a:p>
                      <a:pPr algn="ctr"/>
                      <a:r>
                        <a:rPr sz="1000" b="1">
                          <a:solidFill>
                            <a:srgbClr val="262626"/>
                          </a:solidFill>
                          <a:latin typeface="游ゴシック"/>
                        </a:rPr>
                        <a:t>パスを導入しているが、いずれのパスも術後翌日の全荷重となっていない。</a:t>
                      </a:r>
                    </a:p>
                  </a:txBody>
                  <a:tcPr>
                    <a:solidFill>
                      <a:srgbClr val="A8C4C7"/>
                    </a:solidFill>
                  </a:tcPr>
                </a:tc>
              </a:tr>
              <a:tr h="383866">
                <a:tc>
                  <a:txBody>
                    <a:bodyPr/>
                    <a:lstStyle/>
                    <a:p>
                      <a:pPr algn="ctr"/>
                      <a:r>
                        <a:rPr sz="1000" b="0">
                          <a:solidFill>
                            <a:srgbClr val="262626"/>
                          </a:solidFill>
                          <a:latin typeface="游ゴシック"/>
                        </a:rPr>
                        <a:t>77</a:t>
                      </a:r>
                    </a:p>
                  </a:txBody>
                  <a:tcPr/>
                </a:tc>
                <a:tc>
                  <a:txBody>
                    <a:bodyPr/>
                    <a:lstStyle/>
                    <a:p>
                      <a:pPr algn="ctr"/>
                      <a:r>
                        <a:rPr sz="1000" b="1">
                          <a:solidFill>
                            <a:srgbClr val="262626"/>
                          </a:solidFill>
                          <a:latin typeface="游ゴシック"/>
                        </a:rPr>
                        <a:t>土日を含めたリハビリ、全介助でも車いすへ移乗する、術前から早期介入など</a:t>
                      </a:r>
                    </a:p>
                  </a:txBody>
                  <a:tcPr/>
                </a:tc>
              </a:tr>
              <a:tr h="383866">
                <a:tc>
                  <a:txBody>
                    <a:bodyPr/>
                    <a:lstStyle/>
                    <a:p>
                      <a:pPr algn="ctr"/>
                      <a:r>
                        <a:rPr sz="1000" b="0">
                          <a:solidFill>
                            <a:srgbClr val="262626"/>
                          </a:solidFill>
                          <a:latin typeface="游ゴシック"/>
                        </a:rPr>
                        <a:t>78</a:t>
                      </a:r>
                    </a:p>
                  </a:txBody>
                  <a:tcPr>
                    <a:solidFill>
                      <a:srgbClr val="A8C4C7"/>
                    </a:solidFill>
                  </a:tcPr>
                </a:tc>
                <a:tc>
                  <a:txBody>
                    <a:bodyPr/>
                    <a:lstStyle/>
                    <a:p>
                      <a:pPr algn="ctr"/>
                      <a:r>
                        <a:rPr sz="1000" b="1">
                          <a:solidFill>
                            <a:srgbClr val="262626"/>
                          </a:solidFill>
                          <a:latin typeface="游ゴシック"/>
                        </a:rPr>
                        <a:t>薬物療法との併用</a:t>
                      </a:r>
                    </a:p>
                  </a:txBody>
                  <a:tcPr>
                    <a:solidFill>
                      <a:srgbClr val="A8C4C7"/>
                    </a:solidFill>
                  </a:tcPr>
                </a:tc>
              </a:tr>
              <a:tr h="383866">
                <a:tc>
                  <a:txBody>
                    <a:bodyPr/>
                    <a:lstStyle/>
                    <a:p>
                      <a:pPr algn="ctr"/>
                      <a:r>
                        <a:rPr sz="1000" b="0">
                          <a:solidFill>
                            <a:srgbClr val="262626"/>
                          </a:solidFill>
                          <a:latin typeface="游ゴシック"/>
                        </a:rPr>
                        <a:t>79</a:t>
                      </a:r>
                    </a:p>
                  </a:txBody>
                  <a:tcPr/>
                </a:tc>
                <a:tc>
                  <a:txBody>
                    <a:bodyPr/>
                    <a:lstStyle/>
                    <a:p>
                      <a:pPr algn="ctr"/>
                      <a:r>
                        <a:rPr sz="1000" b="1">
                          <a:solidFill>
                            <a:srgbClr val="262626"/>
                          </a:solidFill>
                          <a:latin typeface="游ゴシック"/>
                        </a:rPr>
                        <a:t>疼痛管理、筋力強化</a:t>
                      </a:r>
                    </a:p>
                  </a:txBody>
                  <a:tcPr/>
                </a:tc>
              </a:tr>
              <a:tr h="383866">
                <a:tc>
                  <a:txBody>
                    <a:bodyPr/>
                    <a:lstStyle/>
                    <a:p>
                      <a:pPr algn="ctr"/>
                      <a:r>
                        <a:rPr sz="1000" b="0">
                          <a:solidFill>
                            <a:srgbClr val="262626"/>
                          </a:solidFill>
                          <a:latin typeface="游ゴシック"/>
                        </a:rPr>
                        <a:t>80</a:t>
                      </a:r>
                    </a:p>
                  </a:txBody>
                  <a:tcPr>
                    <a:solidFill>
                      <a:srgbClr val="A8C4C7"/>
                    </a:solidFill>
                  </a:tcPr>
                </a:tc>
                <a:tc>
                  <a:txBody>
                    <a:bodyPr/>
                    <a:lstStyle/>
                    <a:p>
                      <a:pPr algn="ctr"/>
                      <a:r>
                        <a:rPr sz="1000" b="1">
                          <a:solidFill>
                            <a:srgbClr val="262626"/>
                          </a:solidFill>
                          <a:latin typeface="游ゴシック"/>
                        </a:rPr>
                        <a:t>手すりの使用、リハビリ前の痛み止めの内服、環境調整</a:t>
                      </a:r>
                    </a:p>
                  </a:txBody>
                  <a:tcPr>
                    <a:solidFill>
                      <a:srgbClr val="A8C4C7"/>
                    </a:solidFill>
                  </a:tcPr>
                </a:tc>
              </a:tr>
              <a:tr h="383866">
                <a:tc>
                  <a:txBody>
                    <a:bodyPr/>
                    <a:lstStyle/>
                    <a:p>
                      <a:pPr algn="ctr"/>
                      <a:r>
                        <a:rPr sz="1000" b="0">
                          <a:solidFill>
                            <a:srgbClr val="262626"/>
                          </a:solidFill>
                          <a:latin typeface="游ゴシック"/>
                        </a:rPr>
                        <a:t>81</a:t>
                      </a:r>
                    </a:p>
                  </a:txBody>
                  <a:tcPr/>
                </a:tc>
                <a:tc>
                  <a:txBody>
                    <a:bodyPr/>
                    <a:lstStyle/>
                    <a:p>
                      <a:pPr algn="ctr"/>
                      <a:r>
                        <a:rPr sz="1000" b="1">
                          <a:solidFill>
                            <a:srgbClr val="262626"/>
                          </a:solidFill>
                          <a:latin typeface="游ゴシック"/>
                        </a:rPr>
                        <a:t>鎮痛薬、二人介助で行う</a:t>
                      </a:r>
                    </a:p>
                  </a:txBody>
                  <a:tcPr/>
                </a:tc>
              </a:tr>
              <a:tr h="383866">
                <a:tc>
                  <a:txBody>
                    <a:bodyPr/>
                    <a:lstStyle/>
                    <a:p>
                      <a:pPr algn="ctr"/>
                      <a:r>
                        <a:rPr sz="1000" b="0">
                          <a:solidFill>
                            <a:srgbClr val="262626"/>
                          </a:solidFill>
                          <a:latin typeface="游ゴシック"/>
                        </a:rPr>
                        <a:t>82</a:t>
                      </a:r>
                    </a:p>
                  </a:txBody>
                  <a:tcPr>
                    <a:solidFill>
                      <a:srgbClr val="A8C4C7"/>
                    </a:solidFill>
                  </a:tcPr>
                </a:tc>
                <a:tc>
                  <a:txBody>
                    <a:bodyPr/>
                    <a:lstStyle/>
                    <a:p>
                      <a:pPr algn="ctr"/>
                      <a:r>
                        <a:rPr sz="1000" b="1">
                          <a:solidFill>
                            <a:srgbClr val="262626"/>
                          </a:solidFill>
                          <a:latin typeface="游ゴシック"/>
                        </a:rPr>
                        <a:t>離床前にアイシング、リラクセーションなどによるコンディショニングの実施</a:t>
                      </a:r>
                    </a:p>
                  </a:txBody>
                  <a:tcPr>
                    <a:solidFill>
                      <a:srgbClr val="A8C4C7"/>
                    </a:solidFill>
                  </a:tcPr>
                </a:tc>
              </a:tr>
              <a:tr h="383866">
                <a:tc>
                  <a:txBody>
                    <a:bodyPr/>
                    <a:lstStyle/>
                    <a:p>
                      <a:pPr algn="ctr"/>
                      <a:r>
                        <a:rPr sz="1000" b="0">
                          <a:solidFill>
                            <a:srgbClr val="262626"/>
                          </a:solidFill>
                          <a:latin typeface="游ゴシック"/>
                        </a:rPr>
                        <a:t>83</a:t>
                      </a:r>
                    </a:p>
                  </a:txBody>
                  <a:tcPr/>
                </a:tc>
                <a:tc>
                  <a:txBody>
                    <a:bodyPr/>
                    <a:lstStyle/>
                    <a:p>
                      <a:pPr algn="ctr"/>
                      <a:r>
                        <a:rPr sz="1000" b="1">
                          <a:solidFill>
                            <a:srgbClr val="262626"/>
                          </a:solidFill>
                          <a:latin typeface="游ゴシック"/>
                        </a:rPr>
                        <a:t>リハ前に鎮痛剤の使用</a:t>
                      </a:r>
                    </a:p>
                  </a:txBody>
                  <a:tcPr/>
                </a:tc>
              </a:tr>
              <a:tr h="383866">
                <a:tc>
                  <a:txBody>
                    <a:bodyPr/>
                    <a:lstStyle/>
                    <a:p>
                      <a:pPr algn="ctr"/>
                      <a:r>
                        <a:rPr sz="1000" b="0">
                          <a:solidFill>
                            <a:srgbClr val="262626"/>
                          </a:solidFill>
                          <a:latin typeface="游ゴシック"/>
                        </a:rPr>
                        <a:t>84</a:t>
                      </a:r>
                    </a:p>
                  </a:txBody>
                  <a:tcPr>
                    <a:solidFill>
                      <a:srgbClr val="A8C4C7"/>
                    </a:solidFill>
                  </a:tcPr>
                </a:tc>
                <a:tc>
                  <a:txBody>
                    <a:bodyPr/>
                    <a:lstStyle/>
                    <a:p>
                      <a:pPr algn="ctr"/>
                      <a:r>
                        <a:rPr sz="1000" b="1">
                          <a:solidFill>
                            <a:srgbClr val="262626"/>
                          </a:solidFill>
                          <a:latin typeface="游ゴシック"/>
                        </a:rPr>
                        <a:t>離床前の鎮痛薬の管理、ヘッドアップ等の環境設定、自助具など物理的な支持を用いる</a:t>
                      </a:r>
                    </a:p>
                  </a:txBody>
                  <a:tcPr>
                    <a:solidFill>
                      <a:srgbClr val="A8C4C7"/>
                    </a:solidFill>
                  </a:tcPr>
                </a:tc>
              </a:tr>
              <a:tr h="383866">
                <a:tc>
                  <a:txBody>
                    <a:bodyPr/>
                    <a:lstStyle/>
                    <a:p>
                      <a:pPr algn="ctr"/>
                      <a:r>
                        <a:rPr sz="1000" b="0">
                          <a:solidFill>
                            <a:srgbClr val="262626"/>
                          </a:solidFill>
                          <a:latin typeface="游ゴシック"/>
                        </a:rPr>
                        <a:t>85</a:t>
                      </a:r>
                    </a:p>
                  </a:txBody>
                  <a:tcPr/>
                </a:tc>
                <a:tc>
                  <a:txBody>
                    <a:bodyPr/>
                    <a:lstStyle/>
                    <a:p>
                      <a:pPr algn="ctr"/>
                      <a:r>
                        <a:rPr sz="1000" b="1">
                          <a:solidFill>
                            <a:srgbClr val="262626"/>
                          </a:solidFill>
                          <a:latin typeface="游ゴシック"/>
                        </a:rPr>
                        <a:t>鎮痛薬の検討。介入時間の検討（鎮痛薬の作用時間を考慮）。</a:t>
                      </a:r>
                    </a:p>
                  </a:txBody>
                  <a:tcPr/>
                </a:tc>
              </a:tr>
              <a:tr h="383866">
                <a:tc>
                  <a:txBody>
                    <a:bodyPr/>
                    <a:lstStyle/>
                    <a:p>
                      <a:pPr algn="ctr"/>
                      <a:r>
                        <a:rPr sz="1000" b="0">
                          <a:solidFill>
                            <a:srgbClr val="262626"/>
                          </a:solidFill>
                          <a:latin typeface="游ゴシック"/>
                        </a:rPr>
                        <a:t>86</a:t>
                      </a:r>
                    </a:p>
                  </a:txBody>
                  <a:tcPr>
                    <a:solidFill>
                      <a:srgbClr val="A8C4C7"/>
                    </a:solidFill>
                  </a:tcPr>
                </a:tc>
                <a:tc>
                  <a:txBody>
                    <a:bodyPr/>
                    <a:lstStyle/>
                    <a:p>
                      <a:pPr algn="ctr"/>
                      <a:r>
                        <a:rPr sz="1000" b="1">
                          <a:solidFill>
                            <a:srgbClr val="262626"/>
                          </a:solidFill>
                          <a:latin typeface="游ゴシック"/>
                        </a:rPr>
                        <a:t>疼痛コントロール</a:t>
                      </a:r>
                    </a:p>
                  </a:txBody>
                  <a:tcPr>
                    <a:solidFill>
                      <a:srgbClr val="A8C4C7"/>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2000" b="1">
                <a:solidFill>
                  <a:srgbClr val="262626"/>
                </a:solidFill>
                <a:latin typeface="游ゴシック"/>
              </a:rPr>
              <a:t>Q7.  精神・認知機能（認知機能低下、せん妄など）が原因による制限【4段階評価】</a:t>
            </a:r>
          </a:p>
        </p:txBody>
      </p:sp>
      <p:graphicFrame>
        <p:nvGraphicFramePr>
          <p:cNvPr id="3" name="Chart 2"/>
          <p:cNvGraphicFramePr>
            <a:graphicFrameLocks noGrp="1"/>
          </p:cNvGraphicFramePr>
          <p:nvPr/>
        </p:nvGraphicFramePr>
        <p:xfrm>
          <a:off x="200000" y="900000"/>
          <a:ext cx="70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200000" y="1100000"/>
          <a:ext cx="4400000" cy="30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a:lstStyle/>
                    <a:p>
                      <a:pPr algn="ctr"/>
                      <a:r>
                        <a:rPr sz="1400" b="1">
                          <a:solidFill>
                            <a:srgbClr val="FFFFFF"/>
                          </a:solidFill>
                          <a:latin typeface="游ゴシック"/>
                        </a:rPr>
                        <a:t>回答</a:t>
                      </a:r>
                    </a:p>
                  </a:txBody>
                  <a:tcPr>
                    <a:solidFill>
                      <a:srgbClr val="397077"/>
                    </a:solidFill>
                  </a:tcPr>
                </a:tc>
                <a:tc>
                  <a:txBody>
                    <a:bodyPr/>
                    <a:lstStyle/>
                    <a:p>
                      <a:pPr algn="ctr"/>
                      <a:r>
                        <a:rPr sz="1400" b="1">
                          <a:solidFill>
                            <a:srgbClr val="FFFFFF"/>
                          </a:solidFill>
                          <a:latin typeface="游ゴシック"/>
                        </a:rPr>
                        <a:t>件数</a:t>
                      </a:r>
                    </a:p>
                  </a:txBody>
                  <a:tcPr>
                    <a:solidFill>
                      <a:srgbClr val="397077"/>
                    </a:solidFill>
                  </a:tcPr>
                </a:tc>
                <a:tc>
                  <a:txBody>
                    <a:bodyPr/>
                    <a:lstStyle/>
                    <a:p>
                      <a:pPr algn="ctr"/>
                      <a:r>
                        <a:rPr sz="1400" b="1">
                          <a:solidFill>
                            <a:srgbClr val="FFFFFF"/>
                          </a:solidFill>
                          <a:latin typeface="游ゴシック"/>
                        </a:rPr>
                        <a:t>割合</a:t>
                      </a:r>
                    </a:p>
                  </a:txBody>
                  <a:tcPr>
                    <a:solidFill>
                      <a:srgbClr val="397077"/>
                    </a:solidFill>
                  </a:tcPr>
                </a:tc>
              </a:tr>
              <a:tr h="500000">
                <a:tc>
                  <a:txBody>
                    <a:bodyPr/>
                    <a:lstStyle/>
                    <a:p>
                      <a:pPr algn="ctr"/>
                      <a:r>
                        <a:rPr sz="1100" b="0">
                          <a:solidFill>
                            <a:srgbClr val="262626"/>
                          </a:solidFill>
                          <a:latin typeface="游ゴシック"/>
                        </a:rPr>
                        <a:t>全症例の0％〜24％程度</a:t>
                      </a:r>
                    </a:p>
                  </a:txBody>
                  <a:tcPr/>
                </a:tc>
                <a:tc>
                  <a:txBody>
                    <a:bodyPr/>
                    <a:lstStyle/>
                    <a:p>
                      <a:pPr algn="ctr"/>
                      <a:r>
                        <a:rPr sz="1100" b="1">
                          <a:solidFill>
                            <a:srgbClr val="262626"/>
                          </a:solidFill>
                          <a:latin typeface="游ゴシック"/>
                        </a:rPr>
                        <a:t>192</a:t>
                      </a:r>
                    </a:p>
                  </a:txBody>
                  <a:tcPr/>
                </a:tc>
                <a:tc>
                  <a:txBody>
                    <a:bodyPr/>
                    <a:lstStyle/>
                    <a:p>
                      <a:pPr algn="ctr"/>
                      <a:r>
                        <a:rPr sz="1100" b="1">
                          <a:solidFill>
                            <a:srgbClr val="262626"/>
                          </a:solidFill>
                          <a:latin typeface="游ゴシック"/>
                        </a:rPr>
                        <a:t>66.4%</a:t>
                      </a:r>
                    </a:p>
                  </a:txBody>
                  <a:tcPr/>
                </a:tc>
              </a:tr>
              <a:tr h="500000">
                <a:tc>
                  <a:txBody>
                    <a:bodyPr/>
                    <a:lstStyle/>
                    <a:p>
                      <a:pPr algn="ctr"/>
                      <a:r>
                        <a:rPr sz="1100" b="0">
                          <a:solidFill>
                            <a:srgbClr val="262626"/>
                          </a:solidFill>
                          <a:latin typeface="游ゴシック"/>
                        </a:rPr>
                        <a:t>全症例の25％〜49％程度</a:t>
                      </a:r>
                    </a:p>
                  </a:txBody>
                  <a:tcPr>
                    <a:solidFill>
                      <a:srgbClr val="A8C4C7"/>
                    </a:solidFill>
                  </a:tcPr>
                </a:tc>
                <a:tc>
                  <a:txBody>
                    <a:bodyPr/>
                    <a:lstStyle/>
                    <a:p>
                      <a:pPr algn="ctr"/>
                      <a:r>
                        <a:rPr sz="1100" b="1">
                          <a:solidFill>
                            <a:srgbClr val="262626"/>
                          </a:solidFill>
                          <a:latin typeface="游ゴシック"/>
                        </a:rPr>
                        <a:t>78</a:t>
                      </a:r>
                    </a:p>
                  </a:txBody>
                  <a:tcPr>
                    <a:solidFill>
                      <a:srgbClr val="A8C4C7"/>
                    </a:solidFill>
                  </a:tcPr>
                </a:tc>
                <a:tc>
                  <a:txBody>
                    <a:bodyPr/>
                    <a:lstStyle/>
                    <a:p>
                      <a:pPr algn="ctr"/>
                      <a:r>
                        <a:rPr sz="1100" b="1">
                          <a:solidFill>
                            <a:srgbClr val="262626"/>
                          </a:solidFill>
                          <a:latin typeface="游ゴシック"/>
                        </a:rPr>
                        <a:t>27.0%</a:t>
                      </a:r>
                    </a:p>
                  </a:txBody>
                  <a:tcPr>
                    <a:solidFill>
                      <a:srgbClr val="A8C4C7"/>
                    </a:solidFill>
                  </a:tcPr>
                </a:tc>
              </a:tr>
              <a:tr h="500000">
                <a:tc>
                  <a:txBody>
                    <a:bodyPr/>
                    <a:lstStyle/>
                    <a:p>
                      <a:pPr algn="ctr"/>
                      <a:r>
                        <a:rPr sz="1100" b="0">
                          <a:solidFill>
                            <a:srgbClr val="262626"/>
                          </a:solidFill>
                          <a:latin typeface="游ゴシック"/>
                        </a:rPr>
                        <a:t>全症例の50％〜74％程度</a:t>
                      </a:r>
                    </a:p>
                  </a:txBody>
                  <a:tcPr/>
                </a:tc>
                <a:tc>
                  <a:txBody>
                    <a:bodyPr/>
                    <a:lstStyle/>
                    <a:p>
                      <a:pPr algn="ctr"/>
                      <a:r>
                        <a:rPr sz="1100" b="1">
                          <a:solidFill>
                            <a:srgbClr val="262626"/>
                          </a:solidFill>
                          <a:latin typeface="游ゴシック"/>
                        </a:rPr>
                        <a:t>18</a:t>
                      </a:r>
                    </a:p>
                  </a:txBody>
                  <a:tcPr/>
                </a:tc>
                <a:tc>
                  <a:txBody>
                    <a:bodyPr/>
                    <a:lstStyle/>
                    <a:p>
                      <a:pPr algn="ctr"/>
                      <a:r>
                        <a:rPr sz="1100" b="1">
                          <a:solidFill>
                            <a:srgbClr val="262626"/>
                          </a:solidFill>
                          <a:latin typeface="游ゴシック"/>
                        </a:rPr>
                        <a:t>6.2%</a:t>
                      </a:r>
                    </a:p>
                  </a:txBody>
                  <a:tcPr/>
                </a:tc>
              </a:tr>
              <a:tr h="500000">
                <a:tc>
                  <a:txBody>
                    <a:bodyPr/>
                    <a:lstStyle/>
                    <a:p>
                      <a:pPr algn="ctr"/>
                      <a:r>
                        <a:rPr sz="1100" b="0">
                          <a:solidFill>
                            <a:srgbClr val="262626"/>
                          </a:solidFill>
                          <a:latin typeface="游ゴシック"/>
                        </a:rPr>
                        <a:t>全症例の75％〜100％程度</a:t>
                      </a:r>
                    </a:p>
                  </a:txBody>
                  <a:tcPr>
                    <a:solidFill>
                      <a:srgbClr val="A8C4C7"/>
                    </a:solidFill>
                  </a:tcPr>
                </a:tc>
                <a:tc>
                  <a:txBody>
                    <a:bodyPr/>
                    <a:lstStyle/>
                    <a:p>
                      <a:pPr algn="ctr"/>
                      <a:r>
                        <a:rPr sz="1100" b="1">
                          <a:solidFill>
                            <a:srgbClr val="262626"/>
                          </a:solidFill>
                          <a:latin typeface="游ゴシック"/>
                        </a:rPr>
                        <a:t>1</a:t>
                      </a:r>
                    </a:p>
                  </a:txBody>
                  <a:tcPr>
                    <a:solidFill>
                      <a:srgbClr val="A8C4C7"/>
                    </a:solidFill>
                  </a:tcPr>
                </a:tc>
                <a:tc>
                  <a:txBody>
                    <a:bodyPr/>
                    <a:lstStyle/>
                    <a:p>
                      <a:pPr algn="ctr"/>
                      <a:r>
                        <a:rPr sz="1100" b="1">
                          <a:solidFill>
                            <a:srgbClr val="262626"/>
                          </a:solidFill>
                          <a:latin typeface="游ゴシック"/>
                        </a:rPr>
                        <a:t>0.3%</a:t>
                      </a:r>
                    </a:p>
                  </a:txBody>
                  <a:tcPr>
                    <a:solidFill>
                      <a:srgbClr val="A8C4C7"/>
                    </a:solidFill>
                  </a:tcPr>
                </a:tc>
              </a:tr>
              <a:tr h="500000">
                <a:tc>
                  <a:txBody>
                    <a:bodyPr/>
                    <a:lstStyle/>
                    <a:p>
                      <a:pPr algn="ctr"/>
                      <a:r>
                        <a:rPr sz="1100" b="1">
                          <a:solidFill>
                            <a:srgbClr val="262626"/>
                          </a:solidFill>
                          <a:latin typeface="游ゴシック"/>
                        </a:rPr>
                        <a:t>合計</a:t>
                      </a:r>
                    </a:p>
                  </a:txBody>
                  <a:tcPr/>
                </a:tc>
                <a:tc>
                  <a:txBody>
                    <a:bodyPr/>
                    <a:lstStyle/>
                    <a:p>
                      <a:pPr algn="ctr"/>
                      <a:r>
                        <a:rPr sz="1100" b="1">
                          <a:solidFill>
                            <a:srgbClr val="262626"/>
                          </a:solidFill>
                          <a:latin typeface="游ゴシック"/>
                        </a:rPr>
                        <a:t>289</a:t>
                      </a:r>
                    </a:p>
                  </a:txBody>
                  <a:tcPr/>
                </a:tc>
                <a:tc>
                  <a:txBody>
                    <a:bodyPr/>
                    <a:lstStyle/>
                    <a:p>
                      <a:pPr algn="ctr"/>
                      <a:r>
                        <a:rPr sz="1100" b="1">
                          <a:solidFill>
                            <a:srgbClr val="262626"/>
                          </a:solidFill>
                          <a:latin typeface="游ゴシック"/>
                        </a:rPr>
                        <a:t>100.0%</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n=289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Q7-1.  Q7で「50%〜74%」「75%〜100%」を選択した方の対応策【自由記述】</a:t>
            </a:r>
          </a:p>
        </p:txBody>
      </p:sp>
      <p:graphicFrame>
        <p:nvGraphicFramePr>
          <p:cNvPr id="3" name="Table 2"/>
          <p:cNvGraphicFramePr>
            <a:graphicFrameLocks noGrp="1"/>
          </p:cNvGraphicFramePr>
          <p:nvPr/>
        </p:nvGraphicFramePr>
        <p:xfrm>
          <a:off x="200000" y="950000"/>
          <a:ext cx="11377800" cy="5757990"/>
        </p:xfrm>
        <a:graphic>
          <a:graphicData uri="http://schemas.openxmlformats.org/drawingml/2006/table">
            <a:tbl>
              <a:tblPr firstRow="1" bandRow="1">
                <a:tableStyleId>{5C22544A-7EE6-4342-B048-85BDC9FD1C3A}</a:tableStyleId>
              </a:tblPr>
              <a:tblGrid>
                <a:gridCol w="685800"/>
                <a:gridCol w="10692000"/>
              </a:tblGrid>
              <a:tr h="383866">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83866">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対策はできていないです。指示が入らず拒否が強いことが多いです。</a:t>
                      </a:r>
                    </a:p>
                  </a:txBody>
                  <a:tcPr/>
                </a:tc>
              </a:tr>
              <a:tr h="383866">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覚醒状態のタイミングをみて介入</a:t>
                      </a:r>
                    </a:p>
                  </a:txBody>
                  <a:tcPr>
                    <a:solidFill>
                      <a:srgbClr val="A8C4C7"/>
                    </a:solidFill>
                  </a:tcPr>
                </a:tc>
              </a:tr>
              <a:tr h="383866">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術前や術後に認知症カンファレンスを病棟で開催</a:t>
                      </a:r>
                    </a:p>
                  </a:txBody>
                  <a:tcPr/>
                </a:tc>
              </a:tr>
              <a:tr h="383866">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傾聴、コミュニケーションをしっかりとる。</a:t>
                      </a:r>
                    </a:p>
                  </a:txBody>
                  <a:tcPr>
                    <a:solidFill>
                      <a:srgbClr val="A8C4C7"/>
                    </a:solidFill>
                  </a:tcPr>
                </a:tc>
              </a:tr>
              <a:tr h="383866">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看護師による頻回な離床、声掛け　投薬コントロール</a:t>
                      </a:r>
                    </a:p>
                  </a:txBody>
                  <a:tcPr/>
                </a:tc>
              </a:tr>
              <a:tr h="383866">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認知症ケアチームとの連携にて事前にスタッフでの情報共有を行っている</a:t>
                      </a:r>
                    </a:p>
                  </a:txBody>
                  <a:tcPr>
                    <a:solidFill>
                      <a:srgbClr val="A8C4C7"/>
                    </a:solidFill>
                  </a:tcPr>
                </a:tc>
              </a:tr>
              <a:tr h="383866">
                <a:tc>
                  <a:txBody>
                    <a:bodyPr/>
                    <a:lstStyle/>
                    <a:p>
                      <a:pPr algn="ctr"/>
                      <a:r>
                        <a:rPr sz="1000" b="0">
                          <a:solidFill>
                            <a:srgbClr val="262626"/>
                          </a:solidFill>
                          <a:latin typeface="游ゴシック"/>
                        </a:rPr>
                        <a:t>7</a:t>
                      </a:r>
                    </a:p>
                  </a:txBody>
                  <a:tcPr/>
                </a:tc>
                <a:tc>
                  <a:txBody>
                    <a:bodyPr/>
                    <a:lstStyle/>
                    <a:p>
                      <a:pPr algn="ctr"/>
                      <a:r>
                        <a:rPr sz="1000" b="1">
                          <a:solidFill>
                            <a:srgbClr val="262626"/>
                          </a:solidFill>
                          <a:latin typeface="游ゴシック"/>
                        </a:rPr>
                        <a:t>傾聴し納得されるように促す</a:t>
                      </a:r>
                    </a:p>
                  </a:txBody>
                  <a:tcPr/>
                </a:tc>
              </a:tr>
              <a:tr h="383866">
                <a:tc>
                  <a:txBody>
                    <a:bodyPr/>
                    <a:lstStyle/>
                    <a:p>
                      <a:pPr algn="ctr"/>
                      <a:r>
                        <a:rPr sz="1000" b="0">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細かな説明と声掛け</a:t>
                      </a:r>
                    </a:p>
                  </a:txBody>
                  <a:tcPr>
                    <a:solidFill>
                      <a:srgbClr val="A8C4C7"/>
                    </a:solidFill>
                  </a:tcPr>
                </a:tc>
              </a:tr>
              <a:tr h="383866">
                <a:tc>
                  <a:txBody>
                    <a:bodyPr/>
                    <a:lstStyle/>
                    <a:p>
                      <a:pPr algn="ctr"/>
                      <a:r>
                        <a:rPr sz="1000" b="0">
                          <a:solidFill>
                            <a:srgbClr val="262626"/>
                          </a:solidFill>
                          <a:latin typeface="游ゴシック"/>
                        </a:rPr>
                        <a:t>9</a:t>
                      </a:r>
                    </a:p>
                  </a:txBody>
                  <a:tcPr/>
                </a:tc>
                <a:tc>
                  <a:txBody>
                    <a:bodyPr/>
                    <a:lstStyle/>
                    <a:p>
                      <a:pPr algn="ctr"/>
                      <a:r>
                        <a:rPr sz="1000" b="1">
                          <a:solidFill>
                            <a:srgbClr val="262626"/>
                          </a:solidFill>
                          <a:latin typeface="游ゴシック"/>
                        </a:rPr>
                        <a:t>回答なし</a:t>
                      </a:r>
                    </a:p>
                  </a:txBody>
                  <a:tcPr/>
                </a:tc>
              </a:tr>
              <a:tr h="383866">
                <a:tc>
                  <a:txBody>
                    <a:bodyPr/>
                    <a:lstStyle/>
                    <a:p>
                      <a:pPr algn="ctr"/>
                      <a:r>
                        <a:rPr sz="1000" b="0">
                          <a:solidFill>
                            <a:srgbClr val="262626"/>
                          </a:solidFill>
                          <a:latin typeface="游ゴシック"/>
                        </a:rPr>
                        <a:t>10</a:t>
                      </a:r>
                    </a:p>
                  </a:txBody>
                  <a:tcPr>
                    <a:solidFill>
                      <a:srgbClr val="A8C4C7"/>
                    </a:solidFill>
                  </a:tcPr>
                </a:tc>
                <a:tc>
                  <a:txBody>
                    <a:bodyPr/>
                    <a:lstStyle/>
                    <a:p>
                      <a:pPr algn="ctr"/>
                      <a:r>
                        <a:rPr sz="1000" b="1">
                          <a:solidFill>
                            <a:srgbClr val="262626"/>
                          </a:solidFill>
                          <a:latin typeface="游ゴシック"/>
                        </a:rPr>
                        <a:t>介助量を多めにし安全に離床を促していく</a:t>
                      </a:r>
                    </a:p>
                  </a:txBody>
                  <a:tcPr>
                    <a:solidFill>
                      <a:srgbClr val="A8C4C7"/>
                    </a:solidFill>
                  </a:tcPr>
                </a:tc>
              </a:tr>
              <a:tr h="383866">
                <a:tc>
                  <a:txBody>
                    <a:bodyPr/>
                    <a:lstStyle/>
                    <a:p>
                      <a:pPr algn="ctr"/>
                      <a:r>
                        <a:rPr sz="1000" b="0">
                          <a:solidFill>
                            <a:srgbClr val="262626"/>
                          </a:solidFill>
                          <a:latin typeface="游ゴシック"/>
                        </a:rPr>
                        <a:t>11</a:t>
                      </a:r>
                    </a:p>
                  </a:txBody>
                  <a:tcPr/>
                </a:tc>
                <a:tc>
                  <a:txBody>
                    <a:bodyPr/>
                    <a:lstStyle/>
                    <a:p>
                      <a:pPr algn="ctr"/>
                      <a:r>
                        <a:rPr sz="1000" b="1">
                          <a:solidFill>
                            <a:srgbClr val="262626"/>
                          </a:solidFill>
                          <a:latin typeface="游ゴシック"/>
                        </a:rPr>
                        <a:t>術後せん妄を発症しないよう、術前から看護師と協同してリスク評価を行い、環境設定や心理サポートを行っている。</a:t>
                      </a:r>
                    </a:p>
                  </a:txBody>
                  <a:tcPr/>
                </a:tc>
              </a:tr>
              <a:tr h="383866">
                <a:tc>
                  <a:txBody>
                    <a:bodyPr/>
                    <a:lstStyle/>
                    <a:p>
                      <a:pPr algn="ctr"/>
                      <a:r>
                        <a:rPr sz="1000" b="0">
                          <a:solidFill>
                            <a:srgbClr val="262626"/>
                          </a:solidFill>
                          <a:latin typeface="游ゴシック"/>
                        </a:rPr>
                        <a:t>12</a:t>
                      </a:r>
                    </a:p>
                  </a:txBody>
                  <a:tcPr>
                    <a:solidFill>
                      <a:srgbClr val="A8C4C7"/>
                    </a:solidFill>
                  </a:tcPr>
                </a:tc>
                <a:tc>
                  <a:txBody>
                    <a:bodyPr/>
                    <a:lstStyle/>
                    <a:p>
                      <a:pPr algn="ctr"/>
                      <a:r>
                        <a:rPr sz="1000" b="1">
                          <a:solidFill>
                            <a:srgbClr val="262626"/>
                          </a:solidFill>
                          <a:latin typeface="游ゴシック"/>
                        </a:rPr>
                        <a:t>特になし</a:t>
                      </a:r>
                    </a:p>
                  </a:txBody>
                  <a:tcPr>
                    <a:solidFill>
                      <a:srgbClr val="A8C4C7"/>
                    </a:solidFill>
                  </a:tcPr>
                </a:tc>
              </a:tr>
              <a:tr h="383866">
                <a:tc>
                  <a:txBody>
                    <a:bodyPr/>
                    <a:lstStyle/>
                    <a:p>
                      <a:pPr algn="ctr"/>
                      <a:r>
                        <a:rPr sz="1000" b="0">
                          <a:solidFill>
                            <a:srgbClr val="262626"/>
                          </a:solidFill>
                          <a:latin typeface="游ゴシック"/>
                        </a:rPr>
                        <a:t>13</a:t>
                      </a:r>
                    </a:p>
                  </a:txBody>
                  <a:tcPr/>
                </a:tc>
                <a:tc>
                  <a:txBody>
                    <a:bodyPr/>
                    <a:lstStyle/>
                    <a:p>
                      <a:pPr algn="ctr"/>
                      <a:r>
                        <a:rPr sz="1000" b="1">
                          <a:solidFill>
                            <a:srgbClr val="262626"/>
                          </a:solidFill>
                          <a:latin typeface="游ゴシック"/>
                        </a:rPr>
                        <a:t>実施するタイミングを遅らせる。鎮痛薬、二人介助で行う</a:t>
                      </a:r>
                    </a:p>
                  </a:txBody>
                  <a:tcPr/>
                </a:tc>
              </a:tr>
              <a:tr h="383866">
                <a:tc>
                  <a:txBody>
                    <a:bodyPr/>
                    <a:lstStyle/>
                    <a:p>
                      <a:pPr algn="ctr"/>
                      <a:r>
                        <a:rPr sz="1000" b="0">
                          <a:solidFill>
                            <a:srgbClr val="262626"/>
                          </a:solidFill>
                          <a:latin typeface="游ゴシック"/>
                        </a:rPr>
                        <a:t>14</a:t>
                      </a:r>
                    </a:p>
                  </a:txBody>
                  <a:tcPr>
                    <a:solidFill>
                      <a:srgbClr val="A8C4C7"/>
                    </a:solidFill>
                  </a:tcPr>
                </a:tc>
                <a:tc>
                  <a:txBody>
                    <a:bodyPr/>
                    <a:lstStyle/>
                    <a:p>
                      <a:pPr algn="ctr"/>
                      <a:r>
                        <a:rPr sz="1000" b="1">
                          <a:solidFill>
                            <a:srgbClr val="262626"/>
                          </a:solidFill>
                          <a:latin typeface="游ゴシック"/>
                        </a:rPr>
                        <a:t>離床時間の確保</a:t>
                      </a:r>
                    </a:p>
                  </a:txBody>
                  <a:tcPr>
                    <a:solidFill>
                      <a:srgbClr val="A8C4C7"/>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2000" b="1">
                <a:solidFill>
                  <a:srgbClr val="262626"/>
                </a:solidFill>
                <a:latin typeface="游ゴシック"/>
              </a:rPr>
              <a:t>Q8.  全身状態（呼吸・循環障害、貧血、電解質異常など）が原因による制限【4段階評価】</a:t>
            </a:r>
          </a:p>
        </p:txBody>
      </p:sp>
      <p:graphicFrame>
        <p:nvGraphicFramePr>
          <p:cNvPr id="3" name="Chart 2"/>
          <p:cNvGraphicFramePr>
            <a:graphicFrameLocks noGrp="1"/>
          </p:cNvGraphicFramePr>
          <p:nvPr/>
        </p:nvGraphicFramePr>
        <p:xfrm>
          <a:off x="200000" y="900000"/>
          <a:ext cx="70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200000" y="1100000"/>
          <a:ext cx="4400000" cy="30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a:lstStyle/>
                    <a:p>
                      <a:pPr algn="ctr"/>
                      <a:r>
                        <a:rPr sz="1400" b="1">
                          <a:solidFill>
                            <a:srgbClr val="FFFFFF"/>
                          </a:solidFill>
                          <a:latin typeface="游ゴシック"/>
                        </a:rPr>
                        <a:t>回答</a:t>
                      </a:r>
                    </a:p>
                  </a:txBody>
                  <a:tcPr>
                    <a:solidFill>
                      <a:srgbClr val="397077"/>
                    </a:solidFill>
                  </a:tcPr>
                </a:tc>
                <a:tc>
                  <a:txBody>
                    <a:bodyPr/>
                    <a:lstStyle/>
                    <a:p>
                      <a:pPr algn="ctr"/>
                      <a:r>
                        <a:rPr sz="1400" b="1">
                          <a:solidFill>
                            <a:srgbClr val="FFFFFF"/>
                          </a:solidFill>
                          <a:latin typeface="游ゴシック"/>
                        </a:rPr>
                        <a:t>件数</a:t>
                      </a:r>
                    </a:p>
                  </a:txBody>
                  <a:tcPr>
                    <a:solidFill>
                      <a:srgbClr val="397077"/>
                    </a:solidFill>
                  </a:tcPr>
                </a:tc>
                <a:tc>
                  <a:txBody>
                    <a:bodyPr/>
                    <a:lstStyle/>
                    <a:p>
                      <a:pPr algn="ctr"/>
                      <a:r>
                        <a:rPr sz="1400" b="1">
                          <a:solidFill>
                            <a:srgbClr val="FFFFFF"/>
                          </a:solidFill>
                          <a:latin typeface="游ゴシック"/>
                        </a:rPr>
                        <a:t>割合</a:t>
                      </a:r>
                    </a:p>
                  </a:txBody>
                  <a:tcPr>
                    <a:solidFill>
                      <a:srgbClr val="397077"/>
                    </a:solidFill>
                  </a:tcPr>
                </a:tc>
              </a:tr>
              <a:tr h="500000">
                <a:tc>
                  <a:txBody>
                    <a:bodyPr/>
                    <a:lstStyle/>
                    <a:p>
                      <a:pPr algn="ctr"/>
                      <a:r>
                        <a:rPr sz="1100" b="0">
                          <a:solidFill>
                            <a:srgbClr val="262626"/>
                          </a:solidFill>
                          <a:latin typeface="游ゴシック"/>
                        </a:rPr>
                        <a:t>全症例の0％〜24％程度</a:t>
                      </a:r>
                    </a:p>
                  </a:txBody>
                  <a:tcPr/>
                </a:tc>
                <a:tc>
                  <a:txBody>
                    <a:bodyPr/>
                    <a:lstStyle/>
                    <a:p>
                      <a:pPr algn="ctr"/>
                      <a:r>
                        <a:rPr sz="1100" b="1">
                          <a:solidFill>
                            <a:srgbClr val="262626"/>
                          </a:solidFill>
                          <a:latin typeface="游ゴシック"/>
                        </a:rPr>
                        <a:t>228</a:t>
                      </a:r>
                    </a:p>
                  </a:txBody>
                  <a:tcPr/>
                </a:tc>
                <a:tc>
                  <a:txBody>
                    <a:bodyPr/>
                    <a:lstStyle/>
                    <a:p>
                      <a:pPr algn="ctr"/>
                      <a:r>
                        <a:rPr sz="1100" b="1">
                          <a:solidFill>
                            <a:srgbClr val="262626"/>
                          </a:solidFill>
                          <a:latin typeface="游ゴシック"/>
                        </a:rPr>
                        <a:t>78.9%</a:t>
                      </a:r>
                    </a:p>
                  </a:txBody>
                  <a:tcPr/>
                </a:tc>
              </a:tr>
              <a:tr h="500000">
                <a:tc>
                  <a:txBody>
                    <a:bodyPr/>
                    <a:lstStyle/>
                    <a:p>
                      <a:pPr algn="ctr"/>
                      <a:r>
                        <a:rPr sz="1100" b="0">
                          <a:solidFill>
                            <a:srgbClr val="262626"/>
                          </a:solidFill>
                          <a:latin typeface="游ゴシック"/>
                        </a:rPr>
                        <a:t>全症例の25％〜49％程度</a:t>
                      </a:r>
                    </a:p>
                  </a:txBody>
                  <a:tcPr>
                    <a:solidFill>
                      <a:srgbClr val="A8C4C7"/>
                    </a:solidFill>
                  </a:tcPr>
                </a:tc>
                <a:tc>
                  <a:txBody>
                    <a:bodyPr/>
                    <a:lstStyle/>
                    <a:p>
                      <a:pPr algn="ctr"/>
                      <a:r>
                        <a:rPr sz="1100" b="1">
                          <a:solidFill>
                            <a:srgbClr val="262626"/>
                          </a:solidFill>
                          <a:latin typeface="游ゴシック"/>
                        </a:rPr>
                        <a:t>55</a:t>
                      </a:r>
                    </a:p>
                  </a:txBody>
                  <a:tcPr>
                    <a:solidFill>
                      <a:srgbClr val="A8C4C7"/>
                    </a:solidFill>
                  </a:tcPr>
                </a:tc>
                <a:tc>
                  <a:txBody>
                    <a:bodyPr/>
                    <a:lstStyle/>
                    <a:p>
                      <a:pPr algn="ctr"/>
                      <a:r>
                        <a:rPr sz="1100" b="1">
                          <a:solidFill>
                            <a:srgbClr val="262626"/>
                          </a:solidFill>
                          <a:latin typeface="游ゴシック"/>
                        </a:rPr>
                        <a:t>19.0%</a:t>
                      </a:r>
                    </a:p>
                  </a:txBody>
                  <a:tcPr>
                    <a:solidFill>
                      <a:srgbClr val="A8C4C7"/>
                    </a:solidFill>
                  </a:tcPr>
                </a:tc>
              </a:tr>
              <a:tr h="500000">
                <a:tc>
                  <a:txBody>
                    <a:bodyPr/>
                    <a:lstStyle/>
                    <a:p>
                      <a:pPr algn="ctr"/>
                      <a:r>
                        <a:rPr sz="1100" b="0">
                          <a:solidFill>
                            <a:srgbClr val="262626"/>
                          </a:solidFill>
                          <a:latin typeface="游ゴシック"/>
                        </a:rPr>
                        <a:t>全症例の50％〜74％程度</a:t>
                      </a:r>
                    </a:p>
                  </a:txBody>
                  <a:tcPr/>
                </a:tc>
                <a:tc>
                  <a:txBody>
                    <a:bodyPr/>
                    <a:lstStyle/>
                    <a:p>
                      <a:pPr algn="ctr"/>
                      <a:r>
                        <a:rPr sz="1100" b="1">
                          <a:solidFill>
                            <a:srgbClr val="262626"/>
                          </a:solidFill>
                          <a:latin typeface="游ゴシック"/>
                        </a:rPr>
                        <a:t>4</a:t>
                      </a:r>
                    </a:p>
                  </a:txBody>
                  <a:tcPr/>
                </a:tc>
                <a:tc>
                  <a:txBody>
                    <a:bodyPr/>
                    <a:lstStyle/>
                    <a:p>
                      <a:pPr algn="ctr"/>
                      <a:r>
                        <a:rPr sz="1100" b="1">
                          <a:solidFill>
                            <a:srgbClr val="262626"/>
                          </a:solidFill>
                          <a:latin typeface="游ゴシック"/>
                        </a:rPr>
                        <a:t>1.4%</a:t>
                      </a:r>
                    </a:p>
                  </a:txBody>
                  <a:tcPr/>
                </a:tc>
              </a:tr>
              <a:tr h="500000">
                <a:tc>
                  <a:txBody>
                    <a:bodyPr/>
                    <a:lstStyle/>
                    <a:p>
                      <a:pPr algn="ctr"/>
                      <a:r>
                        <a:rPr sz="1100" b="0">
                          <a:solidFill>
                            <a:srgbClr val="262626"/>
                          </a:solidFill>
                          <a:latin typeface="游ゴシック"/>
                        </a:rPr>
                        <a:t>全症例の75％〜100％程度</a:t>
                      </a:r>
                    </a:p>
                  </a:txBody>
                  <a:tcPr>
                    <a:solidFill>
                      <a:srgbClr val="A8C4C7"/>
                    </a:solidFill>
                  </a:tcPr>
                </a:tc>
                <a:tc>
                  <a:txBody>
                    <a:bodyPr/>
                    <a:lstStyle/>
                    <a:p>
                      <a:pPr algn="ctr"/>
                      <a:r>
                        <a:rPr sz="1100" b="1">
                          <a:solidFill>
                            <a:srgbClr val="262626"/>
                          </a:solidFill>
                          <a:latin typeface="游ゴシック"/>
                        </a:rPr>
                        <a:t>2</a:t>
                      </a:r>
                    </a:p>
                  </a:txBody>
                  <a:tcPr>
                    <a:solidFill>
                      <a:srgbClr val="A8C4C7"/>
                    </a:solidFill>
                  </a:tcPr>
                </a:tc>
                <a:tc>
                  <a:txBody>
                    <a:bodyPr/>
                    <a:lstStyle/>
                    <a:p>
                      <a:pPr algn="ctr"/>
                      <a:r>
                        <a:rPr sz="1100" b="1">
                          <a:solidFill>
                            <a:srgbClr val="262626"/>
                          </a:solidFill>
                          <a:latin typeface="游ゴシック"/>
                        </a:rPr>
                        <a:t>0.7%</a:t>
                      </a:r>
                    </a:p>
                  </a:txBody>
                  <a:tcPr>
                    <a:solidFill>
                      <a:srgbClr val="A8C4C7"/>
                    </a:solidFill>
                  </a:tcPr>
                </a:tc>
              </a:tr>
              <a:tr h="500000">
                <a:tc>
                  <a:txBody>
                    <a:bodyPr/>
                    <a:lstStyle/>
                    <a:p>
                      <a:pPr algn="ctr"/>
                      <a:r>
                        <a:rPr sz="1100" b="1">
                          <a:solidFill>
                            <a:srgbClr val="262626"/>
                          </a:solidFill>
                          <a:latin typeface="游ゴシック"/>
                        </a:rPr>
                        <a:t>合計</a:t>
                      </a:r>
                    </a:p>
                  </a:txBody>
                  <a:tcPr/>
                </a:tc>
                <a:tc>
                  <a:txBody>
                    <a:bodyPr/>
                    <a:lstStyle/>
                    <a:p>
                      <a:pPr algn="ctr"/>
                      <a:r>
                        <a:rPr sz="1100" b="1">
                          <a:solidFill>
                            <a:srgbClr val="262626"/>
                          </a:solidFill>
                          <a:latin typeface="游ゴシック"/>
                        </a:rPr>
                        <a:t>289</a:t>
                      </a:r>
                    </a:p>
                  </a:txBody>
                  <a:tcPr/>
                </a:tc>
                <a:tc>
                  <a:txBody>
                    <a:bodyPr/>
                    <a:lstStyle/>
                    <a:p>
                      <a:pPr algn="ctr"/>
                      <a:r>
                        <a:rPr sz="1100" b="1">
                          <a:solidFill>
                            <a:srgbClr val="262626"/>
                          </a:solidFill>
                          <a:latin typeface="游ゴシック"/>
                        </a:rPr>
                        <a:t>100.0%</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n=289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Q8-1.  Q8で「50%〜74%」「75%〜100%」を選択した方の対応策【自由記述】</a:t>
            </a:r>
          </a:p>
        </p:txBody>
      </p:sp>
      <p:graphicFrame>
        <p:nvGraphicFramePr>
          <p:cNvPr id="3" name="Table 2"/>
          <p:cNvGraphicFramePr>
            <a:graphicFrameLocks noGrp="1"/>
          </p:cNvGraphicFramePr>
          <p:nvPr/>
        </p:nvGraphicFramePr>
        <p:xfrm>
          <a:off x="200000" y="950000"/>
          <a:ext cx="11377800" cy="4320000"/>
        </p:xfrm>
        <a:graphic>
          <a:graphicData uri="http://schemas.openxmlformats.org/drawingml/2006/table">
            <a:tbl>
              <a:tblPr firstRow="1" bandRow="1">
                <a:tableStyleId>{5C22544A-7EE6-4342-B048-85BDC9FD1C3A}</a:tableStyleId>
              </a:tblPr>
              <a:tblGrid>
                <a:gridCol w="685800"/>
                <a:gridCol w="10692000"/>
              </a:tblGrid>
              <a:tr h="432000">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432000">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アセスメントし、午前か午後で可能か検討</a:t>
                      </a:r>
                    </a:p>
                  </a:txBody>
                  <a:tcPr/>
                </a:tc>
              </a:tr>
              <a:tr h="432000">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貧血が原因であれば輸血した後に起立する、短時間にする、起立よりも座位時間確保など</a:t>
                      </a:r>
                    </a:p>
                  </a:txBody>
                  <a:tcPr>
                    <a:solidFill>
                      <a:srgbClr val="A8C4C7"/>
                    </a:solidFill>
                  </a:tcPr>
                </a:tc>
              </a:tr>
              <a:tr h="432000">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起立性低血圧が多く、段階的な姿勢調整とバイタルチェック</a:t>
                      </a:r>
                    </a:p>
                  </a:txBody>
                  <a:tcPr/>
                </a:tc>
              </a:tr>
              <a:tr h="432000">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廃用予防、DVT予防</a:t>
                      </a:r>
                    </a:p>
                  </a:txBody>
                  <a:tcPr>
                    <a:solidFill>
                      <a:srgbClr val="A8C4C7"/>
                    </a:solidFill>
                  </a:tcPr>
                </a:tc>
              </a:tr>
              <a:tr h="432000">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徒手、物理療法を全症例実施し、術後早期より起立練習を実施している（回数確認）</a:t>
                      </a:r>
                    </a:p>
                  </a:txBody>
                  <a:tcPr/>
                </a:tc>
              </a:tr>
              <a:tr h="432000">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他科へのコンサルトをしても適宜早急に対応していただける環境作り</a:t>
                      </a:r>
                    </a:p>
                  </a:txBody>
                  <a:tcPr>
                    <a:solidFill>
                      <a:srgbClr val="A8C4C7"/>
                    </a:solidFill>
                  </a:tcPr>
                </a:tc>
              </a:tr>
              <a:tr h="432000">
                <a:tc>
                  <a:txBody>
                    <a:bodyPr/>
                    <a:lstStyle/>
                    <a:p>
                      <a:pPr algn="ctr"/>
                      <a:r>
                        <a:rPr sz="1000" b="0">
                          <a:solidFill>
                            <a:srgbClr val="262626"/>
                          </a:solidFill>
                          <a:latin typeface="游ゴシック"/>
                        </a:rPr>
                        <a:t>7</a:t>
                      </a:r>
                    </a:p>
                  </a:txBody>
                  <a:tcPr/>
                </a:tc>
                <a:tc>
                  <a:txBody>
                    <a:bodyPr/>
                    <a:lstStyle/>
                    <a:p>
                      <a:pPr algn="ctr"/>
                      <a:r>
                        <a:rPr sz="1000" b="1">
                          <a:solidFill>
                            <a:srgbClr val="262626"/>
                          </a:solidFill>
                          <a:latin typeface="游ゴシック"/>
                        </a:rPr>
                        <a:t>整形外科医判断にて内科医にコンサルタントを依頼</a:t>
                      </a:r>
                    </a:p>
                  </a:txBody>
                  <a:tcPr/>
                </a:tc>
              </a:tr>
              <a:tr h="432000">
                <a:tc>
                  <a:txBody>
                    <a:bodyPr/>
                    <a:lstStyle/>
                    <a:p>
                      <a:pPr algn="ctr"/>
                      <a:r>
                        <a:rPr sz="1000" b="0">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回答なし</a:t>
                      </a:r>
                    </a:p>
                  </a:txBody>
                  <a:tcPr>
                    <a:solidFill>
                      <a:srgbClr val="A8C4C7"/>
                    </a:solidFill>
                  </a:tcPr>
                </a:tc>
              </a:tr>
              <a:tr h="432000">
                <a:tc>
                  <a:txBody>
                    <a:bodyPr/>
                    <a:lstStyle/>
                    <a:p>
                      <a:pPr algn="ctr"/>
                      <a:r>
                        <a:rPr sz="1000" b="0">
                          <a:solidFill>
                            <a:srgbClr val="262626"/>
                          </a:solidFill>
                          <a:latin typeface="游ゴシック"/>
                        </a:rPr>
                        <a:t>9</a:t>
                      </a:r>
                    </a:p>
                  </a:txBody>
                  <a:tcPr/>
                </a:tc>
                <a:tc>
                  <a:txBody>
                    <a:bodyPr/>
                    <a:lstStyle/>
                    <a:p>
                      <a:pPr algn="ctr"/>
                      <a:r>
                        <a:rPr sz="1000" b="1">
                          <a:solidFill>
                            <a:srgbClr val="262626"/>
                          </a:solidFill>
                          <a:latin typeface="游ゴシック"/>
                        </a:rPr>
                        <a:t>血液検査数値の確認</a:t>
                      </a:r>
                    </a:p>
                  </a:txBody>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2000" b="1">
                <a:solidFill>
                  <a:srgbClr val="262626"/>
                </a:solidFill>
                <a:latin typeface="游ゴシック"/>
              </a:rPr>
              <a:t>Q9.  環境的要因（ベッド配置、病室環境、動線など）が原因による制限【4段階評価】</a:t>
            </a:r>
          </a:p>
        </p:txBody>
      </p:sp>
      <p:graphicFrame>
        <p:nvGraphicFramePr>
          <p:cNvPr id="3" name="Chart 2"/>
          <p:cNvGraphicFramePr>
            <a:graphicFrameLocks noGrp="1"/>
          </p:cNvGraphicFramePr>
          <p:nvPr/>
        </p:nvGraphicFramePr>
        <p:xfrm>
          <a:off x="200000" y="900000"/>
          <a:ext cx="70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200000" y="1100000"/>
          <a:ext cx="4400000" cy="25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a:lstStyle/>
                    <a:p>
                      <a:pPr algn="ctr"/>
                      <a:r>
                        <a:rPr sz="1400" b="1">
                          <a:solidFill>
                            <a:srgbClr val="FFFFFF"/>
                          </a:solidFill>
                          <a:latin typeface="游ゴシック"/>
                        </a:rPr>
                        <a:t>回答</a:t>
                      </a:r>
                    </a:p>
                  </a:txBody>
                  <a:tcPr>
                    <a:solidFill>
                      <a:srgbClr val="397077"/>
                    </a:solidFill>
                  </a:tcPr>
                </a:tc>
                <a:tc>
                  <a:txBody>
                    <a:bodyPr/>
                    <a:lstStyle/>
                    <a:p>
                      <a:pPr algn="ctr"/>
                      <a:r>
                        <a:rPr sz="1400" b="1">
                          <a:solidFill>
                            <a:srgbClr val="FFFFFF"/>
                          </a:solidFill>
                          <a:latin typeface="游ゴシック"/>
                        </a:rPr>
                        <a:t>件数</a:t>
                      </a:r>
                    </a:p>
                  </a:txBody>
                  <a:tcPr>
                    <a:solidFill>
                      <a:srgbClr val="397077"/>
                    </a:solidFill>
                  </a:tcPr>
                </a:tc>
                <a:tc>
                  <a:txBody>
                    <a:bodyPr/>
                    <a:lstStyle/>
                    <a:p>
                      <a:pPr algn="ctr"/>
                      <a:r>
                        <a:rPr sz="1400" b="1">
                          <a:solidFill>
                            <a:srgbClr val="FFFFFF"/>
                          </a:solidFill>
                          <a:latin typeface="游ゴシック"/>
                        </a:rPr>
                        <a:t>割合</a:t>
                      </a:r>
                    </a:p>
                  </a:txBody>
                  <a:tcPr>
                    <a:solidFill>
                      <a:srgbClr val="397077"/>
                    </a:solidFill>
                  </a:tcPr>
                </a:tc>
              </a:tr>
              <a:tr h="500000">
                <a:tc>
                  <a:txBody>
                    <a:bodyPr/>
                    <a:lstStyle/>
                    <a:p>
                      <a:pPr algn="ctr"/>
                      <a:r>
                        <a:rPr sz="1100" b="0">
                          <a:solidFill>
                            <a:srgbClr val="262626"/>
                          </a:solidFill>
                          <a:latin typeface="游ゴシック"/>
                        </a:rPr>
                        <a:t>全症例の0％〜24％程度</a:t>
                      </a:r>
                    </a:p>
                  </a:txBody>
                  <a:tcPr/>
                </a:tc>
                <a:tc>
                  <a:txBody>
                    <a:bodyPr/>
                    <a:lstStyle/>
                    <a:p>
                      <a:pPr algn="ctr"/>
                      <a:r>
                        <a:rPr sz="1100" b="1">
                          <a:solidFill>
                            <a:srgbClr val="262626"/>
                          </a:solidFill>
                          <a:latin typeface="游ゴシック"/>
                        </a:rPr>
                        <a:t>271</a:t>
                      </a:r>
                    </a:p>
                  </a:txBody>
                  <a:tcPr/>
                </a:tc>
                <a:tc>
                  <a:txBody>
                    <a:bodyPr/>
                    <a:lstStyle/>
                    <a:p>
                      <a:pPr algn="ctr"/>
                      <a:r>
                        <a:rPr sz="1100" b="1">
                          <a:solidFill>
                            <a:srgbClr val="262626"/>
                          </a:solidFill>
                          <a:latin typeface="游ゴシック"/>
                        </a:rPr>
                        <a:t>93.8%</a:t>
                      </a:r>
                    </a:p>
                  </a:txBody>
                  <a:tcPr/>
                </a:tc>
              </a:tr>
              <a:tr h="500000">
                <a:tc>
                  <a:txBody>
                    <a:bodyPr/>
                    <a:lstStyle/>
                    <a:p>
                      <a:pPr algn="ctr"/>
                      <a:r>
                        <a:rPr sz="1100" b="0">
                          <a:solidFill>
                            <a:srgbClr val="262626"/>
                          </a:solidFill>
                          <a:latin typeface="游ゴシック"/>
                        </a:rPr>
                        <a:t>全症例の25％〜49％程度</a:t>
                      </a:r>
                    </a:p>
                  </a:txBody>
                  <a:tcPr>
                    <a:solidFill>
                      <a:srgbClr val="A8C4C7"/>
                    </a:solidFill>
                  </a:tcPr>
                </a:tc>
                <a:tc>
                  <a:txBody>
                    <a:bodyPr/>
                    <a:lstStyle/>
                    <a:p>
                      <a:pPr algn="ctr"/>
                      <a:r>
                        <a:rPr sz="1100" b="1">
                          <a:solidFill>
                            <a:srgbClr val="262626"/>
                          </a:solidFill>
                          <a:latin typeface="游ゴシック"/>
                        </a:rPr>
                        <a:t>15</a:t>
                      </a:r>
                    </a:p>
                  </a:txBody>
                  <a:tcPr>
                    <a:solidFill>
                      <a:srgbClr val="A8C4C7"/>
                    </a:solidFill>
                  </a:tcPr>
                </a:tc>
                <a:tc>
                  <a:txBody>
                    <a:bodyPr/>
                    <a:lstStyle/>
                    <a:p>
                      <a:pPr algn="ctr"/>
                      <a:r>
                        <a:rPr sz="1100" b="1">
                          <a:solidFill>
                            <a:srgbClr val="262626"/>
                          </a:solidFill>
                          <a:latin typeface="游ゴシック"/>
                        </a:rPr>
                        <a:t>5.2%</a:t>
                      </a:r>
                    </a:p>
                  </a:txBody>
                  <a:tcPr>
                    <a:solidFill>
                      <a:srgbClr val="A8C4C7"/>
                    </a:solidFill>
                  </a:tcPr>
                </a:tc>
              </a:tr>
              <a:tr h="500000">
                <a:tc>
                  <a:txBody>
                    <a:bodyPr/>
                    <a:lstStyle/>
                    <a:p>
                      <a:pPr algn="ctr"/>
                      <a:r>
                        <a:rPr sz="1100" b="0">
                          <a:solidFill>
                            <a:srgbClr val="262626"/>
                          </a:solidFill>
                          <a:latin typeface="游ゴシック"/>
                        </a:rPr>
                        <a:t>全症例の75％〜100％程度</a:t>
                      </a:r>
                    </a:p>
                  </a:txBody>
                  <a:tcPr/>
                </a:tc>
                <a:tc>
                  <a:txBody>
                    <a:bodyPr/>
                    <a:lstStyle/>
                    <a:p>
                      <a:pPr algn="ctr"/>
                      <a:r>
                        <a:rPr sz="1100" b="1">
                          <a:solidFill>
                            <a:srgbClr val="262626"/>
                          </a:solidFill>
                          <a:latin typeface="游ゴシック"/>
                        </a:rPr>
                        <a:t>3</a:t>
                      </a:r>
                    </a:p>
                  </a:txBody>
                  <a:tcPr/>
                </a:tc>
                <a:tc>
                  <a:txBody>
                    <a:bodyPr/>
                    <a:lstStyle/>
                    <a:p>
                      <a:pPr algn="ctr"/>
                      <a:r>
                        <a:rPr sz="1100" b="1">
                          <a:solidFill>
                            <a:srgbClr val="262626"/>
                          </a:solidFill>
                          <a:latin typeface="游ゴシック"/>
                        </a:rPr>
                        <a:t>1.0%</a:t>
                      </a:r>
                    </a:p>
                  </a:txBody>
                  <a:tcPr/>
                </a:tc>
              </a:tr>
              <a:tr h="500000">
                <a:tc>
                  <a:txBody>
                    <a:bodyPr/>
                    <a:lstStyle/>
                    <a:p>
                      <a:pPr algn="ctr"/>
                      <a:r>
                        <a:rPr sz="1100" b="1">
                          <a:solidFill>
                            <a:srgbClr val="262626"/>
                          </a:solidFill>
                          <a:latin typeface="游ゴシック"/>
                        </a:rPr>
                        <a:t>合計</a:t>
                      </a:r>
                    </a:p>
                  </a:txBody>
                  <a:tcPr/>
                </a:tc>
                <a:tc>
                  <a:txBody>
                    <a:bodyPr/>
                    <a:lstStyle/>
                    <a:p>
                      <a:pPr algn="ctr"/>
                      <a:r>
                        <a:rPr sz="1100" b="1">
                          <a:solidFill>
                            <a:srgbClr val="262626"/>
                          </a:solidFill>
                          <a:latin typeface="游ゴシック"/>
                        </a:rPr>
                        <a:t>289</a:t>
                      </a:r>
                    </a:p>
                  </a:txBody>
                  <a:tcPr/>
                </a:tc>
                <a:tc>
                  <a:txBody>
                    <a:bodyPr/>
                    <a:lstStyle/>
                    <a:p>
                      <a:pPr algn="ctr"/>
                      <a:r>
                        <a:rPr sz="1100" b="1">
                          <a:solidFill>
                            <a:srgbClr val="262626"/>
                          </a:solidFill>
                          <a:latin typeface="游ゴシック"/>
                        </a:rPr>
                        <a:t>100.0%</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n=289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Q9-1.  Q9で「50%〜74%」「75%〜100%」を選択した方の対応策【自由記述】</a:t>
            </a:r>
          </a:p>
        </p:txBody>
      </p:sp>
      <p:graphicFrame>
        <p:nvGraphicFramePr>
          <p:cNvPr id="3" name="Table 2"/>
          <p:cNvGraphicFramePr>
            <a:graphicFrameLocks noGrp="1"/>
          </p:cNvGraphicFramePr>
          <p:nvPr/>
        </p:nvGraphicFramePr>
        <p:xfrm>
          <a:off x="200000" y="950000"/>
          <a:ext cx="11377800" cy="3024000"/>
        </p:xfrm>
        <a:graphic>
          <a:graphicData uri="http://schemas.openxmlformats.org/drawingml/2006/table">
            <a:tbl>
              <a:tblPr firstRow="1" bandRow="1">
                <a:tableStyleId>{5C22544A-7EE6-4342-B048-85BDC9FD1C3A}</a:tableStyleId>
              </a:tblPr>
              <a:tblGrid>
                <a:gridCol w="685800"/>
                <a:gridCol w="10692000"/>
              </a:tblGrid>
              <a:tr h="432000">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432000">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初回離床はセラピストが介入するようにし、その場で環境設定をおこないます</a:t>
                      </a:r>
                    </a:p>
                  </a:txBody>
                  <a:tcPr/>
                </a:tc>
              </a:tr>
              <a:tr h="432000">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リハビリと病棟ナースとの連携</a:t>
                      </a:r>
                    </a:p>
                  </a:txBody>
                  <a:tcPr>
                    <a:solidFill>
                      <a:srgbClr val="A8C4C7"/>
                    </a:solidFill>
                  </a:tcPr>
                </a:tc>
              </a:tr>
              <a:tr h="432000">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リハ、病棟スタッフと状態や環境調整の共有</a:t>
                      </a:r>
                    </a:p>
                  </a:txBody>
                  <a:tcPr/>
                </a:tc>
              </a:tr>
              <a:tr h="432000">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介助の際に障害になる場合は環境を整える。患者様から環境面での要望がある際は改善に努める。</a:t>
                      </a:r>
                    </a:p>
                  </a:txBody>
                  <a:tcPr>
                    <a:solidFill>
                      <a:srgbClr val="A8C4C7"/>
                    </a:solidFill>
                  </a:tcPr>
                </a:tc>
              </a:tr>
              <a:tr h="432000">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Q6～9について、当院のクリニカルパスで術後翌日のメニューは端座位までと設定している。よって様々な原因を問わず、立位まで行う例はごくわずか。</a:t>
                      </a:r>
                    </a:p>
                  </a:txBody>
                  <a:tcPr/>
                </a:tc>
              </a:tr>
              <a:tr h="432000">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回答なし</a:t>
                      </a:r>
                    </a:p>
                  </a:txBody>
                  <a:tcPr>
                    <a:solidFill>
                      <a:srgbClr val="A8C4C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800" b="1">
                <a:solidFill>
                  <a:srgbClr val="262626"/>
                </a:solidFill>
                <a:latin typeface="游ゴシック"/>
              </a:rPr>
              <a:t>Q10.  サルコペニアの評価項目【複数選択可】</a:t>
            </a:r>
          </a:p>
        </p:txBody>
      </p:sp>
      <p:graphicFrame>
        <p:nvGraphicFramePr>
          <p:cNvPr id="3" name="Chart 2"/>
          <p:cNvGraphicFramePr>
            <a:graphicFrameLocks noGrp="1"/>
          </p:cNvGraphicFramePr>
          <p:nvPr/>
        </p:nvGraphicFramePr>
        <p:xfrm>
          <a:off x="100000" y="900000"/>
          <a:ext cx="76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800000" y="950000"/>
          <a:ext cx="4100000" cy="5757984"/>
        </p:xfrm>
        <a:graphic>
          <a:graphicData uri="http://schemas.openxmlformats.org/drawingml/2006/table">
            <a:tbl>
              <a:tblPr firstRow="1" bandRow="1">
                <a:tableStyleId>{5C22544A-7EE6-4342-B048-85BDC9FD1C3A}</a:tableStyleId>
              </a:tblPr>
              <a:tblGrid>
                <a:gridCol w="2500000"/>
                <a:gridCol w="700000"/>
                <a:gridCol w="900000"/>
              </a:tblGrid>
              <a:tr h="319888">
                <a:tc>
                  <a:txBody>
                    <a:bodyPr/>
                    <a:lstStyle/>
                    <a:p>
                      <a:pPr algn="ctr"/>
                      <a:r>
                        <a:rPr sz="1300" b="1">
                          <a:solidFill>
                            <a:srgbClr val="FFFFFF"/>
                          </a:solidFill>
                          <a:latin typeface="游ゴシック"/>
                        </a:rPr>
                        <a:t>回答</a:t>
                      </a:r>
                    </a:p>
                  </a:txBody>
                  <a:tcPr>
                    <a:solidFill>
                      <a:srgbClr val="397077"/>
                    </a:solidFill>
                  </a:tcPr>
                </a:tc>
                <a:tc>
                  <a:txBody>
                    <a:bodyPr/>
                    <a:lstStyle/>
                    <a:p>
                      <a:pPr algn="ctr"/>
                      <a:r>
                        <a:rPr sz="1300" b="1">
                          <a:solidFill>
                            <a:srgbClr val="FFFFFF"/>
                          </a:solidFill>
                          <a:latin typeface="游ゴシック"/>
                        </a:rPr>
                        <a:t>件数</a:t>
                      </a:r>
                    </a:p>
                  </a:txBody>
                  <a:tcPr>
                    <a:solidFill>
                      <a:srgbClr val="397077"/>
                    </a:solidFill>
                  </a:tcPr>
                </a:tc>
                <a:tc>
                  <a:txBody>
                    <a:bodyPr/>
                    <a:lstStyle/>
                    <a:p>
                      <a:pPr algn="ctr"/>
                      <a:r>
                        <a:rPr sz="1300" b="1">
                          <a:solidFill>
                            <a:srgbClr val="FFFFFF"/>
                          </a:solidFill>
                          <a:latin typeface="游ゴシック"/>
                        </a:rPr>
                        <a:t>割合</a:t>
                      </a:r>
                    </a:p>
                  </a:txBody>
                  <a:tcPr>
                    <a:solidFill>
                      <a:srgbClr val="397077"/>
                    </a:solidFill>
                  </a:tcPr>
                </a:tc>
              </a:tr>
              <a:tr h="319888">
                <a:tc>
                  <a:txBody>
                    <a:bodyPr/>
                    <a:lstStyle/>
                    <a:p>
                      <a:pPr algn="ctr"/>
                      <a:r>
                        <a:rPr sz="950" b="0">
                          <a:solidFill>
                            <a:srgbClr val="262626"/>
                          </a:solidFill>
                          <a:latin typeface="游ゴシック"/>
                        </a:rPr>
                        <a:t>握力</a:t>
                      </a:r>
                    </a:p>
                  </a:txBody>
                  <a:tcPr/>
                </a:tc>
                <a:tc>
                  <a:txBody>
                    <a:bodyPr/>
                    <a:lstStyle/>
                    <a:p>
                      <a:pPr algn="ctr"/>
                      <a:r>
                        <a:rPr sz="950" b="1">
                          <a:solidFill>
                            <a:srgbClr val="262626"/>
                          </a:solidFill>
                          <a:latin typeface="游ゴシック"/>
                        </a:rPr>
                        <a:t>169</a:t>
                      </a:r>
                    </a:p>
                  </a:txBody>
                  <a:tcPr/>
                </a:tc>
                <a:tc>
                  <a:txBody>
                    <a:bodyPr/>
                    <a:lstStyle/>
                    <a:p>
                      <a:pPr algn="ctr"/>
                      <a:r>
                        <a:rPr sz="950" b="1">
                          <a:solidFill>
                            <a:srgbClr val="262626"/>
                          </a:solidFill>
                          <a:latin typeface="游ゴシック"/>
                        </a:rPr>
                        <a:t>58.5%</a:t>
                      </a:r>
                    </a:p>
                  </a:txBody>
                  <a:tcPr/>
                </a:tc>
              </a:tr>
              <a:tr h="319888">
                <a:tc>
                  <a:txBody>
                    <a:bodyPr/>
                    <a:lstStyle/>
                    <a:p>
                      <a:pPr algn="ctr"/>
                      <a:r>
                        <a:rPr sz="950" b="0">
                          <a:solidFill>
                            <a:srgbClr val="262626"/>
                          </a:solidFill>
                          <a:latin typeface="游ゴシック"/>
                        </a:rPr>
                        <a:t>歩行速度</a:t>
                      </a:r>
                    </a:p>
                  </a:txBody>
                  <a:tcPr>
                    <a:solidFill>
                      <a:srgbClr val="A8C4C7"/>
                    </a:solidFill>
                  </a:tcPr>
                </a:tc>
                <a:tc>
                  <a:txBody>
                    <a:bodyPr/>
                    <a:lstStyle/>
                    <a:p>
                      <a:pPr algn="ctr"/>
                      <a:r>
                        <a:rPr sz="950" b="1">
                          <a:solidFill>
                            <a:srgbClr val="262626"/>
                          </a:solidFill>
                          <a:latin typeface="游ゴシック"/>
                        </a:rPr>
                        <a:t>124</a:t>
                      </a:r>
                    </a:p>
                  </a:txBody>
                  <a:tcPr>
                    <a:solidFill>
                      <a:srgbClr val="A8C4C7"/>
                    </a:solidFill>
                  </a:tcPr>
                </a:tc>
                <a:tc>
                  <a:txBody>
                    <a:bodyPr/>
                    <a:lstStyle/>
                    <a:p>
                      <a:pPr algn="ctr"/>
                      <a:r>
                        <a:rPr sz="950" b="1">
                          <a:solidFill>
                            <a:srgbClr val="262626"/>
                          </a:solidFill>
                          <a:latin typeface="游ゴシック"/>
                        </a:rPr>
                        <a:t>42.9%</a:t>
                      </a:r>
                    </a:p>
                  </a:txBody>
                  <a:tcPr>
                    <a:solidFill>
                      <a:srgbClr val="A8C4C7"/>
                    </a:solidFill>
                  </a:tcPr>
                </a:tc>
              </a:tr>
              <a:tr h="319888">
                <a:tc>
                  <a:txBody>
                    <a:bodyPr/>
                    <a:lstStyle/>
                    <a:p>
                      <a:pPr algn="ctr"/>
                      <a:r>
                        <a:rPr sz="950" b="0">
                          <a:solidFill>
                            <a:srgbClr val="262626"/>
                          </a:solidFill>
                          <a:latin typeface="游ゴシック"/>
                        </a:rPr>
                        <a:t>下腿周径</a:t>
                      </a:r>
                    </a:p>
                  </a:txBody>
                  <a:tcPr/>
                </a:tc>
                <a:tc>
                  <a:txBody>
                    <a:bodyPr/>
                    <a:lstStyle/>
                    <a:p>
                      <a:pPr algn="ctr"/>
                      <a:r>
                        <a:rPr sz="950" b="1">
                          <a:solidFill>
                            <a:srgbClr val="262626"/>
                          </a:solidFill>
                          <a:latin typeface="游ゴシック"/>
                        </a:rPr>
                        <a:t>115</a:t>
                      </a:r>
                    </a:p>
                  </a:txBody>
                  <a:tcPr/>
                </a:tc>
                <a:tc>
                  <a:txBody>
                    <a:bodyPr/>
                    <a:lstStyle/>
                    <a:p>
                      <a:pPr algn="ctr"/>
                      <a:r>
                        <a:rPr sz="950" b="1">
                          <a:solidFill>
                            <a:srgbClr val="262626"/>
                          </a:solidFill>
                          <a:latin typeface="游ゴシック"/>
                        </a:rPr>
                        <a:t>39.8%</a:t>
                      </a:r>
                    </a:p>
                  </a:txBody>
                  <a:tcPr/>
                </a:tc>
              </a:tr>
              <a:tr h="319888">
                <a:tc>
                  <a:txBody>
                    <a:bodyPr/>
                    <a:lstStyle/>
                    <a:p>
                      <a:pPr algn="ctr"/>
                      <a:r>
                        <a:rPr sz="950" b="0">
                          <a:solidFill>
                            <a:srgbClr val="262626"/>
                          </a:solidFill>
                          <a:latin typeface="游ゴシック"/>
                        </a:rPr>
                        <a:t>膝伸展筋力</a:t>
                      </a:r>
                    </a:p>
                  </a:txBody>
                  <a:tcPr>
                    <a:solidFill>
                      <a:srgbClr val="A8C4C7"/>
                    </a:solidFill>
                  </a:tcPr>
                </a:tc>
                <a:tc>
                  <a:txBody>
                    <a:bodyPr/>
                    <a:lstStyle/>
                    <a:p>
                      <a:pPr algn="ctr"/>
                      <a:r>
                        <a:rPr sz="950" b="1">
                          <a:solidFill>
                            <a:srgbClr val="262626"/>
                          </a:solidFill>
                          <a:latin typeface="游ゴシック"/>
                        </a:rPr>
                        <a:t>111</a:t>
                      </a:r>
                    </a:p>
                  </a:txBody>
                  <a:tcPr>
                    <a:solidFill>
                      <a:srgbClr val="A8C4C7"/>
                    </a:solidFill>
                  </a:tcPr>
                </a:tc>
                <a:tc>
                  <a:txBody>
                    <a:bodyPr/>
                    <a:lstStyle/>
                    <a:p>
                      <a:pPr algn="ctr"/>
                      <a:r>
                        <a:rPr sz="950" b="1">
                          <a:solidFill>
                            <a:srgbClr val="262626"/>
                          </a:solidFill>
                          <a:latin typeface="游ゴシック"/>
                        </a:rPr>
                        <a:t>38.4%</a:t>
                      </a:r>
                    </a:p>
                  </a:txBody>
                  <a:tcPr>
                    <a:solidFill>
                      <a:srgbClr val="A8C4C7"/>
                    </a:solidFill>
                  </a:tcPr>
                </a:tc>
              </a:tr>
              <a:tr h="319888">
                <a:tc>
                  <a:txBody>
                    <a:bodyPr/>
                    <a:lstStyle/>
                    <a:p>
                      <a:pPr algn="ctr"/>
                      <a:r>
                        <a:rPr sz="950" b="0">
                          <a:solidFill>
                            <a:srgbClr val="262626"/>
                          </a:solidFill>
                          <a:latin typeface="游ゴシック"/>
                        </a:rPr>
                        <a:t>TUG</a:t>
                      </a:r>
                    </a:p>
                  </a:txBody>
                  <a:tcPr/>
                </a:tc>
                <a:tc>
                  <a:txBody>
                    <a:bodyPr/>
                    <a:lstStyle/>
                    <a:p>
                      <a:pPr algn="ctr"/>
                      <a:r>
                        <a:rPr sz="950" b="1">
                          <a:solidFill>
                            <a:srgbClr val="262626"/>
                          </a:solidFill>
                          <a:latin typeface="游ゴシック"/>
                        </a:rPr>
                        <a:t>111</a:t>
                      </a:r>
                    </a:p>
                  </a:txBody>
                  <a:tcPr/>
                </a:tc>
                <a:tc>
                  <a:txBody>
                    <a:bodyPr/>
                    <a:lstStyle/>
                    <a:p>
                      <a:pPr algn="ctr"/>
                      <a:r>
                        <a:rPr sz="950" b="1">
                          <a:solidFill>
                            <a:srgbClr val="262626"/>
                          </a:solidFill>
                          <a:latin typeface="游ゴシック"/>
                        </a:rPr>
                        <a:t>38.4%</a:t>
                      </a:r>
                    </a:p>
                  </a:txBody>
                  <a:tcPr/>
                </a:tc>
              </a:tr>
              <a:tr h="319888">
                <a:tc>
                  <a:txBody>
                    <a:bodyPr/>
                    <a:lstStyle/>
                    <a:p>
                      <a:pPr algn="ctr"/>
                      <a:r>
                        <a:rPr sz="950" b="0">
                          <a:solidFill>
                            <a:srgbClr val="262626"/>
                          </a:solidFill>
                          <a:latin typeface="游ゴシック"/>
                        </a:rPr>
                        <a:t>開眼片脚立位時間</a:t>
                      </a:r>
                    </a:p>
                  </a:txBody>
                  <a:tcPr>
                    <a:solidFill>
                      <a:srgbClr val="A8C4C7"/>
                    </a:solidFill>
                  </a:tcPr>
                </a:tc>
                <a:tc>
                  <a:txBody>
                    <a:bodyPr/>
                    <a:lstStyle/>
                    <a:p>
                      <a:pPr algn="ctr"/>
                      <a:r>
                        <a:rPr sz="950" b="1">
                          <a:solidFill>
                            <a:srgbClr val="262626"/>
                          </a:solidFill>
                          <a:latin typeface="游ゴシック"/>
                        </a:rPr>
                        <a:t>77</a:t>
                      </a:r>
                    </a:p>
                  </a:txBody>
                  <a:tcPr>
                    <a:solidFill>
                      <a:srgbClr val="A8C4C7"/>
                    </a:solidFill>
                  </a:tcPr>
                </a:tc>
                <a:tc>
                  <a:txBody>
                    <a:bodyPr/>
                    <a:lstStyle/>
                    <a:p>
                      <a:pPr algn="ctr"/>
                      <a:r>
                        <a:rPr sz="950" b="1">
                          <a:solidFill>
                            <a:srgbClr val="262626"/>
                          </a:solidFill>
                          <a:latin typeface="游ゴシック"/>
                        </a:rPr>
                        <a:t>26.6%</a:t>
                      </a:r>
                    </a:p>
                  </a:txBody>
                  <a:tcPr>
                    <a:solidFill>
                      <a:srgbClr val="A8C4C7"/>
                    </a:solidFill>
                  </a:tcPr>
                </a:tc>
              </a:tr>
              <a:tr h="319888">
                <a:tc>
                  <a:txBody>
                    <a:bodyPr/>
                    <a:lstStyle/>
                    <a:p>
                      <a:pPr algn="ctr"/>
                      <a:r>
                        <a:rPr sz="950" b="0">
                          <a:solidFill>
                            <a:srgbClr val="262626"/>
                          </a:solidFill>
                          <a:latin typeface="游ゴシック"/>
                        </a:rPr>
                        <a:t>5回椅子立ち上がりテスト</a:t>
                      </a:r>
                    </a:p>
                  </a:txBody>
                  <a:tcPr/>
                </a:tc>
                <a:tc>
                  <a:txBody>
                    <a:bodyPr/>
                    <a:lstStyle/>
                    <a:p>
                      <a:pPr algn="ctr"/>
                      <a:r>
                        <a:rPr sz="950" b="1">
                          <a:solidFill>
                            <a:srgbClr val="262626"/>
                          </a:solidFill>
                          <a:latin typeface="游ゴシック"/>
                        </a:rPr>
                        <a:t>75</a:t>
                      </a:r>
                    </a:p>
                  </a:txBody>
                  <a:tcPr/>
                </a:tc>
                <a:tc>
                  <a:txBody>
                    <a:bodyPr/>
                    <a:lstStyle/>
                    <a:p>
                      <a:pPr algn="ctr"/>
                      <a:r>
                        <a:rPr sz="950" b="1">
                          <a:solidFill>
                            <a:srgbClr val="262626"/>
                          </a:solidFill>
                          <a:latin typeface="游ゴシック"/>
                        </a:rPr>
                        <a:t>26.0%</a:t>
                      </a:r>
                    </a:p>
                  </a:txBody>
                  <a:tcPr/>
                </a:tc>
              </a:tr>
              <a:tr h="319888">
                <a:tc>
                  <a:txBody>
                    <a:bodyPr/>
                    <a:lstStyle/>
                    <a:p>
                      <a:pPr algn="ctr"/>
                      <a:r>
                        <a:rPr sz="950" b="0">
                          <a:solidFill>
                            <a:srgbClr val="262626"/>
                          </a:solidFill>
                          <a:latin typeface="游ゴシック"/>
                        </a:rPr>
                        <a:t>SPPB</a:t>
                      </a:r>
                    </a:p>
                  </a:txBody>
                  <a:tcPr>
                    <a:solidFill>
                      <a:srgbClr val="A8C4C7"/>
                    </a:solidFill>
                  </a:tcPr>
                </a:tc>
                <a:tc>
                  <a:txBody>
                    <a:bodyPr/>
                    <a:lstStyle/>
                    <a:p>
                      <a:pPr algn="ctr"/>
                      <a:r>
                        <a:rPr sz="950" b="1">
                          <a:solidFill>
                            <a:srgbClr val="262626"/>
                          </a:solidFill>
                          <a:latin typeface="游ゴシック"/>
                        </a:rPr>
                        <a:t>67</a:t>
                      </a:r>
                    </a:p>
                  </a:txBody>
                  <a:tcPr>
                    <a:solidFill>
                      <a:srgbClr val="A8C4C7"/>
                    </a:solidFill>
                  </a:tcPr>
                </a:tc>
                <a:tc>
                  <a:txBody>
                    <a:bodyPr/>
                    <a:lstStyle/>
                    <a:p>
                      <a:pPr algn="ctr"/>
                      <a:r>
                        <a:rPr sz="950" b="1">
                          <a:solidFill>
                            <a:srgbClr val="262626"/>
                          </a:solidFill>
                          <a:latin typeface="游ゴシック"/>
                        </a:rPr>
                        <a:t>23.2%</a:t>
                      </a:r>
                    </a:p>
                  </a:txBody>
                  <a:tcPr>
                    <a:solidFill>
                      <a:srgbClr val="A8C4C7"/>
                    </a:solidFill>
                  </a:tcPr>
                </a:tc>
              </a:tr>
              <a:tr h="319888">
                <a:tc>
                  <a:txBody>
                    <a:bodyPr/>
                    <a:lstStyle/>
                    <a:p>
                      <a:pPr algn="ctr"/>
                      <a:r>
                        <a:rPr sz="950" b="0">
                          <a:solidFill>
                            <a:srgbClr val="262626"/>
                          </a:solidFill>
                          <a:latin typeface="游ゴシック"/>
                        </a:rPr>
                        <a:t>実施していない</a:t>
                      </a:r>
                    </a:p>
                  </a:txBody>
                  <a:tcPr/>
                </a:tc>
                <a:tc>
                  <a:txBody>
                    <a:bodyPr/>
                    <a:lstStyle/>
                    <a:p>
                      <a:pPr algn="ctr"/>
                      <a:r>
                        <a:rPr sz="950" b="1">
                          <a:solidFill>
                            <a:srgbClr val="262626"/>
                          </a:solidFill>
                          <a:latin typeface="游ゴシック"/>
                        </a:rPr>
                        <a:t>55</a:t>
                      </a:r>
                    </a:p>
                  </a:txBody>
                  <a:tcPr/>
                </a:tc>
                <a:tc>
                  <a:txBody>
                    <a:bodyPr/>
                    <a:lstStyle/>
                    <a:p>
                      <a:pPr algn="ctr"/>
                      <a:r>
                        <a:rPr sz="950" b="1">
                          <a:solidFill>
                            <a:srgbClr val="262626"/>
                          </a:solidFill>
                          <a:latin typeface="游ゴシック"/>
                        </a:rPr>
                        <a:t>19.0%</a:t>
                      </a:r>
                    </a:p>
                  </a:txBody>
                  <a:tcPr/>
                </a:tc>
              </a:tr>
              <a:tr h="319888">
                <a:tc>
                  <a:txBody>
                    <a:bodyPr/>
                    <a:lstStyle/>
                    <a:p>
                      <a:pPr algn="ctr"/>
                      <a:r>
                        <a:rPr sz="950" b="0">
                          <a:solidFill>
                            <a:srgbClr val="262626"/>
                          </a:solidFill>
                          <a:latin typeface="游ゴシック"/>
                        </a:rPr>
                        <a:t>6分間歩行距離</a:t>
                      </a:r>
                    </a:p>
                  </a:txBody>
                  <a:tcPr>
                    <a:solidFill>
                      <a:srgbClr val="A8C4C7"/>
                    </a:solidFill>
                  </a:tcPr>
                </a:tc>
                <a:tc>
                  <a:txBody>
                    <a:bodyPr/>
                    <a:lstStyle/>
                    <a:p>
                      <a:pPr algn="ctr"/>
                      <a:r>
                        <a:rPr sz="950" b="1">
                          <a:solidFill>
                            <a:srgbClr val="262626"/>
                          </a:solidFill>
                          <a:latin typeface="游ゴシック"/>
                        </a:rPr>
                        <a:t>35</a:t>
                      </a:r>
                    </a:p>
                  </a:txBody>
                  <a:tcPr>
                    <a:solidFill>
                      <a:srgbClr val="A8C4C7"/>
                    </a:solidFill>
                  </a:tcPr>
                </a:tc>
                <a:tc>
                  <a:txBody>
                    <a:bodyPr/>
                    <a:lstStyle/>
                    <a:p>
                      <a:pPr algn="ctr"/>
                      <a:r>
                        <a:rPr sz="950" b="1">
                          <a:solidFill>
                            <a:srgbClr val="262626"/>
                          </a:solidFill>
                          <a:latin typeface="游ゴシック"/>
                        </a:rPr>
                        <a:t>12.1%</a:t>
                      </a:r>
                    </a:p>
                  </a:txBody>
                  <a:tcPr>
                    <a:solidFill>
                      <a:srgbClr val="A8C4C7"/>
                    </a:solidFill>
                  </a:tcPr>
                </a:tc>
              </a:tr>
              <a:tr h="319888">
                <a:tc>
                  <a:txBody>
                    <a:bodyPr/>
                    <a:lstStyle/>
                    <a:p>
                      <a:pPr algn="ctr"/>
                      <a:r>
                        <a:rPr sz="950" b="0">
                          <a:solidFill>
                            <a:srgbClr val="262626"/>
                          </a:solidFill>
                          <a:latin typeface="游ゴシック"/>
                        </a:rPr>
                        <a:t>骨格筋量指数（SMI）</a:t>
                      </a:r>
                    </a:p>
                  </a:txBody>
                  <a:tcPr/>
                </a:tc>
                <a:tc>
                  <a:txBody>
                    <a:bodyPr/>
                    <a:lstStyle/>
                    <a:p>
                      <a:pPr algn="ctr"/>
                      <a:r>
                        <a:rPr sz="950" b="1">
                          <a:solidFill>
                            <a:srgbClr val="262626"/>
                          </a:solidFill>
                          <a:latin typeface="游ゴシック"/>
                        </a:rPr>
                        <a:t>23</a:t>
                      </a:r>
                    </a:p>
                  </a:txBody>
                  <a:tcPr/>
                </a:tc>
                <a:tc>
                  <a:txBody>
                    <a:bodyPr/>
                    <a:lstStyle/>
                    <a:p>
                      <a:pPr algn="ctr"/>
                      <a:r>
                        <a:rPr sz="950" b="1">
                          <a:solidFill>
                            <a:srgbClr val="262626"/>
                          </a:solidFill>
                          <a:latin typeface="游ゴシック"/>
                        </a:rPr>
                        <a:t>8.0%</a:t>
                      </a:r>
                    </a:p>
                  </a:txBody>
                  <a:tcPr/>
                </a:tc>
              </a:tr>
              <a:tr h="319888">
                <a:tc>
                  <a:txBody>
                    <a:bodyPr/>
                    <a:lstStyle/>
                    <a:p>
                      <a:pPr algn="ctr"/>
                      <a:r>
                        <a:rPr sz="950" b="0">
                          <a:solidFill>
                            <a:srgbClr val="262626"/>
                          </a:solidFill>
                          <a:latin typeface="游ゴシック"/>
                        </a:rPr>
                        <a:t>GNRI</a:t>
                      </a:r>
                    </a:p>
                  </a:txBody>
                  <a:tcPr>
                    <a:solidFill>
                      <a:srgbClr val="A8C4C7"/>
                    </a:solidFill>
                  </a:tcPr>
                </a:tc>
                <a:tc>
                  <a:txBody>
                    <a:bodyPr/>
                    <a:lstStyle/>
                    <a:p>
                      <a:pPr algn="ctr"/>
                      <a:r>
                        <a:rPr sz="950" b="1">
                          <a:solidFill>
                            <a:srgbClr val="262626"/>
                          </a:solidFill>
                          <a:latin typeface="游ゴシック"/>
                        </a:rPr>
                        <a:t>7</a:t>
                      </a:r>
                    </a:p>
                  </a:txBody>
                  <a:tcPr>
                    <a:solidFill>
                      <a:srgbClr val="A8C4C7"/>
                    </a:solidFill>
                  </a:tcPr>
                </a:tc>
                <a:tc>
                  <a:txBody>
                    <a:bodyPr/>
                    <a:lstStyle/>
                    <a:p>
                      <a:pPr algn="ctr"/>
                      <a:r>
                        <a:rPr sz="950" b="1">
                          <a:solidFill>
                            <a:srgbClr val="262626"/>
                          </a:solidFill>
                          <a:latin typeface="游ゴシック"/>
                        </a:rPr>
                        <a:t>2.4%</a:t>
                      </a:r>
                    </a:p>
                  </a:txBody>
                  <a:tcPr>
                    <a:solidFill>
                      <a:srgbClr val="A8C4C7"/>
                    </a:solidFill>
                  </a:tcPr>
                </a:tc>
              </a:tr>
              <a:tr h="319888">
                <a:tc>
                  <a:txBody>
                    <a:bodyPr/>
                    <a:lstStyle/>
                    <a:p>
                      <a:pPr algn="ctr"/>
                      <a:r>
                        <a:rPr sz="950" b="0">
                          <a:solidFill>
                            <a:srgbClr val="262626"/>
                          </a:solidFill>
                          <a:latin typeface="游ゴシック"/>
                        </a:rPr>
                        <a:t>SARC-F</a:t>
                      </a:r>
                    </a:p>
                  </a:txBody>
                  <a:tcPr/>
                </a:tc>
                <a:tc>
                  <a:txBody>
                    <a:bodyPr/>
                    <a:lstStyle/>
                    <a:p>
                      <a:pPr algn="ctr"/>
                      <a:r>
                        <a:rPr sz="950" b="1">
                          <a:solidFill>
                            <a:srgbClr val="262626"/>
                          </a:solidFill>
                          <a:latin typeface="游ゴシック"/>
                        </a:rPr>
                        <a:t>7</a:t>
                      </a:r>
                    </a:p>
                  </a:txBody>
                  <a:tcPr/>
                </a:tc>
                <a:tc>
                  <a:txBody>
                    <a:bodyPr/>
                    <a:lstStyle/>
                    <a:p>
                      <a:pPr algn="ctr"/>
                      <a:r>
                        <a:rPr sz="950" b="1">
                          <a:solidFill>
                            <a:srgbClr val="262626"/>
                          </a:solidFill>
                          <a:latin typeface="游ゴシック"/>
                        </a:rPr>
                        <a:t>2.4%</a:t>
                      </a:r>
                    </a:p>
                  </a:txBody>
                  <a:tcPr/>
                </a:tc>
              </a:tr>
              <a:tr h="319888">
                <a:tc>
                  <a:txBody>
                    <a:bodyPr/>
                    <a:lstStyle/>
                    <a:p>
                      <a:pPr algn="ctr"/>
                      <a:r>
                        <a:rPr sz="950" b="0">
                          <a:solidFill>
                            <a:srgbClr val="262626"/>
                          </a:solidFill>
                          <a:latin typeface="游ゴシック"/>
                        </a:rPr>
                        <a:t>四肢骨格筋量（ASM）</a:t>
                      </a:r>
                    </a:p>
                  </a:txBody>
                  <a:tcPr>
                    <a:solidFill>
                      <a:srgbClr val="A8C4C7"/>
                    </a:solidFill>
                  </a:tcPr>
                </a:tc>
                <a:tc>
                  <a:txBody>
                    <a:bodyPr/>
                    <a:lstStyle/>
                    <a:p>
                      <a:pPr algn="ctr"/>
                      <a:r>
                        <a:rPr sz="950" b="1">
                          <a:solidFill>
                            <a:srgbClr val="262626"/>
                          </a:solidFill>
                          <a:latin typeface="游ゴシック"/>
                        </a:rPr>
                        <a:t>5</a:t>
                      </a:r>
                    </a:p>
                  </a:txBody>
                  <a:tcPr>
                    <a:solidFill>
                      <a:srgbClr val="A8C4C7"/>
                    </a:solidFill>
                  </a:tcPr>
                </a:tc>
                <a:tc>
                  <a:txBody>
                    <a:bodyPr/>
                    <a:lstStyle/>
                    <a:p>
                      <a:pPr algn="ctr"/>
                      <a:r>
                        <a:rPr sz="950" b="1">
                          <a:solidFill>
                            <a:srgbClr val="262626"/>
                          </a:solidFill>
                          <a:latin typeface="游ゴシック"/>
                        </a:rPr>
                        <a:t>1.7%</a:t>
                      </a:r>
                    </a:p>
                  </a:txBody>
                  <a:tcPr>
                    <a:solidFill>
                      <a:srgbClr val="A8C4C7"/>
                    </a:solidFill>
                  </a:tcPr>
                </a:tc>
              </a:tr>
              <a:tr h="319888">
                <a:tc>
                  <a:txBody>
                    <a:bodyPr/>
                    <a:lstStyle/>
                    <a:p>
                      <a:pPr algn="ctr"/>
                      <a:r>
                        <a:rPr sz="950" b="0">
                          <a:solidFill>
                            <a:srgbClr val="262626"/>
                          </a:solidFill>
                          <a:latin typeface="游ゴシック"/>
                        </a:rPr>
                        <a:t>MNA-SF</a:t>
                      </a:r>
                    </a:p>
                  </a:txBody>
                  <a:tcPr/>
                </a:tc>
                <a:tc>
                  <a:txBody>
                    <a:bodyPr/>
                    <a:lstStyle/>
                    <a:p>
                      <a:pPr algn="ctr"/>
                      <a:r>
                        <a:rPr sz="950" b="1">
                          <a:solidFill>
                            <a:srgbClr val="262626"/>
                          </a:solidFill>
                          <a:latin typeface="游ゴシック"/>
                        </a:rPr>
                        <a:t>4</a:t>
                      </a:r>
                    </a:p>
                  </a:txBody>
                  <a:tcPr/>
                </a:tc>
                <a:tc>
                  <a:txBody>
                    <a:bodyPr/>
                    <a:lstStyle/>
                    <a:p>
                      <a:pPr algn="ctr"/>
                      <a:r>
                        <a:rPr sz="950" b="1">
                          <a:solidFill>
                            <a:srgbClr val="262626"/>
                          </a:solidFill>
                          <a:latin typeface="游ゴシック"/>
                        </a:rPr>
                        <a:t>1.4%</a:t>
                      </a:r>
                    </a:p>
                  </a:txBody>
                  <a:tcPr/>
                </a:tc>
              </a:tr>
              <a:tr h="319888">
                <a:tc>
                  <a:txBody>
                    <a:bodyPr/>
                    <a:lstStyle/>
                    <a:p>
                      <a:pPr algn="ctr"/>
                      <a:r>
                        <a:rPr sz="950" b="0">
                          <a:solidFill>
                            <a:srgbClr val="262626"/>
                          </a:solidFill>
                          <a:latin typeface="游ゴシック"/>
                        </a:rPr>
                        <a:t>SARC-CalF</a:t>
                      </a:r>
                    </a:p>
                  </a:txBody>
                  <a:tcPr>
                    <a:solidFill>
                      <a:srgbClr val="A8C4C7"/>
                    </a:solidFill>
                  </a:tcPr>
                </a:tc>
                <a:tc>
                  <a:txBody>
                    <a:bodyPr/>
                    <a:lstStyle/>
                    <a:p>
                      <a:pPr algn="ctr"/>
                      <a:r>
                        <a:rPr sz="950" b="1">
                          <a:solidFill>
                            <a:srgbClr val="262626"/>
                          </a:solidFill>
                          <a:latin typeface="游ゴシック"/>
                        </a:rPr>
                        <a:t>2</a:t>
                      </a:r>
                    </a:p>
                  </a:txBody>
                  <a:tcPr>
                    <a:solidFill>
                      <a:srgbClr val="A8C4C7"/>
                    </a:solidFill>
                  </a:tcPr>
                </a:tc>
                <a:tc>
                  <a:txBody>
                    <a:bodyPr/>
                    <a:lstStyle/>
                    <a:p>
                      <a:pPr algn="ctr"/>
                      <a:r>
                        <a:rPr sz="950" b="1">
                          <a:solidFill>
                            <a:srgbClr val="262626"/>
                          </a:solidFill>
                          <a:latin typeface="游ゴシック"/>
                        </a:rPr>
                        <a:t>0.7%</a:t>
                      </a:r>
                    </a:p>
                  </a:txBody>
                  <a:tcPr>
                    <a:solidFill>
                      <a:srgbClr val="A8C4C7"/>
                    </a:solidFill>
                  </a:tcPr>
                </a:tc>
              </a:tr>
              <a:tr h="319888">
                <a:tc>
                  <a:txBody>
                    <a:bodyPr/>
                    <a:lstStyle/>
                    <a:p>
                      <a:pPr algn="ctr"/>
                      <a:r>
                        <a:rPr sz="950" b="1">
                          <a:solidFill>
                            <a:srgbClr val="262626"/>
                          </a:solidFill>
                          <a:latin typeface="游ゴシック"/>
                        </a:rPr>
                        <a:t>※複数選択のため合計は
有効回答数を超える</a:t>
                      </a:r>
                    </a:p>
                  </a:txBody>
                  <a:tcPr/>
                </a:tc>
                <a:tc>
                  <a:txBody>
                    <a:bodyPr/>
                    <a:lstStyle/>
                    <a:p>
                      <a:pPr algn="ctr"/>
                      <a:r>
                        <a:rPr sz="950" b="1">
                          <a:solidFill>
                            <a:srgbClr val="262626"/>
                          </a:solidFill>
                          <a:latin typeface="游ゴシック"/>
                        </a:rPr>
                        <a:t/>
                      </a:r>
                    </a:p>
                  </a:txBody>
                  <a:tcPr/>
                </a:tc>
                <a:tc>
                  <a:txBody>
                    <a:bodyPr/>
                    <a:lstStyle/>
                    <a:p>
                      <a:pPr algn="ctr"/>
                      <a:r>
                        <a:rPr sz="950" b="1">
                          <a:solidFill>
                            <a:srgbClr val="262626"/>
                          </a:solidFill>
                          <a:latin typeface="游ゴシック"/>
                        </a:rPr>
                        <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有効回答数 n=289（複数選択可）</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Q10-1.  「実施していない」を選択した方の理由【自由記述】  (1/3)</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栄養面では栄養士がやっている</a:t>
                      </a:r>
                    </a:p>
                  </a:txBody>
                  <a:tcPr/>
                </a:tc>
              </a:tr>
              <a:tr h="303052">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人によります。高齢で明らかに弱々しい人は測定しますが元気な人は定型的に行わないこともあります。</a:t>
                      </a:r>
                    </a:p>
                  </a:txBody>
                  <a:tcPr>
                    <a:solidFill>
                      <a:srgbClr val="A8C4C7"/>
                    </a:solidFill>
                  </a:tcPr>
                </a:tc>
              </a:tr>
              <a:tr h="303052">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3次救急で大腿骨近位部骨折の患者にフレイルの評価としては時期的に取っていない。機能評価としてはやっています。</a:t>
                      </a:r>
                    </a:p>
                  </a:txBody>
                  <a:tcPr/>
                </a:tc>
              </a:tr>
              <a:tr h="303052">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術前はベッド上安静で評価実施困難。（座位・起立・歩行は困難）術後は機能回復のための介入が中心となります。</a:t>
                      </a:r>
                    </a:p>
                  </a:txBody>
                  <a:tcPr>
                    <a:solidFill>
                      <a:srgbClr val="A8C4C7"/>
                    </a:solidFill>
                  </a:tcPr>
                </a:tc>
              </a:tr>
              <a:tr h="303052">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その他評価で対応。</a:t>
                      </a:r>
                    </a:p>
                  </a:txBody>
                  <a:tcPr/>
                </a:tc>
              </a:tr>
              <a:tr h="303052">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サルコペニアに特化した評価は実施していない　各症例に必要な評価を実施している</a:t>
                      </a:r>
                    </a:p>
                  </a:txBody>
                  <a:tcPr>
                    <a:solidFill>
                      <a:srgbClr val="A8C4C7"/>
                    </a:solidFill>
                  </a:tcPr>
                </a:tc>
              </a:tr>
              <a:tr h="303052">
                <a:tc>
                  <a:txBody>
                    <a:bodyPr/>
                    <a:lstStyle/>
                    <a:p>
                      <a:pPr algn="ctr"/>
                      <a:r>
                        <a:rPr sz="1000" b="0">
                          <a:solidFill>
                            <a:srgbClr val="262626"/>
                          </a:solidFill>
                          <a:latin typeface="游ゴシック"/>
                        </a:rPr>
                        <a:t>7</a:t>
                      </a:r>
                    </a:p>
                  </a:txBody>
                  <a:tcPr/>
                </a:tc>
                <a:tc>
                  <a:txBody>
                    <a:bodyPr/>
                    <a:lstStyle/>
                    <a:p>
                      <a:pPr algn="ctr"/>
                      <a:r>
                        <a:rPr sz="1000" b="1">
                          <a:solidFill>
                            <a:srgbClr val="262626"/>
                          </a:solidFill>
                          <a:latin typeface="游ゴシック"/>
                        </a:rPr>
                        <a:t>通常の術後評価のみ行っている</a:t>
                      </a:r>
                    </a:p>
                  </a:txBody>
                  <a:tcPr/>
                </a:tc>
              </a:tr>
              <a:tr h="303052">
                <a:tc>
                  <a:txBody>
                    <a:bodyPr/>
                    <a:lstStyle/>
                    <a:p>
                      <a:pPr algn="ctr"/>
                      <a:r>
                        <a:rPr sz="1000" b="0">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評価を活用できる体制が整っておらず、仕組み作りが今後の課題</a:t>
                      </a:r>
                    </a:p>
                  </a:txBody>
                  <a:tcPr>
                    <a:solidFill>
                      <a:srgbClr val="A8C4C7"/>
                    </a:solidFill>
                  </a:tcPr>
                </a:tc>
              </a:tr>
              <a:tr h="303052">
                <a:tc>
                  <a:txBody>
                    <a:bodyPr/>
                    <a:lstStyle/>
                    <a:p>
                      <a:pPr algn="ctr"/>
                      <a:r>
                        <a:rPr sz="1000" b="0">
                          <a:solidFill>
                            <a:srgbClr val="262626"/>
                          </a:solidFill>
                          <a:latin typeface="游ゴシック"/>
                        </a:rPr>
                        <a:t>9</a:t>
                      </a:r>
                    </a:p>
                  </a:txBody>
                  <a:tcPr/>
                </a:tc>
                <a:tc>
                  <a:txBody>
                    <a:bodyPr/>
                    <a:lstStyle/>
                    <a:p>
                      <a:pPr algn="ctr"/>
                      <a:r>
                        <a:rPr sz="1000" b="1">
                          <a:solidFill>
                            <a:srgbClr val="262626"/>
                          </a:solidFill>
                          <a:latin typeface="游ゴシック"/>
                        </a:rPr>
                        <a:t>握力、膝伸展筋力など上記の上から8つ目までは歩ける患者の多くで体力構成要素の検査として実施していますが、「サルコペニア」の評価としては実施していません。</a:t>
                      </a:r>
                    </a:p>
                  </a:txBody>
                  <a:tcPr/>
                </a:tc>
              </a:tr>
              <a:tr h="303052">
                <a:tc>
                  <a:txBody>
                    <a:bodyPr/>
                    <a:lstStyle/>
                    <a:p>
                      <a:pPr algn="ctr"/>
                      <a:r>
                        <a:rPr sz="1000" b="0">
                          <a:solidFill>
                            <a:srgbClr val="262626"/>
                          </a:solidFill>
                          <a:latin typeface="游ゴシック"/>
                        </a:rPr>
                        <a:t>10</a:t>
                      </a:r>
                    </a:p>
                  </a:txBody>
                  <a:tcPr>
                    <a:solidFill>
                      <a:srgbClr val="A8C4C7"/>
                    </a:solidFill>
                  </a:tcPr>
                </a:tc>
                <a:tc>
                  <a:txBody>
                    <a:bodyPr/>
                    <a:lstStyle/>
                    <a:p>
                      <a:pPr algn="ctr"/>
                      <a:r>
                        <a:rPr sz="1000" b="1">
                          <a:solidFill>
                            <a:srgbClr val="262626"/>
                          </a:solidFill>
                          <a:latin typeface="游ゴシック"/>
                        </a:rPr>
                        <a:t>個人の評価法による</a:t>
                      </a:r>
                    </a:p>
                  </a:txBody>
                  <a:tcPr>
                    <a:solidFill>
                      <a:srgbClr val="A8C4C7"/>
                    </a:solidFill>
                  </a:tcPr>
                </a:tc>
              </a:tr>
              <a:tr h="303052">
                <a:tc>
                  <a:txBody>
                    <a:bodyPr/>
                    <a:lstStyle/>
                    <a:p>
                      <a:pPr algn="ctr"/>
                      <a:r>
                        <a:rPr sz="1000" b="0">
                          <a:solidFill>
                            <a:srgbClr val="262626"/>
                          </a:solidFill>
                          <a:latin typeface="游ゴシック"/>
                        </a:rPr>
                        <a:t>11</a:t>
                      </a:r>
                    </a:p>
                  </a:txBody>
                  <a:tcPr/>
                </a:tc>
                <a:tc>
                  <a:txBody>
                    <a:bodyPr/>
                    <a:lstStyle/>
                    <a:p>
                      <a:pPr algn="ctr"/>
                      <a:r>
                        <a:rPr sz="1000" b="1">
                          <a:solidFill>
                            <a:srgbClr val="262626"/>
                          </a:solidFill>
                          <a:latin typeface="游ゴシック"/>
                        </a:rPr>
                        <a:t>動作能力の改善度合いで評価しているため</a:t>
                      </a:r>
                    </a:p>
                  </a:txBody>
                  <a:tcPr/>
                </a:tc>
              </a:tr>
              <a:tr h="303052">
                <a:tc>
                  <a:txBody>
                    <a:bodyPr/>
                    <a:lstStyle/>
                    <a:p>
                      <a:pPr algn="ctr"/>
                      <a:r>
                        <a:rPr sz="1000" b="0">
                          <a:solidFill>
                            <a:srgbClr val="262626"/>
                          </a:solidFill>
                          <a:latin typeface="游ゴシック"/>
                        </a:rPr>
                        <a:t>12</a:t>
                      </a:r>
                    </a:p>
                  </a:txBody>
                  <a:tcPr>
                    <a:solidFill>
                      <a:srgbClr val="A8C4C7"/>
                    </a:solidFill>
                  </a:tcPr>
                </a:tc>
                <a:tc>
                  <a:txBody>
                    <a:bodyPr/>
                    <a:lstStyle/>
                    <a:p>
                      <a:pPr algn="ctr"/>
                      <a:r>
                        <a:rPr sz="1000" b="1">
                          <a:solidFill>
                            <a:srgbClr val="262626"/>
                          </a:solidFill>
                          <a:latin typeface="游ゴシック"/>
                        </a:rPr>
                        <a:t>マンパワー不足のため介入時間が取れていない。</a:t>
                      </a:r>
                    </a:p>
                  </a:txBody>
                  <a:tcPr>
                    <a:solidFill>
                      <a:srgbClr val="A8C4C7"/>
                    </a:solidFill>
                  </a:tcPr>
                </a:tc>
              </a:tr>
              <a:tr h="303052">
                <a:tc>
                  <a:txBody>
                    <a:bodyPr/>
                    <a:lstStyle/>
                    <a:p>
                      <a:pPr algn="ctr"/>
                      <a:r>
                        <a:rPr sz="1000" b="0">
                          <a:solidFill>
                            <a:srgbClr val="262626"/>
                          </a:solidFill>
                          <a:latin typeface="游ゴシック"/>
                        </a:rPr>
                        <a:t>13</a:t>
                      </a:r>
                    </a:p>
                  </a:txBody>
                  <a:tcPr/>
                </a:tc>
                <a:tc>
                  <a:txBody>
                    <a:bodyPr/>
                    <a:lstStyle/>
                    <a:p>
                      <a:pPr algn="ctr"/>
                      <a:r>
                        <a:rPr sz="1000" b="1">
                          <a:solidFill>
                            <a:srgbClr val="262626"/>
                          </a:solidFill>
                          <a:latin typeface="游ゴシック"/>
                        </a:rPr>
                        <a:t>急性期であり、疼痛や筋力低下等が強く評価実施が困難なため。</a:t>
                      </a:r>
                    </a:p>
                  </a:txBody>
                  <a:tcPr/>
                </a:tc>
              </a:tr>
              <a:tr h="303052">
                <a:tc>
                  <a:txBody>
                    <a:bodyPr/>
                    <a:lstStyle/>
                    <a:p>
                      <a:pPr algn="ctr"/>
                      <a:r>
                        <a:rPr sz="1000" b="0">
                          <a:solidFill>
                            <a:srgbClr val="262626"/>
                          </a:solidFill>
                          <a:latin typeface="游ゴシック"/>
                        </a:rPr>
                        <a:t>14</a:t>
                      </a:r>
                    </a:p>
                  </a:txBody>
                  <a:tcPr>
                    <a:solidFill>
                      <a:srgbClr val="A8C4C7"/>
                    </a:solidFill>
                  </a:tcPr>
                </a:tc>
                <a:tc>
                  <a:txBody>
                    <a:bodyPr/>
                    <a:lstStyle/>
                    <a:p>
                      <a:pPr algn="ctr"/>
                      <a:r>
                        <a:rPr sz="1000" b="1">
                          <a:solidFill>
                            <a:srgbClr val="262626"/>
                          </a:solidFill>
                          <a:latin typeface="游ゴシック"/>
                        </a:rPr>
                        <a:t>評価する時間が取れない</a:t>
                      </a:r>
                    </a:p>
                  </a:txBody>
                  <a:tcPr>
                    <a:solidFill>
                      <a:srgbClr val="A8C4C7"/>
                    </a:solidFill>
                  </a:tcPr>
                </a:tc>
              </a:tr>
              <a:tr h="303052">
                <a:tc>
                  <a:txBody>
                    <a:bodyPr/>
                    <a:lstStyle/>
                    <a:p>
                      <a:pPr algn="ctr"/>
                      <a:r>
                        <a:rPr sz="1000" b="0">
                          <a:solidFill>
                            <a:srgbClr val="262626"/>
                          </a:solidFill>
                          <a:latin typeface="游ゴシック"/>
                        </a:rPr>
                        <a:t>15</a:t>
                      </a:r>
                    </a:p>
                  </a:txBody>
                  <a:tcPr/>
                </a:tc>
                <a:tc>
                  <a:txBody>
                    <a:bodyPr/>
                    <a:lstStyle/>
                    <a:p>
                      <a:pPr algn="ctr"/>
                      <a:r>
                        <a:rPr sz="1000" b="1">
                          <a:solidFill>
                            <a:srgbClr val="262626"/>
                          </a:solidFill>
                          <a:latin typeface="游ゴシック"/>
                        </a:rPr>
                        <a:t>実施いている項目はあるが、サルコペ二アの評価を目的としては行っていない。何故していないか、理由としては無いです。見直し予定ではあります。</a:t>
                      </a:r>
                    </a:p>
                  </a:txBody>
                  <a:tcPr/>
                </a:tc>
              </a:tr>
              <a:tr h="303052">
                <a:tc>
                  <a:txBody>
                    <a:bodyPr/>
                    <a:lstStyle/>
                    <a:p>
                      <a:pPr algn="ctr"/>
                      <a:r>
                        <a:rPr sz="1000" b="0">
                          <a:solidFill>
                            <a:srgbClr val="262626"/>
                          </a:solidFill>
                          <a:latin typeface="游ゴシック"/>
                        </a:rPr>
                        <a:t>16</a:t>
                      </a:r>
                    </a:p>
                  </a:txBody>
                  <a:tcPr>
                    <a:solidFill>
                      <a:srgbClr val="A8C4C7"/>
                    </a:solidFill>
                  </a:tcPr>
                </a:tc>
                <a:tc>
                  <a:txBody>
                    <a:bodyPr/>
                    <a:lstStyle/>
                    <a:p>
                      <a:pPr algn="ctr"/>
                      <a:r>
                        <a:rPr sz="1000" b="1">
                          <a:solidFill>
                            <a:srgbClr val="262626"/>
                          </a:solidFill>
                          <a:latin typeface="游ゴシック"/>
                        </a:rPr>
                        <a:t>理学療法士または作業療法士がサルコペニアの評価を目的に評価は実施していない</a:t>
                      </a:r>
                    </a:p>
                  </a:txBody>
                  <a:tcPr>
                    <a:solidFill>
                      <a:srgbClr val="A8C4C7"/>
                    </a:solidFill>
                  </a:tcPr>
                </a:tc>
              </a:tr>
              <a:tr h="303052">
                <a:tc>
                  <a:txBody>
                    <a:bodyPr/>
                    <a:lstStyle/>
                    <a:p>
                      <a:pPr algn="ctr"/>
                      <a:r>
                        <a:rPr sz="1000" b="0">
                          <a:solidFill>
                            <a:srgbClr val="262626"/>
                          </a:solidFill>
                          <a:latin typeface="游ゴシック"/>
                        </a:rPr>
                        <a:t>17</a:t>
                      </a:r>
                    </a:p>
                  </a:txBody>
                  <a:tcPr/>
                </a:tc>
                <a:tc>
                  <a:txBody>
                    <a:bodyPr/>
                    <a:lstStyle/>
                    <a:p>
                      <a:pPr algn="ctr"/>
                      <a:r>
                        <a:rPr sz="1000" b="1">
                          <a:solidFill>
                            <a:srgbClr val="262626"/>
                          </a:solidFill>
                          <a:latin typeface="游ゴシック"/>
                        </a:rPr>
                        <a:t>急性期で痛みあり検査に至らない</a:t>
                      </a:r>
                    </a:p>
                  </a:txBody>
                  <a:tcPr/>
                </a:tc>
              </a:tr>
              <a:tr h="303052">
                <a:tc>
                  <a:txBody>
                    <a:bodyPr/>
                    <a:lstStyle/>
                    <a:p>
                      <a:pPr algn="ctr"/>
                      <a:r>
                        <a:rPr sz="1000" b="0">
                          <a:solidFill>
                            <a:srgbClr val="262626"/>
                          </a:solidFill>
                          <a:latin typeface="游ゴシック"/>
                        </a:rPr>
                        <a:t>18</a:t>
                      </a:r>
                    </a:p>
                  </a:txBody>
                  <a:tcPr>
                    <a:solidFill>
                      <a:srgbClr val="A8C4C7"/>
                    </a:solidFill>
                  </a:tcPr>
                </a:tc>
                <a:tc>
                  <a:txBody>
                    <a:bodyPr/>
                    <a:lstStyle/>
                    <a:p>
                      <a:pPr algn="ctr"/>
                      <a:r>
                        <a:rPr sz="1000" b="1">
                          <a:solidFill>
                            <a:srgbClr val="262626"/>
                          </a:solidFill>
                          <a:latin typeface="游ゴシック"/>
                        </a:rPr>
                        <a:t>サルコペニアの評価としては行っていない</a:t>
                      </a:r>
                    </a:p>
                  </a:txBody>
                  <a:tcPr>
                    <a:solidFill>
                      <a:srgbClr val="A8C4C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Q10-1.  「実施していない」を選択した方の理由【自由記述】  (2/3)</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19</a:t>
                      </a:r>
                    </a:p>
                  </a:txBody>
                  <a:tcPr/>
                </a:tc>
                <a:tc>
                  <a:txBody>
                    <a:bodyPr/>
                    <a:lstStyle/>
                    <a:p>
                      <a:pPr algn="ctr"/>
                      <a:r>
                        <a:rPr sz="1000" b="1">
                          <a:solidFill>
                            <a:srgbClr val="262626"/>
                          </a:solidFill>
                          <a:latin typeface="游ゴシック"/>
                        </a:rPr>
                        <a:t>サルコペニアに対する治療・評価の体制が整っていない。</a:t>
                      </a:r>
                    </a:p>
                  </a:txBody>
                  <a:tcPr/>
                </a:tc>
              </a:tr>
              <a:tr h="303052">
                <a:tc>
                  <a:txBody>
                    <a:bodyPr/>
                    <a:lstStyle/>
                    <a:p>
                      <a:pPr algn="ctr"/>
                      <a:r>
                        <a:rPr sz="1000" b="0">
                          <a:solidFill>
                            <a:srgbClr val="262626"/>
                          </a:solidFill>
                          <a:latin typeface="游ゴシック"/>
                        </a:rPr>
                        <a:t>20</a:t>
                      </a:r>
                    </a:p>
                  </a:txBody>
                  <a:tcPr>
                    <a:solidFill>
                      <a:srgbClr val="A8C4C7"/>
                    </a:solidFill>
                  </a:tcPr>
                </a:tc>
                <a:tc>
                  <a:txBody>
                    <a:bodyPr/>
                    <a:lstStyle/>
                    <a:p>
                      <a:pPr algn="ctr"/>
                      <a:r>
                        <a:rPr sz="1000" b="1">
                          <a:solidFill>
                            <a:srgbClr val="262626"/>
                          </a:solidFill>
                          <a:latin typeface="游ゴシック"/>
                        </a:rPr>
                        <a:t>サルコペニアの診断でリハビリが関わることが少ないため</a:t>
                      </a:r>
                    </a:p>
                  </a:txBody>
                  <a:tcPr>
                    <a:solidFill>
                      <a:srgbClr val="A8C4C7"/>
                    </a:solidFill>
                  </a:tcPr>
                </a:tc>
              </a:tr>
              <a:tr h="303052">
                <a:tc>
                  <a:txBody>
                    <a:bodyPr/>
                    <a:lstStyle/>
                    <a:p>
                      <a:pPr algn="ctr"/>
                      <a:r>
                        <a:rPr sz="1000" b="0">
                          <a:solidFill>
                            <a:srgbClr val="262626"/>
                          </a:solidFill>
                          <a:latin typeface="游ゴシック"/>
                        </a:rPr>
                        <a:t>21</a:t>
                      </a:r>
                    </a:p>
                  </a:txBody>
                  <a:tcPr/>
                </a:tc>
                <a:tc>
                  <a:txBody>
                    <a:bodyPr/>
                    <a:lstStyle/>
                    <a:p>
                      <a:pPr algn="ctr"/>
                      <a:r>
                        <a:rPr sz="1000" b="1">
                          <a:solidFill>
                            <a:srgbClr val="262626"/>
                          </a:solidFill>
                          <a:latin typeface="游ゴシック"/>
                        </a:rPr>
                        <a:t>入院前からサルコペニアの状態の方が多いため。</a:t>
                      </a:r>
                    </a:p>
                  </a:txBody>
                  <a:tcPr/>
                </a:tc>
              </a:tr>
              <a:tr h="303052">
                <a:tc>
                  <a:txBody>
                    <a:bodyPr/>
                    <a:lstStyle/>
                    <a:p>
                      <a:pPr algn="ctr"/>
                      <a:r>
                        <a:rPr sz="1000" b="0">
                          <a:solidFill>
                            <a:srgbClr val="262626"/>
                          </a:solidFill>
                          <a:latin typeface="游ゴシック"/>
                        </a:rPr>
                        <a:t>22</a:t>
                      </a:r>
                    </a:p>
                  </a:txBody>
                  <a:tcPr>
                    <a:solidFill>
                      <a:srgbClr val="A8C4C7"/>
                    </a:solidFill>
                  </a:tcPr>
                </a:tc>
                <a:tc>
                  <a:txBody>
                    <a:bodyPr/>
                    <a:lstStyle/>
                    <a:p>
                      <a:pPr algn="ctr"/>
                      <a:r>
                        <a:rPr sz="1000" b="1">
                          <a:solidFill>
                            <a:srgbClr val="262626"/>
                          </a:solidFill>
                          <a:latin typeface="游ゴシック"/>
                        </a:rPr>
                        <a:t>サルコペニア評価として必須としていないことやマンパワー不足のため未実施</a:t>
                      </a:r>
                    </a:p>
                  </a:txBody>
                  <a:tcPr>
                    <a:solidFill>
                      <a:srgbClr val="A8C4C7"/>
                    </a:solidFill>
                  </a:tcPr>
                </a:tc>
              </a:tr>
              <a:tr h="303052">
                <a:tc>
                  <a:txBody>
                    <a:bodyPr/>
                    <a:lstStyle/>
                    <a:p>
                      <a:pPr algn="ctr"/>
                      <a:r>
                        <a:rPr sz="1000" b="0">
                          <a:solidFill>
                            <a:srgbClr val="262626"/>
                          </a:solidFill>
                          <a:latin typeface="游ゴシック"/>
                        </a:rPr>
                        <a:t>23</a:t>
                      </a:r>
                    </a:p>
                  </a:txBody>
                  <a:tcPr/>
                </a:tc>
                <a:tc>
                  <a:txBody>
                    <a:bodyPr/>
                    <a:lstStyle/>
                    <a:p>
                      <a:pPr algn="ctr"/>
                      <a:r>
                        <a:rPr sz="1000" b="1">
                          <a:solidFill>
                            <a:srgbClr val="262626"/>
                          </a:solidFill>
                          <a:latin typeface="游ゴシック"/>
                        </a:rPr>
                        <a:t>術後2週で回復期病院へ転院するため</a:t>
                      </a:r>
                    </a:p>
                  </a:txBody>
                  <a:tcPr/>
                </a:tc>
              </a:tr>
              <a:tr h="303052">
                <a:tc>
                  <a:txBody>
                    <a:bodyPr/>
                    <a:lstStyle/>
                    <a:p>
                      <a:pPr algn="ctr"/>
                      <a:r>
                        <a:rPr sz="1000" b="0">
                          <a:solidFill>
                            <a:srgbClr val="262626"/>
                          </a:solidFill>
                          <a:latin typeface="游ゴシック"/>
                        </a:rPr>
                        <a:t>24</a:t>
                      </a:r>
                    </a:p>
                  </a:txBody>
                  <a:tcPr>
                    <a:solidFill>
                      <a:srgbClr val="A8C4C7"/>
                    </a:solidFill>
                  </a:tcPr>
                </a:tc>
                <a:tc>
                  <a:txBody>
                    <a:bodyPr/>
                    <a:lstStyle/>
                    <a:p>
                      <a:pPr algn="ctr"/>
                      <a:r>
                        <a:rPr sz="1000" b="1">
                          <a:solidFill>
                            <a:srgbClr val="262626"/>
                          </a:solidFill>
                          <a:latin typeface="游ゴシック"/>
                        </a:rPr>
                        <a:t>急性期から回復期への転院が多く離床が主目的となるため</a:t>
                      </a:r>
                    </a:p>
                  </a:txBody>
                  <a:tcPr>
                    <a:solidFill>
                      <a:srgbClr val="A8C4C7"/>
                    </a:solidFill>
                  </a:tcPr>
                </a:tc>
              </a:tr>
              <a:tr h="303052">
                <a:tc>
                  <a:txBody>
                    <a:bodyPr/>
                    <a:lstStyle/>
                    <a:p>
                      <a:pPr algn="ctr"/>
                      <a:r>
                        <a:rPr sz="1000" b="0">
                          <a:solidFill>
                            <a:srgbClr val="262626"/>
                          </a:solidFill>
                          <a:latin typeface="游ゴシック"/>
                        </a:rPr>
                        <a:t>25</a:t>
                      </a:r>
                    </a:p>
                  </a:txBody>
                  <a:tcPr/>
                </a:tc>
                <a:tc>
                  <a:txBody>
                    <a:bodyPr/>
                    <a:lstStyle/>
                    <a:p>
                      <a:pPr algn="ctr"/>
                      <a:r>
                        <a:rPr sz="1000" b="1">
                          <a:solidFill>
                            <a:srgbClr val="262626"/>
                          </a:solidFill>
                          <a:latin typeface="游ゴシック"/>
                        </a:rPr>
                        <a:t>評価する体制が確立していない。</a:t>
                      </a:r>
                    </a:p>
                  </a:txBody>
                  <a:tcPr/>
                </a:tc>
              </a:tr>
              <a:tr h="303052">
                <a:tc>
                  <a:txBody>
                    <a:bodyPr/>
                    <a:lstStyle/>
                    <a:p>
                      <a:pPr algn="ctr"/>
                      <a:r>
                        <a:rPr sz="1000" b="0">
                          <a:solidFill>
                            <a:srgbClr val="262626"/>
                          </a:solidFill>
                          <a:latin typeface="游ゴシック"/>
                        </a:rPr>
                        <a:t>26</a:t>
                      </a:r>
                    </a:p>
                  </a:txBody>
                  <a:tcPr>
                    <a:solidFill>
                      <a:srgbClr val="A8C4C7"/>
                    </a:solidFill>
                  </a:tcPr>
                </a:tc>
                <a:tc>
                  <a:txBody>
                    <a:bodyPr/>
                    <a:lstStyle/>
                    <a:p>
                      <a:pPr algn="ctr"/>
                      <a:r>
                        <a:rPr sz="1000" b="1">
                          <a:solidFill>
                            <a:srgbClr val="262626"/>
                          </a:solidFill>
                          <a:latin typeface="游ゴシック"/>
                        </a:rPr>
                        <a:t>ルーティン化した評価はなし。個人によってばらつきあり。</a:t>
                      </a:r>
                    </a:p>
                  </a:txBody>
                  <a:tcPr>
                    <a:solidFill>
                      <a:srgbClr val="A8C4C7"/>
                    </a:solidFill>
                  </a:tcPr>
                </a:tc>
              </a:tr>
              <a:tr h="303052">
                <a:tc>
                  <a:txBody>
                    <a:bodyPr/>
                    <a:lstStyle/>
                    <a:p>
                      <a:pPr algn="ctr"/>
                      <a:r>
                        <a:rPr sz="1000" b="0">
                          <a:solidFill>
                            <a:srgbClr val="262626"/>
                          </a:solidFill>
                          <a:latin typeface="游ゴシック"/>
                        </a:rPr>
                        <a:t>27</a:t>
                      </a:r>
                    </a:p>
                  </a:txBody>
                  <a:tcPr/>
                </a:tc>
                <a:tc>
                  <a:txBody>
                    <a:bodyPr/>
                    <a:lstStyle/>
                    <a:p>
                      <a:pPr algn="ctr"/>
                      <a:r>
                        <a:rPr sz="1000" b="1">
                          <a:solidFill>
                            <a:srgbClr val="262626"/>
                          </a:solidFill>
                          <a:latin typeface="游ゴシック"/>
                        </a:rPr>
                        <a:t>術後評価としていくつかの項目の評価はするも、サルコペニアの評価としては実施していない</a:t>
                      </a:r>
                    </a:p>
                  </a:txBody>
                  <a:tcPr/>
                </a:tc>
              </a:tr>
              <a:tr h="303052">
                <a:tc>
                  <a:txBody>
                    <a:bodyPr/>
                    <a:lstStyle/>
                    <a:p>
                      <a:pPr algn="ctr"/>
                      <a:r>
                        <a:rPr sz="1000" b="0">
                          <a:solidFill>
                            <a:srgbClr val="262626"/>
                          </a:solidFill>
                          <a:latin typeface="游ゴシック"/>
                        </a:rPr>
                        <a:t>28</a:t>
                      </a:r>
                    </a:p>
                  </a:txBody>
                  <a:tcPr>
                    <a:solidFill>
                      <a:srgbClr val="A8C4C7"/>
                    </a:solidFill>
                  </a:tcPr>
                </a:tc>
                <a:tc>
                  <a:txBody>
                    <a:bodyPr/>
                    <a:lstStyle/>
                    <a:p>
                      <a:pPr algn="ctr"/>
                      <a:r>
                        <a:rPr sz="1000" b="1">
                          <a:solidFill>
                            <a:srgbClr val="262626"/>
                          </a:solidFill>
                          <a:latin typeface="游ゴシック"/>
                        </a:rPr>
                        <a:t>サルコペニアの評価をしていない</a:t>
                      </a:r>
                    </a:p>
                  </a:txBody>
                  <a:tcPr>
                    <a:solidFill>
                      <a:srgbClr val="A8C4C7"/>
                    </a:solidFill>
                  </a:tcPr>
                </a:tc>
              </a:tr>
              <a:tr h="303052">
                <a:tc>
                  <a:txBody>
                    <a:bodyPr/>
                    <a:lstStyle/>
                    <a:p>
                      <a:pPr algn="ctr"/>
                      <a:r>
                        <a:rPr sz="1000" b="0">
                          <a:solidFill>
                            <a:srgbClr val="262626"/>
                          </a:solidFill>
                          <a:latin typeface="游ゴシック"/>
                        </a:rPr>
                        <a:t>29</a:t>
                      </a:r>
                    </a:p>
                  </a:txBody>
                  <a:tcPr/>
                </a:tc>
                <a:tc>
                  <a:txBody>
                    <a:bodyPr/>
                    <a:lstStyle/>
                    <a:p>
                      <a:pPr algn="ctr"/>
                      <a:r>
                        <a:rPr sz="1000" b="1">
                          <a:solidFill>
                            <a:srgbClr val="262626"/>
                          </a:solidFill>
                          <a:latin typeface="游ゴシック"/>
                        </a:rPr>
                        <a:t>NSTとの関りがあまりなく統一した基準を設けていない</a:t>
                      </a:r>
                    </a:p>
                  </a:txBody>
                  <a:tcPr/>
                </a:tc>
              </a:tr>
              <a:tr h="303052">
                <a:tc>
                  <a:txBody>
                    <a:bodyPr/>
                    <a:lstStyle/>
                    <a:p>
                      <a:pPr algn="ctr"/>
                      <a:r>
                        <a:rPr sz="1000" b="0">
                          <a:solidFill>
                            <a:srgbClr val="262626"/>
                          </a:solidFill>
                          <a:latin typeface="游ゴシック"/>
                        </a:rPr>
                        <a:t>30</a:t>
                      </a:r>
                    </a:p>
                  </a:txBody>
                  <a:tcPr>
                    <a:solidFill>
                      <a:srgbClr val="A8C4C7"/>
                    </a:solidFill>
                  </a:tcPr>
                </a:tc>
                <a:tc>
                  <a:txBody>
                    <a:bodyPr/>
                    <a:lstStyle/>
                    <a:p>
                      <a:pPr algn="ctr"/>
                      <a:r>
                        <a:rPr sz="1000" b="1">
                          <a:solidFill>
                            <a:srgbClr val="262626"/>
                          </a:solidFill>
                          <a:latin typeface="游ゴシック"/>
                        </a:rPr>
                        <a:t>時間的余裕がないため。</a:t>
                      </a:r>
                    </a:p>
                  </a:txBody>
                  <a:tcPr>
                    <a:solidFill>
                      <a:srgbClr val="A8C4C7"/>
                    </a:solidFill>
                  </a:tcPr>
                </a:tc>
              </a:tr>
              <a:tr h="303052">
                <a:tc>
                  <a:txBody>
                    <a:bodyPr/>
                    <a:lstStyle/>
                    <a:p>
                      <a:pPr algn="ctr"/>
                      <a:r>
                        <a:rPr sz="1000" b="0">
                          <a:solidFill>
                            <a:srgbClr val="262626"/>
                          </a:solidFill>
                          <a:latin typeface="游ゴシック"/>
                        </a:rPr>
                        <a:t>31</a:t>
                      </a:r>
                    </a:p>
                  </a:txBody>
                  <a:tcPr/>
                </a:tc>
                <a:tc>
                  <a:txBody>
                    <a:bodyPr/>
                    <a:lstStyle/>
                    <a:p>
                      <a:pPr algn="ctr"/>
                      <a:r>
                        <a:rPr sz="1000" b="1">
                          <a:solidFill>
                            <a:srgbClr val="262626"/>
                          </a:solidFill>
                          <a:latin typeface="游ゴシック"/>
                        </a:rPr>
                        <a:t>「サルコペニアの評価」として行なっているわけではないため</a:t>
                      </a:r>
                    </a:p>
                  </a:txBody>
                  <a:tcPr/>
                </a:tc>
              </a:tr>
              <a:tr h="303052">
                <a:tc>
                  <a:txBody>
                    <a:bodyPr/>
                    <a:lstStyle/>
                    <a:p>
                      <a:pPr algn="ctr"/>
                      <a:r>
                        <a:rPr sz="1000" b="0">
                          <a:solidFill>
                            <a:srgbClr val="262626"/>
                          </a:solidFill>
                          <a:latin typeface="游ゴシック"/>
                        </a:rPr>
                        <a:t>32</a:t>
                      </a:r>
                    </a:p>
                  </a:txBody>
                  <a:tcPr>
                    <a:solidFill>
                      <a:srgbClr val="A8C4C7"/>
                    </a:solidFill>
                  </a:tcPr>
                </a:tc>
                <a:tc>
                  <a:txBody>
                    <a:bodyPr/>
                    <a:lstStyle/>
                    <a:p>
                      <a:pPr algn="ctr"/>
                      <a:r>
                        <a:rPr sz="1000" b="1">
                          <a:solidFill>
                            <a:srgbClr val="262626"/>
                          </a:solidFill>
                          <a:latin typeface="游ゴシック"/>
                        </a:rPr>
                        <a:t>看護師が実施しているため</a:t>
                      </a:r>
                    </a:p>
                  </a:txBody>
                  <a:tcPr>
                    <a:solidFill>
                      <a:srgbClr val="A8C4C7"/>
                    </a:solidFill>
                  </a:tcPr>
                </a:tc>
              </a:tr>
              <a:tr h="303052">
                <a:tc>
                  <a:txBody>
                    <a:bodyPr/>
                    <a:lstStyle/>
                    <a:p>
                      <a:pPr algn="ctr"/>
                      <a:r>
                        <a:rPr sz="1000" b="0">
                          <a:solidFill>
                            <a:srgbClr val="262626"/>
                          </a:solidFill>
                          <a:latin typeface="游ゴシック"/>
                        </a:rPr>
                        <a:t>33</a:t>
                      </a:r>
                    </a:p>
                  </a:txBody>
                  <a:tcPr/>
                </a:tc>
                <a:tc>
                  <a:txBody>
                    <a:bodyPr/>
                    <a:lstStyle/>
                    <a:p>
                      <a:pPr algn="ctr"/>
                      <a:r>
                        <a:rPr sz="1000" b="1">
                          <a:solidFill>
                            <a:srgbClr val="262626"/>
                          </a:solidFill>
                          <a:latin typeface="游ゴシック"/>
                        </a:rPr>
                        <a:t>後述の転倒リスク評価を実施しているため、サルコペニアという観点では評価していない。</a:t>
                      </a:r>
                    </a:p>
                  </a:txBody>
                  <a:tcPr/>
                </a:tc>
              </a:tr>
              <a:tr h="303052">
                <a:tc>
                  <a:txBody>
                    <a:bodyPr/>
                    <a:lstStyle/>
                    <a:p>
                      <a:pPr algn="ctr"/>
                      <a:r>
                        <a:rPr sz="1000" b="0">
                          <a:solidFill>
                            <a:srgbClr val="262626"/>
                          </a:solidFill>
                          <a:latin typeface="游ゴシック"/>
                        </a:rPr>
                        <a:t>34</a:t>
                      </a:r>
                    </a:p>
                  </a:txBody>
                  <a:tcPr>
                    <a:solidFill>
                      <a:srgbClr val="A8C4C7"/>
                    </a:solidFill>
                  </a:tcPr>
                </a:tc>
                <a:tc>
                  <a:txBody>
                    <a:bodyPr/>
                    <a:lstStyle/>
                    <a:p>
                      <a:pPr algn="ctr"/>
                      <a:r>
                        <a:rPr sz="1000" b="1">
                          <a:solidFill>
                            <a:srgbClr val="262626"/>
                          </a:solidFill>
                          <a:latin typeface="游ゴシック"/>
                        </a:rPr>
                        <a:t>業務として標準化されておらず、個人の判断で握力や膝伸展筋力、TUGを計測している。</a:t>
                      </a:r>
                    </a:p>
                  </a:txBody>
                  <a:tcPr>
                    <a:solidFill>
                      <a:srgbClr val="A8C4C7"/>
                    </a:solidFill>
                  </a:tcPr>
                </a:tc>
              </a:tr>
              <a:tr h="303052">
                <a:tc>
                  <a:txBody>
                    <a:bodyPr/>
                    <a:lstStyle/>
                    <a:p>
                      <a:pPr algn="ctr"/>
                      <a:r>
                        <a:rPr sz="1000" b="0">
                          <a:solidFill>
                            <a:srgbClr val="262626"/>
                          </a:solidFill>
                          <a:latin typeface="游ゴシック"/>
                        </a:rPr>
                        <a:t>35</a:t>
                      </a:r>
                    </a:p>
                  </a:txBody>
                  <a:tcPr/>
                </a:tc>
                <a:tc>
                  <a:txBody>
                    <a:bodyPr/>
                    <a:lstStyle/>
                    <a:p>
                      <a:pPr algn="ctr"/>
                      <a:r>
                        <a:rPr sz="1000" b="1">
                          <a:solidFill>
                            <a:srgbClr val="262626"/>
                          </a:solidFill>
                          <a:latin typeface="游ゴシック"/>
                        </a:rPr>
                        <a:t>回答なし</a:t>
                      </a:r>
                    </a:p>
                  </a:txBody>
                  <a:tcPr/>
                </a:tc>
              </a:tr>
              <a:tr h="303052">
                <a:tc>
                  <a:txBody>
                    <a:bodyPr/>
                    <a:lstStyle/>
                    <a:p>
                      <a:pPr algn="ctr"/>
                      <a:r>
                        <a:rPr sz="1000" b="0">
                          <a:solidFill>
                            <a:srgbClr val="262626"/>
                          </a:solidFill>
                          <a:latin typeface="游ゴシック"/>
                        </a:rPr>
                        <a:t>36</a:t>
                      </a:r>
                    </a:p>
                  </a:txBody>
                  <a:tcPr>
                    <a:solidFill>
                      <a:srgbClr val="A8C4C7"/>
                    </a:solidFill>
                  </a:tcPr>
                </a:tc>
                <a:tc>
                  <a:txBody>
                    <a:bodyPr/>
                    <a:lstStyle/>
                    <a:p>
                      <a:pPr algn="ctr"/>
                      <a:r>
                        <a:rPr sz="1000" b="1">
                          <a:solidFill>
                            <a:srgbClr val="262626"/>
                          </a:solidFill>
                          <a:latin typeface="游ゴシック"/>
                        </a:rPr>
                        <a:t>個人で実施しているスタッフはいるが、病院としてはリハ算定できる項目ではない為取り組んでいない</a:t>
                      </a:r>
                    </a:p>
                  </a:txBody>
                  <a:tcPr>
                    <a:solidFill>
                      <a:srgbClr val="A8C4C7"/>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Q10-1.  「実施していない」を選択した方の理由【自由記述】  (3/3)</a:t>
            </a:r>
          </a:p>
        </p:txBody>
      </p:sp>
      <p:graphicFrame>
        <p:nvGraphicFramePr>
          <p:cNvPr id="3" name="Table 2"/>
          <p:cNvGraphicFramePr>
            <a:graphicFrameLocks noGrp="1"/>
          </p:cNvGraphicFramePr>
          <p:nvPr/>
        </p:nvGraphicFramePr>
        <p:xfrm>
          <a:off x="200000" y="950000"/>
          <a:ext cx="11377800" cy="5616000"/>
        </p:xfrm>
        <a:graphic>
          <a:graphicData uri="http://schemas.openxmlformats.org/drawingml/2006/table">
            <a:tbl>
              <a:tblPr firstRow="1" bandRow="1">
                <a:tableStyleId>{5C22544A-7EE6-4342-B048-85BDC9FD1C3A}</a:tableStyleId>
              </a:tblPr>
              <a:tblGrid>
                <a:gridCol w="685800"/>
                <a:gridCol w="10692000"/>
              </a:tblGrid>
              <a:tr h="432000">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432000">
                <a:tc>
                  <a:txBody>
                    <a:bodyPr/>
                    <a:lstStyle/>
                    <a:p>
                      <a:pPr algn="ctr"/>
                      <a:r>
                        <a:rPr sz="1000" b="0">
                          <a:solidFill>
                            <a:srgbClr val="262626"/>
                          </a:solidFill>
                          <a:latin typeface="游ゴシック"/>
                        </a:rPr>
                        <a:t>37</a:t>
                      </a:r>
                    </a:p>
                  </a:txBody>
                  <a:tcPr/>
                </a:tc>
                <a:tc>
                  <a:txBody>
                    <a:bodyPr/>
                    <a:lstStyle/>
                    <a:p>
                      <a:pPr algn="ctr"/>
                      <a:r>
                        <a:rPr sz="1000" b="1">
                          <a:solidFill>
                            <a:srgbClr val="262626"/>
                          </a:solidFill>
                          <a:latin typeface="游ゴシック"/>
                        </a:rPr>
                        <a:t>受傷前との比較が行えないため</a:t>
                      </a:r>
                    </a:p>
                  </a:txBody>
                  <a:tcPr/>
                </a:tc>
              </a:tr>
              <a:tr h="432000">
                <a:tc>
                  <a:txBody>
                    <a:bodyPr/>
                    <a:lstStyle/>
                    <a:p>
                      <a:pPr algn="ctr"/>
                      <a:r>
                        <a:rPr sz="1000" b="0">
                          <a:solidFill>
                            <a:srgbClr val="262626"/>
                          </a:solidFill>
                          <a:latin typeface="游ゴシック"/>
                        </a:rPr>
                        <a:t>38</a:t>
                      </a:r>
                    </a:p>
                  </a:txBody>
                  <a:tcPr>
                    <a:solidFill>
                      <a:srgbClr val="A8C4C7"/>
                    </a:solidFill>
                  </a:tcPr>
                </a:tc>
                <a:tc>
                  <a:txBody>
                    <a:bodyPr/>
                    <a:lstStyle/>
                    <a:p>
                      <a:pPr algn="ctr"/>
                      <a:r>
                        <a:rPr sz="1000" b="1">
                          <a:solidFill>
                            <a:srgbClr val="262626"/>
                          </a:solidFill>
                          <a:latin typeface="游ゴシック"/>
                        </a:rPr>
                        <a:t>急性期評価主体のため</a:t>
                      </a:r>
                    </a:p>
                  </a:txBody>
                  <a:tcPr>
                    <a:solidFill>
                      <a:srgbClr val="A8C4C7"/>
                    </a:solidFill>
                  </a:tcPr>
                </a:tc>
              </a:tr>
              <a:tr h="432000">
                <a:tc>
                  <a:txBody>
                    <a:bodyPr/>
                    <a:lstStyle/>
                    <a:p>
                      <a:pPr algn="ctr"/>
                      <a:r>
                        <a:rPr sz="1000" b="0">
                          <a:solidFill>
                            <a:srgbClr val="262626"/>
                          </a:solidFill>
                          <a:latin typeface="游ゴシック"/>
                        </a:rPr>
                        <a:t>39</a:t>
                      </a:r>
                    </a:p>
                  </a:txBody>
                  <a:tcPr/>
                </a:tc>
                <a:tc>
                  <a:txBody>
                    <a:bodyPr/>
                    <a:lstStyle/>
                    <a:p>
                      <a:pPr algn="ctr"/>
                      <a:r>
                        <a:rPr sz="1000" b="1">
                          <a:solidFill>
                            <a:srgbClr val="262626"/>
                          </a:solidFill>
                          <a:latin typeface="游ゴシック"/>
                        </a:rPr>
                        <a:t>時間的余裕がない</a:t>
                      </a:r>
                    </a:p>
                  </a:txBody>
                  <a:tcPr/>
                </a:tc>
              </a:tr>
              <a:tr h="432000">
                <a:tc>
                  <a:txBody>
                    <a:bodyPr/>
                    <a:lstStyle/>
                    <a:p>
                      <a:pPr algn="ctr"/>
                      <a:r>
                        <a:rPr sz="1000" b="0">
                          <a:solidFill>
                            <a:srgbClr val="262626"/>
                          </a:solidFill>
                          <a:latin typeface="游ゴシック"/>
                        </a:rPr>
                        <a:t>40</a:t>
                      </a:r>
                    </a:p>
                  </a:txBody>
                  <a:tcPr>
                    <a:solidFill>
                      <a:srgbClr val="A8C4C7"/>
                    </a:solidFill>
                  </a:tcPr>
                </a:tc>
                <a:tc>
                  <a:txBody>
                    <a:bodyPr/>
                    <a:lstStyle/>
                    <a:p>
                      <a:pPr algn="ctr"/>
                      <a:r>
                        <a:rPr sz="1000" b="1">
                          <a:solidFill>
                            <a:srgbClr val="262626"/>
                          </a:solidFill>
                          <a:latin typeface="游ゴシック"/>
                        </a:rPr>
                        <a:t>一般的な評価は実施しているがサルコペニアの評価としては実施していない。</a:t>
                      </a:r>
                    </a:p>
                  </a:txBody>
                  <a:tcPr>
                    <a:solidFill>
                      <a:srgbClr val="A8C4C7"/>
                    </a:solidFill>
                  </a:tcPr>
                </a:tc>
              </a:tr>
              <a:tr h="432000">
                <a:tc>
                  <a:txBody>
                    <a:bodyPr/>
                    <a:lstStyle/>
                    <a:p>
                      <a:pPr algn="ctr"/>
                      <a:r>
                        <a:rPr sz="1000" b="0">
                          <a:solidFill>
                            <a:srgbClr val="262626"/>
                          </a:solidFill>
                          <a:latin typeface="游ゴシック"/>
                        </a:rPr>
                        <a:t>41</a:t>
                      </a:r>
                    </a:p>
                  </a:txBody>
                  <a:tcPr/>
                </a:tc>
                <a:tc>
                  <a:txBody>
                    <a:bodyPr/>
                    <a:lstStyle/>
                    <a:p>
                      <a:pPr algn="ctr"/>
                      <a:r>
                        <a:rPr sz="1000" b="1">
                          <a:solidFill>
                            <a:srgbClr val="262626"/>
                          </a:solidFill>
                          <a:latin typeface="游ゴシック"/>
                        </a:rPr>
                        <a:t>サルコペニアの評価は実施していないため</a:t>
                      </a:r>
                    </a:p>
                  </a:txBody>
                  <a:tcPr/>
                </a:tc>
              </a:tr>
              <a:tr h="432000">
                <a:tc>
                  <a:txBody>
                    <a:bodyPr/>
                    <a:lstStyle/>
                    <a:p>
                      <a:pPr algn="ctr"/>
                      <a:r>
                        <a:rPr sz="1000" b="0">
                          <a:solidFill>
                            <a:srgbClr val="262626"/>
                          </a:solidFill>
                          <a:latin typeface="游ゴシック"/>
                        </a:rPr>
                        <a:t>42</a:t>
                      </a:r>
                    </a:p>
                  </a:txBody>
                  <a:tcPr>
                    <a:solidFill>
                      <a:srgbClr val="A8C4C7"/>
                    </a:solidFill>
                  </a:tcPr>
                </a:tc>
                <a:tc>
                  <a:txBody>
                    <a:bodyPr/>
                    <a:lstStyle/>
                    <a:p>
                      <a:pPr algn="ctr"/>
                      <a:r>
                        <a:rPr sz="1000" b="1">
                          <a:solidFill>
                            <a:srgbClr val="262626"/>
                          </a:solidFill>
                          <a:latin typeface="游ゴシック"/>
                        </a:rPr>
                        <a:t>認知症患者が半数以上を占めており、評価が難しいため。</a:t>
                      </a:r>
                    </a:p>
                  </a:txBody>
                  <a:tcPr>
                    <a:solidFill>
                      <a:srgbClr val="A8C4C7"/>
                    </a:solidFill>
                  </a:tcPr>
                </a:tc>
              </a:tr>
              <a:tr h="432000">
                <a:tc>
                  <a:txBody>
                    <a:bodyPr/>
                    <a:lstStyle/>
                    <a:p>
                      <a:pPr algn="ctr"/>
                      <a:r>
                        <a:rPr sz="1000" b="0">
                          <a:solidFill>
                            <a:srgbClr val="262626"/>
                          </a:solidFill>
                          <a:latin typeface="游ゴシック"/>
                        </a:rPr>
                        <a:t>43</a:t>
                      </a:r>
                    </a:p>
                  </a:txBody>
                  <a:tcPr/>
                </a:tc>
                <a:tc>
                  <a:txBody>
                    <a:bodyPr/>
                    <a:lstStyle/>
                    <a:p>
                      <a:pPr algn="ctr"/>
                      <a:r>
                        <a:rPr sz="1000" b="1">
                          <a:solidFill>
                            <a:srgbClr val="262626"/>
                          </a:solidFill>
                          <a:latin typeface="游ゴシック"/>
                        </a:rPr>
                        <a:t>各評価内容は担当者に任せている。</a:t>
                      </a:r>
                    </a:p>
                  </a:txBody>
                  <a:tcPr/>
                </a:tc>
              </a:tr>
              <a:tr h="432000">
                <a:tc>
                  <a:txBody>
                    <a:bodyPr/>
                    <a:lstStyle/>
                    <a:p>
                      <a:pPr algn="ctr"/>
                      <a:r>
                        <a:rPr sz="1000" b="0">
                          <a:solidFill>
                            <a:srgbClr val="262626"/>
                          </a:solidFill>
                          <a:latin typeface="游ゴシック"/>
                        </a:rPr>
                        <a:t>44</a:t>
                      </a:r>
                    </a:p>
                  </a:txBody>
                  <a:tcPr>
                    <a:solidFill>
                      <a:srgbClr val="A8C4C7"/>
                    </a:solidFill>
                  </a:tcPr>
                </a:tc>
                <a:tc>
                  <a:txBody>
                    <a:bodyPr/>
                    <a:lstStyle/>
                    <a:p>
                      <a:pPr algn="ctr"/>
                      <a:r>
                        <a:rPr sz="1000" b="1">
                          <a:solidFill>
                            <a:srgbClr val="262626"/>
                          </a:solidFill>
                          <a:latin typeface="游ゴシック"/>
                        </a:rPr>
                        <a:t>急性期で実施できる項目が少ない、マンパワー不足</a:t>
                      </a:r>
                    </a:p>
                  </a:txBody>
                  <a:tcPr>
                    <a:solidFill>
                      <a:srgbClr val="A8C4C7"/>
                    </a:solidFill>
                  </a:tcPr>
                </a:tc>
              </a:tr>
              <a:tr h="432000">
                <a:tc>
                  <a:txBody>
                    <a:bodyPr/>
                    <a:lstStyle/>
                    <a:p>
                      <a:pPr algn="ctr"/>
                      <a:r>
                        <a:rPr sz="1000" b="0">
                          <a:solidFill>
                            <a:srgbClr val="262626"/>
                          </a:solidFill>
                          <a:latin typeface="游ゴシック"/>
                        </a:rPr>
                        <a:t>45</a:t>
                      </a:r>
                    </a:p>
                  </a:txBody>
                  <a:tcPr/>
                </a:tc>
                <a:tc>
                  <a:txBody>
                    <a:bodyPr/>
                    <a:lstStyle/>
                    <a:p>
                      <a:pPr algn="ctr"/>
                      <a:r>
                        <a:rPr sz="1000" b="1">
                          <a:solidFill>
                            <a:srgbClr val="262626"/>
                          </a:solidFill>
                          <a:latin typeface="游ゴシック"/>
                        </a:rPr>
                        <a:t>サルコペニアの評価として、実施していない</a:t>
                      </a:r>
                    </a:p>
                  </a:txBody>
                  <a:tcPr/>
                </a:tc>
              </a:tr>
              <a:tr h="432000">
                <a:tc>
                  <a:txBody>
                    <a:bodyPr/>
                    <a:lstStyle/>
                    <a:p>
                      <a:pPr algn="ctr"/>
                      <a:r>
                        <a:rPr sz="1000" b="0">
                          <a:solidFill>
                            <a:srgbClr val="262626"/>
                          </a:solidFill>
                          <a:latin typeface="游ゴシック"/>
                        </a:rPr>
                        <a:t>46</a:t>
                      </a:r>
                    </a:p>
                  </a:txBody>
                  <a:tcPr>
                    <a:solidFill>
                      <a:srgbClr val="A8C4C7"/>
                    </a:solidFill>
                  </a:tcPr>
                </a:tc>
                <a:tc>
                  <a:txBody>
                    <a:bodyPr/>
                    <a:lstStyle/>
                    <a:p>
                      <a:pPr algn="ctr"/>
                      <a:r>
                        <a:rPr sz="1000" b="1">
                          <a:solidFill>
                            <a:srgbClr val="262626"/>
                          </a:solidFill>
                          <a:latin typeface="游ゴシック"/>
                        </a:rPr>
                        <a:t>急性期において、評価をすることでリハビリテーションの内容に変化があるとは考えにくく、個人の状態によって対応することが望ましいと考えます。評価のための評価に手をかけず、訓練時間を有効に使いたい。急性期における予後予測として有効であるならば、検討したい。</a:t>
                      </a:r>
                    </a:p>
                  </a:txBody>
                  <a:tcPr>
                    <a:solidFill>
                      <a:srgbClr val="A8C4C7"/>
                    </a:solidFill>
                  </a:tcPr>
                </a:tc>
              </a:tr>
              <a:tr h="432000">
                <a:tc>
                  <a:txBody>
                    <a:bodyPr/>
                    <a:lstStyle/>
                    <a:p>
                      <a:pPr algn="ctr"/>
                      <a:r>
                        <a:rPr sz="1000" b="0">
                          <a:solidFill>
                            <a:srgbClr val="262626"/>
                          </a:solidFill>
                          <a:latin typeface="游ゴシック"/>
                        </a:rPr>
                        <a:t>47</a:t>
                      </a:r>
                    </a:p>
                  </a:txBody>
                  <a:tcPr/>
                </a:tc>
                <a:tc>
                  <a:txBody>
                    <a:bodyPr/>
                    <a:lstStyle/>
                    <a:p>
                      <a:pPr algn="ctr"/>
                      <a:r>
                        <a:rPr sz="1000" b="1">
                          <a:solidFill>
                            <a:srgbClr val="262626"/>
                          </a:solidFill>
                          <a:latin typeface="游ゴシック"/>
                        </a:rPr>
                        <a:t>対象者の評価として行っている項目はあるが、サルコペニアの評価として実施していないから。</a:t>
                      </a:r>
                    </a:p>
                  </a:txBody>
                  <a:tcPr/>
                </a:tc>
              </a:tr>
              <a:tr h="432000">
                <a:tc>
                  <a:txBody>
                    <a:bodyPr/>
                    <a:lstStyle/>
                    <a:p>
                      <a:pPr algn="ctr"/>
                      <a:r>
                        <a:rPr sz="1000" b="0">
                          <a:solidFill>
                            <a:srgbClr val="262626"/>
                          </a:solidFill>
                          <a:latin typeface="游ゴシック"/>
                        </a:rPr>
                        <a:t>48</a:t>
                      </a:r>
                    </a:p>
                  </a:txBody>
                  <a:tcPr>
                    <a:solidFill>
                      <a:srgbClr val="A8C4C7"/>
                    </a:solidFill>
                  </a:tcPr>
                </a:tc>
                <a:tc>
                  <a:txBody>
                    <a:bodyPr/>
                    <a:lstStyle/>
                    <a:p>
                      <a:pPr algn="ctr"/>
                      <a:r>
                        <a:rPr sz="1000" b="1">
                          <a:solidFill>
                            <a:srgbClr val="262626"/>
                          </a:solidFill>
                          <a:latin typeface="游ゴシック"/>
                        </a:rPr>
                        <a:t>評価している項目はあるが、サルコペニアを評価しているわけではない。</a:t>
                      </a:r>
                    </a:p>
                  </a:txBody>
                  <a:tcPr>
                    <a:solidFill>
                      <a:srgbClr val="A8C4C7"/>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800" b="1">
                <a:solidFill>
                  <a:srgbClr val="262626"/>
                </a:solidFill>
                <a:latin typeface="游ゴシック"/>
              </a:rPr>
              <a:t>Q11.  フレイルの評価項目【複数選択可】</a:t>
            </a:r>
          </a:p>
        </p:txBody>
      </p:sp>
      <p:graphicFrame>
        <p:nvGraphicFramePr>
          <p:cNvPr id="3" name="Chart 2"/>
          <p:cNvGraphicFramePr>
            <a:graphicFrameLocks noGrp="1"/>
          </p:cNvGraphicFramePr>
          <p:nvPr/>
        </p:nvGraphicFramePr>
        <p:xfrm>
          <a:off x="100000" y="900000"/>
          <a:ext cx="76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800000" y="950000"/>
          <a:ext cx="4100000" cy="5460000"/>
        </p:xfrm>
        <a:graphic>
          <a:graphicData uri="http://schemas.openxmlformats.org/drawingml/2006/table">
            <a:tbl>
              <a:tblPr firstRow="1" bandRow="1">
                <a:tableStyleId>{5C22544A-7EE6-4342-B048-85BDC9FD1C3A}</a:tableStyleId>
              </a:tblPr>
              <a:tblGrid>
                <a:gridCol w="2500000"/>
                <a:gridCol w="700000"/>
                <a:gridCol w="900000"/>
              </a:tblGrid>
              <a:tr h="420000">
                <a:tc>
                  <a:txBody>
                    <a:bodyPr/>
                    <a:lstStyle/>
                    <a:p>
                      <a:pPr algn="ctr"/>
                      <a:r>
                        <a:rPr sz="1300" b="1">
                          <a:solidFill>
                            <a:srgbClr val="FFFFFF"/>
                          </a:solidFill>
                          <a:latin typeface="游ゴシック"/>
                        </a:rPr>
                        <a:t>回答</a:t>
                      </a:r>
                    </a:p>
                  </a:txBody>
                  <a:tcPr>
                    <a:solidFill>
                      <a:srgbClr val="397077"/>
                    </a:solidFill>
                  </a:tcPr>
                </a:tc>
                <a:tc>
                  <a:txBody>
                    <a:bodyPr/>
                    <a:lstStyle/>
                    <a:p>
                      <a:pPr algn="ctr"/>
                      <a:r>
                        <a:rPr sz="1300" b="1">
                          <a:solidFill>
                            <a:srgbClr val="FFFFFF"/>
                          </a:solidFill>
                          <a:latin typeface="游ゴシック"/>
                        </a:rPr>
                        <a:t>件数</a:t>
                      </a:r>
                    </a:p>
                  </a:txBody>
                  <a:tcPr>
                    <a:solidFill>
                      <a:srgbClr val="397077"/>
                    </a:solidFill>
                  </a:tcPr>
                </a:tc>
                <a:tc>
                  <a:txBody>
                    <a:bodyPr/>
                    <a:lstStyle/>
                    <a:p>
                      <a:pPr algn="ctr"/>
                      <a:r>
                        <a:rPr sz="1300" b="1">
                          <a:solidFill>
                            <a:srgbClr val="FFFFFF"/>
                          </a:solidFill>
                          <a:latin typeface="游ゴシック"/>
                        </a:rPr>
                        <a:t>割合</a:t>
                      </a:r>
                    </a:p>
                  </a:txBody>
                  <a:tcPr>
                    <a:solidFill>
                      <a:srgbClr val="397077"/>
                    </a:solidFill>
                  </a:tcPr>
                </a:tc>
              </a:tr>
              <a:tr h="420000">
                <a:tc>
                  <a:txBody>
                    <a:bodyPr/>
                    <a:lstStyle/>
                    <a:p>
                      <a:pPr algn="ctr"/>
                      <a:r>
                        <a:rPr sz="950" b="0">
                          <a:solidFill>
                            <a:srgbClr val="262626"/>
                          </a:solidFill>
                          <a:latin typeface="游ゴシック"/>
                        </a:rPr>
                        <a:t>握力</a:t>
                      </a:r>
                    </a:p>
                  </a:txBody>
                  <a:tcPr/>
                </a:tc>
                <a:tc>
                  <a:txBody>
                    <a:bodyPr/>
                    <a:lstStyle/>
                    <a:p>
                      <a:pPr algn="ctr"/>
                      <a:r>
                        <a:rPr sz="950" b="1">
                          <a:solidFill>
                            <a:srgbClr val="262626"/>
                          </a:solidFill>
                          <a:latin typeface="游ゴシック"/>
                        </a:rPr>
                        <a:t>158</a:t>
                      </a:r>
                    </a:p>
                  </a:txBody>
                  <a:tcPr/>
                </a:tc>
                <a:tc>
                  <a:txBody>
                    <a:bodyPr/>
                    <a:lstStyle/>
                    <a:p>
                      <a:pPr algn="ctr"/>
                      <a:r>
                        <a:rPr sz="950" b="1">
                          <a:solidFill>
                            <a:srgbClr val="262626"/>
                          </a:solidFill>
                          <a:latin typeface="游ゴシック"/>
                        </a:rPr>
                        <a:t>54.7%</a:t>
                      </a:r>
                    </a:p>
                  </a:txBody>
                  <a:tcPr/>
                </a:tc>
              </a:tr>
              <a:tr h="420000">
                <a:tc>
                  <a:txBody>
                    <a:bodyPr/>
                    <a:lstStyle/>
                    <a:p>
                      <a:pPr algn="ctr"/>
                      <a:r>
                        <a:rPr sz="950" b="0">
                          <a:solidFill>
                            <a:srgbClr val="262626"/>
                          </a:solidFill>
                          <a:latin typeface="游ゴシック"/>
                        </a:rPr>
                        <a:t>認知機能</a:t>
                      </a:r>
                    </a:p>
                  </a:txBody>
                  <a:tcPr>
                    <a:solidFill>
                      <a:srgbClr val="A8C4C7"/>
                    </a:solidFill>
                  </a:tcPr>
                </a:tc>
                <a:tc>
                  <a:txBody>
                    <a:bodyPr/>
                    <a:lstStyle/>
                    <a:p>
                      <a:pPr algn="ctr"/>
                      <a:r>
                        <a:rPr sz="950" b="1">
                          <a:solidFill>
                            <a:srgbClr val="262626"/>
                          </a:solidFill>
                          <a:latin typeface="游ゴシック"/>
                        </a:rPr>
                        <a:t>127</a:t>
                      </a:r>
                    </a:p>
                  </a:txBody>
                  <a:tcPr>
                    <a:solidFill>
                      <a:srgbClr val="A8C4C7"/>
                    </a:solidFill>
                  </a:tcPr>
                </a:tc>
                <a:tc>
                  <a:txBody>
                    <a:bodyPr/>
                    <a:lstStyle/>
                    <a:p>
                      <a:pPr algn="ctr"/>
                      <a:r>
                        <a:rPr sz="950" b="1">
                          <a:solidFill>
                            <a:srgbClr val="262626"/>
                          </a:solidFill>
                          <a:latin typeface="游ゴシック"/>
                        </a:rPr>
                        <a:t>43.9%</a:t>
                      </a:r>
                    </a:p>
                  </a:txBody>
                  <a:tcPr>
                    <a:solidFill>
                      <a:srgbClr val="A8C4C7"/>
                    </a:solidFill>
                  </a:tcPr>
                </a:tc>
              </a:tr>
              <a:tr h="420000">
                <a:tc>
                  <a:txBody>
                    <a:bodyPr/>
                    <a:lstStyle/>
                    <a:p>
                      <a:pPr algn="ctr"/>
                      <a:r>
                        <a:rPr sz="950" b="0">
                          <a:solidFill>
                            <a:srgbClr val="262626"/>
                          </a:solidFill>
                          <a:latin typeface="游ゴシック"/>
                        </a:rPr>
                        <a:t>TUG</a:t>
                      </a:r>
                    </a:p>
                  </a:txBody>
                  <a:tcPr/>
                </a:tc>
                <a:tc>
                  <a:txBody>
                    <a:bodyPr/>
                    <a:lstStyle/>
                    <a:p>
                      <a:pPr algn="ctr"/>
                      <a:r>
                        <a:rPr sz="950" b="1">
                          <a:solidFill>
                            <a:srgbClr val="262626"/>
                          </a:solidFill>
                          <a:latin typeface="游ゴシック"/>
                        </a:rPr>
                        <a:t>112</a:t>
                      </a:r>
                    </a:p>
                  </a:txBody>
                  <a:tcPr/>
                </a:tc>
                <a:tc>
                  <a:txBody>
                    <a:bodyPr/>
                    <a:lstStyle/>
                    <a:p>
                      <a:pPr algn="ctr"/>
                      <a:r>
                        <a:rPr sz="950" b="1">
                          <a:solidFill>
                            <a:srgbClr val="262626"/>
                          </a:solidFill>
                          <a:latin typeface="游ゴシック"/>
                        </a:rPr>
                        <a:t>38.8%</a:t>
                      </a:r>
                    </a:p>
                  </a:txBody>
                  <a:tcPr/>
                </a:tc>
              </a:tr>
              <a:tr h="420000">
                <a:tc>
                  <a:txBody>
                    <a:bodyPr/>
                    <a:lstStyle/>
                    <a:p>
                      <a:pPr algn="ctr"/>
                      <a:r>
                        <a:rPr sz="950" b="0">
                          <a:solidFill>
                            <a:srgbClr val="262626"/>
                          </a:solidFill>
                          <a:latin typeface="游ゴシック"/>
                        </a:rPr>
                        <a:t>実施していない</a:t>
                      </a:r>
                    </a:p>
                  </a:txBody>
                  <a:tcPr>
                    <a:solidFill>
                      <a:srgbClr val="A8C4C7"/>
                    </a:solidFill>
                  </a:tcPr>
                </a:tc>
                <a:tc>
                  <a:txBody>
                    <a:bodyPr/>
                    <a:lstStyle/>
                    <a:p>
                      <a:pPr algn="ctr"/>
                      <a:r>
                        <a:rPr sz="950" b="1">
                          <a:solidFill>
                            <a:srgbClr val="262626"/>
                          </a:solidFill>
                          <a:latin typeface="游ゴシック"/>
                        </a:rPr>
                        <a:t>71</a:t>
                      </a:r>
                    </a:p>
                  </a:txBody>
                  <a:tcPr>
                    <a:solidFill>
                      <a:srgbClr val="A8C4C7"/>
                    </a:solidFill>
                  </a:tcPr>
                </a:tc>
                <a:tc>
                  <a:txBody>
                    <a:bodyPr/>
                    <a:lstStyle/>
                    <a:p>
                      <a:pPr algn="ctr"/>
                      <a:r>
                        <a:rPr sz="950" b="1">
                          <a:solidFill>
                            <a:srgbClr val="262626"/>
                          </a:solidFill>
                          <a:latin typeface="游ゴシック"/>
                        </a:rPr>
                        <a:t>24.6%</a:t>
                      </a:r>
                    </a:p>
                  </a:txBody>
                  <a:tcPr>
                    <a:solidFill>
                      <a:srgbClr val="A8C4C7"/>
                    </a:solidFill>
                  </a:tcPr>
                </a:tc>
              </a:tr>
              <a:tr h="420000">
                <a:tc>
                  <a:txBody>
                    <a:bodyPr/>
                    <a:lstStyle/>
                    <a:p>
                      <a:pPr algn="ctr"/>
                      <a:r>
                        <a:rPr sz="950" b="0">
                          <a:solidFill>
                            <a:srgbClr val="262626"/>
                          </a:solidFill>
                          <a:latin typeface="游ゴシック"/>
                        </a:rPr>
                        <a:t>6分間歩行距離</a:t>
                      </a:r>
                    </a:p>
                  </a:txBody>
                  <a:tcPr/>
                </a:tc>
                <a:tc>
                  <a:txBody>
                    <a:bodyPr/>
                    <a:lstStyle/>
                    <a:p>
                      <a:pPr algn="ctr"/>
                      <a:r>
                        <a:rPr sz="950" b="1">
                          <a:solidFill>
                            <a:srgbClr val="262626"/>
                          </a:solidFill>
                          <a:latin typeface="游ゴシック"/>
                        </a:rPr>
                        <a:t>31</a:t>
                      </a:r>
                    </a:p>
                  </a:txBody>
                  <a:tcPr/>
                </a:tc>
                <a:tc>
                  <a:txBody>
                    <a:bodyPr/>
                    <a:lstStyle/>
                    <a:p>
                      <a:pPr algn="ctr"/>
                      <a:r>
                        <a:rPr sz="950" b="1">
                          <a:solidFill>
                            <a:srgbClr val="262626"/>
                          </a:solidFill>
                          <a:latin typeface="游ゴシック"/>
                        </a:rPr>
                        <a:t>10.7%</a:t>
                      </a:r>
                    </a:p>
                  </a:txBody>
                  <a:tcPr/>
                </a:tc>
              </a:tr>
              <a:tr h="420000">
                <a:tc>
                  <a:txBody>
                    <a:bodyPr/>
                    <a:lstStyle/>
                    <a:p>
                      <a:pPr algn="ctr"/>
                      <a:r>
                        <a:rPr sz="950" b="0">
                          <a:solidFill>
                            <a:srgbClr val="262626"/>
                          </a:solidFill>
                          <a:latin typeface="游ゴシック"/>
                        </a:rPr>
                        <a:t>J-CHS基準</a:t>
                      </a:r>
                    </a:p>
                  </a:txBody>
                  <a:tcPr>
                    <a:solidFill>
                      <a:srgbClr val="A8C4C7"/>
                    </a:solidFill>
                  </a:tcPr>
                </a:tc>
                <a:tc>
                  <a:txBody>
                    <a:bodyPr/>
                    <a:lstStyle/>
                    <a:p>
                      <a:pPr algn="ctr"/>
                      <a:r>
                        <a:rPr sz="950" b="1">
                          <a:solidFill>
                            <a:srgbClr val="262626"/>
                          </a:solidFill>
                          <a:latin typeface="游ゴシック"/>
                        </a:rPr>
                        <a:t>19</a:t>
                      </a:r>
                    </a:p>
                  </a:txBody>
                  <a:tcPr>
                    <a:solidFill>
                      <a:srgbClr val="A8C4C7"/>
                    </a:solidFill>
                  </a:tcPr>
                </a:tc>
                <a:tc>
                  <a:txBody>
                    <a:bodyPr/>
                    <a:lstStyle/>
                    <a:p>
                      <a:pPr algn="ctr"/>
                      <a:r>
                        <a:rPr sz="950" b="1">
                          <a:solidFill>
                            <a:srgbClr val="262626"/>
                          </a:solidFill>
                          <a:latin typeface="游ゴシック"/>
                        </a:rPr>
                        <a:t>6.6%</a:t>
                      </a:r>
                    </a:p>
                  </a:txBody>
                  <a:tcPr>
                    <a:solidFill>
                      <a:srgbClr val="A8C4C7"/>
                    </a:solidFill>
                  </a:tcPr>
                </a:tc>
              </a:tr>
              <a:tr h="420000">
                <a:tc>
                  <a:txBody>
                    <a:bodyPr/>
                    <a:lstStyle/>
                    <a:p>
                      <a:pPr algn="ctr"/>
                      <a:r>
                        <a:rPr sz="950" b="0">
                          <a:solidFill>
                            <a:srgbClr val="262626"/>
                          </a:solidFill>
                          <a:latin typeface="游ゴシック"/>
                        </a:rPr>
                        <a:t>抑うつや意欲低下</a:t>
                      </a:r>
                    </a:p>
                  </a:txBody>
                  <a:tcPr/>
                </a:tc>
                <a:tc>
                  <a:txBody>
                    <a:bodyPr/>
                    <a:lstStyle/>
                    <a:p>
                      <a:pPr algn="ctr"/>
                      <a:r>
                        <a:rPr sz="950" b="1">
                          <a:solidFill>
                            <a:srgbClr val="262626"/>
                          </a:solidFill>
                          <a:latin typeface="游ゴシック"/>
                        </a:rPr>
                        <a:t>13</a:t>
                      </a:r>
                    </a:p>
                  </a:txBody>
                  <a:tcPr/>
                </a:tc>
                <a:tc>
                  <a:txBody>
                    <a:bodyPr/>
                    <a:lstStyle/>
                    <a:p>
                      <a:pPr algn="ctr"/>
                      <a:r>
                        <a:rPr sz="950" b="1">
                          <a:solidFill>
                            <a:srgbClr val="262626"/>
                          </a:solidFill>
                          <a:latin typeface="游ゴシック"/>
                        </a:rPr>
                        <a:t>4.5%</a:t>
                      </a:r>
                    </a:p>
                  </a:txBody>
                  <a:tcPr/>
                </a:tc>
              </a:tr>
              <a:tr h="420000">
                <a:tc>
                  <a:txBody>
                    <a:bodyPr/>
                    <a:lstStyle/>
                    <a:p>
                      <a:pPr algn="ctr"/>
                      <a:r>
                        <a:rPr sz="950" b="0">
                          <a:solidFill>
                            <a:srgbClr val="262626"/>
                          </a:solidFill>
                          <a:latin typeface="游ゴシック"/>
                        </a:rPr>
                        <a:t>GNRI</a:t>
                      </a:r>
                    </a:p>
                  </a:txBody>
                  <a:tcPr>
                    <a:solidFill>
                      <a:srgbClr val="A8C4C7"/>
                    </a:solidFill>
                  </a:tcPr>
                </a:tc>
                <a:tc>
                  <a:txBody>
                    <a:bodyPr/>
                    <a:lstStyle/>
                    <a:p>
                      <a:pPr algn="ctr"/>
                      <a:r>
                        <a:rPr sz="950" b="1">
                          <a:solidFill>
                            <a:srgbClr val="262626"/>
                          </a:solidFill>
                          <a:latin typeface="游ゴシック"/>
                        </a:rPr>
                        <a:t>7</a:t>
                      </a:r>
                    </a:p>
                  </a:txBody>
                  <a:tcPr>
                    <a:solidFill>
                      <a:srgbClr val="A8C4C7"/>
                    </a:solidFill>
                  </a:tcPr>
                </a:tc>
                <a:tc>
                  <a:txBody>
                    <a:bodyPr/>
                    <a:lstStyle/>
                    <a:p>
                      <a:pPr algn="ctr"/>
                      <a:r>
                        <a:rPr sz="950" b="1">
                          <a:solidFill>
                            <a:srgbClr val="262626"/>
                          </a:solidFill>
                          <a:latin typeface="游ゴシック"/>
                        </a:rPr>
                        <a:t>2.4%</a:t>
                      </a:r>
                    </a:p>
                  </a:txBody>
                  <a:tcPr>
                    <a:solidFill>
                      <a:srgbClr val="A8C4C7"/>
                    </a:solidFill>
                  </a:tcPr>
                </a:tc>
              </a:tr>
              <a:tr h="420000">
                <a:tc>
                  <a:txBody>
                    <a:bodyPr/>
                    <a:lstStyle/>
                    <a:p>
                      <a:pPr algn="ctr"/>
                      <a:r>
                        <a:rPr sz="950" b="0">
                          <a:solidFill>
                            <a:srgbClr val="262626"/>
                          </a:solidFill>
                          <a:latin typeface="游ゴシック"/>
                        </a:rPr>
                        <a:t>MNA-SF</a:t>
                      </a:r>
                    </a:p>
                  </a:txBody>
                  <a:tcPr/>
                </a:tc>
                <a:tc>
                  <a:txBody>
                    <a:bodyPr/>
                    <a:lstStyle/>
                    <a:p>
                      <a:pPr algn="ctr"/>
                      <a:r>
                        <a:rPr sz="950" b="1">
                          <a:solidFill>
                            <a:srgbClr val="262626"/>
                          </a:solidFill>
                          <a:latin typeface="游ゴシック"/>
                        </a:rPr>
                        <a:t>4</a:t>
                      </a:r>
                    </a:p>
                  </a:txBody>
                  <a:tcPr/>
                </a:tc>
                <a:tc>
                  <a:txBody>
                    <a:bodyPr/>
                    <a:lstStyle/>
                    <a:p>
                      <a:pPr algn="ctr"/>
                      <a:r>
                        <a:rPr sz="950" b="1">
                          <a:solidFill>
                            <a:srgbClr val="262626"/>
                          </a:solidFill>
                          <a:latin typeface="游ゴシック"/>
                        </a:rPr>
                        <a:t>1.4%</a:t>
                      </a:r>
                    </a:p>
                  </a:txBody>
                  <a:tcPr/>
                </a:tc>
              </a:tr>
              <a:tr h="420000">
                <a:tc>
                  <a:txBody>
                    <a:bodyPr/>
                    <a:lstStyle/>
                    <a:p>
                      <a:pPr algn="ctr"/>
                      <a:r>
                        <a:rPr sz="950" b="0">
                          <a:solidFill>
                            <a:srgbClr val="262626"/>
                          </a:solidFill>
                          <a:latin typeface="游ゴシック"/>
                        </a:rPr>
                        <a:t>Kihon Checklist（基本チェックリスト）</a:t>
                      </a:r>
                    </a:p>
                  </a:txBody>
                  <a:tcPr>
                    <a:solidFill>
                      <a:srgbClr val="A8C4C7"/>
                    </a:solidFill>
                  </a:tcPr>
                </a:tc>
                <a:tc>
                  <a:txBody>
                    <a:bodyPr/>
                    <a:lstStyle/>
                    <a:p>
                      <a:pPr algn="ctr"/>
                      <a:r>
                        <a:rPr sz="950" b="1">
                          <a:solidFill>
                            <a:srgbClr val="262626"/>
                          </a:solidFill>
                          <a:latin typeface="游ゴシック"/>
                        </a:rPr>
                        <a:t>3</a:t>
                      </a:r>
                    </a:p>
                  </a:txBody>
                  <a:tcPr>
                    <a:solidFill>
                      <a:srgbClr val="A8C4C7"/>
                    </a:solidFill>
                  </a:tcPr>
                </a:tc>
                <a:tc>
                  <a:txBody>
                    <a:bodyPr/>
                    <a:lstStyle/>
                    <a:p>
                      <a:pPr algn="ctr"/>
                      <a:r>
                        <a:rPr sz="950" b="1">
                          <a:solidFill>
                            <a:srgbClr val="262626"/>
                          </a:solidFill>
                          <a:latin typeface="游ゴシック"/>
                        </a:rPr>
                        <a:t>1.0%</a:t>
                      </a:r>
                    </a:p>
                  </a:txBody>
                  <a:tcPr>
                    <a:solidFill>
                      <a:srgbClr val="A8C4C7"/>
                    </a:solidFill>
                  </a:tcPr>
                </a:tc>
              </a:tr>
              <a:tr h="420000">
                <a:tc>
                  <a:txBody>
                    <a:bodyPr/>
                    <a:lstStyle/>
                    <a:p>
                      <a:pPr algn="ctr"/>
                      <a:r>
                        <a:rPr sz="950" b="0">
                          <a:solidFill>
                            <a:srgbClr val="262626"/>
                          </a:solidFill>
                          <a:latin typeface="游ゴシック"/>
                        </a:rPr>
                        <a:t>Frailty Index（累積欠損モデル）</a:t>
                      </a:r>
                    </a:p>
                  </a:txBody>
                  <a:tcPr/>
                </a:tc>
                <a:tc>
                  <a:txBody>
                    <a:bodyPr/>
                    <a:lstStyle/>
                    <a:p>
                      <a:pPr algn="ctr"/>
                      <a:r>
                        <a:rPr sz="950" b="1">
                          <a:solidFill>
                            <a:srgbClr val="262626"/>
                          </a:solidFill>
                          <a:latin typeface="游ゴシック"/>
                        </a:rPr>
                        <a:t>3</a:t>
                      </a:r>
                    </a:p>
                  </a:txBody>
                  <a:tcPr/>
                </a:tc>
                <a:tc>
                  <a:txBody>
                    <a:bodyPr/>
                    <a:lstStyle/>
                    <a:p>
                      <a:pPr algn="ctr"/>
                      <a:r>
                        <a:rPr sz="950" b="1">
                          <a:solidFill>
                            <a:srgbClr val="262626"/>
                          </a:solidFill>
                          <a:latin typeface="游ゴシック"/>
                        </a:rPr>
                        <a:t>1.0%</a:t>
                      </a:r>
                    </a:p>
                  </a:txBody>
                  <a:tcPr/>
                </a:tc>
              </a:tr>
              <a:tr h="420000">
                <a:tc>
                  <a:txBody>
                    <a:bodyPr/>
                    <a:lstStyle/>
                    <a:p>
                      <a:pPr algn="ctr"/>
                      <a:r>
                        <a:rPr sz="950" b="1">
                          <a:solidFill>
                            <a:srgbClr val="262626"/>
                          </a:solidFill>
                          <a:latin typeface="游ゴシック"/>
                        </a:rPr>
                        <a:t>※複数選択のため合計は
有効回答数を超える</a:t>
                      </a:r>
                    </a:p>
                  </a:txBody>
                  <a:tcPr/>
                </a:tc>
                <a:tc>
                  <a:txBody>
                    <a:bodyPr/>
                    <a:lstStyle/>
                    <a:p>
                      <a:pPr algn="ctr"/>
                      <a:r>
                        <a:rPr sz="950" b="1">
                          <a:solidFill>
                            <a:srgbClr val="262626"/>
                          </a:solidFill>
                          <a:latin typeface="游ゴシック"/>
                        </a:rPr>
                        <a:t/>
                      </a:r>
                    </a:p>
                  </a:txBody>
                  <a:tcPr/>
                </a:tc>
                <a:tc>
                  <a:txBody>
                    <a:bodyPr/>
                    <a:lstStyle/>
                    <a:p>
                      <a:pPr algn="ctr"/>
                      <a:r>
                        <a:rPr sz="950" b="1">
                          <a:solidFill>
                            <a:srgbClr val="262626"/>
                          </a:solidFill>
                          <a:latin typeface="游ゴシック"/>
                        </a:rPr>
                        <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有効回答数 n=289（複数選択可）</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Q11-1.  「実施していない」を選択した方の理由【自由記述】  (1/3)</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頸部骨折にはフレイルが関連している可能性が高いから全例スクリーニングしましょうという高度なことはできていません。各担当者がありそうだな、と感じた場合上記評価を適宜行っています。</a:t>
                      </a:r>
                    </a:p>
                  </a:txBody>
                  <a:tcPr/>
                </a:tc>
              </a:tr>
              <a:tr h="303052">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3次救急で大腿骨近位部骨折の患者にフレイルの評価としては時期的に取っていない。機能評価としてはやっています。</a:t>
                      </a:r>
                    </a:p>
                  </a:txBody>
                  <a:tcPr>
                    <a:solidFill>
                      <a:srgbClr val="A8C4C7"/>
                    </a:solidFill>
                  </a:tcPr>
                </a:tc>
              </a:tr>
              <a:tr h="303052">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術前はベッド上安静で評価実施困難。（座位・起立・歩行は困難）術後は機能回復のための介入が中心となります。</a:t>
                      </a:r>
                    </a:p>
                  </a:txBody>
                  <a:tcPr/>
                </a:tc>
              </a:tr>
              <a:tr h="303052">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その他評価で対応。</a:t>
                      </a:r>
                    </a:p>
                  </a:txBody>
                  <a:tcPr>
                    <a:solidFill>
                      <a:srgbClr val="A8C4C7"/>
                    </a:solidFill>
                  </a:tcPr>
                </a:tc>
              </a:tr>
              <a:tr h="303052">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データを利用していないため</a:t>
                      </a:r>
                    </a:p>
                  </a:txBody>
                  <a:tcPr/>
                </a:tc>
              </a:tr>
              <a:tr h="303052">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フレイルに特化した評価は実施していない　各症例に必要な評価を実施している</a:t>
                      </a:r>
                    </a:p>
                  </a:txBody>
                  <a:tcPr>
                    <a:solidFill>
                      <a:srgbClr val="A8C4C7"/>
                    </a:solidFill>
                  </a:tcPr>
                </a:tc>
              </a:tr>
              <a:tr h="303052">
                <a:tc>
                  <a:txBody>
                    <a:bodyPr/>
                    <a:lstStyle/>
                    <a:p>
                      <a:pPr algn="ctr"/>
                      <a:r>
                        <a:rPr sz="1000" b="0">
                          <a:solidFill>
                            <a:srgbClr val="262626"/>
                          </a:solidFill>
                          <a:latin typeface="游ゴシック"/>
                        </a:rPr>
                        <a:t>7</a:t>
                      </a:r>
                    </a:p>
                  </a:txBody>
                  <a:tcPr/>
                </a:tc>
                <a:tc>
                  <a:txBody>
                    <a:bodyPr/>
                    <a:lstStyle/>
                    <a:p>
                      <a:pPr algn="ctr"/>
                      <a:r>
                        <a:rPr sz="1000" b="1">
                          <a:solidFill>
                            <a:srgbClr val="262626"/>
                          </a:solidFill>
                          <a:latin typeface="游ゴシック"/>
                        </a:rPr>
                        <a:t>通常の術後評価のみ行っている</a:t>
                      </a:r>
                    </a:p>
                  </a:txBody>
                  <a:tcPr/>
                </a:tc>
              </a:tr>
              <a:tr h="303052">
                <a:tc>
                  <a:txBody>
                    <a:bodyPr/>
                    <a:lstStyle/>
                    <a:p>
                      <a:pPr algn="ctr"/>
                      <a:r>
                        <a:rPr sz="1000" b="0">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評価を活用できる体制が整っておらず、仕組み作りが今後の課題</a:t>
                      </a:r>
                    </a:p>
                  </a:txBody>
                  <a:tcPr>
                    <a:solidFill>
                      <a:srgbClr val="A8C4C7"/>
                    </a:solidFill>
                  </a:tcPr>
                </a:tc>
              </a:tr>
              <a:tr h="303052">
                <a:tc>
                  <a:txBody>
                    <a:bodyPr/>
                    <a:lstStyle/>
                    <a:p>
                      <a:pPr algn="ctr"/>
                      <a:r>
                        <a:rPr sz="1000" b="0">
                          <a:solidFill>
                            <a:srgbClr val="262626"/>
                          </a:solidFill>
                          <a:latin typeface="游ゴシック"/>
                        </a:rPr>
                        <a:t>9</a:t>
                      </a:r>
                    </a:p>
                  </a:txBody>
                  <a:tcPr/>
                </a:tc>
                <a:tc>
                  <a:txBody>
                    <a:bodyPr/>
                    <a:lstStyle/>
                    <a:p>
                      <a:pPr algn="ctr"/>
                      <a:r>
                        <a:rPr sz="1000" b="1">
                          <a:solidFill>
                            <a:srgbClr val="262626"/>
                          </a:solidFill>
                          <a:latin typeface="游ゴシック"/>
                        </a:rPr>
                        <a:t>フレイルの評価をする視点がないため（フレイルであっても急性発症した疾病や手術後の影響が大きいためその視点でのアセスメントはできないため）</a:t>
                      </a:r>
                    </a:p>
                  </a:txBody>
                  <a:tcPr/>
                </a:tc>
              </a:tr>
              <a:tr h="303052">
                <a:tc>
                  <a:txBody>
                    <a:bodyPr/>
                    <a:lstStyle/>
                    <a:p>
                      <a:pPr algn="ctr"/>
                      <a:r>
                        <a:rPr sz="1000" b="0">
                          <a:solidFill>
                            <a:srgbClr val="262626"/>
                          </a:solidFill>
                          <a:latin typeface="游ゴシック"/>
                        </a:rPr>
                        <a:t>10</a:t>
                      </a:r>
                    </a:p>
                  </a:txBody>
                  <a:tcPr>
                    <a:solidFill>
                      <a:srgbClr val="A8C4C7"/>
                    </a:solidFill>
                  </a:tcPr>
                </a:tc>
                <a:tc>
                  <a:txBody>
                    <a:bodyPr/>
                    <a:lstStyle/>
                    <a:p>
                      <a:pPr algn="ctr"/>
                      <a:r>
                        <a:rPr sz="1000" b="1">
                          <a:solidFill>
                            <a:srgbClr val="262626"/>
                          </a:solidFill>
                          <a:latin typeface="游ゴシック"/>
                        </a:rPr>
                        <a:t>動作能力の改善度合いで評価しているため</a:t>
                      </a:r>
                    </a:p>
                  </a:txBody>
                  <a:tcPr>
                    <a:solidFill>
                      <a:srgbClr val="A8C4C7"/>
                    </a:solidFill>
                  </a:tcPr>
                </a:tc>
              </a:tr>
              <a:tr h="303052">
                <a:tc>
                  <a:txBody>
                    <a:bodyPr/>
                    <a:lstStyle/>
                    <a:p>
                      <a:pPr algn="ctr"/>
                      <a:r>
                        <a:rPr sz="1000" b="0">
                          <a:solidFill>
                            <a:srgbClr val="262626"/>
                          </a:solidFill>
                          <a:latin typeface="游ゴシック"/>
                        </a:rPr>
                        <a:t>11</a:t>
                      </a:r>
                    </a:p>
                  </a:txBody>
                  <a:tcPr/>
                </a:tc>
                <a:tc>
                  <a:txBody>
                    <a:bodyPr/>
                    <a:lstStyle/>
                    <a:p>
                      <a:pPr algn="ctr"/>
                      <a:r>
                        <a:rPr sz="1000" b="1">
                          <a:solidFill>
                            <a:srgbClr val="262626"/>
                          </a:solidFill>
                          <a:latin typeface="游ゴシック"/>
                        </a:rPr>
                        <a:t>マンパワー不足のため介入時間が取れていない。</a:t>
                      </a:r>
                    </a:p>
                  </a:txBody>
                  <a:tcPr/>
                </a:tc>
              </a:tr>
              <a:tr h="303052">
                <a:tc>
                  <a:txBody>
                    <a:bodyPr/>
                    <a:lstStyle/>
                    <a:p>
                      <a:pPr algn="ctr"/>
                      <a:r>
                        <a:rPr sz="1000" b="0">
                          <a:solidFill>
                            <a:srgbClr val="262626"/>
                          </a:solidFill>
                          <a:latin typeface="游ゴシック"/>
                        </a:rPr>
                        <a:t>12</a:t>
                      </a:r>
                    </a:p>
                  </a:txBody>
                  <a:tcPr>
                    <a:solidFill>
                      <a:srgbClr val="A8C4C7"/>
                    </a:solidFill>
                  </a:tcPr>
                </a:tc>
                <a:tc>
                  <a:txBody>
                    <a:bodyPr/>
                    <a:lstStyle/>
                    <a:p>
                      <a:pPr algn="ctr"/>
                      <a:r>
                        <a:rPr sz="1000" b="1">
                          <a:solidFill>
                            <a:srgbClr val="262626"/>
                          </a:solidFill>
                          <a:latin typeface="游ゴシック"/>
                        </a:rPr>
                        <a:t>急性期であり、疼痛や筋力低下等が強く評価実施が困難なため。</a:t>
                      </a:r>
                    </a:p>
                  </a:txBody>
                  <a:tcPr>
                    <a:solidFill>
                      <a:srgbClr val="A8C4C7"/>
                    </a:solidFill>
                  </a:tcPr>
                </a:tc>
              </a:tr>
              <a:tr h="303052">
                <a:tc>
                  <a:txBody>
                    <a:bodyPr/>
                    <a:lstStyle/>
                    <a:p>
                      <a:pPr algn="ctr"/>
                      <a:r>
                        <a:rPr sz="1000" b="0">
                          <a:solidFill>
                            <a:srgbClr val="262626"/>
                          </a:solidFill>
                          <a:latin typeface="游ゴシック"/>
                        </a:rPr>
                        <a:t>13</a:t>
                      </a:r>
                    </a:p>
                  </a:txBody>
                  <a:tcPr/>
                </a:tc>
                <a:tc>
                  <a:txBody>
                    <a:bodyPr/>
                    <a:lstStyle/>
                    <a:p>
                      <a:pPr algn="ctr"/>
                      <a:r>
                        <a:rPr sz="1000" b="1">
                          <a:solidFill>
                            <a:srgbClr val="262626"/>
                          </a:solidFill>
                          <a:latin typeface="游ゴシック"/>
                        </a:rPr>
                        <a:t>評価→リハビリの体制が構築されていない
個々のリハビリに委ねられている</a:t>
                      </a:r>
                    </a:p>
                  </a:txBody>
                  <a:tcPr/>
                </a:tc>
              </a:tr>
              <a:tr h="303052">
                <a:tc>
                  <a:txBody>
                    <a:bodyPr/>
                    <a:lstStyle/>
                    <a:p>
                      <a:pPr algn="ctr"/>
                      <a:r>
                        <a:rPr sz="1000" b="0">
                          <a:solidFill>
                            <a:srgbClr val="262626"/>
                          </a:solidFill>
                          <a:latin typeface="游ゴシック"/>
                        </a:rPr>
                        <a:t>14</a:t>
                      </a:r>
                    </a:p>
                  </a:txBody>
                  <a:tcPr>
                    <a:solidFill>
                      <a:srgbClr val="A8C4C7"/>
                    </a:solidFill>
                  </a:tcPr>
                </a:tc>
                <a:tc>
                  <a:txBody>
                    <a:bodyPr/>
                    <a:lstStyle/>
                    <a:p>
                      <a:pPr algn="ctr"/>
                      <a:r>
                        <a:rPr sz="1000" b="1">
                          <a:solidFill>
                            <a:srgbClr val="262626"/>
                          </a:solidFill>
                          <a:latin typeface="游ゴシック"/>
                        </a:rPr>
                        <a:t>フレイル目的で評価をしていないため。機能、能力判定に評価をしている。</a:t>
                      </a:r>
                    </a:p>
                  </a:txBody>
                  <a:tcPr>
                    <a:solidFill>
                      <a:srgbClr val="A8C4C7"/>
                    </a:solidFill>
                  </a:tcPr>
                </a:tc>
              </a:tr>
              <a:tr h="303052">
                <a:tc>
                  <a:txBody>
                    <a:bodyPr/>
                    <a:lstStyle/>
                    <a:p>
                      <a:pPr algn="ctr"/>
                      <a:r>
                        <a:rPr sz="1000" b="0">
                          <a:solidFill>
                            <a:srgbClr val="262626"/>
                          </a:solidFill>
                          <a:latin typeface="游ゴシック"/>
                        </a:rPr>
                        <a:t>15</a:t>
                      </a:r>
                    </a:p>
                  </a:txBody>
                  <a:tcPr/>
                </a:tc>
                <a:tc>
                  <a:txBody>
                    <a:bodyPr/>
                    <a:lstStyle/>
                    <a:p>
                      <a:pPr algn="ctr"/>
                      <a:r>
                        <a:rPr sz="1000" b="1">
                          <a:solidFill>
                            <a:srgbClr val="262626"/>
                          </a:solidFill>
                          <a:latin typeface="游ゴシック"/>
                        </a:rPr>
                        <a:t>評価する時間がとれない</a:t>
                      </a:r>
                    </a:p>
                  </a:txBody>
                  <a:tcPr/>
                </a:tc>
              </a:tr>
              <a:tr h="303052">
                <a:tc>
                  <a:txBody>
                    <a:bodyPr/>
                    <a:lstStyle/>
                    <a:p>
                      <a:pPr algn="ctr"/>
                      <a:r>
                        <a:rPr sz="1000" b="0">
                          <a:solidFill>
                            <a:srgbClr val="262626"/>
                          </a:solidFill>
                          <a:latin typeface="游ゴシック"/>
                        </a:rPr>
                        <a:t>16</a:t>
                      </a:r>
                    </a:p>
                  </a:txBody>
                  <a:tcPr>
                    <a:solidFill>
                      <a:srgbClr val="A8C4C7"/>
                    </a:solidFill>
                  </a:tcPr>
                </a:tc>
                <a:tc>
                  <a:txBody>
                    <a:bodyPr/>
                    <a:lstStyle/>
                    <a:p>
                      <a:pPr algn="ctr"/>
                      <a:r>
                        <a:rPr sz="1000" b="1">
                          <a:solidFill>
                            <a:srgbClr val="262626"/>
                          </a:solidFill>
                          <a:latin typeface="游ゴシック"/>
                        </a:rPr>
                        <a:t>実施いている項目はあるが、フレイルの評価を目的としては行っていない。何故していないか、理由としては無いです。見直し予定ではあります。</a:t>
                      </a:r>
                    </a:p>
                  </a:txBody>
                  <a:tcPr>
                    <a:solidFill>
                      <a:srgbClr val="A8C4C7"/>
                    </a:solidFill>
                  </a:tcPr>
                </a:tc>
              </a:tr>
              <a:tr h="303052">
                <a:tc>
                  <a:txBody>
                    <a:bodyPr/>
                    <a:lstStyle/>
                    <a:p>
                      <a:pPr algn="ctr"/>
                      <a:r>
                        <a:rPr sz="1000" b="0">
                          <a:solidFill>
                            <a:srgbClr val="262626"/>
                          </a:solidFill>
                          <a:latin typeface="游ゴシック"/>
                        </a:rPr>
                        <a:t>17</a:t>
                      </a:r>
                    </a:p>
                  </a:txBody>
                  <a:tcPr/>
                </a:tc>
                <a:tc>
                  <a:txBody>
                    <a:bodyPr/>
                    <a:lstStyle/>
                    <a:p>
                      <a:pPr algn="ctr"/>
                      <a:r>
                        <a:rPr sz="1000" b="1">
                          <a:solidFill>
                            <a:srgbClr val="262626"/>
                          </a:solidFill>
                          <a:latin typeface="游ゴシック"/>
                        </a:rPr>
                        <a:t>急性期で痛みあり検査に至らない</a:t>
                      </a:r>
                    </a:p>
                  </a:txBody>
                  <a:tcPr/>
                </a:tc>
              </a:tr>
              <a:tr h="303052">
                <a:tc>
                  <a:txBody>
                    <a:bodyPr/>
                    <a:lstStyle/>
                    <a:p>
                      <a:pPr algn="ctr"/>
                      <a:r>
                        <a:rPr sz="1000" b="0">
                          <a:solidFill>
                            <a:srgbClr val="262626"/>
                          </a:solidFill>
                          <a:latin typeface="游ゴシック"/>
                        </a:rPr>
                        <a:t>18</a:t>
                      </a:r>
                    </a:p>
                  </a:txBody>
                  <a:tcPr>
                    <a:solidFill>
                      <a:srgbClr val="A8C4C7"/>
                    </a:solidFill>
                  </a:tcPr>
                </a:tc>
                <a:tc>
                  <a:txBody>
                    <a:bodyPr/>
                    <a:lstStyle/>
                    <a:p>
                      <a:pPr algn="ctr"/>
                      <a:r>
                        <a:rPr sz="1000" b="1">
                          <a:solidFill>
                            <a:srgbClr val="262626"/>
                          </a:solidFill>
                          <a:latin typeface="游ゴシック"/>
                        </a:rPr>
                        <a:t>フレイルに対する決まった評価項目を設けていない</a:t>
                      </a:r>
                    </a:p>
                  </a:txBody>
                  <a:tcPr>
                    <a:solidFill>
                      <a:srgbClr val="A8C4C7"/>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Q11-1.  「実施していない」を選択した方の理由【自由記述】  (2/3)</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19</a:t>
                      </a:r>
                    </a:p>
                  </a:txBody>
                  <a:tcPr/>
                </a:tc>
                <a:tc>
                  <a:txBody>
                    <a:bodyPr/>
                    <a:lstStyle/>
                    <a:p>
                      <a:pPr algn="ctr"/>
                      <a:r>
                        <a:rPr sz="1000" b="1">
                          <a:solidFill>
                            <a:srgbClr val="262626"/>
                          </a:solidFill>
                          <a:latin typeface="游ゴシック"/>
                        </a:rPr>
                        <a:t>職場としてお取り組みはないが、担当者の判断で実施することもある</a:t>
                      </a:r>
                    </a:p>
                  </a:txBody>
                  <a:tcPr/>
                </a:tc>
              </a:tr>
              <a:tr h="303052">
                <a:tc>
                  <a:txBody>
                    <a:bodyPr/>
                    <a:lstStyle/>
                    <a:p>
                      <a:pPr algn="ctr"/>
                      <a:r>
                        <a:rPr sz="1000" b="0">
                          <a:solidFill>
                            <a:srgbClr val="262626"/>
                          </a:solidFill>
                          <a:latin typeface="游ゴシック"/>
                        </a:rPr>
                        <a:t>20</a:t>
                      </a:r>
                    </a:p>
                  </a:txBody>
                  <a:tcPr>
                    <a:solidFill>
                      <a:srgbClr val="A8C4C7"/>
                    </a:solidFill>
                  </a:tcPr>
                </a:tc>
                <a:tc>
                  <a:txBody>
                    <a:bodyPr/>
                    <a:lstStyle/>
                    <a:p>
                      <a:pPr algn="ctr"/>
                      <a:r>
                        <a:rPr sz="1000" b="1">
                          <a:solidFill>
                            <a:srgbClr val="262626"/>
                          </a:solidFill>
                          <a:latin typeface="游ゴシック"/>
                        </a:rPr>
                        <a:t>フレイルの評価としては行っていない</a:t>
                      </a:r>
                    </a:p>
                  </a:txBody>
                  <a:tcPr>
                    <a:solidFill>
                      <a:srgbClr val="A8C4C7"/>
                    </a:solidFill>
                  </a:tcPr>
                </a:tc>
              </a:tr>
              <a:tr h="303052">
                <a:tc>
                  <a:txBody>
                    <a:bodyPr/>
                    <a:lstStyle/>
                    <a:p>
                      <a:pPr algn="ctr"/>
                      <a:r>
                        <a:rPr sz="1000" b="0">
                          <a:solidFill>
                            <a:srgbClr val="262626"/>
                          </a:solidFill>
                          <a:latin typeface="游ゴシック"/>
                        </a:rPr>
                        <a:t>21</a:t>
                      </a:r>
                    </a:p>
                  </a:txBody>
                  <a:tcPr/>
                </a:tc>
                <a:tc>
                  <a:txBody>
                    <a:bodyPr/>
                    <a:lstStyle/>
                    <a:p>
                      <a:pPr algn="ctr"/>
                      <a:r>
                        <a:rPr sz="1000" b="1">
                          <a:solidFill>
                            <a:srgbClr val="262626"/>
                          </a:solidFill>
                          <a:latin typeface="游ゴシック"/>
                        </a:rPr>
                        <a:t>フレイルに対する治療・評価の体制が整っていない。</a:t>
                      </a:r>
                    </a:p>
                  </a:txBody>
                  <a:tcPr/>
                </a:tc>
              </a:tr>
              <a:tr h="303052">
                <a:tc>
                  <a:txBody>
                    <a:bodyPr/>
                    <a:lstStyle/>
                    <a:p>
                      <a:pPr algn="ctr"/>
                      <a:r>
                        <a:rPr sz="1000" b="0">
                          <a:solidFill>
                            <a:srgbClr val="262626"/>
                          </a:solidFill>
                          <a:latin typeface="游ゴシック"/>
                        </a:rPr>
                        <a:t>22</a:t>
                      </a:r>
                    </a:p>
                  </a:txBody>
                  <a:tcPr>
                    <a:solidFill>
                      <a:srgbClr val="A8C4C7"/>
                    </a:solidFill>
                  </a:tcPr>
                </a:tc>
                <a:tc>
                  <a:txBody>
                    <a:bodyPr/>
                    <a:lstStyle/>
                    <a:p>
                      <a:pPr algn="ctr"/>
                      <a:r>
                        <a:rPr sz="1000" b="1">
                          <a:solidFill>
                            <a:srgbClr val="262626"/>
                          </a:solidFill>
                          <a:latin typeface="游ゴシック"/>
                        </a:rPr>
                        <a:t>フレイルの診断でリハビリが関わることが少ないため</a:t>
                      </a:r>
                    </a:p>
                  </a:txBody>
                  <a:tcPr>
                    <a:solidFill>
                      <a:srgbClr val="A8C4C7"/>
                    </a:solidFill>
                  </a:tcPr>
                </a:tc>
              </a:tr>
              <a:tr h="303052">
                <a:tc>
                  <a:txBody>
                    <a:bodyPr/>
                    <a:lstStyle/>
                    <a:p>
                      <a:pPr algn="ctr"/>
                      <a:r>
                        <a:rPr sz="1000" b="0">
                          <a:solidFill>
                            <a:srgbClr val="262626"/>
                          </a:solidFill>
                          <a:latin typeface="游ゴシック"/>
                        </a:rPr>
                        <a:t>23</a:t>
                      </a:r>
                    </a:p>
                  </a:txBody>
                  <a:tcPr/>
                </a:tc>
                <a:tc>
                  <a:txBody>
                    <a:bodyPr/>
                    <a:lstStyle/>
                    <a:p>
                      <a:pPr algn="ctr"/>
                      <a:r>
                        <a:rPr sz="1000" b="1">
                          <a:solidFill>
                            <a:srgbClr val="262626"/>
                          </a:solidFill>
                          <a:latin typeface="游ゴシック"/>
                        </a:rPr>
                        <a:t>入院前からフレイルの状態の方が多いため。</a:t>
                      </a:r>
                    </a:p>
                  </a:txBody>
                  <a:tcPr/>
                </a:tc>
              </a:tr>
              <a:tr h="303052">
                <a:tc>
                  <a:txBody>
                    <a:bodyPr/>
                    <a:lstStyle/>
                    <a:p>
                      <a:pPr algn="ctr"/>
                      <a:r>
                        <a:rPr sz="1000" b="0">
                          <a:solidFill>
                            <a:srgbClr val="262626"/>
                          </a:solidFill>
                          <a:latin typeface="游ゴシック"/>
                        </a:rPr>
                        <a:t>24</a:t>
                      </a:r>
                    </a:p>
                  </a:txBody>
                  <a:tcPr>
                    <a:solidFill>
                      <a:srgbClr val="A8C4C7"/>
                    </a:solidFill>
                  </a:tcPr>
                </a:tc>
                <a:tc>
                  <a:txBody>
                    <a:bodyPr/>
                    <a:lstStyle/>
                    <a:p>
                      <a:pPr algn="ctr"/>
                      <a:r>
                        <a:rPr sz="1000" b="1">
                          <a:solidFill>
                            <a:srgbClr val="262626"/>
                          </a:solidFill>
                          <a:latin typeface="游ゴシック"/>
                        </a:rPr>
                        <a:t>サルコペニアを評価しているため</a:t>
                      </a:r>
                    </a:p>
                  </a:txBody>
                  <a:tcPr>
                    <a:solidFill>
                      <a:srgbClr val="A8C4C7"/>
                    </a:solidFill>
                  </a:tcPr>
                </a:tc>
              </a:tr>
              <a:tr h="303052">
                <a:tc>
                  <a:txBody>
                    <a:bodyPr/>
                    <a:lstStyle/>
                    <a:p>
                      <a:pPr algn="ctr"/>
                      <a:r>
                        <a:rPr sz="1000" b="0">
                          <a:solidFill>
                            <a:srgbClr val="262626"/>
                          </a:solidFill>
                          <a:latin typeface="游ゴシック"/>
                        </a:rPr>
                        <a:t>25</a:t>
                      </a:r>
                    </a:p>
                  </a:txBody>
                  <a:tcPr/>
                </a:tc>
                <a:tc>
                  <a:txBody>
                    <a:bodyPr/>
                    <a:lstStyle/>
                    <a:p>
                      <a:pPr algn="ctr"/>
                      <a:r>
                        <a:rPr sz="1000" b="1">
                          <a:solidFill>
                            <a:srgbClr val="262626"/>
                          </a:solidFill>
                          <a:latin typeface="游ゴシック"/>
                        </a:rPr>
                        <a:t>必要に応じて行う検査もありますが、必須としていない</a:t>
                      </a:r>
                    </a:p>
                  </a:txBody>
                  <a:tcPr/>
                </a:tc>
              </a:tr>
              <a:tr h="303052">
                <a:tc>
                  <a:txBody>
                    <a:bodyPr/>
                    <a:lstStyle/>
                    <a:p>
                      <a:pPr algn="ctr"/>
                      <a:r>
                        <a:rPr sz="1000" b="0">
                          <a:solidFill>
                            <a:srgbClr val="262626"/>
                          </a:solidFill>
                          <a:latin typeface="游ゴシック"/>
                        </a:rPr>
                        <a:t>26</a:t>
                      </a:r>
                    </a:p>
                  </a:txBody>
                  <a:tcPr>
                    <a:solidFill>
                      <a:srgbClr val="A8C4C7"/>
                    </a:solidFill>
                  </a:tcPr>
                </a:tc>
                <a:tc>
                  <a:txBody>
                    <a:bodyPr/>
                    <a:lstStyle/>
                    <a:p>
                      <a:pPr algn="ctr"/>
                      <a:r>
                        <a:rPr sz="1000" b="1">
                          <a:solidFill>
                            <a:srgbClr val="262626"/>
                          </a:solidFill>
                          <a:latin typeface="游ゴシック"/>
                        </a:rPr>
                        <a:t>術後2週で回復期病院へ転院するため</a:t>
                      </a:r>
                    </a:p>
                  </a:txBody>
                  <a:tcPr>
                    <a:solidFill>
                      <a:srgbClr val="A8C4C7"/>
                    </a:solidFill>
                  </a:tcPr>
                </a:tc>
              </a:tr>
              <a:tr h="303052">
                <a:tc>
                  <a:txBody>
                    <a:bodyPr/>
                    <a:lstStyle/>
                    <a:p>
                      <a:pPr algn="ctr"/>
                      <a:r>
                        <a:rPr sz="1000" b="0">
                          <a:solidFill>
                            <a:srgbClr val="262626"/>
                          </a:solidFill>
                          <a:latin typeface="游ゴシック"/>
                        </a:rPr>
                        <a:t>27</a:t>
                      </a:r>
                    </a:p>
                  </a:txBody>
                  <a:tcPr/>
                </a:tc>
                <a:tc>
                  <a:txBody>
                    <a:bodyPr/>
                    <a:lstStyle/>
                    <a:p>
                      <a:pPr algn="ctr"/>
                      <a:r>
                        <a:rPr sz="1000" b="1">
                          <a:solidFill>
                            <a:srgbClr val="262626"/>
                          </a:solidFill>
                          <a:latin typeface="游ゴシック"/>
                        </a:rPr>
                        <a:t>急性期から回復期への転院が多く離床が主目的となるため</a:t>
                      </a:r>
                    </a:p>
                  </a:txBody>
                  <a:tcPr/>
                </a:tc>
              </a:tr>
              <a:tr h="303052">
                <a:tc>
                  <a:txBody>
                    <a:bodyPr/>
                    <a:lstStyle/>
                    <a:p>
                      <a:pPr algn="ctr"/>
                      <a:r>
                        <a:rPr sz="1000" b="0">
                          <a:solidFill>
                            <a:srgbClr val="262626"/>
                          </a:solidFill>
                          <a:latin typeface="游ゴシック"/>
                        </a:rPr>
                        <a:t>28</a:t>
                      </a:r>
                    </a:p>
                  </a:txBody>
                  <a:tcPr>
                    <a:solidFill>
                      <a:srgbClr val="A8C4C7"/>
                    </a:solidFill>
                  </a:tcPr>
                </a:tc>
                <a:tc>
                  <a:txBody>
                    <a:bodyPr/>
                    <a:lstStyle/>
                    <a:p>
                      <a:pPr algn="ctr"/>
                      <a:r>
                        <a:rPr sz="1000" b="1">
                          <a:solidFill>
                            <a:srgbClr val="262626"/>
                          </a:solidFill>
                          <a:latin typeface="游ゴシック"/>
                        </a:rPr>
                        <a:t>知識不足</a:t>
                      </a:r>
                    </a:p>
                  </a:txBody>
                  <a:tcPr>
                    <a:solidFill>
                      <a:srgbClr val="A8C4C7"/>
                    </a:solidFill>
                  </a:tcPr>
                </a:tc>
              </a:tr>
              <a:tr h="303052">
                <a:tc>
                  <a:txBody>
                    <a:bodyPr/>
                    <a:lstStyle/>
                    <a:p>
                      <a:pPr algn="ctr"/>
                      <a:r>
                        <a:rPr sz="1000" b="0">
                          <a:solidFill>
                            <a:srgbClr val="262626"/>
                          </a:solidFill>
                          <a:latin typeface="游ゴシック"/>
                        </a:rPr>
                        <a:t>29</a:t>
                      </a:r>
                    </a:p>
                  </a:txBody>
                  <a:tcPr/>
                </a:tc>
                <a:tc>
                  <a:txBody>
                    <a:bodyPr/>
                    <a:lstStyle/>
                    <a:p>
                      <a:pPr algn="ctr"/>
                      <a:r>
                        <a:rPr sz="1000" b="1">
                          <a:solidFill>
                            <a:srgbClr val="262626"/>
                          </a:solidFill>
                          <a:latin typeface="游ゴシック"/>
                        </a:rPr>
                        <a:t>ルーティン化した評価はなし。個人によってばらつきあり。</a:t>
                      </a:r>
                    </a:p>
                  </a:txBody>
                  <a:tcPr/>
                </a:tc>
              </a:tr>
              <a:tr h="303052">
                <a:tc>
                  <a:txBody>
                    <a:bodyPr/>
                    <a:lstStyle/>
                    <a:p>
                      <a:pPr algn="ctr"/>
                      <a:r>
                        <a:rPr sz="1000" b="0">
                          <a:solidFill>
                            <a:srgbClr val="262626"/>
                          </a:solidFill>
                          <a:latin typeface="游ゴシック"/>
                        </a:rPr>
                        <a:t>30</a:t>
                      </a:r>
                    </a:p>
                  </a:txBody>
                  <a:tcPr>
                    <a:solidFill>
                      <a:srgbClr val="A8C4C7"/>
                    </a:solidFill>
                  </a:tcPr>
                </a:tc>
                <a:tc>
                  <a:txBody>
                    <a:bodyPr/>
                    <a:lstStyle/>
                    <a:p>
                      <a:pPr algn="ctr"/>
                      <a:r>
                        <a:rPr sz="1000" b="1">
                          <a:solidFill>
                            <a:srgbClr val="262626"/>
                          </a:solidFill>
                          <a:latin typeface="游ゴシック"/>
                        </a:rPr>
                        <a:t>術後評価としていくつかの項目の評価はするも、フレイルの評価としては実施していない</a:t>
                      </a:r>
                    </a:p>
                  </a:txBody>
                  <a:tcPr>
                    <a:solidFill>
                      <a:srgbClr val="A8C4C7"/>
                    </a:solidFill>
                  </a:tcPr>
                </a:tc>
              </a:tr>
              <a:tr h="303052">
                <a:tc>
                  <a:txBody>
                    <a:bodyPr/>
                    <a:lstStyle/>
                    <a:p>
                      <a:pPr algn="ctr"/>
                      <a:r>
                        <a:rPr sz="1000" b="0">
                          <a:solidFill>
                            <a:srgbClr val="262626"/>
                          </a:solidFill>
                          <a:latin typeface="游ゴシック"/>
                        </a:rPr>
                        <a:t>31</a:t>
                      </a:r>
                    </a:p>
                  </a:txBody>
                  <a:tcPr/>
                </a:tc>
                <a:tc>
                  <a:txBody>
                    <a:bodyPr/>
                    <a:lstStyle/>
                    <a:p>
                      <a:pPr algn="ctr"/>
                      <a:r>
                        <a:rPr sz="1000" b="1">
                          <a:solidFill>
                            <a:srgbClr val="262626"/>
                          </a:solidFill>
                          <a:latin typeface="游ゴシック"/>
                        </a:rPr>
                        <a:t>フレイルの評価をしていない</a:t>
                      </a:r>
                    </a:p>
                  </a:txBody>
                  <a:tcPr/>
                </a:tc>
              </a:tr>
              <a:tr h="303052">
                <a:tc>
                  <a:txBody>
                    <a:bodyPr/>
                    <a:lstStyle/>
                    <a:p>
                      <a:pPr algn="ctr"/>
                      <a:r>
                        <a:rPr sz="1000" b="0">
                          <a:solidFill>
                            <a:srgbClr val="262626"/>
                          </a:solidFill>
                          <a:latin typeface="游ゴシック"/>
                        </a:rPr>
                        <a:t>32</a:t>
                      </a:r>
                    </a:p>
                  </a:txBody>
                  <a:tcPr>
                    <a:solidFill>
                      <a:srgbClr val="A8C4C7"/>
                    </a:solidFill>
                  </a:tcPr>
                </a:tc>
                <a:tc>
                  <a:txBody>
                    <a:bodyPr/>
                    <a:lstStyle/>
                    <a:p>
                      <a:pPr algn="ctr"/>
                      <a:r>
                        <a:rPr sz="1000" b="1">
                          <a:solidFill>
                            <a:srgbClr val="262626"/>
                          </a:solidFill>
                          <a:latin typeface="游ゴシック"/>
                        </a:rPr>
                        <a:t>実施する基準がない</a:t>
                      </a:r>
                    </a:p>
                  </a:txBody>
                  <a:tcPr>
                    <a:solidFill>
                      <a:srgbClr val="A8C4C7"/>
                    </a:solidFill>
                  </a:tcPr>
                </a:tc>
              </a:tr>
              <a:tr h="303052">
                <a:tc>
                  <a:txBody>
                    <a:bodyPr/>
                    <a:lstStyle/>
                    <a:p>
                      <a:pPr algn="ctr"/>
                      <a:r>
                        <a:rPr sz="1000" b="0">
                          <a:solidFill>
                            <a:srgbClr val="262626"/>
                          </a:solidFill>
                          <a:latin typeface="游ゴシック"/>
                        </a:rPr>
                        <a:t>33</a:t>
                      </a:r>
                    </a:p>
                  </a:txBody>
                  <a:tcPr/>
                </a:tc>
                <a:tc>
                  <a:txBody>
                    <a:bodyPr/>
                    <a:lstStyle/>
                    <a:p>
                      <a:pPr algn="ctr"/>
                      <a:r>
                        <a:rPr sz="1000" b="1">
                          <a:solidFill>
                            <a:srgbClr val="262626"/>
                          </a:solidFill>
                          <a:latin typeface="游ゴシック"/>
                        </a:rPr>
                        <a:t>時間的余裕がないため</a:t>
                      </a:r>
                    </a:p>
                  </a:txBody>
                  <a:tcPr/>
                </a:tc>
              </a:tr>
              <a:tr h="303052">
                <a:tc>
                  <a:txBody>
                    <a:bodyPr/>
                    <a:lstStyle/>
                    <a:p>
                      <a:pPr algn="ctr"/>
                      <a:r>
                        <a:rPr sz="1000" b="0">
                          <a:solidFill>
                            <a:srgbClr val="262626"/>
                          </a:solidFill>
                          <a:latin typeface="游ゴシック"/>
                        </a:rPr>
                        <a:t>34</a:t>
                      </a:r>
                    </a:p>
                  </a:txBody>
                  <a:tcPr>
                    <a:solidFill>
                      <a:srgbClr val="A8C4C7"/>
                    </a:solidFill>
                  </a:tcPr>
                </a:tc>
                <a:tc>
                  <a:txBody>
                    <a:bodyPr/>
                    <a:lstStyle/>
                    <a:p>
                      <a:pPr algn="ctr"/>
                      <a:r>
                        <a:rPr sz="1000" b="1">
                          <a:solidFill>
                            <a:srgbClr val="262626"/>
                          </a:solidFill>
                          <a:latin typeface="游ゴシック"/>
                        </a:rPr>
                        <a:t>「フレイルの評価」として行なっているわけではないため</a:t>
                      </a:r>
                    </a:p>
                  </a:txBody>
                  <a:tcPr>
                    <a:solidFill>
                      <a:srgbClr val="A8C4C7"/>
                    </a:solidFill>
                  </a:tcPr>
                </a:tc>
              </a:tr>
              <a:tr h="303052">
                <a:tc>
                  <a:txBody>
                    <a:bodyPr/>
                    <a:lstStyle/>
                    <a:p>
                      <a:pPr algn="ctr"/>
                      <a:r>
                        <a:rPr sz="1000" b="0">
                          <a:solidFill>
                            <a:srgbClr val="262626"/>
                          </a:solidFill>
                          <a:latin typeface="游ゴシック"/>
                        </a:rPr>
                        <a:t>35</a:t>
                      </a:r>
                    </a:p>
                  </a:txBody>
                  <a:tcPr/>
                </a:tc>
                <a:tc>
                  <a:txBody>
                    <a:bodyPr/>
                    <a:lstStyle/>
                    <a:p>
                      <a:pPr algn="ctr"/>
                      <a:r>
                        <a:rPr sz="1000" b="1">
                          <a:solidFill>
                            <a:srgbClr val="262626"/>
                          </a:solidFill>
                          <a:latin typeface="游ゴシック"/>
                        </a:rPr>
                        <a:t>特に検討したことがないため</a:t>
                      </a:r>
                    </a:p>
                  </a:txBody>
                  <a:tcPr/>
                </a:tc>
              </a:tr>
              <a:tr h="303052">
                <a:tc>
                  <a:txBody>
                    <a:bodyPr/>
                    <a:lstStyle/>
                    <a:p>
                      <a:pPr algn="ctr"/>
                      <a:r>
                        <a:rPr sz="1000" b="0">
                          <a:solidFill>
                            <a:srgbClr val="262626"/>
                          </a:solidFill>
                          <a:latin typeface="游ゴシック"/>
                        </a:rPr>
                        <a:t>36</a:t>
                      </a:r>
                    </a:p>
                  </a:txBody>
                  <a:tcPr>
                    <a:solidFill>
                      <a:srgbClr val="A8C4C7"/>
                    </a:solidFill>
                  </a:tcPr>
                </a:tc>
                <a:tc>
                  <a:txBody>
                    <a:bodyPr/>
                    <a:lstStyle/>
                    <a:p>
                      <a:pPr algn="ctr"/>
                      <a:r>
                        <a:rPr sz="1000" b="1">
                          <a:solidFill>
                            <a:srgbClr val="262626"/>
                          </a:solidFill>
                          <a:latin typeface="游ゴシック"/>
                        </a:rPr>
                        <a:t>後述の転倒リスク評価を実施しているため、フレイルという観点では評価していない。</a:t>
                      </a:r>
                    </a:p>
                  </a:txBody>
                  <a:tcPr>
                    <a:solidFill>
                      <a:srgbClr val="A8C4C7"/>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Q11-1.  「実施していない」を選択した方の理由【自由記述】  (3/3)</a:t>
            </a:r>
          </a:p>
        </p:txBody>
      </p:sp>
      <p:graphicFrame>
        <p:nvGraphicFramePr>
          <p:cNvPr id="3" name="Table 2"/>
          <p:cNvGraphicFramePr>
            <a:graphicFrameLocks noGrp="1"/>
          </p:cNvGraphicFramePr>
          <p:nvPr/>
        </p:nvGraphicFramePr>
        <p:xfrm>
          <a:off x="200000" y="950000"/>
          <a:ext cx="11377800" cy="5757984"/>
        </p:xfrm>
        <a:graphic>
          <a:graphicData uri="http://schemas.openxmlformats.org/drawingml/2006/table">
            <a:tbl>
              <a:tblPr firstRow="1" bandRow="1">
                <a:tableStyleId>{5C22544A-7EE6-4342-B048-85BDC9FD1C3A}</a:tableStyleId>
              </a:tblPr>
              <a:tblGrid>
                <a:gridCol w="685800"/>
                <a:gridCol w="10692000"/>
              </a:tblGrid>
              <a:tr h="319888">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19888">
                <a:tc>
                  <a:txBody>
                    <a:bodyPr/>
                    <a:lstStyle/>
                    <a:p>
                      <a:pPr algn="ctr"/>
                      <a:r>
                        <a:rPr sz="1000" b="0">
                          <a:solidFill>
                            <a:srgbClr val="262626"/>
                          </a:solidFill>
                          <a:latin typeface="游ゴシック"/>
                        </a:rPr>
                        <a:t>37</a:t>
                      </a:r>
                    </a:p>
                  </a:txBody>
                  <a:tcPr/>
                </a:tc>
                <a:tc>
                  <a:txBody>
                    <a:bodyPr/>
                    <a:lstStyle/>
                    <a:p>
                      <a:pPr algn="ctr"/>
                      <a:r>
                        <a:rPr sz="1000" b="1">
                          <a:solidFill>
                            <a:srgbClr val="262626"/>
                          </a:solidFill>
                          <a:latin typeface="游ゴシック"/>
                        </a:rPr>
                        <a:t>必要と感じていないため</a:t>
                      </a:r>
                    </a:p>
                  </a:txBody>
                  <a:tcPr/>
                </a:tc>
              </a:tr>
              <a:tr h="319888">
                <a:tc>
                  <a:txBody>
                    <a:bodyPr/>
                    <a:lstStyle/>
                    <a:p>
                      <a:pPr algn="ctr"/>
                      <a:r>
                        <a:rPr sz="1000" b="0">
                          <a:solidFill>
                            <a:srgbClr val="262626"/>
                          </a:solidFill>
                          <a:latin typeface="游ゴシック"/>
                        </a:rPr>
                        <a:t>38</a:t>
                      </a:r>
                    </a:p>
                  </a:txBody>
                  <a:tcPr>
                    <a:solidFill>
                      <a:srgbClr val="A8C4C7"/>
                    </a:solidFill>
                  </a:tcPr>
                </a:tc>
                <a:tc>
                  <a:txBody>
                    <a:bodyPr/>
                    <a:lstStyle/>
                    <a:p>
                      <a:pPr algn="ctr"/>
                      <a:r>
                        <a:rPr sz="1000" b="1">
                          <a:solidFill>
                            <a:srgbClr val="262626"/>
                          </a:solidFill>
                          <a:latin typeface="游ゴシック"/>
                        </a:rPr>
                        <a:t>フレイルの評価として特に決めているものはないため</a:t>
                      </a:r>
                    </a:p>
                  </a:txBody>
                  <a:tcPr>
                    <a:solidFill>
                      <a:srgbClr val="A8C4C7"/>
                    </a:solidFill>
                  </a:tcPr>
                </a:tc>
              </a:tr>
              <a:tr h="319888">
                <a:tc>
                  <a:txBody>
                    <a:bodyPr/>
                    <a:lstStyle/>
                    <a:p>
                      <a:pPr algn="ctr"/>
                      <a:r>
                        <a:rPr sz="1000" b="0">
                          <a:solidFill>
                            <a:srgbClr val="262626"/>
                          </a:solidFill>
                          <a:latin typeface="游ゴシック"/>
                        </a:rPr>
                        <a:t>39</a:t>
                      </a:r>
                    </a:p>
                  </a:txBody>
                  <a:tcPr/>
                </a:tc>
                <a:tc>
                  <a:txBody>
                    <a:bodyPr/>
                    <a:lstStyle/>
                    <a:p>
                      <a:pPr algn="ctr"/>
                      <a:r>
                        <a:rPr sz="1000" b="1">
                          <a:solidFill>
                            <a:srgbClr val="262626"/>
                          </a:solidFill>
                          <a:latin typeface="游ゴシック"/>
                        </a:rPr>
                        <a:t>業務として標準化されておらず、実施していない。</a:t>
                      </a:r>
                    </a:p>
                  </a:txBody>
                  <a:tcPr/>
                </a:tc>
              </a:tr>
              <a:tr h="319888">
                <a:tc>
                  <a:txBody>
                    <a:bodyPr/>
                    <a:lstStyle/>
                    <a:p>
                      <a:pPr algn="ctr"/>
                      <a:r>
                        <a:rPr sz="1000" b="0">
                          <a:solidFill>
                            <a:srgbClr val="262626"/>
                          </a:solidFill>
                          <a:latin typeface="游ゴシック"/>
                        </a:rPr>
                        <a:t>40</a:t>
                      </a:r>
                    </a:p>
                  </a:txBody>
                  <a:tcPr>
                    <a:solidFill>
                      <a:srgbClr val="A8C4C7"/>
                    </a:solidFill>
                  </a:tcPr>
                </a:tc>
                <a:tc>
                  <a:txBody>
                    <a:bodyPr/>
                    <a:lstStyle/>
                    <a:p>
                      <a:pPr algn="ctr"/>
                      <a:r>
                        <a:rPr sz="1000" b="1">
                          <a:solidFill>
                            <a:srgbClr val="262626"/>
                          </a:solidFill>
                          <a:latin typeface="游ゴシック"/>
                        </a:rPr>
                        <a:t>フレイル目的で評価していない為、実際は実施している項目あり</a:t>
                      </a:r>
                    </a:p>
                  </a:txBody>
                  <a:tcPr>
                    <a:solidFill>
                      <a:srgbClr val="A8C4C7"/>
                    </a:solidFill>
                  </a:tcPr>
                </a:tc>
              </a:tr>
              <a:tr h="319888">
                <a:tc>
                  <a:txBody>
                    <a:bodyPr/>
                    <a:lstStyle/>
                    <a:p>
                      <a:pPr algn="ctr"/>
                      <a:r>
                        <a:rPr sz="1000" b="0">
                          <a:solidFill>
                            <a:srgbClr val="262626"/>
                          </a:solidFill>
                          <a:latin typeface="游ゴシック"/>
                        </a:rPr>
                        <a:t>41</a:t>
                      </a:r>
                    </a:p>
                  </a:txBody>
                  <a:tcPr/>
                </a:tc>
                <a:tc>
                  <a:txBody>
                    <a:bodyPr/>
                    <a:lstStyle/>
                    <a:p>
                      <a:pPr algn="ctr"/>
                      <a:r>
                        <a:rPr sz="1000" b="1">
                          <a:solidFill>
                            <a:srgbClr val="262626"/>
                          </a:solidFill>
                          <a:latin typeface="游ゴシック"/>
                        </a:rPr>
                        <a:t>回答なし</a:t>
                      </a:r>
                    </a:p>
                  </a:txBody>
                  <a:tcPr/>
                </a:tc>
              </a:tr>
              <a:tr h="319888">
                <a:tc>
                  <a:txBody>
                    <a:bodyPr/>
                    <a:lstStyle/>
                    <a:p>
                      <a:pPr algn="ctr"/>
                      <a:r>
                        <a:rPr sz="1000" b="0">
                          <a:solidFill>
                            <a:srgbClr val="262626"/>
                          </a:solidFill>
                          <a:latin typeface="游ゴシック"/>
                        </a:rPr>
                        <a:t>42</a:t>
                      </a:r>
                    </a:p>
                  </a:txBody>
                  <a:tcPr>
                    <a:solidFill>
                      <a:srgbClr val="A8C4C7"/>
                    </a:solidFill>
                  </a:tcPr>
                </a:tc>
                <a:tc>
                  <a:txBody>
                    <a:bodyPr/>
                    <a:lstStyle/>
                    <a:p>
                      <a:pPr algn="ctr"/>
                      <a:r>
                        <a:rPr sz="1000" b="1">
                          <a:solidFill>
                            <a:srgbClr val="262626"/>
                          </a:solidFill>
                          <a:latin typeface="游ゴシック"/>
                        </a:rPr>
                        <a:t>病院としてリハ算定対象ではないため実施していない</a:t>
                      </a:r>
                    </a:p>
                  </a:txBody>
                  <a:tcPr>
                    <a:solidFill>
                      <a:srgbClr val="A8C4C7"/>
                    </a:solidFill>
                  </a:tcPr>
                </a:tc>
              </a:tr>
              <a:tr h="319888">
                <a:tc>
                  <a:txBody>
                    <a:bodyPr/>
                    <a:lstStyle/>
                    <a:p>
                      <a:pPr algn="ctr"/>
                      <a:r>
                        <a:rPr sz="1000" b="0">
                          <a:solidFill>
                            <a:srgbClr val="262626"/>
                          </a:solidFill>
                          <a:latin typeface="游ゴシック"/>
                        </a:rPr>
                        <a:t>43</a:t>
                      </a:r>
                    </a:p>
                  </a:txBody>
                  <a:tcPr/>
                </a:tc>
                <a:tc>
                  <a:txBody>
                    <a:bodyPr/>
                    <a:lstStyle/>
                    <a:p>
                      <a:pPr algn="ctr"/>
                      <a:r>
                        <a:rPr sz="1000" b="1">
                          <a:solidFill>
                            <a:srgbClr val="262626"/>
                          </a:solidFill>
                          <a:latin typeface="游ゴシック"/>
                        </a:rPr>
                        <a:t>器具の使用やより簡略化した評価方法があれば検討する。</a:t>
                      </a:r>
                    </a:p>
                  </a:txBody>
                  <a:tcPr/>
                </a:tc>
              </a:tr>
              <a:tr h="319888">
                <a:tc>
                  <a:txBody>
                    <a:bodyPr/>
                    <a:lstStyle/>
                    <a:p>
                      <a:pPr algn="ctr"/>
                      <a:r>
                        <a:rPr sz="1000" b="0">
                          <a:solidFill>
                            <a:srgbClr val="262626"/>
                          </a:solidFill>
                          <a:latin typeface="游ゴシック"/>
                        </a:rPr>
                        <a:t>44</a:t>
                      </a:r>
                    </a:p>
                  </a:txBody>
                  <a:tcPr>
                    <a:solidFill>
                      <a:srgbClr val="A8C4C7"/>
                    </a:solidFill>
                  </a:tcPr>
                </a:tc>
                <a:tc>
                  <a:txBody>
                    <a:bodyPr/>
                    <a:lstStyle/>
                    <a:p>
                      <a:pPr algn="ctr"/>
                      <a:r>
                        <a:rPr sz="1000" b="1">
                          <a:solidFill>
                            <a:srgbClr val="262626"/>
                          </a:solidFill>
                          <a:latin typeface="游ゴシック"/>
                        </a:rPr>
                        <a:t>受傷前との比較が行えないため</a:t>
                      </a:r>
                    </a:p>
                  </a:txBody>
                  <a:tcPr>
                    <a:solidFill>
                      <a:srgbClr val="A8C4C7"/>
                    </a:solidFill>
                  </a:tcPr>
                </a:tc>
              </a:tr>
              <a:tr h="319888">
                <a:tc>
                  <a:txBody>
                    <a:bodyPr/>
                    <a:lstStyle/>
                    <a:p>
                      <a:pPr algn="ctr"/>
                      <a:r>
                        <a:rPr sz="1000" b="0">
                          <a:solidFill>
                            <a:srgbClr val="262626"/>
                          </a:solidFill>
                          <a:latin typeface="游ゴシック"/>
                        </a:rPr>
                        <a:t>45</a:t>
                      </a:r>
                    </a:p>
                  </a:txBody>
                  <a:tcPr/>
                </a:tc>
                <a:tc>
                  <a:txBody>
                    <a:bodyPr/>
                    <a:lstStyle/>
                    <a:p>
                      <a:pPr algn="ctr"/>
                      <a:r>
                        <a:rPr sz="1000" b="1">
                          <a:solidFill>
                            <a:srgbClr val="262626"/>
                          </a:solidFill>
                          <a:latin typeface="游ゴシック"/>
                        </a:rPr>
                        <a:t>急性期評価主体のため</a:t>
                      </a:r>
                    </a:p>
                  </a:txBody>
                  <a:tcPr/>
                </a:tc>
              </a:tr>
              <a:tr h="319888">
                <a:tc>
                  <a:txBody>
                    <a:bodyPr/>
                    <a:lstStyle/>
                    <a:p>
                      <a:pPr algn="ctr"/>
                      <a:r>
                        <a:rPr sz="1000" b="0">
                          <a:solidFill>
                            <a:srgbClr val="262626"/>
                          </a:solidFill>
                          <a:latin typeface="游ゴシック"/>
                        </a:rPr>
                        <a:t>46</a:t>
                      </a:r>
                    </a:p>
                  </a:txBody>
                  <a:tcPr>
                    <a:solidFill>
                      <a:srgbClr val="A8C4C7"/>
                    </a:solidFill>
                  </a:tcPr>
                </a:tc>
                <a:tc>
                  <a:txBody>
                    <a:bodyPr/>
                    <a:lstStyle/>
                    <a:p>
                      <a:pPr algn="ctr"/>
                      <a:r>
                        <a:rPr sz="1000" b="1">
                          <a:solidFill>
                            <a:srgbClr val="262626"/>
                          </a:solidFill>
                          <a:latin typeface="游ゴシック"/>
                        </a:rPr>
                        <a:t>時間的余裕がない</a:t>
                      </a:r>
                    </a:p>
                  </a:txBody>
                  <a:tcPr>
                    <a:solidFill>
                      <a:srgbClr val="A8C4C7"/>
                    </a:solidFill>
                  </a:tcPr>
                </a:tc>
              </a:tr>
              <a:tr h="319888">
                <a:tc>
                  <a:txBody>
                    <a:bodyPr/>
                    <a:lstStyle/>
                    <a:p>
                      <a:pPr algn="ctr"/>
                      <a:r>
                        <a:rPr sz="1000" b="0">
                          <a:solidFill>
                            <a:srgbClr val="262626"/>
                          </a:solidFill>
                          <a:latin typeface="游ゴシック"/>
                        </a:rPr>
                        <a:t>47</a:t>
                      </a:r>
                    </a:p>
                  </a:txBody>
                  <a:tcPr/>
                </a:tc>
                <a:tc>
                  <a:txBody>
                    <a:bodyPr/>
                    <a:lstStyle/>
                    <a:p>
                      <a:pPr algn="ctr"/>
                      <a:r>
                        <a:rPr sz="1000" b="1">
                          <a:solidFill>
                            <a:srgbClr val="262626"/>
                          </a:solidFill>
                          <a:latin typeface="游ゴシック"/>
                        </a:rPr>
                        <a:t>他の評価を行っている</a:t>
                      </a:r>
                    </a:p>
                  </a:txBody>
                  <a:tcPr/>
                </a:tc>
              </a:tr>
              <a:tr h="319888">
                <a:tc>
                  <a:txBody>
                    <a:bodyPr/>
                    <a:lstStyle/>
                    <a:p>
                      <a:pPr algn="ctr"/>
                      <a:r>
                        <a:rPr sz="1000" b="0">
                          <a:solidFill>
                            <a:srgbClr val="262626"/>
                          </a:solidFill>
                          <a:latin typeface="游ゴシック"/>
                        </a:rPr>
                        <a:t>48</a:t>
                      </a:r>
                    </a:p>
                  </a:txBody>
                  <a:tcPr>
                    <a:solidFill>
                      <a:srgbClr val="A8C4C7"/>
                    </a:solidFill>
                  </a:tcPr>
                </a:tc>
                <a:tc>
                  <a:txBody>
                    <a:bodyPr/>
                    <a:lstStyle/>
                    <a:p>
                      <a:pPr algn="ctr"/>
                      <a:r>
                        <a:rPr sz="1000" b="1">
                          <a:solidFill>
                            <a:srgbClr val="262626"/>
                          </a:solidFill>
                          <a:latin typeface="游ゴシック"/>
                        </a:rPr>
                        <a:t>一般的な評価は実施しているがフレイルの評価としては実施していない。</a:t>
                      </a:r>
                    </a:p>
                  </a:txBody>
                  <a:tcPr>
                    <a:solidFill>
                      <a:srgbClr val="A8C4C7"/>
                    </a:solidFill>
                  </a:tcPr>
                </a:tc>
              </a:tr>
              <a:tr h="319888">
                <a:tc>
                  <a:txBody>
                    <a:bodyPr/>
                    <a:lstStyle/>
                    <a:p>
                      <a:pPr algn="ctr"/>
                      <a:r>
                        <a:rPr sz="1000" b="0">
                          <a:solidFill>
                            <a:srgbClr val="262626"/>
                          </a:solidFill>
                          <a:latin typeface="游ゴシック"/>
                        </a:rPr>
                        <a:t>49</a:t>
                      </a:r>
                    </a:p>
                  </a:txBody>
                  <a:tcPr/>
                </a:tc>
                <a:tc>
                  <a:txBody>
                    <a:bodyPr/>
                    <a:lstStyle/>
                    <a:p>
                      <a:pPr algn="ctr"/>
                      <a:r>
                        <a:rPr sz="1000" b="1">
                          <a:solidFill>
                            <a:srgbClr val="262626"/>
                          </a:solidFill>
                          <a:latin typeface="游ゴシック"/>
                        </a:rPr>
                        <a:t>フレイルの評価は実施していないため</a:t>
                      </a:r>
                    </a:p>
                  </a:txBody>
                  <a:tcPr/>
                </a:tc>
              </a:tr>
              <a:tr h="319888">
                <a:tc>
                  <a:txBody>
                    <a:bodyPr/>
                    <a:lstStyle/>
                    <a:p>
                      <a:pPr algn="ctr"/>
                      <a:r>
                        <a:rPr sz="1000" b="0">
                          <a:solidFill>
                            <a:srgbClr val="262626"/>
                          </a:solidFill>
                          <a:latin typeface="游ゴシック"/>
                        </a:rPr>
                        <a:t>50</a:t>
                      </a:r>
                    </a:p>
                  </a:txBody>
                  <a:tcPr>
                    <a:solidFill>
                      <a:srgbClr val="A8C4C7"/>
                    </a:solidFill>
                  </a:tcPr>
                </a:tc>
                <a:tc>
                  <a:txBody>
                    <a:bodyPr/>
                    <a:lstStyle/>
                    <a:p>
                      <a:pPr algn="ctr"/>
                      <a:r>
                        <a:rPr sz="1000" b="1">
                          <a:solidFill>
                            <a:srgbClr val="262626"/>
                          </a:solidFill>
                          <a:latin typeface="游ゴシック"/>
                        </a:rPr>
                        <a:t>認知症患者が半数以上を占めており、評価が難しいため。</a:t>
                      </a:r>
                    </a:p>
                  </a:txBody>
                  <a:tcPr>
                    <a:solidFill>
                      <a:srgbClr val="A8C4C7"/>
                    </a:solidFill>
                  </a:tcPr>
                </a:tc>
              </a:tr>
              <a:tr h="319888">
                <a:tc>
                  <a:txBody>
                    <a:bodyPr/>
                    <a:lstStyle/>
                    <a:p>
                      <a:pPr algn="ctr"/>
                      <a:r>
                        <a:rPr sz="1000" b="0">
                          <a:solidFill>
                            <a:srgbClr val="262626"/>
                          </a:solidFill>
                          <a:latin typeface="游ゴシック"/>
                        </a:rPr>
                        <a:t>51</a:t>
                      </a:r>
                    </a:p>
                  </a:txBody>
                  <a:tcPr/>
                </a:tc>
                <a:tc>
                  <a:txBody>
                    <a:bodyPr/>
                    <a:lstStyle/>
                    <a:p>
                      <a:pPr algn="ctr"/>
                      <a:r>
                        <a:rPr sz="1000" b="1">
                          <a:solidFill>
                            <a:srgbClr val="262626"/>
                          </a:solidFill>
                          <a:latin typeface="游ゴシック"/>
                        </a:rPr>
                        <a:t>身体機能的にフレイル評価を出来る患者が少ないため</a:t>
                      </a:r>
                    </a:p>
                  </a:txBody>
                  <a:tcPr/>
                </a:tc>
              </a:tr>
              <a:tr h="319888">
                <a:tc>
                  <a:txBody>
                    <a:bodyPr/>
                    <a:lstStyle/>
                    <a:p>
                      <a:pPr algn="ctr"/>
                      <a:r>
                        <a:rPr sz="1000" b="0">
                          <a:solidFill>
                            <a:srgbClr val="262626"/>
                          </a:solidFill>
                          <a:latin typeface="游ゴシック"/>
                        </a:rPr>
                        <a:t>52</a:t>
                      </a:r>
                    </a:p>
                  </a:txBody>
                  <a:tcPr>
                    <a:solidFill>
                      <a:srgbClr val="A8C4C7"/>
                    </a:solidFill>
                  </a:tcPr>
                </a:tc>
                <a:tc>
                  <a:txBody>
                    <a:bodyPr/>
                    <a:lstStyle/>
                    <a:p>
                      <a:pPr algn="ctr"/>
                      <a:r>
                        <a:rPr sz="1000" b="1">
                          <a:solidFill>
                            <a:srgbClr val="262626"/>
                          </a:solidFill>
                          <a:latin typeface="游ゴシック"/>
                        </a:rPr>
                        <a:t>急性期において、評価をすることでリハビリテーションの内容に変化があるとは考えにくく、個人の状態によって対応することが望ましいと考えます。評価のための評価に手をかけず、訓練時間を有効に使いたい。急性期における予後予測として有効であるならば、検討したい。</a:t>
                      </a:r>
                    </a:p>
                  </a:txBody>
                  <a:tcPr>
                    <a:solidFill>
                      <a:srgbClr val="A8C4C7"/>
                    </a:solidFill>
                  </a:tcPr>
                </a:tc>
              </a:tr>
              <a:tr h="319888">
                <a:tc>
                  <a:txBody>
                    <a:bodyPr/>
                    <a:lstStyle/>
                    <a:p>
                      <a:pPr algn="ctr"/>
                      <a:r>
                        <a:rPr sz="1000" b="0">
                          <a:solidFill>
                            <a:srgbClr val="262626"/>
                          </a:solidFill>
                          <a:latin typeface="游ゴシック"/>
                        </a:rPr>
                        <a:t>53</a:t>
                      </a:r>
                    </a:p>
                  </a:txBody>
                  <a:tcPr/>
                </a:tc>
                <a:tc>
                  <a:txBody>
                    <a:bodyPr/>
                    <a:lstStyle/>
                    <a:p>
                      <a:pPr algn="ctr"/>
                      <a:r>
                        <a:rPr sz="1000" b="1">
                          <a:solidFill>
                            <a:srgbClr val="262626"/>
                          </a:solidFill>
                          <a:latin typeface="游ゴシック"/>
                        </a:rPr>
                        <a:t>評価している項目はあるが、フレイルを評価しているわけではない</a:t>
                      </a:r>
                    </a:p>
                  </a:txBody>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800" b="1">
                <a:solidFill>
                  <a:srgbClr val="262626"/>
                </a:solidFill>
                <a:latin typeface="游ゴシック"/>
              </a:rPr>
              <a:t>Q12.  ロコモティブシンドロームの評価項目【複数選択可】</a:t>
            </a:r>
          </a:p>
        </p:txBody>
      </p:sp>
      <p:graphicFrame>
        <p:nvGraphicFramePr>
          <p:cNvPr id="3" name="Chart 2"/>
          <p:cNvGraphicFramePr>
            <a:graphicFrameLocks noGrp="1"/>
          </p:cNvGraphicFramePr>
          <p:nvPr/>
        </p:nvGraphicFramePr>
        <p:xfrm>
          <a:off x="100000" y="900000"/>
          <a:ext cx="76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800000" y="950000"/>
          <a:ext cx="4100000" cy="2520000"/>
        </p:xfrm>
        <a:graphic>
          <a:graphicData uri="http://schemas.openxmlformats.org/drawingml/2006/table">
            <a:tbl>
              <a:tblPr firstRow="1" bandRow="1">
                <a:tableStyleId>{5C22544A-7EE6-4342-B048-85BDC9FD1C3A}</a:tableStyleId>
              </a:tblPr>
              <a:tblGrid>
                <a:gridCol w="2500000"/>
                <a:gridCol w="700000"/>
                <a:gridCol w="900000"/>
              </a:tblGrid>
              <a:tr h="420000">
                <a:tc>
                  <a:txBody>
                    <a:bodyPr/>
                    <a:lstStyle/>
                    <a:p>
                      <a:pPr algn="ctr"/>
                      <a:r>
                        <a:rPr sz="1300" b="1">
                          <a:solidFill>
                            <a:srgbClr val="FFFFFF"/>
                          </a:solidFill>
                          <a:latin typeface="游ゴシック"/>
                        </a:rPr>
                        <a:t>回答</a:t>
                      </a:r>
                    </a:p>
                  </a:txBody>
                  <a:tcPr>
                    <a:solidFill>
                      <a:srgbClr val="397077"/>
                    </a:solidFill>
                  </a:tcPr>
                </a:tc>
                <a:tc>
                  <a:txBody>
                    <a:bodyPr/>
                    <a:lstStyle/>
                    <a:p>
                      <a:pPr algn="ctr"/>
                      <a:r>
                        <a:rPr sz="1300" b="1">
                          <a:solidFill>
                            <a:srgbClr val="FFFFFF"/>
                          </a:solidFill>
                          <a:latin typeface="游ゴシック"/>
                        </a:rPr>
                        <a:t>件数</a:t>
                      </a:r>
                    </a:p>
                  </a:txBody>
                  <a:tcPr>
                    <a:solidFill>
                      <a:srgbClr val="397077"/>
                    </a:solidFill>
                  </a:tcPr>
                </a:tc>
                <a:tc>
                  <a:txBody>
                    <a:bodyPr/>
                    <a:lstStyle/>
                    <a:p>
                      <a:pPr algn="ctr"/>
                      <a:r>
                        <a:rPr sz="1300" b="1">
                          <a:solidFill>
                            <a:srgbClr val="FFFFFF"/>
                          </a:solidFill>
                          <a:latin typeface="游ゴシック"/>
                        </a:rPr>
                        <a:t>割合</a:t>
                      </a:r>
                    </a:p>
                  </a:txBody>
                  <a:tcPr>
                    <a:solidFill>
                      <a:srgbClr val="397077"/>
                    </a:solidFill>
                  </a:tcPr>
                </a:tc>
              </a:tr>
              <a:tr h="420000">
                <a:tc>
                  <a:txBody>
                    <a:bodyPr/>
                    <a:lstStyle/>
                    <a:p>
                      <a:pPr algn="ctr"/>
                      <a:r>
                        <a:rPr sz="950" b="0">
                          <a:solidFill>
                            <a:srgbClr val="262626"/>
                          </a:solidFill>
                          <a:latin typeface="游ゴシック"/>
                        </a:rPr>
                        <a:t>実施していない</a:t>
                      </a:r>
                    </a:p>
                  </a:txBody>
                  <a:tcPr/>
                </a:tc>
                <a:tc>
                  <a:txBody>
                    <a:bodyPr/>
                    <a:lstStyle/>
                    <a:p>
                      <a:pPr algn="ctr"/>
                      <a:r>
                        <a:rPr sz="950" b="1">
                          <a:solidFill>
                            <a:srgbClr val="262626"/>
                          </a:solidFill>
                          <a:latin typeface="游ゴシック"/>
                        </a:rPr>
                        <a:t>188</a:t>
                      </a:r>
                    </a:p>
                  </a:txBody>
                  <a:tcPr/>
                </a:tc>
                <a:tc>
                  <a:txBody>
                    <a:bodyPr/>
                    <a:lstStyle/>
                    <a:p>
                      <a:pPr algn="ctr"/>
                      <a:r>
                        <a:rPr sz="950" b="1">
                          <a:solidFill>
                            <a:srgbClr val="262626"/>
                          </a:solidFill>
                          <a:latin typeface="游ゴシック"/>
                        </a:rPr>
                        <a:t>65.1%</a:t>
                      </a:r>
                    </a:p>
                  </a:txBody>
                  <a:tcPr/>
                </a:tc>
              </a:tr>
              <a:tr h="420000">
                <a:tc>
                  <a:txBody>
                    <a:bodyPr/>
                    <a:lstStyle/>
                    <a:p>
                      <a:pPr algn="ctr"/>
                      <a:r>
                        <a:rPr sz="950" b="0">
                          <a:solidFill>
                            <a:srgbClr val="262626"/>
                          </a:solidFill>
                          <a:latin typeface="游ゴシック"/>
                        </a:rPr>
                        <a:t>立ち上がりテスト</a:t>
                      </a:r>
                    </a:p>
                  </a:txBody>
                  <a:tcPr>
                    <a:solidFill>
                      <a:srgbClr val="A8C4C7"/>
                    </a:solidFill>
                  </a:tcPr>
                </a:tc>
                <a:tc>
                  <a:txBody>
                    <a:bodyPr/>
                    <a:lstStyle/>
                    <a:p>
                      <a:pPr algn="ctr"/>
                      <a:r>
                        <a:rPr sz="950" b="1">
                          <a:solidFill>
                            <a:srgbClr val="262626"/>
                          </a:solidFill>
                          <a:latin typeface="游ゴシック"/>
                        </a:rPr>
                        <a:t>86</a:t>
                      </a:r>
                    </a:p>
                  </a:txBody>
                  <a:tcPr>
                    <a:solidFill>
                      <a:srgbClr val="A8C4C7"/>
                    </a:solidFill>
                  </a:tcPr>
                </a:tc>
                <a:tc>
                  <a:txBody>
                    <a:bodyPr/>
                    <a:lstStyle/>
                    <a:p>
                      <a:pPr algn="ctr"/>
                      <a:r>
                        <a:rPr sz="950" b="1">
                          <a:solidFill>
                            <a:srgbClr val="262626"/>
                          </a:solidFill>
                          <a:latin typeface="游ゴシック"/>
                        </a:rPr>
                        <a:t>29.8%</a:t>
                      </a:r>
                    </a:p>
                  </a:txBody>
                  <a:tcPr>
                    <a:solidFill>
                      <a:srgbClr val="A8C4C7"/>
                    </a:solidFill>
                  </a:tcPr>
                </a:tc>
              </a:tr>
              <a:tr h="420000">
                <a:tc>
                  <a:txBody>
                    <a:bodyPr/>
                    <a:lstStyle/>
                    <a:p>
                      <a:pPr algn="ctr"/>
                      <a:r>
                        <a:rPr sz="950" b="0">
                          <a:solidFill>
                            <a:srgbClr val="262626"/>
                          </a:solidFill>
                          <a:latin typeface="游ゴシック"/>
                        </a:rPr>
                        <a:t>2ステップテスト</a:t>
                      </a:r>
                    </a:p>
                  </a:txBody>
                  <a:tcPr/>
                </a:tc>
                <a:tc>
                  <a:txBody>
                    <a:bodyPr/>
                    <a:lstStyle/>
                    <a:p>
                      <a:pPr algn="ctr"/>
                      <a:r>
                        <a:rPr sz="950" b="1">
                          <a:solidFill>
                            <a:srgbClr val="262626"/>
                          </a:solidFill>
                          <a:latin typeface="游ゴシック"/>
                        </a:rPr>
                        <a:t>34</a:t>
                      </a:r>
                    </a:p>
                  </a:txBody>
                  <a:tcPr/>
                </a:tc>
                <a:tc>
                  <a:txBody>
                    <a:bodyPr/>
                    <a:lstStyle/>
                    <a:p>
                      <a:pPr algn="ctr"/>
                      <a:r>
                        <a:rPr sz="950" b="1">
                          <a:solidFill>
                            <a:srgbClr val="262626"/>
                          </a:solidFill>
                          <a:latin typeface="游ゴシック"/>
                        </a:rPr>
                        <a:t>11.8%</a:t>
                      </a:r>
                    </a:p>
                  </a:txBody>
                  <a:tcPr/>
                </a:tc>
              </a:tr>
              <a:tr h="420000">
                <a:tc>
                  <a:txBody>
                    <a:bodyPr/>
                    <a:lstStyle/>
                    <a:p>
                      <a:pPr algn="ctr"/>
                      <a:r>
                        <a:rPr sz="950" b="0">
                          <a:solidFill>
                            <a:srgbClr val="262626"/>
                          </a:solidFill>
                          <a:latin typeface="游ゴシック"/>
                        </a:rPr>
                        <a:t>ロコモ25（質問票）</a:t>
                      </a:r>
                    </a:p>
                  </a:txBody>
                  <a:tcPr>
                    <a:solidFill>
                      <a:srgbClr val="A8C4C7"/>
                    </a:solidFill>
                  </a:tcPr>
                </a:tc>
                <a:tc>
                  <a:txBody>
                    <a:bodyPr/>
                    <a:lstStyle/>
                    <a:p>
                      <a:pPr algn="ctr"/>
                      <a:r>
                        <a:rPr sz="950" b="1">
                          <a:solidFill>
                            <a:srgbClr val="262626"/>
                          </a:solidFill>
                          <a:latin typeface="游ゴシック"/>
                        </a:rPr>
                        <a:t>19</a:t>
                      </a:r>
                    </a:p>
                  </a:txBody>
                  <a:tcPr>
                    <a:solidFill>
                      <a:srgbClr val="A8C4C7"/>
                    </a:solidFill>
                  </a:tcPr>
                </a:tc>
                <a:tc>
                  <a:txBody>
                    <a:bodyPr/>
                    <a:lstStyle/>
                    <a:p>
                      <a:pPr algn="ctr"/>
                      <a:r>
                        <a:rPr sz="950" b="1">
                          <a:solidFill>
                            <a:srgbClr val="262626"/>
                          </a:solidFill>
                          <a:latin typeface="游ゴシック"/>
                        </a:rPr>
                        <a:t>6.6%</a:t>
                      </a:r>
                    </a:p>
                  </a:txBody>
                  <a:tcPr>
                    <a:solidFill>
                      <a:srgbClr val="A8C4C7"/>
                    </a:solidFill>
                  </a:tcPr>
                </a:tc>
              </a:tr>
              <a:tr h="420000">
                <a:tc>
                  <a:txBody>
                    <a:bodyPr/>
                    <a:lstStyle/>
                    <a:p>
                      <a:pPr algn="ctr"/>
                      <a:r>
                        <a:rPr sz="950" b="1">
                          <a:solidFill>
                            <a:srgbClr val="262626"/>
                          </a:solidFill>
                          <a:latin typeface="游ゴシック"/>
                        </a:rPr>
                        <a:t>※複数選択のため合計は
有効回答数を超える</a:t>
                      </a:r>
                    </a:p>
                  </a:txBody>
                  <a:tcPr/>
                </a:tc>
                <a:tc>
                  <a:txBody>
                    <a:bodyPr/>
                    <a:lstStyle/>
                    <a:p>
                      <a:pPr algn="ctr"/>
                      <a:r>
                        <a:rPr sz="950" b="1">
                          <a:solidFill>
                            <a:srgbClr val="262626"/>
                          </a:solidFill>
                          <a:latin typeface="游ゴシック"/>
                        </a:rPr>
                        <a:t/>
                      </a:r>
                    </a:p>
                  </a:txBody>
                  <a:tcPr/>
                </a:tc>
                <a:tc>
                  <a:txBody>
                    <a:bodyPr/>
                    <a:lstStyle/>
                    <a:p>
                      <a:pPr algn="ctr"/>
                      <a:r>
                        <a:rPr sz="950" b="1">
                          <a:solidFill>
                            <a:srgbClr val="262626"/>
                          </a:solidFill>
                          <a:latin typeface="游ゴシック"/>
                        </a:rPr>
                        <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有効回答数 n=289（複数選択可）</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Q12-1.  「実施していない」を選択した方の理由【自由記述】  (1/8)</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適応となる患者が少ない</a:t>
                      </a:r>
                    </a:p>
                  </a:txBody>
                  <a:tcPr/>
                </a:tc>
              </a:tr>
              <a:tr h="303052">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これまではロコモ外来がなく、リハビリを提供していなかったため</a:t>
                      </a:r>
                    </a:p>
                  </a:txBody>
                  <a:tcPr>
                    <a:solidFill>
                      <a:srgbClr val="A8C4C7"/>
                    </a:solidFill>
                  </a:tcPr>
                </a:tc>
              </a:tr>
              <a:tr h="303052">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必要を感じていない</a:t>
                      </a:r>
                    </a:p>
                  </a:txBody>
                  <a:tcPr/>
                </a:tc>
              </a:tr>
              <a:tr h="303052">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フレイルとサルコペニアで対応しています</a:t>
                      </a:r>
                    </a:p>
                  </a:txBody>
                  <a:tcPr>
                    <a:solidFill>
                      <a:srgbClr val="A8C4C7"/>
                    </a:solidFill>
                  </a:tcPr>
                </a:tc>
              </a:tr>
              <a:tr h="303052">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術後2週以内には転院になり、評価困難例が多いため</a:t>
                      </a:r>
                    </a:p>
                  </a:txBody>
                  <a:tcPr/>
                </a:tc>
              </a:tr>
              <a:tr h="303052">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回復期のある病院へ転院されることが多く実施できない。</a:t>
                      </a:r>
                    </a:p>
                  </a:txBody>
                  <a:tcPr>
                    <a:solidFill>
                      <a:srgbClr val="A8C4C7"/>
                    </a:solidFill>
                  </a:tcPr>
                </a:tc>
              </a:tr>
              <a:tr h="303052">
                <a:tc>
                  <a:txBody>
                    <a:bodyPr/>
                    <a:lstStyle/>
                    <a:p>
                      <a:pPr algn="ctr"/>
                      <a:r>
                        <a:rPr sz="1000" b="0">
                          <a:solidFill>
                            <a:srgbClr val="262626"/>
                          </a:solidFill>
                          <a:latin typeface="游ゴシック"/>
                        </a:rPr>
                        <a:t>7</a:t>
                      </a:r>
                    </a:p>
                  </a:txBody>
                  <a:tcPr/>
                </a:tc>
                <a:tc>
                  <a:txBody>
                    <a:bodyPr/>
                    <a:lstStyle/>
                    <a:p>
                      <a:pPr algn="ctr"/>
                      <a:r>
                        <a:rPr sz="1000" b="1">
                          <a:solidFill>
                            <a:srgbClr val="262626"/>
                          </a:solidFill>
                          <a:latin typeface="游ゴシック"/>
                        </a:rPr>
                        <a:t>ロコモティブシンドロームとしては評価スクリーニングしてません。当院ではロコモはそれほど議論されていません。</a:t>
                      </a:r>
                    </a:p>
                  </a:txBody>
                  <a:tcPr/>
                </a:tc>
              </a:tr>
              <a:tr h="303052">
                <a:tc>
                  <a:txBody>
                    <a:bodyPr/>
                    <a:lstStyle/>
                    <a:p>
                      <a:pPr algn="ctr"/>
                      <a:r>
                        <a:rPr sz="1000" b="0">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3次救急で大腿骨近位部骨折の患者であり、評価の時期まで入院していない。</a:t>
                      </a:r>
                    </a:p>
                  </a:txBody>
                  <a:tcPr>
                    <a:solidFill>
                      <a:srgbClr val="A8C4C7"/>
                    </a:solidFill>
                  </a:tcPr>
                </a:tc>
              </a:tr>
              <a:tr h="303052">
                <a:tc>
                  <a:txBody>
                    <a:bodyPr/>
                    <a:lstStyle/>
                    <a:p>
                      <a:pPr algn="ctr"/>
                      <a:r>
                        <a:rPr sz="1000" b="0">
                          <a:solidFill>
                            <a:srgbClr val="262626"/>
                          </a:solidFill>
                          <a:latin typeface="游ゴシック"/>
                        </a:rPr>
                        <a:t>9</a:t>
                      </a:r>
                    </a:p>
                  </a:txBody>
                  <a:tcPr/>
                </a:tc>
                <a:tc>
                  <a:txBody>
                    <a:bodyPr/>
                    <a:lstStyle/>
                    <a:p>
                      <a:pPr algn="ctr"/>
                      <a:r>
                        <a:rPr sz="1000" b="1">
                          <a:solidFill>
                            <a:srgbClr val="262626"/>
                          </a:solidFill>
                          <a:latin typeface="游ゴシック"/>
                        </a:rPr>
                        <a:t>当院として計測を行っていない</a:t>
                      </a:r>
                    </a:p>
                  </a:txBody>
                  <a:tcPr/>
                </a:tc>
              </a:tr>
              <a:tr h="303052">
                <a:tc>
                  <a:txBody>
                    <a:bodyPr/>
                    <a:lstStyle/>
                    <a:p>
                      <a:pPr algn="ctr"/>
                      <a:r>
                        <a:rPr sz="1000" b="0">
                          <a:solidFill>
                            <a:srgbClr val="262626"/>
                          </a:solidFill>
                          <a:latin typeface="游ゴシック"/>
                        </a:rPr>
                        <a:t>10</a:t>
                      </a:r>
                    </a:p>
                  </a:txBody>
                  <a:tcPr>
                    <a:solidFill>
                      <a:srgbClr val="A8C4C7"/>
                    </a:solidFill>
                  </a:tcPr>
                </a:tc>
                <a:tc>
                  <a:txBody>
                    <a:bodyPr/>
                    <a:lstStyle/>
                    <a:p>
                      <a:pPr algn="ctr"/>
                      <a:r>
                        <a:rPr sz="1000" b="1">
                          <a:solidFill>
                            <a:srgbClr val="262626"/>
                          </a:solidFill>
                          <a:latin typeface="游ゴシック"/>
                        </a:rPr>
                        <a:t>理由は特にありません</a:t>
                      </a:r>
                    </a:p>
                  </a:txBody>
                  <a:tcPr>
                    <a:solidFill>
                      <a:srgbClr val="A8C4C7"/>
                    </a:solidFill>
                  </a:tcPr>
                </a:tc>
              </a:tr>
              <a:tr h="303052">
                <a:tc>
                  <a:txBody>
                    <a:bodyPr/>
                    <a:lstStyle/>
                    <a:p>
                      <a:pPr algn="ctr"/>
                      <a:r>
                        <a:rPr sz="1000" b="0">
                          <a:solidFill>
                            <a:srgbClr val="262626"/>
                          </a:solidFill>
                          <a:latin typeface="游ゴシック"/>
                        </a:rPr>
                        <a:t>11</a:t>
                      </a:r>
                    </a:p>
                  </a:txBody>
                  <a:tcPr/>
                </a:tc>
                <a:tc>
                  <a:txBody>
                    <a:bodyPr/>
                    <a:lstStyle/>
                    <a:p>
                      <a:pPr algn="ctr"/>
                      <a:r>
                        <a:rPr sz="1000" b="1">
                          <a:solidFill>
                            <a:srgbClr val="262626"/>
                          </a:solidFill>
                          <a:latin typeface="游ゴシック"/>
                        </a:rPr>
                        <a:t>術前はベッド上安静で評価実施困難。（座位・起立・歩行は困難）術後は機能回復のための介入が中心となります。</a:t>
                      </a:r>
                    </a:p>
                  </a:txBody>
                  <a:tcPr/>
                </a:tc>
              </a:tr>
              <a:tr h="303052">
                <a:tc>
                  <a:txBody>
                    <a:bodyPr/>
                    <a:lstStyle/>
                    <a:p>
                      <a:pPr algn="ctr"/>
                      <a:r>
                        <a:rPr sz="1000" b="0">
                          <a:solidFill>
                            <a:srgbClr val="262626"/>
                          </a:solidFill>
                          <a:latin typeface="游ゴシック"/>
                        </a:rPr>
                        <a:t>12</a:t>
                      </a:r>
                    </a:p>
                  </a:txBody>
                  <a:tcPr>
                    <a:solidFill>
                      <a:srgbClr val="A8C4C7"/>
                    </a:solidFill>
                  </a:tcPr>
                </a:tc>
                <a:tc>
                  <a:txBody>
                    <a:bodyPr/>
                    <a:lstStyle/>
                    <a:p>
                      <a:pPr algn="ctr"/>
                      <a:r>
                        <a:rPr sz="1000" b="1">
                          <a:solidFill>
                            <a:srgbClr val="262626"/>
                          </a:solidFill>
                          <a:latin typeface="游ゴシック"/>
                        </a:rPr>
                        <a:t>その他評価で対応。</a:t>
                      </a:r>
                    </a:p>
                  </a:txBody>
                  <a:tcPr>
                    <a:solidFill>
                      <a:srgbClr val="A8C4C7"/>
                    </a:solidFill>
                  </a:tcPr>
                </a:tc>
              </a:tr>
              <a:tr h="303052">
                <a:tc>
                  <a:txBody>
                    <a:bodyPr/>
                    <a:lstStyle/>
                    <a:p>
                      <a:pPr algn="ctr"/>
                      <a:r>
                        <a:rPr sz="1000" b="0">
                          <a:solidFill>
                            <a:srgbClr val="262626"/>
                          </a:solidFill>
                          <a:latin typeface="游ゴシック"/>
                        </a:rPr>
                        <a:t>13</a:t>
                      </a:r>
                    </a:p>
                  </a:txBody>
                  <a:tcPr/>
                </a:tc>
                <a:tc>
                  <a:txBody>
                    <a:bodyPr/>
                    <a:lstStyle/>
                    <a:p>
                      <a:pPr algn="ctr"/>
                      <a:r>
                        <a:rPr sz="1000" b="1">
                          <a:solidFill>
                            <a:srgbClr val="262626"/>
                          </a:solidFill>
                          <a:latin typeface="游ゴシック"/>
                        </a:rPr>
                        <a:t>データを利用していないため。</a:t>
                      </a:r>
                    </a:p>
                  </a:txBody>
                  <a:tcPr/>
                </a:tc>
              </a:tr>
              <a:tr h="303052">
                <a:tc>
                  <a:txBody>
                    <a:bodyPr/>
                    <a:lstStyle/>
                    <a:p>
                      <a:pPr algn="ctr"/>
                      <a:r>
                        <a:rPr sz="1000" b="0">
                          <a:solidFill>
                            <a:srgbClr val="262626"/>
                          </a:solidFill>
                          <a:latin typeface="游ゴシック"/>
                        </a:rPr>
                        <a:t>14</a:t>
                      </a:r>
                    </a:p>
                  </a:txBody>
                  <a:tcPr>
                    <a:solidFill>
                      <a:srgbClr val="A8C4C7"/>
                    </a:solidFill>
                  </a:tcPr>
                </a:tc>
                <a:tc>
                  <a:txBody>
                    <a:bodyPr/>
                    <a:lstStyle/>
                    <a:p>
                      <a:pPr algn="ctr"/>
                      <a:r>
                        <a:rPr sz="1000" b="1">
                          <a:solidFill>
                            <a:srgbClr val="262626"/>
                          </a:solidFill>
                          <a:latin typeface="游ゴシック"/>
                        </a:rPr>
                        <a:t>ロコモに特化した評価は実施していない　各症例に必要な評価を実施している</a:t>
                      </a:r>
                    </a:p>
                  </a:txBody>
                  <a:tcPr>
                    <a:solidFill>
                      <a:srgbClr val="A8C4C7"/>
                    </a:solidFill>
                  </a:tcPr>
                </a:tc>
              </a:tr>
              <a:tr h="303052">
                <a:tc>
                  <a:txBody>
                    <a:bodyPr/>
                    <a:lstStyle/>
                    <a:p>
                      <a:pPr algn="ctr"/>
                      <a:r>
                        <a:rPr sz="1000" b="0">
                          <a:solidFill>
                            <a:srgbClr val="262626"/>
                          </a:solidFill>
                          <a:latin typeface="游ゴシック"/>
                        </a:rPr>
                        <a:t>15</a:t>
                      </a:r>
                    </a:p>
                  </a:txBody>
                  <a:tcPr/>
                </a:tc>
                <a:tc>
                  <a:txBody>
                    <a:bodyPr/>
                    <a:lstStyle/>
                    <a:p>
                      <a:pPr algn="ctr"/>
                      <a:r>
                        <a:rPr sz="1000" b="1">
                          <a:solidFill>
                            <a:srgbClr val="262626"/>
                          </a:solidFill>
                          <a:latin typeface="游ゴシック"/>
                        </a:rPr>
                        <a:t>ロコモティブシンドロームとしての評価を設定していないため</a:t>
                      </a:r>
                    </a:p>
                  </a:txBody>
                  <a:tcPr/>
                </a:tc>
              </a:tr>
              <a:tr h="303052">
                <a:tc>
                  <a:txBody>
                    <a:bodyPr/>
                    <a:lstStyle/>
                    <a:p>
                      <a:pPr algn="ctr"/>
                      <a:r>
                        <a:rPr sz="1000" b="0">
                          <a:solidFill>
                            <a:srgbClr val="262626"/>
                          </a:solidFill>
                          <a:latin typeface="游ゴシック"/>
                        </a:rPr>
                        <a:t>16</a:t>
                      </a:r>
                    </a:p>
                  </a:txBody>
                  <a:tcPr>
                    <a:solidFill>
                      <a:srgbClr val="A8C4C7"/>
                    </a:solidFill>
                  </a:tcPr>
                </a:tc>
                <a:tc>
                  <a:txBody>
                    <a:bodyPr/>
                    <a:lstStyle/>
                    <a:p>
                      <a:pPr algn="ctr"/>
                      <a:r>
                        <a:rPr sz="1000" b="1">
                          <a:solidFill>
                            <a:srgbClr val="262626"/>
                          </a:solidFill>
                          <a:latin typeface="游ゴシック"/>
                        </a:rPr>
                        <a:t>通常の術後評価のみ行っている</a:t>
                      </a:r>
                    </a:p>
                  </a:txBody>
                  <a:tcPr>
                    <a:solidFill>
                      <a:srgbClr val="A8C4C7"/>
                    </a:solidFill>
                  </a:tcPr>
                </a:tc>
              </a:tr>
              <a:tr h="303052">
                <a:tc>
                  <a:txBody>
                    <a:bodyPr/>
                    <a:lstStyle/>
                    <a:p>
                      <a:pPr algn="ctr"/>
                      <a:r>
                        <a:rPr sz="1000" b="0">
                          <a:solidFill>
                            <a:srgbClr val="262626"/>
                          </a:solidFill>
                          <a:latin typeface="游ゴシック"/>
                        </a:rPr>
                        <a:t>17</a:t>
                      </a:r>
                    </a:p>
                  </a:txBody>
                  <a:tcPr/>
                </a:tc>
                <a:tc>
                  <a:txBody>
                    <a:bodyPr/>
                    <a:lstStyle/>
                    <a:p>
                      <a:pPr algn="ctr"/>
                      <a:r>
                        <a:rPr sz="1000" b="1">
                          <a:solidFill>
                            <a:srgbClr val="262626"/>
                          </a:solidFill>
                          <a:latin typeface="游ゴシック"/>
                        </a:rPr>
                        <a:t>時間の十分にとれない急性期リハの中で、フレイル、サルコペニアを優先的に評価しているため。</a:t>
                      </a:r>
                    </a:p>
                  </a:txBody>
                  <a:tcPr/>
                </a:tc>
              </a:tr>
              <a:tr h="303052">
                <a:tc>
                  <a:txBody>
                    <a:bodyPr/>
                    <a:lstStyle/>
                    <a:p>
                      <a:pPr algn="ctr"/>
                      <a:r>
                        <a:rPr sz="1000" b="0">
                          <a:solidFill>
                            <a:srgbClr val="262626"/>
                          </a:solidFill>
                          <a:latin typeface="游ゴシック"/>
                        </a:rPr>
                        <a:t>18</a:t>
                      </a:r>
                    </a:p>
                  </a:txBody>
                  <a:tcPr>
                    <a:solidFill>
                      <a:srgbClr val="A8C4C7"/>
                    </a:solidFill>
                  </a:tcPr>
                </a:tc>
                <a:tc>
                  <a:txBody>
                    <a:bodyPr/>
                    <a:lstStyle/>
                    <a:p>
                      <a:pPr algn="ctr"/>
                      <a:r>
                        <a:rPr sz="1000" b="1">
                          <a:solidFill>
                            <a:srgbClr val="262626"/>
                          </a:solidFill>
                          <a:latin typeface="游ゴシック"/>
                        </a:rPr>
                        <a:t>評価を活用できる体制が整っておらず、仕組み作りが今後の課題</a:t>
                      </a:r>
                    </a:p>
                  </a:txBody>
                  <a:tcPr>
                    <a:solidFill>
                      <a:srgbClr val="A8C4C7"/>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Q12-1.  「実施していない」を選択した方の理由【自由記述】  (2/8)</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19</a:t>
                      </a:r>
                    </a:p>
                  </a:txBody>
                  <a:tcPr/>
                </a:tc>
                <a:tc>
                  <a:txBody>
                    <a:bodyPr/>
                    <a:lstStyle/>
                    <a:p>
                      <a:pPr algn="ctr"/>
                      <a:r>
                        <a:rPr sz="1000" b="1">
                          <a:solidFill>
                            <a:srgbClr val="262626"/>
                          </a:solidFill>
                          <a:latin typeface="游ゴシック"/>
                        </a:rPr>
                        <a:t>Q11とおなじ理由</a:t>
                      </a:r>
                    </a:p>
                  </a:txBody>
                  <a:tcPr/>
                </a:tc>
              </a:tr>
              <a:tr h="303052">
                <a:tc>
                  <a:txBody>
                    <a:bodyPr/>
                    <a:lstStyle/>
                    <a:p>
                      <a:pPr algn="ctr"/>
                      <a:r>
                        <a:rPr sz="1000" b="0">
                          <a:solidFill>
                            <a:srgbClr val="262626"/>
                          </a:solidFill>
                          <a:latin typeface="游ゴシック"/>
                        </a:rPr>
                        <a:t>20</a:t>
                      </a:r>
                    </a:p>
                  </a:txBody>
                  <a:tcPr>
                    <a:solidFill>
                      <a:srgbClr val="A8C4C7"/>
                    </a:solidFill>
                  </a:tcPr>
                </a:tc>
                <a:tc>
                  <a:txBody>
                    <a:bodyPr/>
                    <a:lstStyle/>
                    <a:p>
                      <a:pPr algn="ctr"/>
                      <a:r>
                        <a:rPr sz="1000" b="1">
                          <a:solidFill>
                            <a:srgbClr val="262626"/>
                          </a:solidFill>
                          <a:latin typeface="游ゴシック"/>
                        </a:rPr>
                        <a:t>スタッフの認識と知識がない。</a:t>
                      </a:r>
                    </a:p>
                  </a:txBody>
                  <a:tcPr>
                    <a:solidFill>
                      <a:srgbClr val="A8C4C7"/>
                    </a:solidFill>
                  </a:tcPr>
                </a:tc>
              </a:tr>
              <a:tr h="303052">
                <a:tc>
                  <a:txBody>
                    <a:bodyPr/>
                    <a:lstStyle/>
                    <a:p>
                      <a:pPr algn="ctr"/>
                      <a:r>
                        <a:rPr sz="1000" b="0">
                          <a:solidFill>
                            <a:srgbClr val="262626"/>
                          </a:solidFill>
                          <a:latin typeface="游ゴシック"/>
                        </a:rPr>
                        <a:t>21</a:t>
                      </a:r>
                    </a:p>
                  </a:txBody>
                  <a:tcPr/>
                </a:tc>
                <a:tc>
                  <a:txBody>
                    <a:bodyPr/>
                    <a:lstStyle/>
                    <a:p>
                      <a:pPr algn="ctr"/>
                      <a:r>
                        <a:rPr sz="1000" b="1">
                          <a:solidFill>
                            <a:srgbClr val="262626"/>
                          </a:solidFill>
                          <a:latin typeface="游ゴシック"/>
                        </a:rPr>
                        <a:t>知識が不十分</a:t>
                      </a:r>
                    </a:p>
                  </a:txBody>
                  <a:tcPr/>
                </a:tc>
              </a:tr>
              <a:tr h="303052">
                <a:tc>
                  <a:txBody>
                    <a:bodyPr/>
                    <a:lstStyle/>
                    <a:p>
                      <a:pPr algn="ctr"/>
                      <a:r>
                        <a:rPr sz="1000" b="0">
                          <a:solidFill>
                            <a:srgbClr val="262626"/>
                          </a:solidFill>
                          <a:latin typeface="游ゴシック"/>
                        </a:rPr>
                        <a:t>22</a:t>
                      </a:r>
                    </a:p>
                  </a:txBody>
                  <a:tcPr>
                    <a:solidFill>
                      <a:srgbClr val="A8C4C7"/>
                    </a:solidFill>
                  </a:tcPr>
                </a:tc>
                <a:tc>
                  <a:txBody>
                    <a:bodyPr/>
                    <a:lstStyle/>
                    <a:p>
                      <a:pPr algn="ctr"/>
                      <a:r>
                        <a:rPr sz="1000" b="1">
                          <a:solidFill>
                            <a:srgbClr val="262626"/>
                          </a:solidFill>
                          <a:latin typeface="游ゴシック"/>
                        </a:rPr>
                        <a:t>マンパワー不足のため介入時間が取れていない。</a:t>
                      </a:r>
                    </a:p>
                  </a:txBody>
                  <a:tcPr>
                    <a:solidFill>
                      <a:srgbClr val="A8C4C7"/>
                    </a:solidFill>
                  </a:tcPr>
                </a:tc>
              </a:tr>
              <a:tr h="303052">
                <a:tc>
                  <a:txBody>
                    <a:bodyPr/>
                    <a:lstStyle/>
                    <a:p>
                      <a:pPr algn="ctr"/>
                      <a:r>
                        <a:rPr sz="1000" b="0">
                          <a:solidFill>
                            <a:srgbClr val="262626"/>
                          </a:solidFill>
                          <a:latin typeface="游ゴシック"/>
                        </a:rPr>
                        <a:t>23</a:t>
                      </a:r>
                    </a:p>
                  </a:txBody>
                  <a:tcPr/>
                </a:tc>
                <a:tc>
                  <a:txBody>
                    <a:bodyPr/>
                    <a:lstStyle/>
                    <a:p>
                      <a:pPr algn="ctr"/>
                      <a:r>
                        <a:rPr sz="1000" b="1">
                          <a:solidFill>
                            <a:srgbClr val="262626"/>
                          </a:solidFill>
                          <a:latin typeface="游ゴシック"/>
                        </a:rPr>
                        <a:t>急性期であり、疼痛や筋力低下等が強く評価実施が困難なため。</a:t>
                      </a:r>
                    </a:p>
                  </a:txBody>
                  <a:tcPr/>
                </a:tc>
              </a:tr>
              <a:tr h="303052">
                <a:tc>
                  <a:txBody>
                    <a:bodyPr/>
                    <a:lstStyle/>
                    <a:p>
                      <a:pPr algn="ctr"/>
                      <a:r>
                        <a:rPr sz="1000" b="0">
                          <a:solidFill>
                            <a:srgbClr val="262626"/>
                          </a:solidFill>
                          <a:latin typeface="游ゴシック"/>
                        </a:rPr>
                        <a:t>24</a:t>
                      </a:r>
                    </a:p>
                  </a:txBody>
                  <a:tcPr>
                    <a:solidFill>
                      <a:srgbClr val="A8C4C7"/>
                    </a:solidFill>
                  </a:tcPr>
                </a:tc>
                <a:tc>
                  <a:txBody>
                    <a:bodyPr/>
                    <a:lstStyle/>
                    <a:p>
                      <a:pPr algn="ctr"/>
                      <a:r>
                        <a:rPr sz="1000" b="1">
                          <a:solidFill>
                            <a:srgbClr val="262626"/>
                          </a:solidFill>
                          <a:latin typeface="游ゴシック"/>
                        </a:rPr>
                        <a:t>必要性を感じていない</a:t>
                      </a:r>
                    </a:p>
                  </a:txBody>
                  <a:tcPr>
                    <a:solidFill>
                      <a:srgbClr val="A8C4C7"/>
                    </a:solidFill>
                  </a:tcPr>
                </a:tc>
              </a:tr>
              <a:tr h="303052">
                <a:tc>
                  <a:txBody>
                    <a:bodyPr/>
                    <a:lstStyle/>
                    <a:p>
                      <a:pPr algn="ctr"/>
                      <a:r>
                        <a:rPr sz="1000" b="0">
                          <a:solidFill>
                            <a:srgbClr val="262626"/>
                          </a:solidFill>
                          <a:latin typeface="游ゴシック"/>
                        </a:rPr>
                        <a:t>25</a:t>
                      </a:r>
                    </a:p>
                  </a:txBody>
                  <a:tcPr/>
                </a:tc>
                <a:tc>
                  <a:txBody>
                    <a:bodyPr/>
                    <a:lstStyle/>
                    <a:p>
                      <a:pPr algn="ctr"/>
                      <a:r>
                        <a:rPr sz="1000" b="1">
                          <a:solidFill>
                            <a:srgbClr val="262626"/>
                          </a:solidFill>
                          <a:latin typeface="游ゴシック"/>
                        </a:rPr>
                        <a:t>現場の教育、体制整備ができていないため。</a:t>
                      </a:r>
                    </a:p>
                  </a:txBody>
                  <a:tcPr/>
                </a:tc>
              </a:tr>
              <a:tr h="303052">
                <a:tc>
                  <a:txBody>
                    <a:bodyPr/>
                    <a:lstStyle/>
                    <a:p>
                      <a:pPr algn="ctr"/>
                      <a:r>
                        <a:rPr sz="1000" b="0">
                          <a:solidFill>
                            <a:srgbClr val="262626"/>
                          </a:solidFill>
                          <a:latin typeface="游ゴシック"/>
                        </a:rPr>
                        <a:t>26</a:t>
                      </a:r>
                    </a:p>
                  </a:txBody>
                  <a:tcPr>
                    <a:solidFill>
                      <a:srgbClr val="A8C4C7"/>
                    </a:solidFill>
                  </a:tcPr>
                </a:tc>
                <a:tc>
                  <a:txBody>
                    <a:bodyPr/>
                    <a:lstStyle/>
                    <a:p>
                      <a:pPr algn="ctr"/>
                      <a:r>
                        <a:rPr sz="1000" b="1">
                          <a:solidFill>
                            <a:srgbClr val="262626"/>
                          </a:solidFill>
                          <a:latin typeface="游ゴシック"/>
                        </a:rPr>
                        <a:t>ケースによって実施</a:t>
                      </a:r>
                    </a:p>
                  </a:txBody>
                  <a:tcPr>
                    <a:solidFill>
                      <a:srgbClr val="A8C4C7"/>
                    </a:solidFill>
                  </a:tcPr>
                </a:tc>
              </a:tr>
              <a:tr h="303052">
                <a:tc>
                  <a:txBody>
                    <a:bodyPr/>
                    <a:lstStyle/>
                    <a:p>
                      <a:pPr algn="ctr"/>
                      <a:r>
                        <a:rPr sz="1000" b="0">
                          <a:solidFill>
                            <a:srgbClr val="262626"/>
                          </a:solidFill>
                          <a:latin typeface="游ゴシック"/>
                        </a:rPr>
                        <a:t>27</a:t>
                      </a:r>
                    </a:p>
                  </a:txBody>
                  <a:tcPr/>
                </a:tc>
                <a:tc>
                  <a:txBody>
                    <a:bodyPr/>
                    <a:lstStyle/>
                    <a:p>
                      <a:pPr algn="ctr"/>
                      <a:r>
                        <a:rPr sz="1000" b="1">
                          <a:solidFill>
                            <a:srgbClr val="262626"/>
                          </a:solidFill>
                          <a:latin typeface="游ゴシック"/>
                        </a:rPr>
                        <a:t>評価→リハビリの体制が構築されていない
個々のリハビリに委ねられている</a:t>
                      </a:r>
                    </a:p>
                  </a:txBody>
                  <a:tcPr/>
                </a:tc>
              </a:tr>
              <a:tr h="303052">
                <a:tc>
                  <a:txBody>
                    <a:bodyPr/>
                    <a:lstStyle/>
                    <a:p>
                      <a:pPr algn="ctr"/>
                      <a:r>
                        <a:rPr sz="1000" b="0">
                          <a:solidFill>
                            <a:srgbClr val="262626"/>
                          </a:solidFill>
                          <a:latin typeface="游ゴシック"/>
                        </a:rPr>
                        <a:t>28</a:t>
                      </a:r>
                    </a:p>
                  </a:txBody>
                  <a:tcPr>
                    <a:solidFill>
                      <a:srgbClr val="A8C4C7"/>
                    </a:solidFill>
                  </a:tcPr>
                </a:tc>
                <a:tc>
                  <a:txBody>
                    <a:bodyPr/>
                    <a:lstStyle/>
                    <a:p>
                      <a:pPr algn="ctr"/>
                      <a:r>
                        <a:rPr sz="1000" b="1">
                          <a:solidFill>
                            <a:srgbClr val="262626"/>
                          </a:solidFill>
                          <a:latin typeface="游ゴシック"/>
                        </a:rPr>
                        <a:t>術後10日前後で転院となるため、機能的に困難なケースが多いため。</a:t>
                      </a:r>
                    </a:p>
                  </a:txBody>
                  <a:tcPr>
                    <a:solidFill>
                      <a:srgbClr val="A8C4C7"/>
                    </a:solidFill>
                  </a:tcPr>
                </a:tc>
              </a:tr>
              <a:tr h="303052">
                <a:tc>
                  <a:txBody>
                    <a:bodyPr/>
                    <a:lstStyle/>
                    <a:p>
                      <a:pPr algn="ctr"/>
                      <a:r>
                        <a:rPr sz="1000" b="0">
                          <a:solidFill>
                            <a:srgbClr val="262626"/>
                          </a:solidFill>
                          <a:latin typeface="游ゴシック"/>
                        </a:rPr>
                        <a:t>29</a:t>
                      </a:r>
                    </a:p>
                  </a:txBody>
                  <a:tcPr/>
                </a:tc>
                <a:tc>
                  <a:txBody>
                    <a:bodyPr/>
                    <a:lstStyle/>
                    <a:p>
                      <a:pPr algn="ctr"/>
                      <a:r>
                        <a:rPr sz="1000" b="1">
                          <a:solidFill>
                            <a:srgbClr val="262626"/>
                          </a:solidFill>
                          <a:latin typeface="游ゴシック"/>
                        </a:rPr>
                        <a:t>サルコペニア　フレイル評価をしているため</a:t>
                      </a:r>
                    </a:p>
                  </a:txBody>
                  <a:tcPr/>
                </a:tc>
              </a:tr>
              <a:tr h="303052">
                <a:tc>
                  <a:txBody>
                    <a:bodyPr/>
                    <a:lstStyle/>
                    <a:p>
                      <a:pPr algn="ctr"/>
                      <a:r>
                        <a:rPr sz="1000" b="0">
                          <a:solidFill>
                            <a:srgbClr val="262626"/>
                          </a:solidFill>
                          <a:latin typeface="游ゴシック"/>
                        </a:rPr>
                        <a:t>30</a:t>
                      </a:r>
                    </a:p>
                  </a:txBody>
                  <a:tcPr>
                    <a:solidFill>
                      <a:srgbClr val="A8C4C7"/>
                    </a:solidFill>
                  </a:tcPr>
                </a:tc>
                <a:tc>
                  <a:txBody>
                    <a:bodyPr/>
                    <a:lstStyle/>
                    <a:p>
                      <a:pPr algn="ctr"/>
                      <a:r>
                        <a:rPr sz="1000" b="1">
                          <a:solidFill>
                            <a:srgbClr val="262626"/>
                          </a:solidFill>
                          <a:latin typeface="游ゴシック"/>
                        </a:rPr>
                        <a:t>ロコモ評価は、急性期術後の患者（約２週間程度の入院期間）で実施するには内容が難しい</a:t>
                      </a:r>
                    </a:p>
                  </a:txBody>
                  <a:tcPr>
                    <a:solidFill>
                      <a:srgbClr val="A8C4C7"/>
                    </a:solidFill>
                  </a:tcPr>
                </a:tc>
              </a:tr>
              <a:tr h="303052">
                <a:tc>
                  <a:txBody>
                    <a:bodyPr/>
                    <a:lstStyle/>
                    <a:p>
                      <a:pPr algn="ctr"/>
                      <a:r>
                        <a:rPr sz="1000" b="0">
                          <a:solidFill>
                            <a:srgbClr val="262626"/>
                          </a:solidFill>
                          <a:latin typeface="游ゴシック"/>
                        </a:rPr>
                        <a:t>31</a:t>
                      </a:r>
                    </a:p>
                  </a:txBody>
                  <a:tcPr/>
                </a:tc>
                <a:tc>
                  <a:txBody>
                    <a:bodyPr/>
                    <a:lstStyle/>
                    <a:p>
                      <a:pPr algn="ctr"/>
                      <a:r>
                        <a:rPr sz="1000" b="1">
                          <a:solidFill>
                            <a:srgbClr val="262626"/>
                          </a:solidFill>
                          <a:latin typeface="游ゴシック"/>
                        </a:rPr>
                        <a:t>ロコモティブシンドローム目的で評価していないため。</a:t>
                      </a:r>
                    </a:p>
                  </a:txBody>
                  <a:tcPr/>
                </a:tc>
              </a:tr>
              <a:tr h="303052">
                <a:tc>
                  <a:txBody>
                    <a:bodyPr/>
                    <a:lstStyle/>
                    <a:p>
                      <a:pPr algn="ctr"/>
                      <a:r>
                        <a:rPr sz="1000" b="0">
                          <a:solidFill>
                            <a:srgbClr val="262626"/>
                          </a:solidFill>
                          <a:latin typeface="游ゴシック"/>
                        </a:rPr>
                        <a:t>32</a:t>
                      </a:r>
                    </a:p>
                  </a:txBody>
                  <a:tcPr>
                    <a:solidFill>
                      <a:srgbClr val="A8C4C7"/>
                    </a:solidFill>
                  </a:tcPr>
                </a:tc>
                <a:tc>
                  <a:txBody>
                    <a:bodyPr/>
                    <a:lstStyle/>
                    <a:p>
                      <a:pPr algn="ctr"/>
                      <a:r>
                        <a:rPr sz="1000" b="1">
                          <a:solidFill>
                            <a:srgbClr val="262626"/>
                          </a:solidFill>
                          <a:latin typeface="游ゴシック"/>
                        </a:rPr>
                        <a:t>現状大腿骨骨折のみを対象としているため，病前実施ができない．質問紙は認知機能の問題や労力の観点から実施が難しい．</a:t>
                      </a:r>
                    </a:p>
                  </a:txBody>
                  <a:tcPr>
                    <a:solidFill>
                      <a:srgbClr val="A8C4C7"/>
                    </a:solidFill>
                  </a:tcPr>
                </a:tc>
              </a:tr>
              <a:tr h="303052">
                <a:tc>
                  <a:txBody>
                    <a:bodyPr/>
                    <a:lstStyle/>
                    <a:p>
                      <a:pPr algn="ctr"/>
                      <a:r>
                        <a:rPr sz="1000" b="0">
                          <a:solidFill>
                            <a:srgbClr val="262626"/>
                          </a:solidFill>
                          <a:latin typeface="游ゴシック"/>
                        </a:rPr>
                        <a:t>33</a:t>
                      </a:r>
                    </a:p>
                  </a:txBody>
                  <a:tcPr/>
                </a:tc>
                <a:tc>
                  <a:txBody>
                    <a:bodyPr/>
                    <a:lstStyle/>
                    <a:p>
                      <a:pPr algn="ctr"/>
                      <a:r>
                        <a:rPr sz="1000" b="1">
                          <a:solidFill>
                            <a:srgbClr val="262626"/>
                          </a:solidFill>
                          <a:latin typeface="游ゴシック"/>
                        </a:rPr>
                        <a:t>急性疾患の評価を優先しており、ロコモでも視点で評価していない</a:t>
                      </a:r>
                    </a:p>
                  </a:txBody>
                  <a:tcPr/>
                </a:tc>
              </a:tr>
              <a:tr h="303052">
                <a:tc>
                  <a:txBody>
                    <a:bodyPr/>
                    <a:lstStyle/>
                    <a:p>
                      <a:pPr algn="ctr"/>
                      <a:r>
                        <a:rPr sz="1000" b="0">
                          <a:solidFill>
                            <a:srgbClr val="262626"/>
                          </a:solidFill>
                          <a:latin typeface="游ゴシック"/>
                        </a:rPr>
                        <a:t>34</a:t>
                      </a:r>
                    </a:p>
                  </a:txBody>
                  <a:tcPr>
                    <a:solidFill>
                      <a:srgbClr val="A8C4C7"/>
                    </a:solidFill>
                  </a:tcPr>
                </a:tc>
                <a:tc>
                  <a:txBody>
                    <a:bodyPr/>
                    <a:lstStyle/>
                    <a:p>
                      <a:pPr algn="ctr"/>
                      <a:r>
                        <a:rPr sz="1000" b="1">
                          <a:solidFill>
                            <a:srgbClr val="262626"/>
                          </a:solidFill>
                          <a:latin typeface="游ゴシック"/>
                        </a:rPr>
                        <a:t>評価する時間が取れない</a:t>
                      </a:r>
                    </a:p>
                  </a:txBody>
                  <a:tcPr>
                    <a:solidFill>
                      <a:srgbClr val="A8C4C7"/>
                    </a:solidFill>
                  </a:tcPr>
                </a:tc>
              </a:tr>
              <a:tr h="303052">
                <a:tc>
                  <a:txBody>
                    <a:bodyPr/>
                    <a:lstStyle/>
                    <a:p>
                      <a:pPr algn="ctr"/>
                      <a:r>
                        <a:rPr sz="1000" b="0">
                          <a:solidFill>
                            <a:srgbClr val="262626"/>
                          </a:solidFill>
                          <a:latin typeface="游ゴシック"/>
                        </a:rPr>
                        <a:t>35</a:t>
                      </a:r>
                    </a:p>
                  </a:txBody>
                  <a:tcPr/>
                </a:tc>
                <a:tc>
                  <a:txBody>
                    <a:bodyPr/>
                    <a:lstStyle/>
                    <a:p>
                      <a:pPr algn="ctr"/>
                      <a:r>
                        <a:rPr sz="1000" b="1">
                          <a:solidFill>
                            <a:srgbClr val="262626"/>
                          </a:solidFill>
                          <a:latin typeface="游ゴシック"/>
                        </a:rPr>
                        <a:t>限られた時間の中で早期離床への課題を中心に取り組み、可能となれば早期に転院となるため</a:t>
                      </a:r>
                    </a:p>
                  </a:txBody>
                  <a:tcPr/>
                </a:tc>
              </a:tr>
              <a:tr h="303052">
                <a:tc>
                  <a:txBody>
                    <a:bodyPr/>
                    <a:lstStyle/>
                    <a:p>
                      <a:pPr algn="ctr"/>
                      <a:r>
                        <a:rPr sz="1000" b="0">
                          <a:solidFill>
                            <a:srgbClr val="262626"/>
                          </a:solidFill>
                          <a:latin typeface="游ゴシック"/>
                        </a:rPr>
                        <a:t>36</a:t>
                      </a:r>
                    </a:p>
                  </a:txBody>
                  <a:tcPr>
                    <a:solidFill>
                      <a:srgbClr val="A8C4C7"/>
                    </a:solidFill>
                  </a:tcPr>
                </a:tc>
                <a:tc>
                  <a:txBody>
                    <a:bodyPr/>
                    <a:lstStyle/>
                    <a:p>
                      <a:pPr algn="ctr"/>
                      <a:r>
                        <a:rPr sz="1000" b="1">
                          <a:solidFill>
                            <a:srgbClr val="262626"/>
                          </a:solidFill>
                          <a:latin typeface="游ゴシック"/>
                        </a:rPr>
                        <a:t>ロコモティブシンドロームをそれほど考慮したリハビリを実施していない</a:t>
                      </a:r>
                    </a:p>
                  </a:txBody>
                  <a:tcPr>
                    <a:solidFill>
                      <a:srgbClr val="A8C4C7"/>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Q12-1.  「実施していない」を選択した方の理由【自由記述】  (3/8)</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37</a:t>
                      </a:r>
                    </a:p>
                  </a:txBody>
                  <a:tcPr/>
                </a:tc>
                <a:tc>
                  <a:txBody>
                    <a:bodyPr/>
                    <a:lstStyle/>
                    <a:p>
                      <a:pPr algn="ctr"/>
                      <a:r>
                        <a:rPr sz="1000" b="1">
                          <a:solidFill>
                            <a:srgbClr val="262626"/>
                          </a:solidFill>
                          <a:latin typeface="游ゴシック"/>
                        </a:rPr>
                        <a:t>行うと決めていない</a:t>
                      </a:r>
                    </a:p>
                  </a:txBody>
                  <a:tcPr/>
                </a:tc>
              </a:tr>
              <a:tr h="303052">
                <a:tc>
                  <a:txBody>
                    <a:bodyPr/>
                    <a:lstStyle/>
                    <a:p>
                      <a:pPr algn="ctr"/>
                      <a:r>
                        <a:rPr sz="1000" b="0">
                          <a:solidFill>
                            <a:srgbClr val="262626"/>
                          </a:solidFill>
                          <a:latin typeface="游ゴシック"/>
                        </a:rPr>
                        <a:t>38</a:t>
                      </a:r>
                    </a:p>
                  </a:txBody>
                  <a:tcPr>
                    <a:solidFill>
                      <a:srgbClr val="A8C4C7"/>
                    </a:solidFill>
                  </a:tcPr>
                </a:tc>
                <a:tc>
                  <a:txBody>
                    <a:bodyPr/>
                    <a:lstStyle/>
                    <a:p>
                      <a:pPr algn="ctr"/>
                      <a:r>
                        <a:rPr sz="1000" b="1">
                          <a:solidFill>
                            <a:srgbClr val="262626"/>
                          </a:solidFill>
                          <a:latin typeface="游ゴシック"/>
                        </a:rPr>
                        <a:t>高齢の方が多いため</a:t>
                      </a:r>
                    </a:p>
                  </a:txBody>
                  <a:tcPr>
                    <a:solidFill>
                      <a:srgbClr val="A8C4C7"/>
                    </a:solidFill>
                  </a:tcPr>
                </a:tc>
              </a:tr>
              <a:tr h="303052">
                <a:tc>
                  <a:txBody>
                    <a:bodyPr/>
                    <a:lstStyle/>
                    <a:p>
                      <a:pPr algn="ctr"/>
                      <a:r>
                        <a:rPr sz="1000" b="0">
                          <a:solidFill>
                            <a:srgbClr val="262626"/>
                          </a:solidFill>
                          <a:latin typeface="游ゴシック"/>
                        </a:rPr>
                        <a:t>39</a:t>
                      </a:r>
                    </a:p>
                  </a:txBody>
                  <a:tcPr/>
                </a:tc>
                <a:tc>
                  <a:txBody>
                    <a:bodyPr/>
                    <a:lstStyle/>
                    <a:p>
                      <a:pPr algn="ctr"/>
                      <a:r>
                        <a:rPr sz="1000" b="1">
                          <a:solidFill>
                            <a:srgbClr val="262626"/>
                          </a:solidFill>
                          <a:latin typeface="游ゴシック"/>
                        </a:rPr>
                        <a:t>特になし</a:t>
                      </a:r>
                    </a:p>
                  </a:txBody>
                  <a:tcPr/>
                </a:tc>
              </a:tr>
              <a:tr h="303052">
                <a:tc>
                  <a:txBody>
                    <a:bodyPr/>
                    <a:lstStyle/>
                    <a:p>
                      <a:pPr algn="ctr"/>
                      <a:r>
                        <a:rPr sz="1000" b="0">
                          <a:solidFill>
                            <a:srgbClr val="262626"/>
                          </a:solidFill>
                          <a:latin typeface="游ゴシック"/>
                        </a:rPr>
                        <a:t>40</a:t>
                      </a:r>
                    </a:p>
                  </a:txBody>
                  <a:tcPr>
                    <a:solidFill>
                      <a:srgbClr val="A8C4C7"/>
                    </a:solidFill>
                  </a:tcPr>
                </a:tc>
                <a:tc>
                  <a:txBody>
                    <a:bodyPr/>
                    <a:lstStyle/>
                    <a:p>
                      <a:pPr algn="ctr"/>
                      <a:r>
                        <a:rPr sz="1000" b="1">
                          <a:solidFill>
                            <a:srgbClr val="262626"/>
                          </a:solidFill>
                          <a:latin typeface="游ゴシック"/>
                        </a:rPr>
                        <a:t>術後当院入院期間中では、パフォーマンステストが実施困難な機能・ADLの方がほとんどである</a:t>
                      </a:r>
                    </a:p>
                  </a:txBody>
                  <a:tcPr>
                    <a:solidFill>
                      <a:srgbClr val="A8C4C7"/>
                    </a:solidFill>
                  </a:tcPr>
                </a:tc>
              </a:tr>
              <a:tr h="303052">
                <a:tc>
                  <a:txBody>
                    <a:bodyPr/>
                    <a:lstStyle/>
                    <a:p>
                      <a:pPr algn="ctr"/>
                      <a:r>
                        <a:rPr sz="1000" b="0">
                          <a:solidFill>
                            <a:srgbClr val="262626"/>
                          </a:solidFill>
                          <a:latin typeface="游ゴシック"/>
                        </a:rPr>
                        <a:t>41</a:t>
                      </a:r>
                    </a:p>
                  </a:txBody>
                  <a:tcPr/>
                </a:tc>
                <a:tc>
                  <a:txBody>
                    <a:bodyPr/>
                    <a:lstStyle/>
                    <a:p>
                      <a:pPr algn="ctr"/>
                      <a:r>
                        <a:rPr sz="1000" b="1">
                          <a:solidFill>
                            <a:srgbClr val="262626"/>
                          </a:solidFill>
                          <a:latin typeface="游ゴシック"/>
                        </a:rPr>
                        <a:t>健康教室などでは行っているが、入院患者に実施していない。特に理由はない。</a:t>
                      </a:r>
                    </a:p>
                  </a:txBody>
                  <a:tcPr/>
                </a:tc>
              </a:tr>
              <a:tr h="303052">
                <a:tc>
                  <a:txBody>
                    <a:bodyPr/>
                    <a:lstStyle/>
                    <a:p>
                      <a:pPr algn="ctr"/>
                      <a:r>
                        <a:rPr sz="1000" b="0">
                          <a:solidFill>
                            <a:srgbClr val="262626"/>
                          </a:solidFill>
                          <a:latin typeface="游ゴシック"/>
                        </a:rPr>
                        <a:t>42</a:t>
                      </a:r>
                    </a:p>
                  </a:txBody>
                  <a:tcPr>
                    <a:solidFill>
                      <a:srgbClr val="A8C4C7"/>
                    </a:solidFill>
                  </a:tcPr>
                </a:tc>
                <a:tc>
                  <a:txBody>
                    <a:bodyPr/>
                    <a:lstStyle/>
                    <a:p>
                      <a:pPr algn="ctr"/>
                      <a:r>
                        <a:rPr sz="1000" b="1">
                          <a:solidFill>
                            <a:srgbClr val="262626"/>
                          </a:solidFill>
                          <a:latin typeface="游ゴシック"/>
                        </a:rPr>
                        <a:t>理学療法士または作業療法士がロコモティブシンドロームの評価を目的に評価は実施していない</a:t>
                      </a:r>
                    </a:p>
                  </a:txBody>
                  <a:tcPr>
                    <a:solidFill>
                      <a:srgbClr val="A8C4C7"/>
                    </a:solidFill>
                  </a:tcPr>
                </a:tc>
              </a:tr>
              <a:tr h="303052">
                <a:tc>
                  <a:txBody>
                    <a:bodyPr/>
                    <a:lstStyle/>
                    <a:p>
                      <a:pPr algn="ctr"/>
                      <a:r>
                        <a:rPr sz="1000" b="0">
                          <a:solidFill>
                            <a:srgbClr val="262626"/>
                          </a:solidFill>
                          <a:latin typeface="游ゴシック"/>
                        </a:rPr>
                        <a:t>43</a:t>
                      </a:r>
                    </a:p>
                  </a:txBody>
                  <a:tcPr/>
                </a:tc>
                <a:tc>
                  <a:txBody>
                    <a:bodyPr/>
                    <a:lstStyle/>
                    <a:p>
                      <a:pPr algn="ctr"/>
                      <a:r>
                        <a:rPr sz="1000" b="1">
                          <a:solidFill>
                            <a:srgbClr val="262626"/>
                          </a:solidFill>
                          <a:latin typeface="游ゴシック"/>
                        </a:rPr>
                        <a:t>SPPBとある程度の相関性があると考えており、また急性期の患者様には適していないと考えているので。</a:t>
                      </a:r>
                    </a:p>
                  </a:txBody>
                  <a:tcPr/>
                </a:tc>
              </a:tr>
              <a:tr h="303052">
                <a:tc>
                  <a:txBody>
                    <a:bodyPr/>
                    <a:lstStyle/>
                    <a:p>
                      <a:pPr algn="ctr"/>
                      <a:r>
                        <a:rPr sz="1000" b="0">
                          <a:solidFill>
                            <a:srgbClr val="262626"/>
                          </a:solidFill>
                          <a:latin typeface="游ゴシック"/>
                        </a:rPr>
                        <a:t>44</a:t>
                      </a:r>
                    </a:p>
                  </a:txBody>
                  <a:tcPr>
                    <a:solidFill>
                      <a:srgbClr val="A8C4C7"/>
                    </a:solidFill>
                  </a:tcPr>
                </a:tc>
                <a:tc>
                  <a:txBody>
                    <a:bodyPr/>
                    <a:lstStyle/>
                    <a:p>
                      <a:pPr algn="ctr"/>
                      <a:r>
                        <a:rPr sz="1000" b="1">
                          <a:solidFill>
                            <a:srgbClr val="262626"/>
                          </a:solidFill>
                          <a:latin typeface="游ゴシック"/>
                        </a:rPr>
                        <a:t>特になし</a:t>
                      </a:r>
                    </a:p>
                  </a:txBody>
                  <a:tcPr>
                    <a:solidFill>
                      <a:srgbClr val="A8C4C7"/>
                    </a:solidFill>
                  </a:tcPr>
                </a:tc>
              </a:tr>
              <a:tr h="303052">
                <a:tc>
                  <a:txBody>
                    <a:bodyPr/>
                    <a:lstStyle/>
                    <a:p>
                      <a:pPr algn="ctr"/>
                      <a:r>
                        <a:rPr sz="1000" b="0">
                          <a:solidFill>
                            <a:srgbClr val="262626"/>
                          </a:solidFill>
                          <a:latin typeface="游ゴシック"/>
                        </a:rPr>
                        <a:t>45</a:t>
                      </a:r>
                    </a:p>
                  </a:txBody>
                  <a:tcPr/>
                </a:tc>
                <a:tc>
                  <a:txBody>
                    <a:bodyPr/>
                    <a:lstStyle/>
                    <a:p>
                      <a:pPr algn="ctr"/>
                      <a:r>
                        <a:rPr sz="1000" b="1">
                          <a:solidFill>
                            <a:srgbClr val="262626"/>
                          </a:solidFill>
                          <a:latin typeface="游ゴシック"/>
                        </a:rPr>
                        <a:t>やるきっかけがない</a:t>
                      </a:r>
                    </a:p>
                  </a:txBody>
                  <a:tcPr/>
                </a:tc>
              </a:tr>
              <a:tr h="303052">
                <a:tc>
                  <a:txBody>
                    <a:bodyPr/>
                    <a:lstStyle/>
                    <a:p>
                      <a:pPr algn="ctr"/>
                      <a:r>
                        <a:rPr sz="1000" b="0">
                          <a:solidFill>
                            <a:srgbClr val="262626"/>
                          </a:solidFill>
                          <a:latin typeface="游ゴシック"/>
                        </a:rPr>
                        <a:t>46</a:t>
                      </a:r>
                    </a:p>
                  </a:txBody>
                  <a:tcPr>
                    <a:solidFill>
                      <a:srgbClr val="A8C4C7"/>
                    </a:solidFill>
                  </a:tcPr>
                </a:tc>
                <a:tc>
                  <a:txBody>
                    <a:bodyPr/>
                    <a:lstStyle/>
                    <a:p>
                      <a:pPr algn="ctr"/>
                      <a:r>
                        <a:rPr sz="1000" b="1">
                          <a:solidFill>
                            <a:srgbClr val="262626"/>
                          </a:solidFill>
                          <a:latin typeface="游ゴシック"/>
                        </a:rPr>
                        <a:t>決まりがない為</a:t>
                      </a:r>
                    </a:p>
                  </a:txBody>
                  <a:tcPr>
                    <a:solidFill>
                      <a:srgbClr val="A8C4C7"/>
                    </a:solidFill>
                  </a:tcPr>
                </a:tc>
              </a:tr>
              <a:tr h="303052">
                <a:tc>
                  <a:txBody>
                    <a:bodyPr/>
                    <a:lstStyle/>
                    <a:p>
                      <a:pPr algn="ctr"/>
                      <a:r>
                        <a:rPr sz="1000" b="0">
                          <a:solidFill>
                            <a:srgbClr val="262626"/>
                          </a:solidFill>
                          <a:latin typeface="游ゴシック"/>
                        </a:rPr>
                        <a:t>47</a:t>
                      </a:r>
                    </a:p>
                  </a:txBody>
                  <a:tcPr/>
                </a:tc>
                <a:tc>
                  <a:txBody>
                    <a:bodyPr/>
                    <a:lstStyle/>
                    <a:p>
                      <a:pPr algn="ctr"/>
                      <a:r>
                        <a:rPr sz="1000" b="1">
                          <a:solidFill>
                            <a:srgbClr val="262626"/>
                          </a:solidFill>
                          <a:latin typeface="游ゴシック"/>
                        </a:rPr>
                        <a:t>骨折している時点でロコモはあると思われ評価を行う重要度が低いと思い評価していない</a:t>
                      </a:r>
                    </a:p>
                  </a:txBody>
                  <a:tcPr/>
                </a:tc>
              </a:tr>
              <a:tr h="303052">
                <a:tc>
                  <a:txBody>
                    <a:bodyPr/>
                    <a:lstStyle/>
                    <a:p>
                      <a:pPr algn="ctr"/>
                      <a:r>
                        <a:rPr sz="1000" b="0">
                          <a:solidFill>
                            <a:srgbClr val="262626"/>
                          </a:solidFill>
                          <a:latin typeface="游ゴシック"/>
                        </a:rPr>
                        <a:t>48</a:t>
                      </a:r>
                    </a:p>
                  </a:txBody>
                  <a:tcPr>
                    <a:solidFill>
                      <a:srgbClr val="A8C4C7"/>
                    </a:solidFill>
                  </a:tcPr>
                </a:tc>
                <a:tc>
                  <a:txBody>
                    <a:bodyPr/>
                    <a:lstStyle/>
                    <a:p>
                      <a:pPr algn="ctr"/>
                      <a:r>
                        <a:rPr sz="1000" b="1">
                          <a:solidFill>
                            <a:srgbClr val="262626"/>
                          </a:solidFill>
                          <a:latin typeface="游ゴシック"/>
                        </a:rPr>
                        <a:t>術後疼痛などの影響により実施できないことが多い。人員が少なく評価項目を選別せざるを得ない。</a:t>
                      </a:r>
                    </a:p>
                  </a:txBody>
                  <a:tcPr>
                    <a:solidFill>
                      <a:srgbClr val="A8C4C7"/>
                    </a:solidFill>
                  </a:tcPr>
                </a:tc>
              </a:tr>
              <a:tr h="303052">
                <a:tc>
                  <a:txBody>
                    <a:bodyPr/>
                    <a:lstStyle/>
                    <a:p>
                      <a:pPr algn="ctr"/>
                      <a:r>
                        <a:rPr sz="1000" b="0">
                          <a:solidFill>
                            <a:srgbClr val="262626"/>
                          </a:solidFill>
                          <a:latin typeface="游ゴシック"/>
                        </a:rPr>
                        <a:t>49</a:t>
                      </a:r>
                    </a:p>
                  </a:txBody>
                  <a:tcPr/>
                </a:tc>
                <a:tc>
                  <a:txBody>
                    <a:bodyPr/>
                    <a:lstStyle/>
                    <a:p>
                      <a:pPr algn="ctr"/>
                      <a:r>
                        <a:rPr sz="1000" b="1">
                          <a:solidFill>
                            <a:srgbClr val="262626"/>
                          </a:solidFill>
                          <a:latin typeface="游ゴシック"/>
                        </a:rPr>
                        <a:t>急性期で痛みあり検査に至らない</a:t>
                      </a:r>
                    </a:p>
                  </a:txBody>
                  <a:tcPr/>
                </a:tc>
              </a:tr>
              <a:tr h="303052">
                <a:tc>
                  <a:txBody>
                    <a:bodyPr/>
                    <a:lstStyle/>
                    <a:p>
                      <a:pPr algn="ctr"/>
                      <a:r>
                        <a:rPr sz="1000" b="0">
                          <a:solidFill>
                            <a:srgbClr val="262626"/>
                          </a:solidFill>
                          <a:latin typeface="游ゴシック"/>
                        </a:rPr>
                        <a:t>50</a:t>
                      </a:r>
                    </a:p>
                  </a:txBody>
                  <a:tcPr>
                    <a:solidFill>
                      <a:srgbClr val="A8C4C7"/>
                    </a:solidFill>
                  </a:tcPr>
                </a:tc>
                <a:tc>
                  <a:txBody>
                    <a:bodyPr/>
                    <a:lstStyle/>
                    <a:p>
                      <a:pPr algn="ctr"/>
                      <a:r>
                        <a:rPr sz="1000" b="1">
                          <a:solidFill>
                            <a:srgbClr val="262626"/>
                          </a:solidFill>
                          <a:latin typeface="游ゴシック"/>
                        </a:rPr>
                        <a:t>ロコモティブシンドロームに対する決まった評価項目を設けていない</a:t>
                      </a:r>
                    </a:p>
                  </a:txBody>
                  <a:tcPr>
                    <a:solidFill>
                      <a:srgbClr val="A8C4C7"/>
                    </a:solidFill>
                  </a:tcPr>
                </a:tc>
              </a:tr>
              <a:tr h="303052">
                <a:tc>
                  <a:txBody>
                    <a:bodyPr/>
                    <a:lstStyle/>
                    <a:p>
                      <a:pPr algn="ctr"/>
                      <a:r>
                        <a:rPr sz="1000" b="0">
                          <a:solidFill>
                            <a:srgbClr val="262626"/>
                          </a:solidFill>
                          <a:latin typeface="游ゴシック"/>
                        </a:rPr>
                        <a:t>51</a:t>
                      </a:r>
                    </a:p>
                  </a:txBody>
                  <a:tcPr/>
                </a:tc>
                <a:tc>
                  <a:txBody>
                    <a:bodyPr/>
                    <a:lstStyle/>
                    <a:p>
                      <a:pPr algn="ctr"/>
                      <a:r>
                        <a:rPr sz="1000" b="1">
                          <a:solidFill>
                            <a:srgbClr val="262626"/>
                          </a:solidFill>
                          <a:latin typeface="游ゴシック"/>
                        </a:rPr>
                        <a:t>特になし</a:t>
                      </a:r>
                    </a:p>
                  </a:txBody>
                  <a:tcPr/>
                </a:tc>
              </a:tr>
              <a:tr h="303052">
                <a:tc>
                  <a:txBody>
                    <a:bodyPr/>
                    <a:lstStyle/>
                    <a:p>
                      <a:pPr algn="ctr"/>
                      <a:r>
                        <a:rPr sz="1000" b="0">
                          <a:solidFill>
                            <a:srgbClr val="262626"/>
                          </a:solidFill>
                          <a:latin typeface="游ゴシック"/>
                        </a:rPr>
                        <a:t>52</a:t>
                      </a:r>
                    </a:p>
                  </a:txBody>
                  <a:tcPr>
                    <a:solidFill>
                      <a:srgbClr val="A8C4C7"/>
                    </a:solidFill>
                  </a:tcPr>
                </a:tc>
                <a:tc>
                  <a:txBody>
                    <a:bodyPr/>
                    <a:lstStyle/>
                    <a:p>
                      <a:pPr algn="ctr"/>
                      <a:r>
                        <a:rPr sz="1000" b="1">
                          <a:solidFill>
                            <a:srgbClr val="262626"/>
                          </a:solidFill>
                          <a:latin typeface="游ゴシック"/>
                        </a:rPr>
                        <a:t>マンパワー不足</a:t>
                      </a:r>
                    </a:p>
                  </a:txBody>
                  <a:tcPr>
                    <a:solidFill>
                      <a:srgbClr val="A8C4C7"/>
                    </a:solidFill>
                  </a:tcPr>
                </a:tc>
              </a:tr>
              <a:tr h="303052">
                <a:tc>
                  <a:txBody>
                    <a:bodyPr/>
                    <a:lstStyle/>
                    <a:p>
                      <a:pPr algn="ctr"/>
                      <a:r>
                        <a:rPr sz="1000" b="0">
                          <a:solidFill>
                            <a:srgbClr val="262626"/>
                          </a:solidFill>
                          <a:latin typeface="游ゴシック"/>
                        </a:rPr>
                        <a:t>53</a:t>
                      </a:r>
                    </a:p>
                  </a:txBody>
                  <a:tcPr/>
                </a:tc>
                <a:tc>
                  <a:txBody>
                    <a:bodyPr/>
                    <a:lstStyle/>
                    <a:p>
                      <a:pPr algn="ctr"/>
                      <a:r>
                        <a:rPr sz="1000" b="1">
                          <a:solidFill>
                            <a:srgbClr val="262626"/>
                          </a:solidFill>
                          <a:latin typeface="游ゴシック"/>
                        </a:rPr>
                        <a:t>術後（特に術直後）の患者は転倒リスクが非常に高いため、実施していない</a:t>
                      </a:r>
                    </a:p>
                  </a:txBody>
                  <a:tcPr/>
                </a:tc>
              </a:tr>
              <a:tr h="303052">
                <a:tc>
                  <a:txBody>
                    <a:bodyPr/>
                    <a:lstStyle/>
                    <a:p>
                      <a:pPr algn="ctr"/>
                      <a:r>
                        <a:rPr sz="1000" b="0">
                          <a:solidFill>
                            <a:srgbClr val="262626"/>
                          </a:solidFill>
                          <a:latin typeface="游ゴシック"/>
                        </a:rPr>
                        <a:t>54</a:t>
                      </a:r>
                    </a:p>
                  </a:txBody>
                  <a:tcPr>
                    <a:solidFill>
                      <a:srgbClr val="A8C4C7"/>
                    </a:solidFill>
                  </a:tcPr>
                </a:tc>
                <a:tc>
                  <a:txBody>
                    <a:bodyPr/>
                    <a:lstStyle/>
                    <a:p>
                      <a:pPr algn="ctr"/>
                      <a:r>
                        <a:rPr sz="1000" b="1">
                          <a:solidFill>
                            <a:srgbClr val="262626"/>
                          </a:solidFill>
                          <a:latin typeface="游ゴシック"/>
                        </a:rPr>
                        <a:t>必要性がないため</a:t>
                      </a:r>
                    </a:p>
                  </a:txBody>
                  <a:tcPr>
                    <a:solidFill>
                      <a:srgbClr val="A8C4C7"/>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Q12-1.  「実施していない」を選択した方の理由【自由記述】  (4/8)</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55</a:t>
                      </a:r>
                    </a:p>
                  </a:txBody>
                  <a:tcPr/>
                </a:tc>
                <a:tc>
                  <a:txBody>
                    <a:bodyPr/>
                    <a:lstStyle/>
                    <a:p>
                      <a:pPr algn="ctr"/>
                      <a:r>
                        <a:rPr sz="1000" b="1">
                          <a:solidFill>
                            <a:srgbClr val="262626"/>
                          </a:solidFill>
                          <a:latin typeface="游ゴシック"/>
                        </a:rPr>
                        <a:t>他の評価を実施しているため</a:t>
                      </a:r>
                    </a:p>
                  </a:txBody>
                  <a:tcPr/>
                </a:tc>
              </a:tr>
              <a:tr h="303052">
                <a:tc>
                  <a:txBody>
                    <a:bodyPr/>
                    <a:lstStyle/>
                    <a:p>
                      <a:pPr algn="ctr"/>
                      <a:r>
                        <a:rPr sz="1000" b="0">
                          <a:solidFill>
                            <a:srgbClr val="262626"/>
                          </a:solidFill>
                          <a:latin typeface="游ゴシック"/>
                        </a:rPr>
                        <a:t>56</a:t>
                      </a:r>
                    </a:p>
                  </a:txBody>
                  <a:tcPr>
                    <a:solidFill>
                      <a:srgbClr val="A8C4C7"/>
                    </a:solidFill>
                  </a:tcPr>
                </a:tc>
                <a:tc>
                  <a:txBody>
                    <a:bodyPr/>
                    <a:lstStyle/>
                    <a:p>
                      <a:pPr algn="ctr"/>
                      <a:r>
                        <a:rPr sz="1000" b="1">
                          <a:solidFill>
                            <a:srgbClr val="262626"/>
                          </a:solidFill>
                          <a:latin typeface="游ゴシック"/>
                        </a:rPr>
                        <a:t>ロコモ単体としての評価は実施していないため</a:t>
                      </a:r>
                    </a:p>
                  </a:txBody>
                  <a:tcPr>
                    <a:solidFill>
                      <a:srgbClr val="A8C4C7"/>
                    </a:solidFill>
                  </a:tcPr>
                </a:tc>
              </a:tr>
              <a:tr h="303052">
                <a:tc>
                  <a:txBody>
                    <a:bodyPr/>
                    <a:lstStyle/>
                    <a:p>
                      <a:pPr algn="ctr"/>
                      <a:r>
                        <a:rPr sz="1000" b="0">
                          <a:solidFill>
                            <a:srgbClr val="262626"/>
                          </a:solidFill>
                          <a:latin typeface="游ゴシック"/>
                        </a:rPr>
                        <a:t>57</a:t>
                      </a:r>
                    </a:p>
                  </a:txBody>
                  <a:tcPr/>
                </a:tc>
                <a:tc>
                  <a:txBody>
                    <a:bodyPr/>
                    <a:lstStyle/>
                    <a:p>
                      <a:pPr algn="ctr"/>
                      <a:r>
                        <a:rPr sz="1000" b="1">
                          <a:solidFill>
                            <a:srgbClr val="262626"/>
                          </a:solidFill>
                          <a:latin typeface="游ゴシック"/>
                        </a:rPr>
                        <a:t>ロコモティブシンドロームに対する治療・評価の体制が整っていない。</a:t>
                      </a:r>
                    </a:p>
                  </a:txBody>
                  <a:tcPr/>
                </a:tc>
              </a:tr>
              <a:tr h="303052">
                <a:tc>
                  <a:txBody>
                    <a:bodyPr/>
                    <a:lstStyle/>
                    <a:p>
                      <a:pPr algn="ctr"/>
                      <a:r>
                        <a:rPr sz="1000" b="0">
                          <a:solidFill>
                            <a:srgbClr val="262626"/>
                          </a:solidFill>
                          <a:latin typeface="游ゴシック"/>
                        </a:rPr>
                        <a:t>58</a:t>
                      </a:r>
                    </a:p>
                  </a:txBody>
                  <a:tcPr>
                    <a:solidFill>
                      <a:srgbClr val="A8C4C7"/>
                    </a:solidFill>
                  </a:tcPr>
                </a:tc>
                <a:tc>
                  <a:txBody>
                    <a:bodyPr/>
                    <a:lstStyle/>
                    <a:p>
                      <a:pPr algn="ctr"/>
                      <a:r>
                        <a:rPr sz="1000" b="1">
                          <a:solidFill>
                            <a:srgbClr val="262626"/>
                          </a:solidFill>
                          <a:latin typeface="游ゴシック"/>
                        </a:rPr>
                        <a:t>当院の患者はほぼ高齢者でありフレイル状態の方がほとんどなので、ロコモの診断はされずあえてロコモの評価をしていないからです。</a:t>
                      </a:r>
                    </a:p>
                  </a:txBody>
                  <a:tcPr>
                    <a:solidFill>
                      <a:srgbClr val="A8C4C7"/>
                    </a:solidFill>
                  </a:tcPr>
                </a:tc>
              </a:tr>
              <a:tr h="303052">
                <a:tc>
                  <a:txBody>
                    <a:bodyPr/>
                    <a:lstStyle/>
                    <a:p>
                      <a:pPr algn="ctr"/>
                      <a:r>
                        <a:rPr sz="1000" b="0">
                          <a:solidFill>
                            <a:srgbClr val="262626"/>
                          </a:solidFill>
                          <a:latin typeface="游ゴシック"/>
                        </a:rPr>
                        <a:t>59</a:t>
                      </a:r>
                    </a:p>
                  </a:txBody>
                  <a:tcPr/>
                </a:tc>
                <a:tc>
                  <a:txBody>
                    <a:bodyPr/>
                    <a:lstStyle/>
                    <a:p>
                      <a:pPr algn="ctr"/>
                      <a:r>
                        <a:rPr sz="1000" b="1">
                          <a:solidFill>
                            <a:srgbClr val="262626"/>
                          </a:solidFill>
                          <a:latin typeface="游ゴシック"/>
                        </a:rPr>
                        <a:t>ロコモティブシンドロームの診断でリハビリが関わることが少ないため</a:t>
                      </a:r>
                    </a:p>
                  </a:txBody>
                  <a:tcPr/>
                </a:tc>
              </a:tr>
              <a:tr h="303052">
                <a:tc>
                  <a:txBody>
                    <a:bodyPr/>
                    <a:lstStyle/>
                    <a:p>
                      <a:pPr algn="ctr"/>
                      <a:r>
                        <a:rPr sz="1000" b="0">
                          <a:solidFill>
                            <a:srgbClr val="262626"/>
                          </a:solidFill>
                          <a:latin typeface="游ゴシック"/>
                        </a:rPr>
                        <a:t>60</a:t>
                      </a:r>
                    </a:p>
                  </a:txBody>
                  <a:tcPr>
                    <a:solidFill>
                      <a:srgbClr val="A8C4C7"/>
                    </a:solidFill>
                  </a:tcPr>
                </a:tc>
                <a:tc>
                  <a:txBody>
                    <a:bodyPr/>
                    <a:lstStyle/>
                    <a:p>
                      <a:pPr algn="ctr"/>
                      <a:r>
                        <a:rPr sz="1000" b="1">
                          <a:solidFill>
                            <a:srgbClr val="262626"/>
                          </a:solidFill>
                          <a:latin typeface="游ゴシック"/>
                        </a:rPr>
                        <a:t>入院前からロコモティブシンドロームに該当する状態の方が多いため。</a:t>
                      </a:r>
                    </a:p>
                  </a:txBody>
                  <a:tcPr>
                    <a:solidFill>
                      <a:srgbClr val="A8C4C7"/>
                    </a:solidFill>
                  </a:tcPr>
                </a:tc>
              </a:tr>
              <a:tr h="303052">
                <a:tc>
                  <a:txBody>
                    <a:bodyPr/>
                    <a:lstStyle/>
                    <a:p>
                      <a:pPr algn="ctr"/>
                      <a:r>
                        <a:rPr sz="1000" b="0">
                          <a:solidFill>
                            <a:srgbClr val="262626"/>
                          </a:solidFill>
                          <a:latin typeface="游ゴシック"/>
                        </a:rPr>
                        <a:t>61</a:t>
                      </a:r>
                    </a:p>
                  </a:txBody>
                  <a:tcPr/>
                </a:tc>
                <a:tc>
                  <a:txBody>
                    <a:bodyPr/>
                    <a:lstStyle/>
                    <a:p>
                      <a:pPr algn="ctr"/>
                      <a:r>
                        <a:rPr sz="1000" b="1">
                          <a:solidFill>
                            <a:srgbClr val="262626"/>
                          </a:solidFill>
                          <a:latin typeface="游ゴシック"/>
                        </a:rPr>
                        <a:t>サルコペニアを評価しているため</a:t>
                      </a:r>
                    </a:p>
                  </a:txBody>
                  <a:tcPr/>
                </a:tc>
              </a:tr>
              <a:tr h="303052">
                <a:tc>
                  <a:txBody>
                    <a:bodyPr/>
                    <a:lstStyle/>
                    <a:p>
                      <a:pPr algn="ctr"/>
                      <a:r>
                        <a:rPr sz="1000" b="0">
                          <a:solidFill>
                            <a:srgbClr val="262626"/>
                          </a:solidFill>
                          <a:latin typeface="游ゴシック"/>
                        </a:rPr>
                        <a:t>62</a:t>
                      </a:r>
                    </a:p>
                  </a:txBody>
                  <a:tcPr>
                    <a:solidFill>
                      <a:srgbClr val="A8C4C7"/>
                    </a:solidFill>
                  </a:tcPr>
                </a:tc>
                <a:tc>
                  <a:txBody>
                    <a:bodyPr/>
                    <a:lstStyle/>
                    <a:p>
                      <a:pPr algn="ctr"/>
                      <a:r>
                        <a:rPr sz="1000" b="1">
                          <a:solidFill>
                            <a:srgbClr val="262626"/>
                          </a:solidFill>
                          <a:latin typeface="游ゴシック"/>
                        </a:rPr>
                        <a:t>多忙な業務の中でロコモの評価に時間をとることが困難であるとともに2ステップが転倒リスクが高いため未評価</a:t>
                      </a:r>
                    </a:p>
                  </a:txBody>
                  <a:tcPr>
                    <a:solidFill>
                      <a:srgbClr val="A8C4C7"/>
                    </a:solidFill>
                  </a:tcPr>
                </a:tc>
              </a:tr>
              <a:tr h="303052">
                <a:tc>
                  <a:txBody>
                    <a:bodyPr/>
                    <a:lstStyle/>
                    <a:p>
                      <a:pPr algn="ctr"/>
                      <a:r>
                        <a:rPr sz="1000" b="0">
                          <a:solidFill>
                            <a:srgbClr val="262626"/>
                          </a:solidFill>
                          <a:latin typeface="游ゴシック"/>
                        </a:rPr>
                        <a:t>63</a:t>
                      </a:r>
                    </a:p>
                  </a:txBody>
                  <a:tcPr/>
                </a:tc>
                <a:tc>
                  <a:txBody>
                    <a:bodyPr/>
                    <a:lstStyle/>
                    <a:p>
                      <a:pPr algn="ctr"/>
                      <a:r>
                        <a:rPr sz="1000" b="1">
                          <a:solidFill>
                            <a:srgbClr val="262626"/>
                          </a:solidFill>
                          <a:latin typeface="游ゴシック"/>
                        </a:rPr>
                        <a:t>ロコチェックを使用している</a:t>
                      </a:r>
                    </a:p>
                  </a:txBody>
                  <a:tcPr/>
                </a:tc>
              </a:tr>
              <a:tr h="303052">
                <a:tc>
                  <a:txBody>
                    <a:bodyPr/>
                    <a:lstStyle/>
                    <a:p>
                      <a:pPr algn="ctr"/>
                      <a:r>
                        <a:rPr sz="1000" b="0">
                          <a:solidFill>
                            <a:srgbClr val="262626"/>
                          </a:solidFill>
                          <a:latin typeface="游ゴシック"/>
                        </a:rPr>
                        <a:t>64</a:t>
                      </a:r>
                    </a:p>
                  </a:txBody>
                  <a:tcPr>
                    <a:solidFill>
                      <a:srgbClr val="A8C4C7"/>
                    </a:solidFill>
                  </a:tcPr>
                </a:tc>
                <a:tc>
                  <a:txBody>
                    <a:bodyPr/>
                    <a:lstStyle/>
                    <a:p>
                      <a:pPr algn="ctr"/>
                      <a:r>
                        <a:rPr sz="1000" b="1">
                          <a:solidFill>
                            <a:srgbClr val="262626"/>
                          </a:solidFill>
                          <a:latin typeface="游ゴシック"/>
                        </a:rPr>
                        <a:t>術後2週で回復期病院へ転院するため</a:t>
                      </a:r>
                    </a:p>
                  </a:txBody>
                  <a:tcPr>
                    <a:solidFill>
                      <a:srgbClr val="A8C4C7"/>
                    </a:solidFill>
                  </a:tcPr>
                </a:tc>
              </a:tr>
              <a:tr h="303052">
                <a:tc>
                  <a:txBody>
                    <a:bodyPr/>
                    <a:lstStyle/>
                    <a:p>
                      <a:pPr algn="ctr"/>
                      <a:r>
                        <a:rPr sz="1000" b="0">
                          <a:solidFill>
                            <a:srgbClr val="262626"/>
                          </a:solidFill>
                          <a:latin typeface="游ゴシック"/>
                        </a:rPr>
                        <a:t>65</a:t>
                      </a:r>
                    </a:p>
                  </a:txBody>
                  <a:tcPr/>
                </a:tc>
                <a:tc>
                  <a:txBody>
                    <a:bodyPr/>
                    <a:lstStyle/>
                    <a:p>
                      <a:pPr algn="ctr"/>
                      <a:r>
                        <a:rPr sz="1000" b="1">
                          <a:solidFill>
                            <a:srgbClr val="262626"/>
                          </a:solidFill>
                          <a:latin typeface="游ゴシック"/>
                        </a:rPr>
                        <a:t>ロコモティブシンドロームに対する認識が低いため</a:t>
                      </a:r>
                    </a:p>
                  </a:txBody>
                  <a:tcPr/>
                </a:tc>
              </a:tr>
              <a:tr h="303052">
                <a:tc>
                  <a:txBody>
                    <a:bodyPr/>
                    <a:lstStyle/>
                    <a:p>
                      <a:pPr algn="ctr"/>
                      <a:r>
                        <a:rPr sz="1000" b="0">
                          <a:solidFill>
                            <a:srgbClr val="262626"/>
                          </a:solidFill>
                          <a:latin typeface="游ゴシック"/>
                        </a:rPr>
                        <a:t>66</a:t>
                      </a:r>
                    </a:p>
                  </a:txBody>
                  <a:tcPr>
                    <a:solidFill>
                      <a:srgbClr val="A8C4C7"/>
                    </a:solidFill>
                  </a:tcPr>
                </a:tc>
                <a:tc>
                  <a:txBody>
                    <a:bodyPr/>
                    <a:lstStyle/>
                    <a:p>
                      <a:pPr algn="ctr"/>
                      <a:r>
                        <a:rPr sz="1000" b="1">
                          <a:solidFill>
                            <a:srgbClr val="262626"/>
                          </a:solidFill>
                          <a:latin typeface="游ゴシック"/>
                        </a:rPr>
                        <a:t>急性期から回復期への転院が多く離床が主目的となるため</a:t>
                      </a:r>
                    </a:p>
                  </a:txBody>
                  <a:tcPr>
                    <a:solidFill>
                      <a:srgbClr val="A8C4C7"/>
                    </a:solidFill>
                  </a:tcPr>
                </a:tc>
              </a:tr>
              <a:tr h="303052">
                <a:tc>
                  <a:txBody>
                    <a:bodyPr/>
                    <a:lstStyle/>
                    <a:p>
                      <a:pPr algn="ctr"/>
                      <a:r>
                        <a:rPr sz="1000" b="0">
                          <a:solidFill>
                            <a:srgbClr val="262626"/>
                          </a:solidFill>
                          <a:latin typeface="游ゴシック"/>
                        </a:rPr>
                        <a:t>67</a:t>
                      </a:r>
                    </a:p>
                  </a:txBody>
                  <a:tcPr/>
                </a:tc>
                <a:tc>
                  <a:txBody>
                    <a:bodyPr/>
                    <a:lstStyle/>
                    <a:p>
                      <a:pPr algn="ctr"/>
                      <a:r>
                        <a:rPr sz="1000" b="1">
                          <a:solidFill>
                            <a:srgbClr val="262626"/>
                          </a:solidFill>
                          <a:latin typeface="游ゴシック"/>
                        </a:rPr>
                        <a:t>重要視していなかった。</a:t>
                      </a:r>
                    </a:p>
                  </a:txBody>
                  <a:tcPr/>
                </a:tc>
              </a:tr>
              <a:tr h="303052">
                <a:tc>
                  <a:txBody>
                    <a:bodyPr/>
                    <a:lstStyle/>
                    <a:p>
                      <a:pPr algn="ctr"/>
                      <a:r>
                        <a:rPr sz="1000" b="0">
                          <a:solidFill>
                            <a:srgbClr val="262626"/>
                          </a:solidFill>
                          <a:latin typeface="游ゴシック"/>
                        </a:rPr>
                        <a:t>68</a:t>
                      </a:r>
                    </a:p>
                  </a:txBody>
                  <a:tcPr>
                    <a:solidFill>
                      <a:srgbClr val="A8C4C7"/>
                    </a:solidFill>
                  </a:tcPr>
                </a:tc>
                <a:tc>
                  <a:txBody>
                    <a:bodyPr/>
                    <a:lstStyle/>
                    <a:p>
                      <a:pPr algn="ctr"/>
                      <a:r>
                        <a:rPr sz="1000" b="1">
                          <a:solidFill>
                            <a:srgbClr val="262626"/>
                          </a:solidFill>
                          <a:latin typeface="游ゴシック"/>
                        </a:rPr>
                        <a:t>ルーティン化した評価はなし。個人によってばらつきあり。</a:t>
                      </a:r>
                    </a:p>
                  </a:txBody>
                  <a:tcPr>
                    <a:solidFill>
                      <a:srgbClr val="A8C4C7"/>
                    </a:solidFill>
                  </a:tcPr>
                </a:tc>
              </a:tr>
              <a:tr h="303052">
                <a:tc>
                  <a:txBody>
                    <a:bodyPr/>
                    <a:lstStyle/>
                    <a:p>
                      <a:pPr algn="ctr"/>
                      <a:r>
                        <a:rPr sz="1000" b="0">
                          <a:solidFill>
                            <a:srgbClr val="262626"/>
                          </a:solidFill>
                          <a:latin typeface="游ゴシック"/>
                        </a:rPr>
                        <a:t>69</a:t>
                      </a:r>
                    </a:p>
                  </a:txBody>
                  <a:tcPr/>
                </a:tc>
                <a:tc>
                  <a:txBody>
                    <a:bodyPr/>
                    <a:lstStyle/>
                    <a:p>
                      <a:pPr algn="ctr"/>
                      <a:r>
                        <a:rPr sz="1000" b="1">
                          <a:solidFill>
                            <a:srgbClr val="262626"/>
                          </a:solidFill>
                          <a:latin typeface="游ゴシック"/>
                        </a:rPr>
                        <a:t>術後評価としていくつかの項目の評価はするも、ロコモティブシンドロームの評価としては実施していない</a:t>
                      </a:r>
                    </a:p>
                  </a:txBody>
                  <a:tcPr/>
                </a:tc>
              </a:tr>
              <a:tr h="303052">
                <a:tc>
                  <a:txBody>
                    <a:bodyPr/>
                    <a:lstStyle/>
                    <a:p>
                      <a:pPr algn="ctr"/>
                      <a:r>
                        <a:rPr sz="1000" b="0">
                          <a:solidFill>
                            <a:srgbClr val="262626"/>
                          </a:solidFill>
                          <a:latin typeface="游ゴシック"/>
                        </a:rPr>
                        <a:t>70</a:t>
                      </a:r>
                    </a:p>
                  </a:txBody>
                  <a:tcPr>
                    <a:solidFill>
                      <a:srgbClr val="A8C4C7"/>
                    </a:solidFill>
                  </a:tcPr>
                </a:tc>
                <a:tc>
                  <a:txBody>
                    <a:bodyPr/>
                    <a:lstStyle/>
                    <a:p>
                      <a:pPr algn="ctr"/>
                      <a:r>
                        <a:rPr sz="1000" b="1">
                          <a:solidFill>
                            <a:srgbClr val="262626"/>
                          </a:solidFill>
                          <a:latin typeface="游ゴシック"/>
                        </a:rPr>
                        <a:t>ロコモの評価をしていない</a:t>
                      </a:r>
                    </a:p>
                  </a:txBody>
                  <a:tcPr>
                    <a:solidFill>
                      <a:srgbClr val="A8C4C7"/>
                    </a:solidFill>
                  </a:tcPr>
                </a:tc>
              </a:tr>
              <a:tr h="303052">
                <a:tc>
                  <a:txBody>
                    <a:bodyPr/>
                    <a:lstStyle/>
                    <a:p>
                      <a:pPr algn="ctr"/>
                      <a:r>
                        <a:rPr sz="1000" b="0">
                          <a:solidFill>
                            <a:srgbClr val="262626"/>
                          </a:solidFill>
                          <a:latin typeface="游ゴシック"/>
                        </a:rPr>
                        <a:t>71</a:t>
                      </a:r>
                    </a:p>
                  </a:txBody>
                  <a:tcPr/>
                </a:tc>
                <a:tc>
                  <a:txBody>
                    <a:bodyPr/>
                    <a:lstStyle/>
                    <a:p>
                      <a:pPr algn="ctr"/>
                      <a:r>
                        <a:rPr sz="1000" b="1">
                          <a:solidFill>
                            <a:srgbClr val="262626"/>
                          </a:solidFill>
                          <a:latin typeface="游ゴシック"/>
                        </a:rPr>
                        <a:t>院内で規定した内容の評価を実施しているため</a:t>
                      </a:r>
                    </a:p>
                  </a:txBody>
                  <a:tcPr/>
                </a:tc>
              </a:tr>
              <a:tr h="303052">
                <a:tc>
                  <a:txBody>
                    <a:bodyPr/>
                    <a:lstStyle/>
                    <a:p>
                      <a:pPr algn="ctr"/>
                      <a:r>
                        <a:rPr sz="1000" b="0">
                          <a:solidFill>
                            <a:srgbClr val="262626"/>
                          </a:solidFill>
                          <a:latin typeface="游ゴシック"/>
                        </a:rPr>
                        <a:t>72</a:t>
                      </a:r>
                    </a:p>
                  </a:txBody>
                  <a:tcPr>
                    <a:solidFill>
                      <a:srgbClr val="A8C4C7"/>
                    </a:solidFill>
                  </a:tcPr>
                </a:tc>
                <a:tc>
                  <a:txBody>
                    <a:bodyPr/>
                    <a:lstStyle/>
                    <a:p>
                      <a:pPr algn="ctr"/>
                      <a:r>
                        <a:rPr sz="1000" b="1">
                          <a:solidFill>
                            <a:srgbClr val="262626"/>
                          </a:solidFill>
                          <a:latin typeface="游ゴシック"/>
                        </a:rPr>
                        <a:t>実施する基準がない</a:t>
                      </a:r>
                    </a:p>
                  </a:txBody>
                  <a:tcPr>
                    <a:solidFill>
                      <a:srgbClr val="A8C4C7"/>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Q12-1.  「実施していない」を選択した方の理由【自由記述】  (5/8)</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73</a:t>
                      </a:r>
                    </a:p>
                  </a:txBody>
                  <a:tcPr/>
                </a:tc>
                <a:tc>
                  <a:txBody>
                    <a:bodyPr/>
                    <a:lstStyle/>
                    <a:p>
                      <a:pPr algn="ctr"/>
                      <a:r>
                        <a:rPr sz="1000" b="1">
                          <a:solidFill>
                            <a:srgbClr val="262626"/>
                          </a:solidFill>
                          <a:latin typeface="游ゴシック"/>
                        </a:rPr>
                        <a:t>時間的余裕がないため</a:t>
                      </a:r>
                    </a:p>
                  </a:txBody>
                  <a:tcPr/>
                </a:tc>
              </a:tr>
              <a:tr h="303052">
                <a:tc>
                  <a:txBody>
                    <a:bodyPr/>
                    <a:lstStyle/>
                    <a:p>
                      <a:pPr algn="ctr"/>
                      <a:r>
                        <a:rPr sz="1000" b="0">
                          <a:solidFill>
                            <a:srgbClr val="262626"/>
                          </a:solidFill>
                          <a:latin typeface="游ゴシック"/>
                        </a:rPr>
                        <a:t>74</a:t>
                      </a:r>
                    </a:p>
                  </a:txBody>
                  <a:tcPr>
                    <a:solidFill>
                      <a:srgbClr val="A8C4C7"/>
                    </a:solidFill>
                  </a:tcPr>
                </a:tc>
                <a:tc>
                  <a:txBody>
                    <a:bodyPr/>
                    <a:lstStyle/>
                    <a:p>
                      <a:pPr algn="ctr"/>
                      <a:r>
                        <a:rPr sz="1000" b="1">
                          <a:solidFill>
                            <a:srgbClr val="262626"/>
                          </a:solidFill>
                          <a:latin typeface="游ゴシック"/>
                        </a:rPr>
                        <a:t>特に基準を設定していない</a:t>
                      </a:r>
                    </a:p>
                  </a:txBody>
                  <a:tcPr>
                    <a:solidFill>
                      <a:srgbClr val="A8C4C7"/>
                    </a:solidFill>
                  </a:tcPr>
                </a:tc>
              </a:tr>
              <a:tr h="303052">
                <a:tc>
                  <a:txBody>
                    <a:bodyPr/>
                    <a:lstStyle/>
                    <a:p>
                      <a:pPr algn="ctr"/>
                      <a:r>
                        <a:rPr sz="1000" b="0">
                          <a:solidFill>
                            <a:srgbClr val="262626"/>
                          </a:solidFill>
                          <a:latin typeface="游ゴシック"/>
                        </a:rPr>
                        <a:t>75</a:t>
                      </a:r>
                    </a:p>
                  </a:txBody>
                  <a:tcPr/>
                </a:tc>
                <a:tc>
                  <a:txBody>
                    <a:bodyPr/>
                    <a:lstStyle/>
                    <a:p>
                      <a:pPr algn="ctr"/>
                      <a:r>
                        <a:rPr sz="1000" b="1">
                          <a:solidFill>
                            <a:srgbClr val="262626"/>
                          </a:solidFill>
                          <a:latin typeface="游ゴシック"/>
                        </a:rPr>
                        <a:t>優先度の高い評価を実施しているため、ロコモ評価にまでは手がまわらない</a:t>
                      </a:r>
                    </a:p>
                  </a:txBody>
                  <a:tcPr/>
                </a:tc>
              </a:tr>
              <a:tr h="303052">
                <a:tc>
                  <a:txBody>
                    <a:bodyPr/>
                    <a:lstStyle/>
                    <a:p>
                      <a:pPr algn="ctr"/>
                      <a:r>
                        <a:rPr sz="1000" b="0">
                          <a:solidFill>
                            <a:srgbClr val="262626"/>
                          </a:solidFill>
                          <a:latin typeface="游ゴシック"/>
                        </a:rPr>
                        <a:t>76</a:t>
                      </a:r>
                    </a:p>
                  </a:txBody>
                  <a:tcPr>
                    <a:solidFill>
                      <a:srgbClr val="A8C4C7"/>
                    </a:solidFill>
                  </a:tcPr>
                </a:tc>
                <a:tc>
                  <a:txBody>
                    <a:bodyPr/>
                    <a:lstStyle/>
                    <a:p>
                      <a:pPr algn="ctr"/>
                      <a:r>
                        <a:rPr sz="1000" b="1">
                          <a:solidFill>
                            <a:srgbClr val="262626"/>
                          </a:solidFill>
                          <a:latin typeface="游ゴシック"/>
                        </a:rPr>
                        <a:t>SPPBで立ち上がり動作の評価を行っているため。</a:t>
                      </a:r>
                    </a:p>
                  </a:txBody>
                  <a:tcPr>
                    <a:solidFill>
                      <a:srgbClr val="A8C4C7"/>
                    </a:solidFill>
                  </a:tcPr>
                </a:tc>
              </a:tr>
              <a:tr h="303052">
                <a:tc>
                  <a:txBody>
                    <a:bodyPr/>
                    <a:lstStyle/>
                    <a:p>
                      <a:pPr algn="ctr"/>
                      <a:r>
                        <a:rPr sz="1000" b="0">
                          <a:solidFill>
                            <a:srgbClr val="262626"/>
                          </a:solidFill>
                          <a:latin typeface="游ゴシック"/>
                        </a:rPr>
                        <a:t>77</a:t>
                      </a:r>
                    </a:p>
                  </a:txBody>
                  <a:tcPr/>
                </a:tc>
                <a:tc>
                  <a:txBody>
                    <a:bodyPr/>
                    <a:lstStyle/>
                    <a:p>
                      <a:pPr algn="ctr"/>
                      <a:r>
                        <a:rPr sz="1000" b="1">
                          <a:solidFill>
                            <a:srgbClr val="262626"/>
                          </a:solidFill>
                          <a:latin typeface="游ゴシック"/>
                        </a:rPr>
                        <a:t>急性期にロコモテストを行っても一時的な機能低下を反映したものになると考えられるため</a:t>
                      </a:r>
                    </a:p>
                  </a:txBody>
                  <a:tcPr/>
                </a:tc>
              </a:tr>
              <a:tr h="303052">
                <a:tc>
                  <a:txBody>
                    <a:bodyPr/>
                    <a:lstStyle/>
                    <a:p>
                      <a:pPr algn="ctr"/>
                      <a:r>
                        <a:rPr sz="1000" b="0">
                          <a:solidFill>
                            <a:srgbClr val="262626"/>
                          </a:solidFill>
                          <a:latin typeface="游ゴシック"/>
                        </a:rPr>
                        <a:t>78</a:t>
                      </a:r>
                    </a:p>
                  </a:txBody>
                  <a:tcPr>
                    <a:solidFill>
                      <a:srgbClr val="A8C4C7"/>
                    </a:solidFill>
                  </a:tcPr>
                </a:tc>
                <a:tc>
                  <a:txBody>
                    <a:bodyPr/>
                    <a:lstStyle/>
                    <a:p>
                      <a:pPr algn="ctr"/>
                      <a:r>
                        <a:rPr sz="1000" b="1">
                          <a:solidFill>
                            <a:srgbClr val="262626"/>
                          </a:solidFill>
                          <a:latin typeface="游ゴシック"/>
                        </a:rPr>
                        <a:t>業務過多のため</a:t>
                      </a:r>
                    </a:p>
                  </a:txBody>
                  <a:tcPr>
                    <a:solidFill>
                      <a:srgbClr val="A8C4C7"/>
                    </a:solidFill>
                  </a:tcPr>
                </a:tc>
              </a:tr>
              <a:tr h="303052">
                <a:tc>
                  <a:txBody>
                    <a:bodyPr/>
                    <a:lstStyle/>
                    <a:p>
                      <a:pPr algn="ctr"/>
                      <a:r>
                        <a:rPr sz="1000" b="0">
                          <a:solidFill>
                            <a:srgbClr val="262626"/>
                          </a:solidFill>
                          <a:latin typeface="游ゴシック"/>
                        </a:rPr>
                        <a:t>79</a:t>
                      </a:r>
                    </a:p>
                  </a:txBody>
                  <a:tcPr/>
                </a:tc>
                <a:tc>
                  <a:txBody>
                    <a:bodyPr/>
                    <a:lstStyle/>
                    <a:p>
                      <a:pPr algn="ctr"/>
                      <a:r>
                        <a:rPr sz="1000" b="1">
                          <a:solidFill>
                            <a:srgbClr val="262626"/>
                          </a:solidFill>
                          <a:latin typeface="游ゴシック"/>
                        </a:rPr>
                        <a:t>特に検討したことがないため</a:t>
                      </a:r>
                    </a:p>
                  </a:txBody>
                  <a:tcPr/>
                </a:tc>
              </a:tr>
              <a:tr h="303052">
                <a:tc>
                  <a:txBody>
                    <a:bodyPr/>
                    <a:lstStyle/>
                    <a:p>
                      <a:pPr algn="ctr"/>
                      <a:r>
                        <a:rPr sz="1000" b="0">
                          <a:solidFill>
                            <a:srgbClr val="262626"/>
                          </a:solidFill>
                          <a:latin typeface="游ゴシック"/>
                        </a:rPr>
                        <a:t>80</a:t>
                      </a:r>
                    </a:p>
                  </a:txBody>
                  <a:tcPr>
                    <a:solidFill>
                      <a:srgbClr val="A8C4C7"/>
                    </a:solidFill>
                  </a:tcPr>
                </a:tc>
                <a:tc>
                  <a:txBody>
                    <a:bodyPr/>
                    <a:lstStyle/>
                    <a:p>
                      <a:pPr algn="ctr"/>
                      <a:r>
                        <a:rPr sz="1000" b="1">
                          <a:solidFill>
                            <a:srgbClr val="262626"/>
                          </a:solidFill>
                          <a:latin typeface="游ゴシック"/>
                        </a:rPr>
                        <a:t>立ち上がり、2ステップテストが実施できる患者様が少ないため。</a:t>
                      </a:r>
                    </a:p>
                  </a:txBody>
                  <a:tcPr>
                    <a:solidFill>
                      <a:srgbClr val="A8C4C7"/>
                    </a:solidFill>
                  </a:tcPr>
                </a:tc>
              </a:tr>
              <a:tr h="303052">
                <a:tc>
                  <a:txBody>
                    <a:bodyPr/>
                    <a:lstStyle/>
                    <a:p>
                      <a:pPr algn="ctr"/>
                      <a:r>
                        <a:rPr sz="1000" b="0">
                          <a:solidFill>
                            <a:srgbClr val="262626"/>
                          </a:solidFill>
                          <a:latin typeface="游ゴシック"/>
                        </a:rPr>
                        <a:t>81</a:t>
                      </a:r>
                    </a:p>
                  </a:txBody>
                  <a:tcPr/>
                </a:tc>
                <a:tc>
                  <a:txBody>
                    <a:bodyPr/>
                    <a:lstStyle/>
                    <a:p>
                      <a:pPr algn="ctr"/>
                      <a:r>
                        <a:rPr sz="1000" b="1">
                          <a:solidFill>
                            <a:srgbClr val="262626"/>
                          </a:solidFill>
                          <a:latin typeface="游ゴシック"/>
                        </a:rPr>
                        <a:t>他の評価で対応しているため</a:t>
                      </a:r>
                    </a:p>
                  </a:txBody>
                  <a:tcPr/>
                </a:tc>
              </a:tr>
              <a:tr h="303052">
                <a:tc>
                  <a:txBody>
                    <a:bodyPr/>
                    <a:lstStyle/>
                    <a:p>
                      <a:pPr algn="ctr"/>
                      <a:r>
                        <a:rPr sz="1000" b="0">
                          <a:solidFill>
                            <a:srgbClr val="262626"/>
                          </a:solidFill>
                          <a:latin typeface="游ゴシック"/>
                        </a:rPr>
                        <a:t>82</a:t>
                      </a:r>
                    </a:p>
                  </a:txBody>
                  <a:tcPr>
                    <a:solidFill>
                      <a:srgbClr val="A8C4C7"/>
                    </a:solidFill>
                  </a:tcPr>
                </a:tc>
                <a:tc>
                  <a:txBody>
                    <a:bodyPr/>
                    <a:lstStyle/>
                    <a:p>
                      <a:pPr algn="ctr"/>
                      <a:r>
                        <a:rPr sz="1000" b="1">
                          <a:solidFill>
                            <a:srgbClr val="262626"/>
                          </a:solidFill>
                          <a:latin typeface="游ゴシック"/>
                        </a:rPr>
                        <a:t>特にロコモテストをするわけではなく問題となりそうであれば必要な評価を行う形です</a:t>
                      </a:r>
                    </a:p>
                  </a:txBody>
                  <a:tcPr>
                    <a:solidFill>
                      <a:srgbClr val="A8C4C7"/>
                    </a:solidFill>
                  </a:tcPr>
                </a:tc>
              </a:tr>
              <a:tr h="303052">
                <a:tc>
                  <a:txBody>
                    <a:bodyPr/>
                    <a:lstStyle/>
                    <a:p>
                      <a:pPr algn="ctr"/>
                      <a:r>
                        <a:rPr sz="1000" b="0">
                          <a:solidFill>
                            <a:srgbClr val="262626"/>
                          </a:solidFill>
                          <a:latin typeface="游ゴシック"/>
                        </a:rPr>
                        <a:t>83</a:t>
                      </a:r>
                    </a:p>
                  </a:txBody>
                  <a:tcPr/>
                </a:tc>
                <a:tc>
                  <a:txBody>
                    <a:bodyPr/>
                    <a:lstStyle/>
                    <a:p>
                      <a:pPr algn="ctr"/>
                      <a:r>
                        <a:rPr sz="1000" b="1">
                          <a:solidFill>
                            <a:srgbClr val="262626"/>
                          </a:solidFill>
                          <a:latin typeface="游ゴシック"/>
                        </a:rPr>
                        <a:t>後述の転倒リスク評価を実施しているため、ロコモティブシンドロームという観点では評価していない。</a:t>
                      </a:r>
                    </a:p>
                  </a:txBody>
                  <a:tcPr/>
                </a:tc>
              </a:tr>
              <a:tr h="303052">
                <a:tc>
                  <a:txBody>
                    <a:bodyPr/>
                    <a:lstStyle/>
                    <a:p>
                      <a:pPr algn="ctr"/>
                      <a:r>
                        <a:rPr sz="1000" b="0">
                          <a:solidFill>
                            <a:srgbClr val="262626"/>
                          </a:solidFill>
                          <a:latin typeface="游ゴシック"/>
                        </a:rPr>
                        <a:t>84</a:t>
                      </a:r>
                    </a:p>
                  </a:txBody>
                  <a:tcPr>
                    <a:solidFill>
                      <a:srgbClr val="A8C4C7"/>
                    </a:solidFill>
                  </a:tcPr>
                </a:tc>
                <a:tc>
                  <a:txBody>
                    <a:bodyPr/>
                    <a:lstStyle/>
                    <a:p>
                      <a:pPr algn="ctr"/>
                      <a:r>
                        <a:rPr sz="1000" b="1">
                          <a:solidFill>
                            <a:srgbClr val="262626"/>
                          </a:solidFill>
                          <a:latin typeface="游ゴシック"/>
                        </a:rPr>
                        <a:t>術後介入開始であり、評価を実施できる身体的機能がない。</a:t>
                      </a:r>
                    </a:p>
                  </a:txBody>
                  <a:tcPr>
                    <a:solidFill>
                      <a:srgbClr val="A8C4C7"/>
                    </a:solidFill>
                  </a:tcPr>
                </a:tc>
              </a:tr>
              <a:tr h="303052">
                <a:tc>
                  <a:txBody>
                    <a:bodyPr/>
                    <a:lstStyle/>
                    <a:p>
                      <a:pPr algn="ctr"/>
                      <a:r>
                        <a:rPr sz="1000" b="0">
                          <a:solidFill>
                            <a:srgbClr val="262626"/>
                          </a:solidFill>
                          <a:latin typeface="游ゴシック"/>
                        </a:rPr>
                        <a:t>85</a:t>
                      </a:r>
                    </a:p>
                  </a:txBody>
                  <a:tcPr/>
                </a:tc>
                <a:tc>
                  <a:txBody>
                    <a:bodyPr/>
                    <a:lstStyle/>
                    <a:p>
                      <a:pPr algn="ctr"/>
                      <a:r>
                        <a:rPr sz="1000" b="1">
                          <a:solidFill>
                            <a:srgbClr val="262626"/>
                          </a:solidFill>
                          <a:latin typeface="游ゴシック"/>
                        </a:rPr>
                        <a:t>超高齢者が多く、実施困難例が多いため。</a:t>
                      </a:r>
                    </a:p>
                  </a:txBody>
                  <a:tcPr/>
                </a:tc>
              </a:tr>
              <a:tr h="303052">
                <a:tc>
                  <a:txBody>
                    <a:bodyPr/>
                    <a:lstStyle/>
                    <a:p>
                      <a:pPr algn="ctr"/>
                      <a:r>
                        <a:rPr sz="1000" b="0">
                          <a:solidFill>
                            <a:srgbClr val="262626"/>
                          </a:solidFill>
                          <a:latin typeface="游ゴシック"/>
                        </a:rPr>
                        <a:t>86</a:t>
                      </a:r>
                    </a:p>
                  </a:txBody>
                  <a:tcPr>
                    <a:solidFill>
                      <a:srgbClr val="A8C4C7"/>
                    </a:solidFill>
                  </a:tcPr>
                </a:tc>
                <a:tc>
                  <a:txBody>
                    <a:bodyPr/>
                    <a:lstStyle/>
                    <a:p>
                      <a:pPr algn="ctr"/>
                      <a:r>
                        <a:rPr sz="1000" b="1">
                          <a:solidFill>
                            <a:srgbClr val="262626"/>
                          </a:solidFill>
                          <a:latin typeface="游ゴシック"/>
                        </a:rPr>
                        <a:t>フレイル・サルコペニアの評価を実施しており、これ以上の評価項目の増加は患者負担・業務負担に繋がると考えているため。</a:t>
                      </a:r>
                    </a:p>
                  </a:txBody>
                  <a:tcPr>
                    <a:solidFill>
                      <a:srgbClr val="A8C4C7"/>
                    </a:solidFill>
                  </a:tcPr>
                </a:tc>
              </a:tr>
              <a:tr h="303052">
                <a:tc>
                  <a:txBody>
                    <a:bodyPr/>
                    <a:lstStyle/>
                    <a:p>
                      <a:pPr algn="ctr"/>
                      <a:r>
                        <a:rPr sz="1000" b="0">
                          <a:solidFill>
                            <a:srgbClr val="262626"/>
                          </a:solidFill>
                          <a:latin typeface="游ゴシック"/>
                        </a:rPr>
                        <a:t>87</a:t>
                      </a:r>
                    </a:p>
                  </a:txBody>
                  <a:tcPr/>
                </a:tc>
                <a:tc>
                  <a:txBody>
                    <a:bodyPr/>
                    <a:lstStyle/>
                    <a:p>
                      <a:pPr algn="ctr"/>
                      <a:r>
                        <a:rPr sz="1000" b="1">
                          <a:solidFill>
                            <a:srgbClr val="262626"/>
                          </a:solidFill>
                          <a:latin typeface="游ゴシック"/>
                        </a:rPr>
                        <a:t>急性期病院で入院期間が短く、術後早期のためロコモティブシンドローム以外の要因に影響を大きく受けるため。</a:t>
                      </a:r>
                    </a:p>
                  </a:txBody>
                  <a:tcPr/>
                </a:tc>
              </a:tr>
              <a:tr h="303052">
                <a:tc>
                  <a:txBody>
                    <a:bodyPr/>
                    <a:lstStyle/>
                    <a:p>
                      <a:pPr algn="ctr"/>
                      <a:r>
                        <a:rPr sz="1000" b="0">
                          <a:solidFill>
                            <a:srgbClr val="262626"/>
                          </a:solidFill>
                          <a:latin typeface="游ゴシック"/>
                        </a:rPr>
                        <a:t>88</a:t>
                      </a:r>
                    </a:p>
                  </a:txBody>
                  <a:tcPr>
                    <a:solidFill>
                      <a:srgbClr val="A8C4C7"/>
                    </a:solidFill>
                  </a:tcPr>
                </a:tc>
                <a:tc>
                  <a:txBody>
                    <a:bodyPr/>
                    <a:lstStyle/>
                    <a:p>
                      <a:pPr algn="ctr"/>
                      <a:r>
                        <a:rPr sz="1000" b="1">
                          <a:solidFill>
                            <a:srgbClr val="262626"/>
                          </a:solidFill>
                          <a:latin typeface="游ゴシック"/>
                        </a:rPr>
                        <a:t>必要と感じていないため</a:t>
                      </a:r>
                    </a:p>
                  </a:txBody>
                  <a:tcPr>
                    <a:solidFill>
                      <a:srgbClr val="A8C4C7"/>
                    </a:solidFill>
                  </a:tcPr>
                </a:tc>
              </a:tr>
              <a:tr h="303052">
                <a:tc>
                  <a:txBody>
                    <a:bodyPr/>
                    <a:lstStyle/>
                    <a:p>
                      <a:pPr algn="ctr"/>
                      <a:r>
                        <a:rPr sz="1000" b="0">
                          <a:solidFill>
                            <a:srgbClr val="262626"/>
                          </a:solidFill>
                          <a:latin typeface="游ゴシック"/>
                        </a:rPr>
                        <a:t>89</a:t>
                      </a:r>
                    </a:p>
                  </a:txBody>
                  <a:tcPr/>
                </a:tc>
                <a:tc>
                  <a:txBody>
                    <a:bodyPr/>
                    <a:lstStyle/>
                    <a:p>
                      <a:pPr algn="ctr"/>
                      <a:r>
                        <a:rPr sz="1000" b="1">
                          <a:solidFill>
                            <a:srgbClr val="262626"/>
                          </a:solidFill>
                          <a:latin typeface="游ゴシック"/>
                        </a:rPr>
                        <a:t>該当症例なし</a:t>
                      </a:r>
                    </a:p>
                  </a:txBody>
                  <a:tcPr/>
                </a:tc>
              </a:tr>
              <a:tr h="303052">
                <a:tc>
                  <a:txBody>
                    <a:bodyPr/>
                    <a:lstStyle/>
                    <a:p>
                      <a:pPr algn="ctr"/>
                      <a:r>
                        <a:rPr sz="1000" b="0">
                          <a:solidFill>
                            <a:srgbClr val="262626"/>
                          </a:solidFill>
                          <a:latin typeface="游ゴシック"/>
                        </a:rPr>
                        <a:t>90</a:t>
                      </a:r>
                    </a:p>
                  </a:txBody>
                  <a:tcPr>
                    <a:solidFill>
                      <a:srgbClr val="A8C4C7"/>
                    </a:solidFill>
                  </a:tcPr>
                </a:tc>
                <a:tc>
                  <a:txBody>
                    <a:bodyPr/>
                    <a:lstStyle/>
                    <a:p>
                      <a:pPr algn="ctr"/>
                      <a:r>
                        <a:rPr sz="1000" b="1">
                          <a:solidFill>
                            <a:srgbClr val="262626"/>
                          </a:solidFill>
                          <a:latin typeface="游ゴシック"/>
                        </a:rPr>
                        <a:t>急性期病院で術後２週間前後で転院となる。なので、立ち上がりテスト、②ステップテストは当院入院中に評価できる患者がいない。ロコモ25も身体機能が落ち着いてからするべきかと思う。</a:t>
                      </a:r>
                    </a:p>
                  </a:txBody>
                  <a:tcPr>
                    <a:solidFill>
                      <a:srgbClr val="A8C4C7"/>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Q12-1.  「実施していない」を選択した方の理由【自由記述】  (6/8)</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91</a:t>
                      </a:r>
                    </a:p>
                  </a:txBody>
                  <a:tcPr/>
                </a:tc>
                <a:tc>
                  <a:txBody>
                    <a:bodyPr/>
                    <a:lstStyle/>
                    <a:p>
                      <a:pPr algn="ctr"/>
                      <a:r>
                        <a:rPr sz="1000" b="1">
                          <a:solidFill>
                            <a:srgbClr val="262626"/>
                          </a:solidFill>
                          <a:latin typeface="游ゴシック"/>
                        </a:rPr>
                        <a:t>その他の評価を行っているため</a:t>
                      </a:r>
                    </a:p>
                  </a:txBody>
                  <a:tcPr/>
                </a:tc>
              </a:tr>
              <a:tr h="303052">
                <a:tc>
                  <a:txBody>
                    <a:bodyPr/>
                    <a:lstStyle/>
                    <a:p>
                      <a:pPr algn="ctr"/>
                      <a:r>
                        <a:rPr sz="1000" b="0">
                          <a:solidFill>
                            <a:srgbClr val="262626"/>
                          </a:solidFill>
                          <a:latin typeface="游ゴシック"/>
                        </a:rPr>
                        <a:t>92</a:t>
                      </a:r>
                    </a:p>
                  </a:txBody>
                  <a:tcPr>
                    <a:solidFill>
                      <a:srgbClr val="A8C4C7"/>
                    </a:solidFill>
                  </a:tcPr>
                </a:tc>
                <a:tc>
                  <a:txBody>
                    <a:bodyPr/>
                    <a:lstStyle/>
                    <a:p>
                      <a:pPr algn="ctr"/>
                      <a:r>
                        <a:rPr sz="1000" b="1">
                          <a:solidFill>
                            <a:srgbClr val="262626"/>
                          </a:solidFill>
                          <a:latin typeface="游ゴシック"/>
                        </a:rPr>
                        <a:t>業務として標準化されておらず、実施していない。</a:t>
                      </a:r>
                    </a:p>
                  </a:txBody>
                  <a:tcPr>
                    <a:solidFill>
                      <a:srgbClr val="A8C4C7"/>
                    </a:solidFill>
                  </a:tcPr>
                </a:tc>
              </a:tr>
              <a:tr h="303052">
                <a:tc>
                  <a:txBody>
                    <a:bodyPr/>
                    <a:lstStyle/>
                    <a:p>
                      <a:pPr algn="ctr"/>
                      <a:r>
                        <a:rPr sz="1000" b="0">
                          <a:solidFill>
                            <a:srgbClr val="262626"/>
                          </a:solidFill>
                          <a:latin typeface="游ゴシック"/>
                        </a:rPr>
                        <a:t>93</a:t>
                      </a:r>
                    </a:p>
                  </a:txBody>
                  <a:tcPr/>
                </a:tc>
                <a:tc>
                  <a:txBody>
                    <a:bodyPr/>
                    <a:lstStyle/>
                    <a:p>
                      <a:pPr algn="ctr"/>
                      <a:r>
                        <a:rPr sz="1000" b="1">
                          <a:solidFill>
                            <a:srgbClr val="262626"/>
                          </a:solidFill>
                          <a:latin typeface="游ゴシック"/>
                        </a:rPr>
                        <a:t>ロコモティブシンドローム目的で実施はしていない為</a:t>
                      </a:r>
                    </a:p>
                  </a:txBody>
                  <a:tcPr/>
                </a:tc>
              </a:tr>
              <a:tr h="303052">
                <a:tc>
                  <a:txBody>
                    <a:bodyPr/>
                    <a:lstStyle/>
                    <a:p>
                      <a:pPr algn="ctr"/>
                      <a:r>
                        <a:rPr sz="1000" b="0">
                          <a:solidFill>
                            <a:srgbClr val="262626"/>
                          </a:solidFill>
                          <a:latin typeface="游ゴシック"/>
                        </a:rPr>
                        <a:t>94</a:t>
                      </a:r>
                    </a:p>
                  </a:txBody>
                  <a:tcPr>
                    <a:solidFill>
                      <a:srgbClr val="A8C4C7"/>
                    </a:solidFill>
                  </a:tcPr>
                </a:tc>
                <a:tc>
                  <a:txBody>
                    <a:bodyPr/>
                    <a:lstStyle/>
                    <a:p>
                      <a:pPr algn="ctr"/>
                      <a:r>
                        <a:rPr sz="1000" b="1">
                          <a:solidFill>
                            <a:srgbClr val="262626"/>
                          </a:solidFill>
                          <a:latin typeface="游ゴシック"/>
                        </a:rPr>
                        <a:t>当院の評価バッテリーに含まれていない</a:t>
                      </a:r>
                    </a:p>
                  </a:txBody>
                  <a:tcPr>
                    <a:solidFill>
                      <a:srgbClr val="A8C4C7"/>
                    </a:solidFill>
                  </a:tcPr>
                </a:tc>
              </a:tr>
              <a:tr h="303052">
                <a:tc>
                  <a:txBody>
                    <a:bodyPr/>
                    <a:lstStyle/>
                    <a:p>
                      <a:pPr algn="ctr"/>
                      <a:r>
                        <a:rPr sz="1000" b="0">
                          <a:solidFill>
                            <a:srgbClr val="262626"/>
                          </a:solidFill>
                          <a:latin typeface="游ゴシック"/>
                        </a:rPr>
                        <a:t>95</a:t>
                      </a:r>
                    </a:p>
                  </a:txBody>
                  <a:tcPr/>
                </a:tc>
                <a:tc>
                  <a:txBody>
                    <a:bodyPr/>
                    <a:lstStyle/>
                    <a:p>
                      <a:pPr algn="ctr"/>
                      <a:r>
                        <a:rPr sz="1000" b="1">
                          <a:solidFill>
                            <a:srgbClr val="262626"/>
                          </a:solidFill>
                          <a:latin typeface="游ゴシック"/>
                        </a:rPr>
                        <a:t>上記評価を行える患者が少ないため。</a:t>
                      </a:r>
                    </a:p>
                  </a:txBody>
                  <a:tcPr/>
                </a:tc>
              </a:tr>
              <a:tr h="303052">
                <a:tc>
                  <a:txBody>
                    <a:bodyPr/>
                    <a:lstStyle/>
                    <a:p>
                      <a:pPr algn="ctr"/>
                      <a:r>
                        <a:rPr sz="1000" b="0">
                          <a:solidFill>
                            <a:srgbClr val="262626"/>
                          </a:solidFill>
                          <a:latin typeface="游ゴシック"/>
                        </a:rPr>
                        <a:t>96</a:t>
                      </a:r>
                    </a:p>
                  </a:txBody>
                  <a:tcPr>
                    <a:solidFill>
                      <a:srgbClr val="A8C4C7"/>
                    </a:solidFill>
                  </a:tcPr>
                </a:tc>
                <a:tc>
                  <a:txBody>
                    <a:bodyPr/>
                    <a:lstStyle/>
                    <a:p>
                      <a:pPr algn="ctr"/>
                      <a:r>
                        <a:rPr sz="1000" b="1">
                          <a:solidFill>
                            <a:srgbClr val="262626"/>
                          </a:solidFill>
                          <a:latin typeface="游ゴシック"/>
                        </a:rPr>
                        <a:t>急性期、高齢で実施が難しい患者が多い為</a:t>
                      </a:r>
                    </a:p>
                  </a:txBody>
                  <a:tcPr>
                    <a:solidFill>
                      <a:srgbClr val="A8C4C7"/>
                    </a:solidFill>
                  </a:tcPr>
                </a:tc>
              </a:tr>
              <a:tr h="303052">
                <a:tc>
                  <a:txBody>
                    <a:bodyPr/>
                    <a:lstStyle/>
                    <a:p>
                      <a:pPr algn="ctr"/>
                      <a:r>
                        <a:rPr sz="1000" b="0">
                          <a:solidFill>
                            <a:srgbClr val="262626"/>
                          </a:solidFill>
                          <a:latin typeface="游ゴシック"/>
                        </a:rPr>
                        <a:t>97</a:t>
                      </a:r>
                    </a:p>
                  </a:txBody>
                  <a:tcPr/>
                </a:tc>
                <a:tc>
                  <a:txBody>
                    <a:bodyPr/>
                    <a:lstStyle/>
                    <a:p>
                      <a:pPr algn="ctr"/>
                      <a:r>
                        <a:rPr sz="1000" b="1">
                          <a:solidFill>
                            <a:srgbClr val="262626"/>
                          </a:solidFill>
                          <a:latin typeface="游ゴシック"/>
                        </a:rPr>
                        <a:t>リハ算定できる疾患ではない為</a:t>
                      </a:r>
                    </a:p>
                  </a:txBody>
                  <a:tcPr/>
                </a:tc>
              </a:tr>
              <a:tr h="303052">
                <a:tc>
                  <a:txBody>
                    <a:bodyPr/>
                    <a:lstStyle/>
                    <a:p>
                      <a:pPr algn="ctr"/>
                      <a:r>
                        <a:rPr sz="1000" b="0">
                          <a:solidFill>
                            <a:srgbClr val="262626"/>
                          </a:solidFill>
                          <a:latin typeface="游ゴシック"/>
                        </a:rPr>
                        <a:t>98</a:t>
                      </a:r>
                    </a:p>
                  </a:txBody>
                  <a:tcPr>
                    <a:solidFill>
                      <a:srgbClr val="A8C4C7"/>
                    </a:solidFill>
                  </a:tcPr>
                </a:tc>
                <a:tc>
                  <a:txBody>
                    <a:bodyPr/>
                    <a:lstStyle/>
                    <a:p>
                      <a:pPr algn="ctr"/>
                      <a:r>
                        <a:rPr sz="1000" b="1">
                          <a:solidFill>
                            <a:srgbClr val="262626"/>
                          </a:solidFill>
                          <a:latin typeface="游ゴシック"/>
                        </a:rPr>
                        <a:t>簡略化した評価方法であれば検討する。安全が確保しにくい。</a:t>
                      </a:r>
                    </a:p>
                  </a:txBody>
                  <a:tcPr>
                    <a:solidFill>
                      <a:srgbClr val="A8C4C7"/>
                    </a:solidFill>
                  </a:tcPr>
                </a:tc>
              </a:tr>
              <a:tr h="303052">
                <a:tc>
                  <a:txBody>
                    <a:bodyPr/>
                    <a:lstStyle/>
                    <a:p>
                      <a:pPr algn="ctr"/>
                      <a:r>
                        <a:rPr sz="1000" b="0">
                          <a:solidFill>
                            <a:srgbClr val="262626"/>
                          </a:solidFill>
                          <a:latin typeface="游ゴシック"/>
                        </a:rPr>
                        <a:t>99</a:t>
                      </a:r>
                    </a:p>
                  </a:txBody>
                  <a:tcPr/>
                </a:tc>
                <a:tc>
                  <a:txBody>
                    <a:bodyPr/>
                    <a:lstStyle/>
                    <a:p>
                      <a:pPr algn="ctr"/>
                      <a:r>
                        <a:rPr sz="1000" b="1">
                          <a:solidFill>
                            <a:srgbClr val="262626"/>
                          </a:solidFill>
                          <a:latin typeface="游ゴシック"/>
                        </a:rPr>
                        <a:t>ロコモティブシンドロームに関する指導を行わないため</a:t>
                      </a:r>
                    </a:p>
                  </a:txBody>
                  <a:tcPr/>
                </a:tc>
              </a:tr>
              <a:tr h="303052">
                <a:tc>
                  <a:txBody>
                    <a:bodyPr/>
                    <a:lstStyle/>
                    <a:p>
                      <a:pPr algn="ctr"/>
                      <a:r>
                        <a:rPr sz="1000" b="0">
                          <a:solidFill>
                            <a:srgbClr val="262626"/>
                          </a:solidFill>
                          <a:latin typeface="游ゴシック"/>
                        </a:rPr>
                        <a:t>100</a:t>
                      </a:r>
                    </a:p>
                  </a:txBody>
                  <a:tcPr>
                    <a:solidFill>
                      <a:srgbClr val="A8C4C7"/>
                    </a:solidFill>
                  </a:tcPr>
                </a:tc>
                <a:tc>
                  <a:txBody>
                    <a:bodyPr/>
                    <a:lstStyle/>
                    <a:p>
                      <a:pPr algn="ctr"/>
                      <a:r>
                        <a:rPr sz="1000" b="1">
                          <a:solidFill>
                            <a:srgbClr val="262626"/>
                          </a:solidFill>
                          <a:latin typeface="游ゴシック"/>
                        </a:rPr>
                        <a:t>時間の制約</a:t>
                      </a:r>
                    </a:p>
                  </a:txBody>
                  <a:tcPr>
                    <a:solidFill>
                      <a:srgbClr val="A8C4C7"/>
                    </a:solidFill>
                  </a:tcPr>
                </a:tc>
              </a:tr>
              <a:tr h="303052">
                <a:tc>
                  <a:txBody>
                    <a:bodyPr/>
                    <a:lstStyle/>
                    <a:p>
                      <a:pPr algn="ctr"/>
                      <a:r>
                        <a:rPr sz="1000" b="0">
                          <a:solidFill>
                            <a:srgbClr val="262626"/>
                          </a:solidFill>
                          <a:latin typeface="游ゴシック"/>
                        </a:rPr>
                        <a:t>101</a:t>
                      </a:r>
                    </a:p>
                  </a:txBody>
                  <a:tcPr/>
                </a:tc>
                <a:tc>
                  <a:txBody>
                    <a:bodyPr/>
                    <a:lstStyle/>
                    <a:p>
                      <a:pPr algn="ctr"/>
                      <a:r>
                        <a:rPr sz="1000" b="1">
                          <a:solidFill>
                            <a:srgbClr val="262626"/>
                          </a:solidFill>
                          <a:latin typeface="游ゴシック"/>
                        </a:rPr>
                        <a:t>ロコモ評価にまで手が回せていない</a:t>
                      </a:r>
                    </a:p>
                  </a:txBody>
                  <a:tcPr/>
                </a:tc>
              </a:tr>
              <a:tr h="303052">
                <a:tc>
                  <a:txBody>
                    <a:bodyPr/>
                    <a:lstStyle/>
                    <a:p>
                      <a:pPr algn="ctr"/>
                      <a:r>
                        <a:rPr sz="1000" b="0">
                          <a:solidFill>
                            <a:srgbClr val="262626"/>
                          </a:solidFill>
                          <a:latin typeface="游ゴシック"/>
                        </a:rPr>
                        <a:t>102</a:t>
                      </a:r>
                    </a:p>
                  </a:txBody>
                  <a:tcPr>
                    <a:solidFill>
                      <a:srgbClr val="A8C4C7"/>
                    </a:solidFill>
                  </a:tcPr>
                </a:tc>
                <a:tc>
                  <a:txBody>
                    <a:bodyPr/>
                    <a:lstStyle/>
                    <a:p>
                      <a:pPr algn="ctr"/>
                      <a:r>
                        <a:rPr sz="1000" b="1">
                          <a:solidFill>
                            <a:srgbClr val="262626"/>
                          </a:solidFill>
                          <a:latin typeface="游ゴシック"/>
                        </a:rPr>
                        <a:t>ロコモティブシンドロームに関しては評価バッテリーを使用していない。</a:t>
                      </a:r>
                    </a:p>
                  </a:txBody>
                  <a:tcPr>
                    <a:solidFill>
                      <a:srgbClr val="A8C4C7"/>
                    </a:solidFill>
                  </a:tcPr>
                </a:tc>
              </a:tr>
              <a:tr h="303052">
                <a:tc>
                  <a:txBody>
                    <a:bodyPr/>
                    <a:lstStyle/>
                    <a:p>
                      <a:pPr algn="ctr"/>
                      <a:r>
                        <a:rPr sz="1000" b="0">
                          <a:solidFill>
                            <a:srgbClr val="262626"/>
                          </a:solidFill>
                          <a:latin typeface="游ゴシック"/>
                        </a:rPr>
                        <a:t>103</a:t>
                      </a:r>
                    </a:p>
                  </a:txBody>
                  <a:tcPr/>
                </a:tc>
                <a:tc>
                  <a:txBody>
                    <a:bodyPr/>
                    <a:lstStyle/>
                    <a:p>
                      <a:pPr algn="ctr"/>
                      <a:r>
                        <a:rPr sz="1000" b="1">
                          <a:solidFill>
                            <a:srgbClr val="262626"/>
                          </a:solidFill>
                          <a:latin typeface="游ゴシック"/>
                        </a:rPr>
                        <a:t>疼痛の影響が強い。転院が早い。</a:t>
                      </a:r>
                    </a:p>
                  </a:txBody>
                  <a:tcPr/>
                </a:tc>
              </a:tr>
              <a:tr h="303052">
                <a:tc>
                  <a:txBody>
                    <a:bodyPr/>
                    <a:lstStyle/>
                    <a:p>
                      <a:pPr algn="ctr"/>
                      <a:r>
                        <a:rPr sz="1000" b="0">
                          <a:solidFill>
                            <a:srgbClr val="262626"/>
                          </a:solidFill>
                          <a:latin typeface="游ゴシック"/>
                        </a:rPr>
                        <a:t>104</a:t>
                      </a:r>
                    </a:p>
                  </a:txBody>
                  <a:tcPr>
                    <a:solidFill>
                      <a:srgbClr val="A8C4C7"/>
                    </a:solidFill>
                  </a:tcPr>
                </a:tc>
                <a:tc>
                  <a:txBody>
                    <a:bodyPr/>
                    <a:lstStyle/>
                    <a:p>
                      <a:pPr algn="ctr"/>
                      <a:r>
                        <a:rPr sz="1000" b="1">
                          <a:solidFill>
                            <a:srgbClr val="262626"/>
                          </a:solidFill>
                          <a:latin typeface="游ゴシック"/>
                        </a:rPr>
                        <a:t>急性期評価主体のため</a:t>
                      </a:r>
                    </a:p>
                  </a:txBody>
                  <a:tcPr>
                    <a:solidFill>
                      <a:srgbClr val="A8C4C7"/>
                    </a:solidFill>
                  </a:tcPr>
                </a:tc>
              </a:tr>
              <a:tr h="303052">
                <a:tc>
                  <a:txBody>
                    <a:bodyPr/>
                    <a:lstStyle/>
                    <a:p>
                      <a:pPr algn="ctr"/>
                      <a:r>
                        <a:rPr sz="1000" b="0">
                          <a:solidFill>
                            <a:srgbClr val="262626"/>
                          </a:solidFill>
                          <a:latin typeface="游ゴシック"/>
                        </a:rPr>
                        <a:t>105</a:t>
                      </a:r>
                    </a:p>
                  </a:txBody>
                  <a:tcPr/>
                </a:tc>
                <a:tc>
                  <a:txBody>
                    <a:bodyPr/>
                    <a:lstStyle/>
                    <a:p>
                      <a:pPr algn="ctr"/>
                      <a:r>
                        <a:rPr sz="1000" b="1">
                          <a:solidFill>
                            <a:srgbClr val="262626"/>
                          </a:solidFill>
                          <a:latin typeface="游ゴシック"/>
                        </a:rPr>
                        <a:t>科内でのコアアウトカムセットとして定めていないため。</a:t>
                      </a:r>
                    </a:p>
                  </a:txBody>
                  <a:tcPr/>
                </a:tc>
              </a:tr>
              <a:tr h="303052">
                <a:tc>
                  <a:txBody>
                    <a:bodyPr/>
                    <a:lstStyle/>
                    <a:p>
                      <a:pPr algn="ctr"/>
                      <a:r>
                        <a:rPr sz="1000" b="0">
                          <a:solidFill>
                            <a:srgbClr val="262626"/>
                          </a:solidFill>
                          <a:latin typeface="游ゴシック"/>
                        </a:rPr>
                        <a:t>106</a:t>
                      </a:r>
                    </a:p>
                  </a:txBody>
                  <a:tcPr>
                    <a:solidFill>
                      <a:srgbClr val="A8C4C7"/>
                    </a:solidFill>
                  </a:tcPr>
                </a:tc>
                <a:tc>
                  <a:txBody>
                    <a:bodyPr/>
                    <a:lstStyle/>
                    <a:p>
                      <a:pPr algn="ctr"/>
                      <a:r>
                        <a:rPr sz="1000" b="1">
                          <a:solidFill>
                            <a:srgbClr val="262626"/>
                          </a:solidFill>
                          <a:latin typeface="游ゴシック"/>
                        </a:rPr>
                        <a:t>時間的余裕がない</a:t>
                      </a:r>
                    </a:p>
                  </a:txBody>
                  <a:tcPr>
                    <a:solidFill>
                      <a:srgbClr val="A8C4C7"/>
                    </a:solidFill>
                  </a:tcPr>
                </a:tc>
              </a:tr>
              <a:tr h="303052">
                <a:tc>
                  <a:txBody>
                    <a:bodyPr/>
                    <a:lstStyle/>
                    <a:p>
                      <a:pPr algn="ctr"/>
                      <a:r>
                        <a:rPr sz="1000" b="0">
                          <a:solidFill>
                            <a:srgbClr val="262626"/>
                          </a:solidFill>
                          <a:latin typeface="游ゴシック"/>
                        </a:rPr>
                        <a:t>107</a:t>
                      </a:r>
                    </a:p>
                  </a:txBody>
                  <a:tcPr/>
                </a:tc>
                <a:tc>
                  <a:txBody>
                    <a:bodyPr/>
                    <a:lstStyle/>
                    <a:p>
                      <a:pPr algn="ctr"/>
                      <a:r>
                        <a:rPr sz="1000" b="1">
                          <a:solidFill>
                            <a:srgbClr val="262626"/>
                          </a:solidFill>
                          <a:latin typeface="游ゴシック"/>
                        </a:rPr>
                        <a:t>急性期で実施困難なことが多いため</a:t>
                      </a:r>
                    </a:p>
                  </a:txBody>
                  <a:tcPr/>
                </a:tc>
              </a:tr>
              <a:tr h="303052">
                <a:tc>
                  <a:txBody>
                    <a:bodyPr/>
                    <a:lstStyle/>
                    <a:p>
                      <a:pPr algn="ctr"/>
                      <a:r>
                        <a:rPr sz="1000" b="0">
                          <a:solidFill>
                            <a:srgbClr val="262626"/>
                          </a:solidFill>
                          <a:latin typeface="游ゴシック"/>
                        </a:rPr>
                        <a:t>108</a:t>
                      </a:r>
                    </a:p>
                  </a:txBody>
                  <a:tcPr>
                    <a:solidFill>
                      <a:srgbClr val="A8C4C7"/>
                    </a:solidFill>
                  </a:tcPr>
                </a:tc>
                <a:tc>
                  <a:txBody>
                    <a:bodyPr/>
                    <a:lstStyle/>
                    <a:p>
                      <a:pPr algn="ctr"/>
                      <a:r>
                        <a:rPr sz="1000" b="1">
                          <a:solidFill>
                            <a:srgbClr val="262626"/>
                          </a:solidFill>
                          <a:latin typeface="游ゴシック"/>
                        </a:rPr>
                        <a:t>他の評価で転倒リスクを評価している</a:t>
                      </a:r>
                    </a:p>
                  </a:txBody>
                  <a:tcPr>
                    <a:solidFill>
                      <a:srgbClr val="A8C4C7"/>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Q12-1.  「実施していない」を選択した方の理由【自由記述】  (7/8)</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109</a:t>
                      </a:r>
                    </a:p>
                  </a:txBody>
                  <a:tcPr/>
                </a:tc>
                <a:tc>
                  <a:txBody>
                    <a:bodyPr/>
                    <a:lstStyle/>
                    <a:p>
                      <a:pPr algn="ctr"/>
                      <a:r>
                        <a:rPr sz="1000" b="1">
                          <a:solidFill>
                            <a:srgbClr val="262626"/>
                          </a:solidFill>
                          <a:latin typeface="游ゴシック"/>
                        </a:rPr>
                        <a:t>全評価項目が多すぎるため</a:t>
                      </a:r>
                    </a:p>
                  </a:txBody>
                  <a:tcPr/>
                </a:tc>
              </a:tr>
              <a:tr h="303052">
                <a:tc>
                  <a:txBody>
                    <a:bodyPr/>
                    <a:lstStyle/>
                    <a:p>
                      <a:pPr algn="ctr"/>
                      <a:r>
                        <a:rPr sz="1000" b="0">
                          <a:solidFill>
                            <a:srgbClr val="262626"/>
                          </a:solidFill>
                          <a:latin typeface="游ゴシック"/>
                        </a:rPr>
                        <a:t>110</a:t>
                      </a:r>
                    </a:p>
                  </a:txBody>
                  <a:tcPr>
                    <a:solidFill>
                      <a:srgbClr val="A8C4C7"/>
                    </a:solidFill>
                  </a:tcPr>
                </a:tc>
                <a:tc>
                  <a:txBody>
                    <a:bodyPr/>
                    <a:lstStyle/>
                    <a:p>
                      <a:pPr algn="ctr"/>
                      <a:r>
                        <a:rPr sz="1000" b="1">
                          <a:solidFill>
                            <a:srgbClr val="262626"/>
                          </a:solidFill>
                          <a:latin typeface="游ゴシック"/>
                        </a:rPr>
                        <a:t>他の評価で歩行やバランス機能を評価している。</a:t>
                      </a:r>
                    </a:p>
                  </a:txBody>
                  <a:tcPr>
                    <a:solidFill>
                      <a:srgbClr val="A8C4C7"/>
                    </a:solidFill>
                  </a:tcPr>
                </a:tc>
              </a:tr>
              <a:tr h="303052">
                <a:tc>
                  <a:txBody>
                    <a:bodyPr/>
                    <a:lstStyle/>
                    <a:p>
                      <a:pPr algn="ctr"/>
                      <a:r>
                        <a:rPr sz="1000" b="0">
                          <a:solidFill>
                            <a:srgbClr val="262626"/>
                          </a:solidFill>
                          <a:latin typeface="游ゴシック"/>
                        </a:rPr>
                        <a:t>111</a:t>
                      </a:r>
                    </a:p>
                  </a:txBody>
                  <a:tcPr/>
                </a:tc>
                <a:tc>
                  <a:txBody>
                    <a:bodyPr/>
                    <a:lstStyle/>
                    <a:p>
                      <a:pPr algn="ctr"/>
                      <a:r>
                        <a:rPr sz="1000" b="1">
                          <a:solidFill>
                            <a:srgbClr val="262626"/>
                          </a:solidFill>
                          <a:latin typeface="游ゴシック"/>
                        </a:rPr>
                        <a:t>高齢者も多く、なかなか評価としては実施していない</a:t>
                      </a:r>
                    </a:p>
                  </a:txBody>
                  <a:tcPr/>
                </a:tc>
              </a:tr>
              <a:tr h="303052">
                <a:tc>
                  <a:txBody>
                    <a:bodyPr/>
                    <a:lstStyle/>
                    <a:p>
                      <a:pPr algn="ctr"/>
                      <a:r>
                        <a:rPr sz="1000" b="0">
                          <a:solidFill>
                            <a:srgbClr val="262626"/>
                          </a:solidFill>
                          <a:latin typeface="游ゴシック"/>
                        </a:rPr>
                        <a:t>112</a:t>
                      </a:r>
                    </a:p>
                  </a:txBody>
                  <a:tcPr>
                    <a:solidFill>
                      <a:srgbClr val="A8C4C7"/>
                    </a:solidFill>
                  </a:tcPr>
                </a:tc>
                <a:tc>
                  <a:txBody>
                    <a:bodyPr/>
                    <a:lstStyle/>
                    <a:p>
                      <a:pPr algn="ctr"/>
                      <a:r>
                        <a:rPr sz="1000" b="1">
                          <a:solidFill>
                            <a:srgbClr val="262626"/>
                          </a:solidFill>
                          <a:latin typeface="游ゴシック"/>
                        </a:rPr>
                        <a:t>術後２週程度で転院のため、ロコモティブシンドロームの評価まで実施できていないケースが多い。</a:t>
                      </a:r>
                    </a:p>
                  </a:txBody>
                  <a:tcPr>
                    <a:solidFill>
                      <a:srgbClr val="A8C4C7"/>
                    </a:solidFill>
                  </a:tcPr>
                </a:tc>
              </a:tr>
              <a:tr h="303052">
                <a:tc>
                  <a:txBody>
                    <a:bodyPr/>
                    <a:lstStyle/>
                    <a:p>
                      <a:pPr algn="ctr"/>
                      <a:r>
                        <a:rPr sz="1000" b="0">
                          <a:solidFill>
                            <a:srgbClr val="262626"/>
                          </a:solidFill>
                          <a:latin typeface="游ゴシック"/>
                        </a:rPr>
                        <a:t>113</a:t>
                      </a:r>
                    </a:p>
                  </a:txBody>
                  <a:tcPr/>
                </a:tc>
                <a:tc>
                  <a:txBody>
                    <a:bodyPr/>
                    <a:lstStyle/>
                    <a:p>
                      <a:pPr algn="ctr"/>
                      <a:r>
                        <a:rPr sz="1000" b="1">
                          <a:solidFill>
                            <a:srgbClr val="262626"/>
                          </a:solidFill>
                          <a:latin typeface="游ゴシック"/>
                        </a:rPr>
                        <a:t>特に理由はない</a:t>
                      </a:r>
                    </a:p>
                  </a:txBody>
                  <a:tcPr/>
                </a:tc>
              </a:tr>
              <a:tr h="303052">
                <a:tc>
                  <a:txBody>
                    <a:bodyPr/>
                    <a:lstStyle/>
                    <a:p>
                      <a:pPr algn="ctr"/>
                      <a:r>
                        <a:rPr sz="1000" b="0">
                          <a:solidFill>
                            <a:srgbClr val="262626"/>
                          </a:solidFill>
                          <a:latin typeface="游ゴシック"/>
                        </a:rPr>
                        <a:t>114</a:t>
                      </a:r>
                    </a:p>
                  </a:txBody>
                  <a:tcPr>
                    <a:solidFill>
                      <a:srgbClr val="A8C4C7"/>
                    </a:solidFill>
                  </a:tcPr>
                </a:tc>
                <a:tc>
                  <a:txBody>
                    <a:bodyPr/>
                    <a:lstStyle/>
                    <a:p>
                      <a:pPr algn="ctr"/>
                      <a:r>
                        <a:rPr sz="1000" b="1">
                          <a:solidFill>
                            <a:srgbClr val="262626"/>
                          </a:solidFill>
                          <a:latin typeface="游ゴシック"/>
                        </a:rPr>
                        <a:t>医師の指示がないため</a:t>
                      </a:r>
                    </a:p>
                  </a:txBody>
                  <a:tcPr>
                    <a:solidFill>
                      <a:srgbClr val="A8C4C7"/>
                    </a:solidFill>
                  </a:tcPr>
                </a:tc>
              </a:tr>
              <a:tr h="303052">
                <a:tc>
                  <a:txBody>
                    <a:bodyPr/>
                    <a:lstStyle/>
                    <a:p>
                      <a:pPr algn="ctr"/>
                      <a:r>
                        <a:rPr sz="1000" b="0">
                          <a:solidFill>
                            <a:srgbClr val="262626"/>
                          </a:solidFill>
                          <a:latin typeface="游ゴシック"/>
                        </a:rPr>
                        <a:t>115</a:t>
                      </a:r>
                    </a:p>
                  </a:txBody>
                  <a:tcPr/>
                </a:tc>
                <a:tc>
                  <a:txBody>
                    <a:bodyPr/>
                    <a:lstStyle/>
                    <a:p>
                      <a:pPr algn="ctr"/>
                      <a:r>
                        <a:rPr sz="1000" b="1">
                          <a:solidFill>
                            <a:srgbClr val="262626"/>
                          </a:solidFill>
                          <a:latin typeface="游ゴシック"/>
                        </a:rPr>
                        <a:t>縦断評価を実施しているため</a:t>
                      </a:r>
                    </a:p>
                  </a:txBody>
                  <a:tcPr/>
                </a:tc>
              </a:tr>
              <a:tr h="303052">
                <a:tc>
                  <a:txBody>
                    <a:bodyPr/>
                    <a:lstStyle/>
                    <a:p>
                      <a:pPr algn="ctr"/>
                      <a:r>
                        <a:rPr sz="1000" b="0">
                          <a:solidFill>
                            <a:srgbClr val="262626"/>
                          </a:solidFill>
                          <a:latin typeface="游ゴシック"/>
                        </a:rPr>
                        <a:t>116</a:t>
                      </a:r>
                    </a:p>
                  </a:txBody>
                  <a:tcPr>
                    <a:solidFill>
                      <a:srgbClr val="A8C4C7"/>
                    </a:solidFill>
                  </a:tcPr>
                </a:tc>
                <a:tc>
                  <a:txBody>
                    <a:bodyPr/>
                    <a:lstStyle/>
                    <a:p>
                      <a:pPr algn="ctr"/>
                      <a:r>
                        <a:rPr sz="1000" b="1">
                          <a:solidFill>
                            <a:srgbClr val="262626"/>
                          </a:solidFill>
                          <a:latin typeface="游ゴシック"/>
                        </a:rPr>
                        <a:t>ロコモティブシンドロームの評価に時間を取るというより、その時に必要な評価を優先している。</a:t>
                      </a:r>
                    </a:p>
                  </a:txBody>
                  <a:tcPr>
                    <a:solidFill>
                      <a:srgbClr val="A8C4C7"/>
                    </a:solidFill>
                  </a:tcPr>
                </a:tc>
              </a:tr>
              <a:tr h="303052">
                <a:tc>
                  <a:txBody>
                    <a:bodyPr/>
                    <a:lstStyle/>
                    <a:p>
                      <a:pPr algn="ctr"/>
                      <a:r>
                        <a:rPr sz="1000" b="0">
                          <a:solidFill>
                            <a:srgbClr val="262626"/>
                          </a:solidFill>
                          <a:latin typeface="游ゴシック"/>
                        </a:rPr>
                        <a:t>117</a:t>
                      </a:r>
                    </a:p>
                  </a:txBody>
                  <a:tcPr/>
                </a:tc>
                <a:tc>
                  <a:txBody>
                    <a:bodyPr/>
                    <a:lstStyle/>
                    <a:p>
                      <a:pPr algn="ctr"/>
                      <a:r>
                        <a:rPr sz="1000" b="1">
                          <a:solidFill>
                            <a:srgbClr val="262626"/>
                          </a:solidFill>
                          <a:latin typeface="游ゴシック"/>
                        </a:rPr>
                        <a:t>他の評価で代用</a:t>
                      </a:r>
                    </a:p>
                  </a:txBody>
                  <a:tcPr/>
                </a:tc>
              </a:tr>
              <a:tr h="303052">
                <a:tc>
                  <a:txBody>
                    <a:bodyPr/>
                    <a:lstStyle/>
                    <a:p>
                      <a:pPr algn="ctr"/>
                      <a:r>
                        <a:rPr sz="1000" b="0">
                          <a:solidFill>
                            <a:srgbClr val="262626"/>
                          </a:solidFill>
                          <a:latin typeface="游ゴシック"/>
                        </a:rPr>
                        <a:t>118</a:t>
                      </a:r>
                    </a:p>
                  </a:txBody>
                  <a:tcPr>
                    <a:solidFill>
                      <a:srgbClr val="A8C4C7"/>
                    </a:solidFill>
                  </a:tcPr>
                </a:tc>
                <a:tc>
                  <a:txBody>
                    <a:bodyPr/>
                    <a:lstStyle/>
                    <a:p>
                      <a:pPr algn="ctr"/>
                      <a:r>
                        <a:rPr sz="1000" b="1">
                          <a:solidFill>
                            <a:srgbClr val="262626"/>
                          </a:solidFill>
                          <a:latin typeface="游ゴシック"/>
                        </a:rPr>
                        <a:t>特に理由はない</a:t>
                      </a:r>
                    </a:p>
                  </a:txBody>
                  <a:tcPr>
                    <a:solidFill>
                      <a:srgbClr val="A8C4C7"/>
                    </a:solidFill>
                  </a:tcPr>
                </a:tc>
              </a:tr>
              <a:tr h="303052">
                <a:tc>
                  <a:txBody>
                    <a:bodyPr/>
                    <a:lstStyle/>
                    <a:p>
                      <a:pPr algn="ctr"/>
                      <a:r>
                        <a:rPr sz="1000" b="0">
                          <a:solidFill>
                            <a:srgbClr val="262626"/>
                          </a:solidFill>
                          <a:latin typeface="游ゴシック"/>
                        </a:rPr>
                        <a:t>119</a:t>
                      </a:r>
                    </a:p>
                  </a:txBody>
                  <a:tcPr/>
                </a:tc>
                <a:tc>
                  <a:txBody>
                    <a:bodyPr/>
                    <a:lstStyle/>
                    <a:p>
                      <a:pPr algn="ctr"/>
                      <a:r>
                        <a:rPr sz="1000" b="1">
                          <a:solidFill>
                            <a:srgbClr val="262626"/>
                          </a:solidFill>
                          <a:latin typeface="游ゴシック"/>
                        </a:rPr>
                        <a:t>フレイル・サルコペニアの評価を行っている。</a:t>
                      </a:r>
                    </a:p>
                  </a:txBody>
                  <a:tcPr/>
                </a:tc>
              </a:tr>
              <a:tr h="303052">
                <a:tc>
                  <a:txBody>
                    <a:bodyPr/>
                    <a:lstStyle/>
                    <a:p>
                      <a:pPr algn="ctr"/>
                      <a:r>
                        <a:rPr sz="1000" b="0">
                          <a:solidFill>
                            <a:srgbClr val="262626"/>
                          </a:solidFill>
                          <a:latin typeface="游ゴシック"/>
                        </a:rPr>
                        <a:t>120</a:t>
                      </a:r>
                    </a:p>
                  </a:txBody>
                  <a:tcPr>
                    <a:solidFill>
                      <a:srgbClr val="A8C4C7"/>
                    </a:solidFill>
                  </a:tcPr>
                </a:tc>
                <a:tc>
                  <a:txBody>
                    <a:bodyPr/>
                    <a:lstStyle/>
                    <a:p>
                      <a:pPr algn="ctr"/>
                      <a:r>
                        <a:rPr sz="1000" b="1">
                          <a:solidFill>
                            <a:srgbClr val="262626"/>
                          </a:solidFill>
                          <a:latin typeface="游ゴシック"/>
                        </a:rPr>
                        <a:t>評価項目が多くなり　大変であるため</a:t>
                      </a:r>
                    </a:p>
                  </a:txBody>
                  <a:tcPr>
                    <a:solidFill>
                      <a:srgbClr val="A8C4C7"/>
                    </a:solidFill>
                  </a:tcPr>
                </a:tc>
              </a:tr>
              <a:tr h="303052">
                <a:tc>
                  <a:txBody>
                    <a:bodyPr/>
                    <a:lstStyle/>
                    <a:p>
                      <a:pPr algn="ctr"/>
                      <a:r>
                        <a:rPr sz="1000" b="0">
                          <a:solidFill>
                            <a:srgbClr val="262626"/>
                          </a:solidFill>
                          <a:latin typeface="游ゴシック"/>
                        </a:rPr>
                        <a:t>121</a:t>
                      </a:r>
                    </a:p>
                  </a:txBody>
                  <a:tcPr/>
                </a:tc>
                <a:tc>
                  <a:txBody>
                    <a:bodyPr/>
                    <a:lstStyle/>
                    <a:p>
                      <a:pPr algn="ctr"/>
                      <a:r>
                        <a:rPr sz="1000" b="1">
                          <a:solidFill>
                            <a:srgbClr val="262626"/>
                          </a:solidFill>
                          <a:latin typeface="游ゴシック"/>
                        </a:rPr>
                        <a:t>身体機能、ADLの個別評価中心に実施しており、評価項目が増加することからスクリーニング評価は実施していない。</a:t>
                      </a:r>
                    </a:p>
                  </a:txBody>
                  <a:tcPr/>
                </a:tc>
              </a:tr>
              <a:tr h="303052">
                <a:tc>
                  <a:txBody>
                    <a:bodyPr/>
                    <a:lstStyle/>
                    <a:p>
                      <a:pPr algn="ctr"/>
                      <a:r>
                        <a:rPr sz="1000" b="0">
                          <a:solidFill>
                            <a:srgbClr val="262626"/>
                          </a:solidFill>
                          <a:latin typeface="游ゴシック"/>
                        </a:rPr>
                        <a:t>122</a:t>
                      </a:r>
                    </a:p>
                  </a:txBody>
                  <a:tcPr>
                    <a:solidFill>
                      <a:srgbClr val="A8C4C7"/>
                    </a:solidFill>
                  </a:tcPr>
                </a:tc>
                <a:tc>
                  <a:txBody>
                    <a:bodyPr/>
                    <a:lstStyle/>
                    <a:p>
                      <a:pPr algn="ctr"/>
                      <a:r>
                        <a:rPr sz="1000" b="1">
                          <a:solidFill>
                            <a:srgbClr val="262626"/>
                          </a:solidFill>
                          <a:latin typeface="游ゴシック"/>
                        </a:rPr>
                        <a:t>一般的な評価は実施しているがロコモティブシンドロームの評価としては実施していない。</a:t>
                      </a:r>
                    </a:p>
                  </a:txBody>
                  <a:tcPr>
                    <a:solidFill>
                      <a:srgbClr val="A8C4C7"/>
                    </a:solidFill>
                  </a:tcPr>
                </a:tc>
              </a:tr>
              <a:tr h="303052">
                <a:tc>
                  <a:txBody>
                    <a:bodyPr/>
                    <a:lstStyle/>
                    <a:p>
                      <a:pPr algn="ctr"/>
                      <a:r>
                        <a:rPr sz="1000" b="0">
                          <a:solidFill>
                            <a:srgbClr val="262626"/>
                          </a:solidFill>
                          <a:latin typeface="游ゴシック"/>
                        </a:rPr>
                        <a:t>123</a:t>
                      </a:r>
                    </a:p>
                  </a:txBody>
                  <a:tcPr/>
                </a:tc>
                <a:tc>
                  <a:txBody>
                    <a:bodyPr/>
                    <a:lstStyle/>
                    <a:p>
                      <a:pPr algn="ctr"/>
                      <a:r>
                        <a:rPr sz="1000" b="1">
                          <a:solidFill>
                            <a:srgbClr val="262626"/>
                          </a:solidFill>
                          <a:latin typeface="游ゴシック"/>
                        </a:rPr>
                        <a:t>ロコモティブシンドロームの評価は実施していないため</a:t>
                      </a:r>
                    </a:p>
                  </a:txBody>
                  <a:tcPr/>
                </a:tc>
              </a:tr>
              <a:tr h="303052">
                <a:tc>
                  <a:txBody>
                    <a:bodyPr/>
                    <a:lstStyle/>
                    <a:p>
                      <a:pPr algn="ctr"/>
                      <a:r>
                        <a:rPr sz="1000" b="0">
                          <a:solidFill>
                            <a:srgbClr val="262626"/>
                          </a:solidFill>
                          <a:latin typeface="游ゴシック"/>
                        </a:rPr>
                        <a:t>124</a:t>
                      </a:r>
                    </a:p>
                  </a:txBody>
                  <a:tcPr>
                    <a:solidFill>
                      <a:srgbClr val="A8C4C7"/>
                    </a:solidFill>
                  </a:tcPr>
                </a:tc>
                <a:tc>
                  <a:txBody>
                    <a:bodyPr/>
                    <a:lstStyle/>
                    <a:p>
                      <a:pPr algn="ctr"/>
                      <a:r>
                        <a:rPr sz="1000" b="1">
                          <a:solidFill>
                            <a:srgbClr val="262626"/>
                          </a:solidFill>
                          <a:latin typeface="游ゴシック"/>
                        </a:rPr>
                        <a:t>ロコモティブシンドローム評価は難易度が高く、大腿骨近位部骨折の急性期患者では実施できる症例が少ないため、実施していません</a:t>
                      </a:r>
                    </a:p>
                  </a:txBody>
                  <a:tcPr>
                    <a:solidFill>
                      <a:srgbClr val="A8C4C7"/>
                    </a:solidFill>
                  </a:tcPr>
                </a:tc>
              </a:tr>
              <a:tr h="303052">
                <a:tc>
                  <a:txBody>
                    <a:bodyPr/>
                    <a:lstStyle/>
                    <a:p>
                      <a:pPr algn="ctr"/>
                      <a:r>
                        <a:rPr sz="1000" b="0">
                          <a:solidFill>
                            <a:srgbClr val="262626"/>
                          </a:solidFill>
                          <a:latin typeface="游ゴシック"/>
                        </a:rPr>
                        <a:t>125</a:t>
                      </a:r>
                    </a:p>
                  </a:txBody>
                  <a:tcPr/>
                </a:tc>
                <a:tc>
                  <a:txBody>
                    <a:bodyPr/>
                    <a:lstStyle/>
                    <a:p>
                      <a:pPr algn="ctr"/>
                      <a:r>
                        <a:rPr sz="1000" b="1">
                          <a:solidFill>
                            <a:srgbClr val="262626"/>
                          </a:solidFill>
                          <a:latin typeface="游ゴシック"/>
                        </a:rPr>
                        <a:t>認知症患者が半数以上を占めており、評価が難しいため。</a:t>
                      </a:r>
                    </a:p>
                  </a:txBody>
                  <a:tcPr/>
                </a:tc>
              </a:tr>
              <a:tr h="303052">
                <a:tc>
                  <a:txBody>
                    <a:bodyPr/>
                    <a:lstStyle/>
                    <a:p>
                      <a:pPr algn="ctr"/>
                      <a:r>
                        <a:rPr sz="1000" b="0">
                          <a:solidFill>
                            <a:srgbClr val="262626"/>
                          </a:solidFill>
                          <a:latin typeface="游ゴシック"/>
                        </a:rPr>
                        <a:t>126</a:t>
                      </a:r>
                    </a:p>
                  </a:txBody>
                  <a:tcPr>
                    <a:solidFill>
                      <a:srgbClr val="A8C4C7"/>
                    </a:solidFill>
                  </a:tcPr>
                </a:tc>
                <a:tc>
                  <a:txBody>
                    <a:bodyPr/>
                    <a:lstStyle/>
                    <a:p>
                      <a:pPr algn="ctr"/>
                      <a:r>
                        <a:rPr sz="1000" b="1">
                          <a:solidFill>
                            <a:srgbClr val="262626"/>
                          </a:solidFill>
                          <a:latin typeface="游ゴシック"/>
                        </a:rPr>
                        <a:t>時間、単位数の都合にて</a:t>
                      </a:r>
                    </a:p>
                  </a:txBody>
                  <a:tcPr>
                    <a:solidFill>
                      <a:srgbClr val="A8C4C7"/>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Q12-1.  「実施していない」を選択した方の理由【自由記述】  (8/8)</a:t>
            </a:r>
          </a:p>
        </p:txBody>
      </p:sp>
      <p:graphicFrame>
        <p:nvGraphicFramePr>
          <p:cNvPr id="3" name="Table 2"/>
          <p:cNvGraphicFramePr>
            <a:graphicFrameLocks noGrp="1"/>
          </p:cNvGraphicFramePr>
          <p:nvPr/>
        </p:nvGraphicFramePr>
        <p:xfrm>
          <a:off x="200000" y="950000"/>
          <a:ext cx="11377800" cy="5757990"/>
        </p:xfrm>
        <a:graphic>
          <a:graphicData uri="http://schemas.openxmlformats.org/drawingml/2006/table">
            <a:tbl>
              <a:tblPr firstRow="1" bandRow="1">
                <a:tableStyleId>{5C22544A-7EE6-4342-B048-85BDC9FD1C3A}</a:tableStyleId>
              </a:tblPr>
              <a:tblGrid>
                <a:gridCol w="685800"/>
                <a:gridCol w="10692000"/>
              </a:tblGrid>
              <a:tr h="383866">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83866">
                <a:tc>
                  <a:txBody>
                    <a:bodyPr/>
                    <a:lstStyle/>
                    <a:p>
                      <a:pPr algn="ctr"/>
                      <a:r>
                        <a:rPr sz="1000" b="0">
                          <a:solidFill>
                            <a:srgbClr val="262626"/>
                          </a:solidFill>
                          <a:latin typeface="游ゴシック"/>
                        </a:rPr>
                        <a:t>127</a:t>
                      </a:r>
                    </a:p>
                  </a:txBody>
                  <a:tcPr/>
                </a:tc>
                <a:tc>
                  <a:txBody>
                    <a:bodyPr/>
                    <a:lstStyle/>
                    <a:p>
                      <a:pPr algn="ctr"/>
                      <a:r>
                        <a:rPr sz="1000" b="1">
                          <a:solidFill>
                            <a:srgbClr val="262626"/>
                          </a:solidFill>
                          <a:latin typeface="游ゴシック"/>
                        </a:rPr>
                        <a:t>サルコペニアの評価を行っているため。高齢で認知機能低下の方が多く実施が困難。
歩行補助具を使用される方がほとんどで2ステップテストが行えない。</a:t>
                      </a:r>
                    </a:p>
                  </a:txBody>
                  <a:tcPr/>
                </a:tc>
              </a:tr>
              <a:tr h="383866">
                <a:tc>
                  <a:txBody>
                    <a:bodyPr/>
                    <a:lstStyle/>
                    <a:p>
                      <a:pPr algn="ctr"/>
                      <a:r>
                        <a:rPr sz="1000" b="0">
                          <a:solidFill>
                            <a:srgbClr val="262626"/>
                          </a:solidFill>
                          <a:latin typeface="游ゴシック"/>
                        </a:rPr>
                        <a:t>128</a:t>
                      </a:r>
                    </a:p>
                  </a:txBody>
                  <a:tcPr>
                    <a:solidFill>
                      <a:srgbClr val="A8C4C7"/>
                    </a:solidFill>
                  </a:tcPr>
                </a:tc>
                <a:tc>
                  <a:txBody>
                    <a:bodyPr/>
                    <a:lstStyle/>
                    <a:p>
                      <a:pPr algn="ctr"/>
                      <a:r>
                        <a:rPr sz="1000" b="1">
                          <a:solidFill>
                            <a:srgbClr val="262626"/>
                          </a:solidFill>
                          <a:latin typeface="游ゴシック"/>
                        </a:rPr>
                        <a:t>ロコモの評価項目が当院の定期評価項目に入っていないため</a:t>
                      </a:r>
                    </a:p>
                  </a:txBody>
                  <a:tcPr>
                    <a:solidFill>
                      <a:srgbClr val="A8C4C7"/>
                    </a:solidFill>
                  </a:tcPr>
                </a:tc>
              </a:tr>
              <a:tr h="383866">
                <a:tc>
                  <a:txBody>
                    <a:bodyPr/>
                    <a:lstStyle/>
                    <a:p>
                      <a:pPr algn="ctr"/>
                      <a:r>
                        <a:rPr sz="1000" b="0">
                          <a:solidFill>
                            <a:srgbClr val="262626"/>
                          </a:solidFill>
                          <a:latin typeface="游ゴシック"/>
                        </a:rPr>
                        <a:t>129</a:t>
                      </a:r>
                    </a:p>
                  </a:txBody>
                  <a:tcPr/>
                </a:tc>
                <a:tc>
                  <a:txBody>
                    <a:bodyPr/>
                    <a:lstStyle/>
                    <a:p>
                      <a:pPr algn="ctr"/>
                      <a:r>
                        <a:rPr sz="1000" b="1">
                          <a:solidFill>
                            <a:srgbClr val="262626"/>
                          </a:solidFill>
                          <a:latin typeface="游ゴシック"/>
                        </a:rPr>
                        <a:t>術後疼痛が強い時期の入院期間中に、そこまでのテストをする必要性を感じていない。</a:t>
                      </a:r>
                    </a:p>
                  </a:txBody>
                  <a:tcPr/>
                </a:tc>
              </a:tr>
              <a:tr h="383866">
                <a:tc>
                  <a:txBody>
                    <a:bodyPr/>
                    <a:lstStyle/>
                    <a:p>
                      <a:pPr algn="ctr"/>
                      <a:r>
                        <a:rPr sz="1000" b="0">
                          <a:solidFill>
                            <a:srgbClr val="262626"/>
                          </a:solidFill>
                          <a:latin typeface="游ゴシック"/>
                        </a:rPr>
                        <a:t>130</a:t>
                      </a:r>
                    </a:p>
                  </a:txBody>
                  <a:tcPr>
                    <a:solidFill>
                      <a:srgbClr val="A8C4C7"/>
                    </a:solidFill>
                  </a:tcPr>
                </a:tc>
                <a:tc>
                  <a:txBody>
                    <a:bodyPr/>
                    <a:lstStyle/>
                    <a:p>
                      <a:pPr algn="ctr"/>
                      <a:r>
                        <a:rPr sz="1000" b="1">
                          <a:solidFill>
                            <a:srgbClr val="262626"/>
                          </a:solidFill>
                          <a:latin typeface="游ゴシック"/>
                        </a:rPr>
                        <a:t>各評価内容は担当者に任せている。</a:t>
                      </a:r>
                    </a:p>
                  </a:txBody>
                  <a:tcPr>
                    <a:solidFill>
                      <a:srgbClr val="A8C4C7"/>
                    </a:solidFill>
                  </a:tcPr>
                </a:tc>
              </a:tr>
              <a:tr h="383866">
                <a:tc>
                  <a:txBody>
                    <a:bodyPr/>
                    <a:lstStyle/>
                    <a:p>
                      <a:pPr algn="ctr"/>
                      <a:r>
                        <a:rPr sz="1000" b="0">
                          <a:solidFill>
                            <a:srgbClr val="262626"/>
                          </a:solidFill>
                          <a:latin typeface="游ゴシック"/>
                        </a:rPr>
                        <a:t>131</a:t>
                      </a:r>
                    </a:p>
                  </a:txBody>
                  <a:tcPr/>
                </a:tc>
                <a:tc>
                  <a:txBody>
                    <a:bodyPr/>
                    <a:lstStyle/>
                    <a:p>
                      <a:pPr algn="ctr"/>
                      <a:r>
                        <a:rPr sz="1000" b="1">
                          <a:solidFill>
                            <a:srgbClr val="262626"/>
                          </a:solidFill>
                          <a:latin typeface="游ゴシック"/>
                        </a:rPr>
                        <a:t>身体機能的にロコモ評価を出来る患者少ないため</a:t>
                      </a:r>
                    </a:p>
                  </a:txBody>
                  <a:tcPr/>
                </a:tc>
              </a:tr>
              <a:tr h="383866">
                <a:tc>
                  <a:txBody>
                    <a:bodyPr/>
                    <a:lstStyle/>
                    <a:p>
                      <a:pPr algn="ctr"/>
                      <a:r>
                        <a:rPr sz="1000" b="0">
                          <a:solidFill>
                            <a:srgbClr val="262626"/>
                          </a:solidFill>
                          <a:latin typeface="游ゴシック"/>
                        </a:rPr>
                        <a:t>132</a:t>
                      </a:r>
                    </a:p>
                  </a:txBody>
                  <a:tcPr>
                    <a:solidFill>
                      <a:srgbClr val="A8C4C7"/>
                    </a:solidFill>
                  </a:tcPr>
                </a:tc>
                <a:tc>
                  <a:txBody>
                    <a:bodyPr/>
                    <a:lstStyle/>
                    <a:p>
                      <a:pPr algn="ctr"/>
                      <a:r>
                        <a:rPr sz="1000" b="1">
                          <a:solidFill>
                            <a:srgbClr val="262626"/>
                          </a:solidFill>
                          <a:latin typeface="游ゴシック"/>
                        </a:rPr>
                        <a:t>急性期で実施できる項目が少ない、マンパワー不足</a:t>
                      </a:r>
                    </a:p>
                  </a:txBody>
                  <a:tcPr>
                    <a:solidFill>
                      <a:srgbClr val="A8C4C7"/>
                    </a:solidFill>
                  </a:tcPr>
                </a:tc>
              </a:tr>
              <a:tr h="383866">
                <a:tc>
                  <a:txBody>
                    <a:bodyPr/>
                    <a:lstStyle/>
                    <a:p>
                      <a:pPr algn="ctr"/>
                      <a:r>
                        <a:rPr sz="1000" b="0">
                          <a:solidFill>
                            <a:srgbClr val="262626"/>
                          </a:solidFill>
                          <a:latin typeface="游ゴシック"/>
                        </a:rPr>
                        <a:t>133</a:t>
                      </a:r>
                    </a:p>
                  </a:txBody>
                  <a:tcPr/>
                </a:tc>
                <a:tc>
                  <a:txBody>
                    <a:bodyPr/>
                    <a:lstStyle/>
                    <a:p>
                      <a:pPr algn="ctr"/>
                      <a:r>
                        <a:rPr sz="1000" b="1">
                          <a:solidFill>
                            <a:srgbClr val="262626"/>
                          </a:solidFill>
                          <a:latin typeface="游ゴシック"/>
                        </a:rPr>
                        <a:t>通常PT・OTが行う、より具体的な機能評価に重点を置いている</a:t>
                      </a:r>
                    </a:p>
                  </a:txBody>
                  <a:tcPr/>
                </a:tc>
              </a:tr>
              <a:tr h="383866">
                <a:tc>
                  <a:txBody>
                    <a:bodyPr/>
                    <a:lstStyle/>
                    <a:p>
                      <a:pPr algn="ctr"/>
                      <a:r>
                        <a:rPr sz="1000" b="0">
                          <a:solidFill>
                            <a:srgbClr val="262626"/>
                          </a:solidFill>
                          <a:latin typeface="游ゴシック"/>
                        </a:rPr>
                        <a:t>134</a:t>
                      </a:r>
                    </a:p>
                  </a:txBody>
                  <a:tcPr>
                    <a:solidFill>
                      <a:srgbClr val="A8C4C7"/>
                    </a:solidFill>
                  </a:tcPr>
                </a:tc>
                <a:tc>
                  <a:txBody>
                    <a:bodyPr/>
                    <a:lstStyle/>
                    <a:p>
                      <a:pPr algn="ctr"/>
                      <a:r>
                        <a:rPr sz="1000" b="1">
                          <a:solidFill>
                            <a:srgbClr val="262626"/>
                          </a:solidFill>
                          <a:latin typeface="游ゴシック"/>
                        </a:rPr>
                        <a:t>上記評価項目を実施できる対象患者が殆どいない、受傷入院時点でロコモ25は必要な評価項目なのかわからない</a:t>
                      </a:r>
                    </a:p>
                  </a:txBody>
                  <a:tcPr>
                    <a:solidFill>
                      <a:srgbClr val="A8C4C7"/>
                    </a:solidFill>
                  </a:tcPr>
                </a:tc>
              </a:tr>
              <a:tr h="383866">
                <a:tc>
                  <a:txBody>
                    <a:bodyPr/>
                    <a:lstStyle/>
                    <a:p>
                      <a:pPr algn="ctr"/>
                      <a:r>
                        <a:rPr sz="1000" b="0">
                          <a:solidFill>
                            <a:srgbClr val="262626"/>
                          </a:solidFill>
                          <a:latin typeface="游ゴシック"/>
                        </a:rPr>
                        <a:t>135</a:t>
                      </a:r>
                    </a:p>
                  </a:txBody>
                  <a:tcPr/>
                </a:tc>
                <a:tc>
                  <a:txBody>
                    <a:bodyPr/>
                    <a:lstStyle/>
                    <a:p>
                      <a:pPr algn="ctr"/>
                      <a:r>
                        <a:rPr sz="1000" b="1">
                          <a:solidFill>
                            <a:srgbClr val="262626"/>
                          </a:solidFill>
                          <a:latin typeface="游ゴシック"/>
                        </a:rPr>
                        <a:t>現状、必要性を感じていない</a:t>
                      </a:r>
                    </a:p>
                  </a:txBody>
                  <a:tcPr/>
                </a:tc>
              </a:tr>
              <a:tr h="383866">
                <a:tc>
                  <a:txBody>
                    <a:bodyPr/>
                    <a:lstStyle/>
                    <a:p>
                      <a:pPr algn="ctr"/>
                      <a:r>
                        <a:rPr sz="1000" b="0">
                          <a:solidFill>
                            <a:srgbClr val="262626"/>
                          </a:solidFill>
                          <a:latin typeface="游ゴシック"/>
                        </a:rPr>
                        <a:t>136</a:t>
                      </a:r>
                    </a:p>
                  </a:txBody>
                  <a:tcPr>
                    <a:solidFill>
                      <a:srgbClr val="A8C4C7"/>
                    </a:solidFill>
                  </a:tcPr>
                </a:tc>
                <a:tc>
                  <a:txBody>
                    <a:bodyPr/>
                    <a:lstStyle/>
                    <a:p>
                      <a:pPr algn="ctr"/>
                      <a:r>
                        <a:rPr sz="1000" b="1">
                          <a:solidFill>
                            <a:srgbClr val="262626"/>
                          </a:solidFill>
                          <a:latin typeface="游ゴシック"/>
                        </a:rPr>
                        <a:t>ロコモを調べるという観点では評価は実施していない。
評価を実施して結果ロコモに当てはまるということになる</a:t>
                      </a:r>
                    </a:p>
                  </a:txBody>
                  <a:tcPr>
                    <a:solidFill>
                      <a:srgbClr val="A8C4C7"/>
                    </a:solidFill>
                  </a:tcPr>
                </a:tc>
              </a:tr>
              <a:tr h="383866">
                <a:tc>
                  <a:txBody>
                    <a:bodyPr/>
                    <a:lstStyle/>
                    <a:p>
                      <a:pPr algn="ctr"/>
                      <a:r>
                        <a:rPr sz="1000" b="0">
                          <a:solidFill>
                            <a:srgbClr val="262626"/>
                          </a:solidFill>
                          <a:latin typeface="游ゴシック"/>
                        </a:rPr>
                        <a:t>137</a:t>
                      </a:r>
                    </a:p>
                  </a:txBody>
                  <a:tcPr/>
                </a:tc>
                <a:tc>
                  <a:txBody>
                    <a:bodyPr/>
                    <a:lstStyle/>
                    <a:p>
                      <a:pPr algn="ctr"/>
                      <a:r>
                        <a:rPr sz="1000" b="1">
                          <a:solidFill>
                            <a:srgbClr val="262626"/>
                          </a:solidFill>
                          <a:latin typeface="游ゴシック"/>
                        </a:rPr>
                        <a:t>急性期において、評価をすることでリハビリテーションの内容に変化があるとは考えにくく、個人の状態によって対応することが望ましいと考えます。評価のための評価に手をかけず、訓練時間を有効に使いたい。急性期における予後予測として有効であるならば、検討したい。</a:t>
                      </a:r>
                    </a:p>
                  </a:txBody>
                  <a:tcPr/>
                </a:tc>
              </a:tr>
              <a:tr h="383866">
                <a:tc>
                  <a:txBody>
                    <a:bodyPr/>
                    <a:lstStyle/>
                    <a:p>
                      <a:pPr algn="ctr"/>
                      <a:r>
                        <a:rPr sz="1000" b="0">
                          <a:solidFill>
                            <a:srgbClr val="262626"/>
                          </a:solidFill>
                          <a:latin typeface="游ゴシック"/>
                        </a:rPr>
                        <a:t>138</a:t>
                      </a:r>
                    </a:p>
                  </a:txBody>
                  <a:tcPr>
                    <a:solidFill>
                      <a:srgbClr val="A8C4C7"/>
                    </a:solidFill>
                  </a:tcPr>
                </a:tc>
                <a:tc>
                  <a:txBody>
                    <a:bodyPr/>
                    <a:lstStyle/>
                    <a:p>
                      <a:pPr algn="ctr"/>
                      <a:r>
                        <a:rPr sz="1000" b="1">
                          <a:solidFill>
                            <a:srgbClr val="262626"/>
                          </a:solidFill>
                          <a:latin typeface="游ゴシック"/>
                        </a:rPr>
                        <a:t>明確な理由はない</a:t>
                      </a:r>
                    </a:p>
                  </a:txBody>
                  <a:tcPr>
                    <a:solidFill>
                      <a:srgbClr val="A8C4C7"/>
                    </a:solidFill>
                  </a:tcPr>
                </a:tc>
              </a:tr>
              <a:tr h="383866">
                <a:tc>
                  <a:txBody>
                    <a:bodyPr/>
                    <a:lstStyle/>
                    <a:p>
                      <a:pPr algn="ctr"/>
                      <a:r>
                        <a:rPr sz="1000" b="0">
                          <a:solidFill>
                            <a:srgbClr val="262626"/>
                          </a:solidFill>
                          <a:latin typeface="游ゴシック"/>
                        </a:rPr>
                        <a:t>139</a:t>
                      </a:r>
                    </a:p>
                  </a:txBody>
                  <a:tcPr/>
                </a:tc>
                <a:tc>
                  <a:txBody>
                    <a:bodyPr/>
                    <a:lstStyle/>
                    <a:p>
                      <a:pPr algn="ctr"/>
                      <a:r>
                        <a:rPr sz="1000" b="1">
                          <a:solidFill>
                            <a:srgbClr val="262626"/>
                          </a:solidFill>
                          <a:latin typeface="游ゴシック"/>
                        </a:rPr>
                        <a:t>ロコモティブシンドロームに関して、統一した評価基準を定めることができていないから。</a:t>
                      </a:r>
                    </a:p>
                  </a:txBody>
                  <a:tcPr/>
                </a:tc>
              </a:tr>
              <a:tr h="383866">
                <a:tc>
                  <a:txBody>
                    <a:bodyPr/>
                    <a:lstStyle/>
                    <a:p>
                      <a:pPr algn="ctr"/>
                      <a:r>
                        <a:rPr sz="1000" b="0">
                          <a:solidFill>
                            <a:srgbClr val="262626"/>
                          </a:solidFill>
                          <a:latin typeface="游ゴシック"/>
                        </a:rPr>
                        <a:t>140</a:t>
                      </a:r>
                    </a:p>
                  </a:txBody>
                  <a:tcPr>
                    <a:solidFill>
                      <a:srgbClr val="A8C4C7"/>
                    </a:solidFill>
                  </a:tcPr>
                </a:tc>
                <a:tc>
                  <a:txBody>
                    <a:bodyPr/>
                    <a:lstStyle/>
                    <a:p>
                      <a:pPr algn="ctr"/>
                      <a:r>
                        <a:rPr sz="1000" b="1">
                          <a:solidFill>
                            <a:srgbClr val="262626"/>
                          </a:solidFill>
                          <a:latin typeface="游ゴシック"/>
                        </a:rPr>
                        <a:t>認知機能の影響で、実施できない事が多いので。</a:t>
                      </a:r>
                    </a:p>
                  </a:txBody>
                  <a:tcPr>
                    <a:solidFill>
                      <a:srgbClr val="A8C4C7"/>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800" b="1">
                <a:solidFill>
                  <a:srgbClr val="262626"/>
                </a:solidFill>
                <a:latin typeface="游ゴシック"/>
              </a:rPr>
              <a:t>Q13.  ADLの評価項目【複数選択可】</a:t>
            </a:r>
          </a:p>
        </p:txBody>
      </p:sp>
      <p:graphicFrame>
        <p:nvGraphicFramePr>
          <p:cNvPr id="3" name="Chart 2"/>
          <p:cNvGraphicFramePr>
            <a:graphicFrameLocks noGrp="1"/>
          </p:cNvGraphicFramePr>
          <p:nvPr/>
        </p:nvGraphicFramePr>
        <p:xfrm>
          <a:off x="100000" y="900000"/>
          <a:ext cx="76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800000" y="950000"/>
          <a:ext cx="4100000" cy="2520000"/>
        </p:xfrm>
        <a:graphic>
          <a:graphicData uri="http://schemas.openxmlformats.org/drawingml/2006/table">
            <a:tbl>
              <a:tblPr firstRow="1" bandRow="1">
                <a:tableStyleId>{5C22544A-7EE6-4342-B048-85BDC9FD1C3A}</a:tableStyleId>
              </a:tblPr>
              <a:tblGrid>
                <a:gridCol w="2500000"/>
                <a:gridCol w="700000"/>
                <a:gridCol w="900000"/>
              </a:tblGrid>
              <a:tr h="420000">
                <a:tc>
                  <a:txBody>
                    <a:bodyPr/>
                    <a:lstStyle/>
                    <a:p>
                      <a:pPr algn="ctr"/>
                      <a:r>
                        <a:rPr sz="1300" b="1">
                          <a:solidFill>
                            <a:srgbClr val="FFFFFF"/>
                          </a:solidFill>
                          <a:latin typeface="游ゴシック"/>
                        </a:rPr>
                        <a:t>回答</a:t>
                      </a:r>
                    </a:p>
                  </a:txBody>
                  <a:tcPr>
                    <a:solidFill>
                      <a:srgbClr val="397077"/>
                    </a:solidFill>
                  </a:tcPr>
                </a:tc>
                <a:tc>
                  <a:txBody>
                    <a:bodyPr/>
                    <a:lstStyle/>
                    <a:p>
                      <a:pPr algn="ctr"/>
                      <a:r>
                        <a:rPr sz="1300" b="1">
                          <a:solidFill>
                            <a:srgbClr val="FFFFFF"/>
                          </a:solidFill>
                          <a:latin typeface="游ゴシック"/>
                        </a:rPr>
                        <a:t>件数</a:t>
                      </a:r>
                    </a:p>
                  </a:txBody>
                  <a:tcPr>
                    <a:solidFill>
                      <a:srgbClr val="397077"/>
                    </a:solidFill>
                  </a:tcPr>
                </a:tc>
                <a:tc>
                  <a:txBody>
                    <a:bodyPr/>
                    <a:lstStyle/>
                    <a:p>
                      <a:pPr algn="ctr"/>
                      <a:r>
                        <a:rPr sz="1300" b="1">
                          <a:solidFill>
                            <a:srgbClr val="FFFFFF"/>
                          </a:solidFill>
                          <a:latin typeface="游ゴシック"/>
                        </a:rPr>
                        <a:t>割合</a:t>
                      </a:r>
                    </a:p>
                  </a:txBody>
                  <a:tcPr>
                    <a:solidFill>
                      <a:srgbClr val="397077"/>
                    </a:solidFill>
                  </a:tcPr>
                </a:tc>
              </a:tr>
              <a:tr h="420000">
                <a:tc>
                  <a:txBody>
                    <a:bodyPr/>
                    <a:lstStyle/>
                    <a:p>
                      <a:pPr algn="ctr"/>
                      <a:r>
                        <a:rPr sz="950" b="0">
                          <a:solidFill>
                            <a:srgbClr val="262626"/>
                          </a:solidFill>
                          <a:latin typeface="游ゴシック"/>
                        </a:rPr>
                        <a:t>Barthel Index（BI）</a:t>
                      </a:r>
                    </a:p>
                  </a:txBody>
                  <a:tcPr/>
                </a:tc>
                <a:tc>
                  <a:txBody>
                    <a:bodyPr/>
                    <a:lstStyle/>
                    <a:p>
                      <a:pPr algn="ctr"/>
                      <a:r>
                        <a:rPr sz="950" b="1">
                          <a:solidFill>
                            <a:srgbClr val="262626"/>
                          </a:solidFill>
                          <a:latin typeface="游ゴシック"/>
                        </a:rPr>
                        <a:t>239</a:t>
                      </a:r>
                    </a:p>
                  </a:txBody>
                  <a:tcPr/>
                </a:tc>
                <a:tc>
                  <a:txBody>
                    <a:bodyPr/>
                    <a:lstStyle/>
                    <a:p>
                      <a:pPr algn="ctr"/>
                      <a:r>
                        <a:rPr sz="950" b="1">
                          <a:solidFill>
                            <a:srgbClr val="262626"/>
                          </a:solidFill>
                          <a:latin typeface="游ゴシック"/>
                        </a:rPr>
                        <a:t>82.7%</a:t>
                      </a:r>
                    </a:p>
                  </a:txBody>
                  <a:tcPr/>
                </a:tc>
              </a:tr>
              <a:tr h="420000">
                <a:tc>
                  <a:txBody>
                    <a:bodyPr/>
                    <a:lstStyle/>
                    <a:p>
                      <a:pPr algn="ctr"/>
                      <a:r>
                        <a:rPr sz="950" b="0">
                          <a:solidFill>
                            <a:srgbClr val="262626"/>
                          </a:solidFill>
                          <a:latin typeface="游ゴシック"/>
                        </a:rPr>
                        <a:t>FIM</a:t>
                      </a:r>
                    </a:p>
                  </a:txBody>
                  <a:tcPr>
                    <a:solidFill>
                      <a:srgbClr val="A8C4C7"/>
                    </a:solidFill>
                  </a:tcPr>
                </a:tc>
                <a:tc>
                  <a:txBody>
                    <a:bodyPr/>
                    <a:lstStyle/>
                    <a:p>
                      <a:pPr algn="ctr"/>
                      <a:r>
                        <a:rPr sz="950" b="1">
                          <a:solidFill>
                            <a:srgbClr val="262626"/>
                          </a:solidFill>
                          <a:latin typeface="游ゴシック"/>
                        </a:rPr>
                        <a:t>186</a:t>
                      </a:r>
                    </a:p>
                  </a:txBody>
                  <a:tcPr>
                    <a:solidFill>
                      <a:srgbClr val="A8C4C7"/>
                    </a:solidFill>
                  </a:tcPr>
                </a:tc>
                <a:tc>
                  <a:txBody>
                    <a:bodyPr/>
                    <a:lstStyle/>
                    <a:p>
                      <a:pPr algn="ctr"/>
                      <a:r>
                        <a:rPr sz="950" b="1">
                          <a:solidFill>
                            <a:srgbClr val="262626"/>
                          </a:solidFill>
                          <a:latin typeface="游ゴシック"/>
                        </a:rPr>
                        <a:t>64.4%</a:t>
                      </a:r>
                    </a:p>
                  </a:txBody>
                  <a:tcPr>
                    <a:solidFill>
                      <a:srgbClr val="A8C4C7"/>
                    </a:solidFill>
                  </a:tcPr>
                </a:tc>
              </a:tr>
              <a:tr h="420000">
                <a:tc>
                  <a:txBody>
                    <a:bodyPr/>
                    <a:lstStyle/>
                    <a:p>
                      <a:pPr algn="ctr"/>
                      <a:r>
                        <a:rPr sz="950" b="0">
                          <a:solidFill>
                            <a:srgbClr val="262626"/>
                          </a:solidFill>
                          <a:latin typeface="游ゴシック"/>
                        </a:rPr>
                        <a:t>Katz Index</a:t>
                      </a:r>
                    </a:p>
                  </a:txBody>
                  <a:tcPr/>
                </a:tc>
                <a:tc>
                  <a:txBody>
                    <a:bodyPr/>
                    <a:lstStyle/>
                    <a:p>
                      <a:pPr algn="ctr"/>
                      <a:r>
                        <a:rPr sz="950" b="1">
                          <a:solidFill>
                            <a:srgbClr val="262626"/>
                          </a:solidFill>
                          <a:latin typeface="游ゴシック"/>
                        </a:rPr>
                        <a:t>1</a:t>
                      </a:r>
                    </a:p>
                  </a:txBody>
                  <a:tcPr/>
                </a:tc>
                <a:tc>
                  <a:txBody>
                    <a:bodyPr/>
                    <a:lstStyle/>
                    <a:p>
                      <a:pPr algn="ctr"/>
                      <a:r>
                        <a:rPr sz="950" b="1">
                          <a:solidFill>
                            <a:srgbClr val="262626"/>
                          </a:solidFill>
                          <a:latin typeface="游ゴシック"/>
                        </a:rPr>
                        <a:t>0.3%</a:t>
                      </a:r>
                    </a:p>
                  </a:txBody>
                  <a:tcPr/>
                </a:tc>
              </a:tr>
              <a:tr h="420000">
                <a:tc>
                  <a:txBody>
                    <a:bodyPr/>
                    <a:lstStyle/>
                    <a:p>
                      <a:pPr algn="ctr"/>
                      <a:r>
                        <a:rPr sz="950" b="0">
                          <a:solidFill>
                            <a:srgbClr val="262626"/>
                          </a:solidFill>
                          <a:latin typeface="游ゴシック"/>
                        </a:rPr>
                        <a:t>実施していない</a:t>
                      </a:r>
                    </a:p>
                  </a:txBody>
                  <a:tcPr>
                    <a:solidFill>
                      <a:srgbClr val="A8C4C7"/>
                    </a:solidFill>
                  </a:tcPr>
                </a:tc>
                <a:tc>
                  <a:txBody>
                    <a:bodyPr/>
                    <a:lstStyle/>
                    <a:p>
                      <a:pPr algn="ctr"/>
                      <a:r>
                        <a:rPr sz="950" b="1">
                          <a:solidFill>
                            <a:srgbClr val="262626"/>
                          </a:solidFill>
                          <a:latin typeface="游ゴシック"/>
                        </a:rPr>
                        <a:t>1</a:t>
                      </a:r>
                    </a:p>
                  </a:txBody>
                  <a:tcPr>
                    <a:solidFill>
                      <a:srgbClr val="A8C4C7"/>
                    </a:solidFill>
                  </a:tcPr>
                </a:tc>
                <a:tc>
                  <a:txBody>
                    <a:bodyPr/>
                    <a:lstStyle/>
                    <a:p>
                      <a:pPr algn="ctr"/>
                      <a:r>
                        <a:rPr sz="950" b="1">
                          <a:solidFill>
                            <a:srgbClr val="262626"/>
                          </a:solidFill>
                          <a:latin typeface="游ゴシック"/>
                        </a:rPr>
                        <a:t>0.3%</a:t>
                      </a:r>
                    </a:p>
                  </a:txBody>
                  <a:tcPr>
                    <a:solidFill>
                      <a:srgbClr val="A8C4C7"/>
                    </a:solidFill>
                  </a:tcPr>
                </a:tc>
              </a:tr>
              <a:tr h="420000">
                <a:tc>
                  <a:txBody>
                    <a:bodyPr/>
                    <a:lstStyle/>
                    <a:p>
                      <a:pPr algn="ctr"/>
                      <a:r>
                        <a:rPr sz="950" b="1">
                          <a:solidFill>
                            <a:srgbClr val="262626"/>
                          </a:solidFill>
                          <a:latin typeface="游ゴシック"/>
                        </a:rPr>
                        <a:t>※複数選択のため合計は
有効回答数を超える</a:t>
                      </a:r>
                    </a:p>
                  </a:txBody>
                  <a:tcPr/>
                </a:tc>
                <a:tc>
                  <a:txBody>
                    <a:bodyPr/>
                    <a:lstStyle/>
                    <a:p>
                      <a:pPr algn="ctr"/>
                      <a:r>
                        <a:rPr sz="950" b="1">
                          <a:solidFill>
                            <a:srgbClr val="262626"/>
                          </a:solidFill>
                          <a:latin typeface="游ゴシック"/>
                        </a:rPr>
                        <a:t/>
                      </a:r>
                    </a:p>
                  </a:txBody>
                  <a:tcPr/>
                </a:tc>
                <a:tc>
                  <a:txBody>
                    <a:bodyPr/>
                    <a:lstStyle/>
                    <a:p>
                      <a:pPr algn="ctr"/>
                      <a:r>
                        <a:rPr sz="950" b="1">
                          <a:solidFill>
                            <a:srgbClr val="262626"/>
                          </a:solidFill>
                          <a:latin typeface="游ゴシック"/>
                        </a:rPr>
                        <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有効回答数 n=289（複数選択可）</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Q13-1.  「実施していない」を選択した方の理由【自由記述】</a:t>
            </a:r>
          </a:p>
        </p:txBody>
      </p:sp>
      <p:graphicFrame>
        <p:nvGraphicFramePr>
          <p:cNvPr id="3" name="Table 2"/>
          <p:cNvGraphicFramePr>
            <a:graphicFrameLocks noGrp="1"/>
          </p:cNvGraphicFramePr>
          <p:nvPr/>
        </p:nvGraphicFramePr>
        <p:xfrm>
          <a:off x="200000" y="950000"/>
          <a:ext cx="11377800" cy="1296000"/>
        </p:xfrm>
        <a:graphic>
          <a:graphicData uri="http://schemas.openxmlformats.org/drawingml/2006/table">
            <a:tbl>
              <a:tblPr firstRow="1" bandRow="1">
                <a:tableStyleId>{5C22544A-7EE6-4342-B048-85BDC9FD1C3A}</a:tableStyleId>
              </a:tblPr>
              <a:tblGrid>
                <a:gridCol w="685800"/>
                <a:gridCol w="10692000"/>
              </a:tblGrid>
              <a:tr h="432000">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432000">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看護師がFIMを評価してくれるため</a:t>
                      </a:r>
                    </a:p>
                  </a:txBody>
                  <a:tcPr/>
                </a:tc>
              </a:tr>
              <a:tr h="432000">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回答なし</a:t>
                      </a:r>
                    </a:p>
                  </a:txBody>
                  <a:tcPr>
                    <a:solidFill>
                      <a:srgbClr val="A8C4C7"/>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800" b="1">
                <a:solidFill>
                  <a:srgbClr val="262626"/>
                </a:solidFill>
                <a:latin typeface="游ゴシック"/>
              </a:rPr>
              <a:t>Q14.  認知機能の評価項目【複数選択可】</a:t>
            </a:r>
          </a:p>
        </p:txBody>
      </p:sp>
      <p:graphicFrame>
        <p:nvGraphicFramePr>
          <p:cNvPr id="3" name="Chart 2"/>
          <p:cNvGraphicFramePr>
            <a:graphicFrameLocks noGrp="1"/>
          </p:cNvGraphicFramePr>
          <p:nvPr/>
        </p:nvGraphicFramePr>
        <p:xfrm>
          <a:off x="100000" y="900000"/>
          <a:ext cx="76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800000" y="950000"/>
          <a:ext cx="4100000" cy="2940000"/>
        </p:xfrm>
        <a:graphic>
          <a:graphicData uri="http://schemas.openxmlformats.org/drawingml/2006/table">
            <a:tbl>
              <a:tblPr firstRow="1" bandRow="1">
                <a:tableStyleId>{5C22544A-7EE6-4342-B048-85BDC9FD1C3A}</a:tableStyleId>
              </a:tblPr>
              <a:tblGrid>
                <a:gridCol w="2500000"/>
                <a:gridCol w="700000"/>
                <a:gridCol w="900000"/>
              </a:tblGrid>
              <a:tr h="420000">
                <a:tc>
                  <a:txBody>
                    <a:bodyPr/>
                    <a:lstStyle/>
                    <a:p>
                      <a:pPr algn="ctr"/>
                      <a:r>
                        <a:rPr sz="1300" b="1">
                          <a:solidFill>
                            <a:srgbClr val="FFFFFF"/>
                          </a:solidFill>
                          <a:latin typeface="游ゴシック"/>
                        </a:rPr>
                        <a:t>回答</a:t>
                      </a:r>
                    </a:p>
                  </a:txBody>
                  <a:tcPr>
                    <a:solidFill>
                      <a:srgbClr val="397077"/>
                    </a:solidFill>
                  </a:tcPr>
                </a:tc>
                <a:tc>
                  <a:txBody>
                    <a:bodyPr/>
                    <a:lstStyle/>
                    <a:p>
                      <a:pPr algn="ctr"/>
                      <a:r>
                        <a:rPr sz="1300" b="1">
                          <a:solidFill>
                            <a:srgbClr val="FFFFFF"/>
                          </a:solidFill>
                          <a:latin typeface="游ゴシック"/>
                        </a:rPr>
                        <a:t>件数</a:t>
                      </a:r>
                    </a:p>
                  </a:txBody>
                  <a:tcPr>
                    <a:solidFill>
                      <a:srgbClr val="397077"/>
                    </a:solidFill>
                  </a:tcPr>
                </a:tc>
                <a:tc>
                  <a:txBody>
                    <a:bodyPr/>
                    <a:lstStyle/>
                    <a:p>
                      <a:pPr algn="ctr"/>
                      <a:r>
                        <a:rPr sz="1300" b="1">
                          <a:solidFill>
                            <a:srgbClr val="FFFFFF"/>
                          </a:solidFill>
                          <a:latin typeface="游ゴシック"/>
                        </a:rPr>
                        <a:t>割合</a:t>
                      </a:r>
                    </a:p>
                  </a:txBody>
                  <a:tcPr>
                    <a:solidFill>
                      <a:srgbClr val="397077"/>
                    </a:solidFill>
                  </a:tcPr>
                </a:tc>
              </a:tr>
              <a:tr h="420000">
                <a:tc>
                  <a:txBody>
                    <a:bodyPr/>
                    <a:lstStyle/>
                    <a:p>
                      <a:pPr algn="ctr"/>
                      <a:r>
                        <a:rPr sz="950" b="0">
                          <a:solidFill>
                            <a:srgbClr val="262626"/>
                          </a:solidFill>
                          <a:latin typeface="游ゴシック"/>
                        </a:rPr>
                        <a:t>HDS-R</a:t>
                      </a:r>
                    </a:p>
                  </a:txBody>
                  <a:tcPr/>
                </a:tc>
                <a:tc>
                  <a:txBody>
                    <a:bodyPr/>
                    <a:lstStyle/>
                    <a:p>
                      <a:pPr algn="ctr"/>
                      <a:r>
                        <a:rPr sz="950" b="1">
                          <a:solidFill>
                            <a:srgbClr val="262626"/>
                          </a:solidFill>
                          <a:latin typeface="游ゴシック"/>
                        </a:rPr>
                        <a:t>209</a:t>
                      </a:r>
                    </a:p>
                  </a:txBody>
                  <a:tcPr/>
                </a:tc>
                <a:tc>
                  <a:txBody>
                    <a:bodyPr/>
                    <a:lstStyle/>
                    <a:p>
                      <a:pPr algn="ctr"/>
                      <a:r>
                        <a:rPr sz="950" b="1">
                          <a:solidFill>
                            <a:srgbClr val="262626"/>
                          </a:solidFill>
                          <a:latin typeface="游ゴシック"/>
                        </a:rPr>
                        <a:t>72.3%</a:t>
                      </a:r>
                    </a:p>
                  </a:txBody>
                  <a:tcPr/>
                </a:tc>
              </a:tr>
              <a:tr h="420000">
                <a:tc>
                  <a:txBody>
                    <a:bodyPr/>
                    <a:lstStyle/>
                    <a:p>
                      <a:pPr algn="ctr"/>
                      <a:r>
                        <a:rPr sz="950" b="0">
                          <a:solidFill>
                            <a:srgbClr val="262626"/>
                          </a:solidFill>
                          <a:latin typeface="游ゴシック"/>
                        </a:rPr>
                        <a:t>MMSE</a:t>
                      </a:r>
                    </a:p>
                  </a:txBody>
                  <a:tcPr>
                    <a:solidFill>
                      <a:srgbClr val="A8C4C7"/>
                    </a:solidFill>
                  </a:tcPr>
                </a:tc>
                <a:tc>
                  <a:txBody>
                    <a:bodyPr/>
                    <a:lstStyle/>
                    <a:p>
                      <a:pPr algn="ctr"/>
                      <a:r>
                        <a:rPr sz="950" b="1">
                          <a:solidFill>
                            <a:srgbClr val="262626"/>
                          </a:solidFill>
                          <a:latin typeface="游ゴシック"/>
                        </a:rPr>
                        <a:t>171</a:t>
                      </a:r>
                    </a:p>
                  </a:txBody>
                  <a:tcPr>
                    <a:solidFill>
                      <a:srgbClr val="A8C4C7"/>
                    </a:solidFill>
                  </a:tcPr>
                </a:tc>
                <a:tc>
                  <a:txBody>
                    <a:bodyPr/>
                    <a:lstStyle/>
                    <a:p>
                      <a:pPr algn="ctr"/>
                      <a:r>
                        <a:rPr sz="950" b="1">
                          <a:solidFill>
                            <a:srgbClr val="262626"/>
                          </a:solidFill>
                          <a:latin typeface="游ゴシック"/>
                        </a:rPr>
                        <a:t>59.2%</a:t>
                      </a:r>
                    </a:p>
                  </a:txBody>
                  <a:tcPr>
                    <a:solidFill>
                      <a:srgbClr val="A8C4C7"/>
                    </a:solidFill>
                  </a:tcPr>
                </a:tc>
              </a:tr>
              <a:tr h="420000">
                <a:tc>
                  <a:txBody>
                    <a:bodyPr/>
                    <a:lstStyle/>
                    <a:p>
                      <a:pPr algn="ctr"/>
                      <a:r>
                        <a:rPr sz="950" b="0">
                          <a:solidFill>
                            <a:srgbClr val="262626"/>
                          </a:solidFill>
                          <a:latin typeface="游ゴシック"/>
                        </a:rPr>
                        <a:t>AMTS</a:t>
                      </a:r>
                    </a:p>
                  </a:txBody>
                  <a:tcPr/>
                </a:tc>
                <a:tc>
                  <a:txBody>
                    <a:bodyPr/>
                    <a:lstStyle/>
                    <a:p>
                      <a:pPr algn="ctr"/>
                      <a:r>
                        <a:rPr sz="950" b="1">
                          <a:solidFill>
                            <a:srgbClr val="262626"/>
                          </a:solidFill>
                          <a:latin typeface="游ゴシック"/>
                        </a:rPr>
                        <a:t>90</a:t>
                      </a:r>
                    </a:p>
                  </a:txBody>
                  <a:tcPr/>
                </a:tc>
                <a:tc>
                  <a:txBody>
                    <a:bodyPr/>
                    <a:lstStyle/>
                    <a:p>
                      <a:pPr algn="ctr"/>
                      <a:r>
                        <a:rPr sz="950" b="1">
                          <a:solidFill>
                            <a:srgbClr val="262626"/>
                          </a:solidFill>
                          <a:latin typeface="游ゴシック"/>
                        </a:rPr>
                        <a:t>31.1%</a:t>
                      </a:r>
                    </a:p>
                  </a:txBody>
                  <a:tcPr/>
                </a:tc>
              </a:tr>
              <a:tr h="420000">
                <a:tc>
                  <a:txBody>
                    <a:bodyPr/>
                    <a:lstStyle/>
                    <a:p>
                      <a:pPr algn="ctr"/>
                      <a:r>
                        <a:rPr sz="950" b="0">
                          <a:solidFill>
                            <a:srgbClr val="262626"/>
                          </a:solidFill>
                          <a:latin typeface="游ゴシック"/>
                        </a:rPr>
                        <a:t>MoCA</a:t>
                      </a:r>
                    </a:p>
                  </a:txBody>
                  <a:tcPr>
                    <a:solidFill>
                      <a:srgbClr val="A8C4C7"/>
                    </a:solidFill>
                  </a:tcPr>
                </a:tc>
                <a:tc>
                  <a:txBody>
                    <a:bodyPr/>
                    <a:lstStyle/>
                    <a:p>
                      <a:pPr algn="ctr"/>
                      <a:r>
                        <a:rPr sz="950" b="1">
                          <a:solidFill>
                            <a:srgbClr val="262626"/>
                          </a:solidFill>
                          <a:latin typeface="游ゴシック"/>
                        </a:rPr>
                        <a:t>25</a:t>
                      </a:r>
                    </a:p>
                  </a:txBody>
                  <a:tcPr>
                    <a:solidFill>
                      <a:srgbClr val="A8C4C7"/>
                    </a:solidFill>
                  </a:tcPr>
                </a:tc>
                <a:tc>
                  <a:txBody>
                    <a:bodyPr/>
                    <a:lstStyle/>
                    <a:p>
                      <a:pPr algn="ctr"/>
                      <a:r>
                        <a:rPr sz="950" b="1">
                          <a:solidFill>
                            <a:srgbClr val="262626"/>
                          </a:solidFill>
                          <a:latin typeface="游ゴシック"/>
                        </a:rPr>
                        <a:t>8.7%</a:t>
                      </a:r>
                    </a:p>
                  </a:txBody>
                  <a:tcPr>
                    <a:solidFill>
                      <a:srgbClr val="A8C4C7"/>
                    </a:solidFill>
                  </a:tcPr>
                </a:tc>
              </a:tr>
              <a:tr h="420000">
                <a:tc>
                  <a:txBody>
                    <a:bodyPr/>
                    <a:lstStyle/>
                    <a:p>
                      <a:pPr algn="ctr"/>
                      <a:r>
                        <a:rPr sz="950" b="0">
                          <a:solidFill>
                            <a:srgbClr val="262626"/>
                          </a:solidFill>
                          <a:latin typeface="游ゴシック"/>
                        </a:rPr>
                        <a:t>実施していない</a:t>
                      </a:r>
                    </a:p>
                  </a:txBody>
                  <a:tcPr/>
                </a:tc>
                <a:tc>
                  <a:txBody>
                    <a:bodyPr/>
                    <a:lstStyle/>
                    <a:p>
                      <a:pPr algn="ctr"/>
                      <a:r>
                        <a:rPr sz="950" b="1">
                          <a:solidFill>
                            <a:srgbClr val="262626"/>
                          </a:solidFill>
                          <a:latin typeface="游ゴシック"/>
                        </a:rPr>
                        <a:t>18</a:t>
                      </a:r>
                    </a:p>
                  </a:txBody>
                  <a:tcPr/>
                </a:tc>
                <a:tc>
                  <a:txBody>
                    <a:bodyPr/>
                    <a:lstStyle/>
                    <a:p>
                      <a:pPr algn="ctr"/>
                      <a:r>
                        <a:rPr sz="950" b="1">
                          <a:solidFill>
                            <a:srgbClr val="262626"/>
                          </a:solidFill>
                          <a:latin typeface="游ゴシック"/>
                        </a:rPr>
                        <a:t>6.2%</a:t>
                      </a:r>
                    </a:p>
                  </a:txBody>
                  <a:tcPr/>
                </a:tc>
              </a:tr>
              <a:tr h="420000">
                <a:tc>
                  <a:txBody>
                    <a:bodyPr/>
                    <a:lstStyle/>
                    <a:p>
                      <a:pPr algn="ctr"/>
                      <a:r>
                        <a:rPr sz="950" b="1">
                          <a:solidFill>
                            <a:srgbClr val="262626"/>
                          </a:solidFill>
                          <a:latin typeface="游ゴシック"/>
                        </a:rPr>
                        <a:t>※複数選択のため合計は
有効回答数を超える</a:t>
                      </a:r>
                    </a:p>
                  </a:txBody>
                  <a:tcPr/>
                </a:tc>
                <a:tc>
                  <a:txBody>
                    <a:bodyPr/>
                    <a:lstStyle/>
                    <a:p>
                      <a:pPr algn="ctr"/>
                      <a:r>
                        <a:rPr sz="950" b="1">
                          <a:solidFill>
                            <a:srgbClr val="262626"/>
                          </a:solidFill>
                          <a:latin typeface="游ゴシック"/>
                        </a:rPr>
                        <a:t/>
                      </a:r>
                    </a:p>
                  </a:txBody>
                  <a:tcPr/>
                </a:tc>
                <a:tc>
                  <a:txBody>
                    <a:bodyPr/>
                    <a:lstStyle/>
                    <a:p>
                      <a:pPr algn="ctr"/>
                      <a:r>
                        <a:rPr sz="950" b="1">
                          <a:solidFill>
                            <a:srgbClr val="262626"/>
                          </a:solidFill>
                          <a:latin typeface="游ゴシック"/>
                        </a:rPr>
                        <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有効回答数 n=289（複数選択可）</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Q14-1.  「実施していない」を選択した方の理由【自由記述】</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大腿骨骨折はパス化されていますが近隣のリハビリテーション病院がmmseやらないととらないなどわがままをいうのでよほど元気で認知症扱いするなと怒る人以外はスクリーニングとしてとっています。</a:t>
                      </a:r>
                    </a:p>
                  </a:txBody>
                  <a:tcPr/>
                </a:tc>
              </a:tr>
              <a:tr h="303052">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看護師がAMTSまたはHDS-Rを実施している為</a:t>
                      </a:r>
                    </a:p>
                  </a:txBody>
                  <a:tcPr>
                    <a:solidFill>
                      <a:srgbClr val="A8C4C7"/>
                    </a:solidFill>
                  </a:tcPr>
                </a:tc>
              </a:tr>
              <a:tr h="303052">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マンパワー不足のため介入時間が取れていない。</a:t>
                      </a:r>
                    </a:p>
                  </a:txBody>
                  <a:tcPr/>
                </a:tc>
              </a:tr>
              <a:tr h="303052">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心理療法士に依頼</a:t>
                      </a:r>
                    </a:p>
                  </a:txBody>
                  <a:tcPr>
                    <a:solidFill>
                      <a:srgbClr val="A8C4C7"/>
                    </a:solidFill>
                  </a:tcPr>
                </a:tc>
              </a:tr>
              <a:tr h="303052">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臨床心理士が実施しているため</a:t>
                      </a:r>
                    </a:p>
                  </a:txBody>
                  <a:tcPr/>
                </a:tc>
              </a:tr>
              <a:tr h="303052">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業務分担しており、当院では臨床心理師がAMTSの評価を担当している</a:t>
                      </a:r>
                    </a:p>
                  </a:txBody>
                  <a:tcPr>
                    <a:solidFill>
                      <a:srgbClr val="A8C4C7"/>
                    </a:solidFill>
                  </a:tcPr>
                </a:tc>
              </a:tr>
              <a:tr h="303052">
                <a:tc>
                  <a:txBody>
                    <a:bodyPr/>
                    <a:lstStyle/>
                    <a:p>
                      <a:pPr algn="ctr"/>
                      <a:r>
                        <a:rPr sz="1000" b="0">
                          <a:solidFill>
                            <a:srgbClr val="262626"/>
                          </a:solidFill>
                          <a:latin typeface="游ゴシック"/>
                        </a:rPr>
                        <a:t>7</a:t>
                      </a:r>
                    </a:p>
                  </a:txBody>
                  <a:tcPr/>
                </a:tc>
                <a:tc>
                  <a:txBody>
                    <a:bodyPr/>
                    <a:lstStyle/>
                    <a:p>
                      <a:pPr algn="ctr"/>
                      <a:r>
                        <a:rPr sz="1000" b="1">
                          <a:solidFill>
                            <a:srgbClr val="262626"/>
                          </a:solidFill>
                          <a:latin typeface="游ゴシック"/>
                        </a:rPr>
                        <a:t>看護師が認知機能検査を実施するため</a:t>
                      </a:r>
                    </a:p>
                  </a:txBody>
                  <a:tcPr/>
                </a:tc>
              </a:tr>
              <a:tr h="303052">
                <a:tc>
                  <a:txBody>
                    <a:bodyPr/>
                    <a:lstStyle/>
                    <a:p>
                      <a:pPr algn="ctr"/>
                      <a:r>
                        <a:rPr sz="1000" b="0">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決まりがない為</a:t>
                      </a:r>
                    </a:p>
                  </a:txBody>
                  <a:tcPr>
                    <a:solidFill>
                      <a:srgbClr val="A8C4C7"/>
                    </a:solidFill>
                  </a:tcPr>
                </a:tc>
              </a:tr>
              <a:tr h="303052">
                <a:tc>
                  <a:txBody>
                    <a:bodyPr/>
                    <a:lstStyle/>
                    <a:p>
                      <a:pPr algn="ctr"/>
                      <a:r>
                        <a:rPr sz="1000" b="0">
                          <a:solidFill>
                            <a:srgbClr val="262626"/>
                          </a:solidFill>
                          <a:latin typeface="游ゴシック"/>
                        </a:rPr>
                        <a:t>9</a:t>
                      </a:r>
                    </a:p>
                  </a:txBody>
                  <a:tcPr/>
                </a:tc>
                <a:tc>
                  <a:txBody>
                    <a:bodyPr/>
                    <a:lstStyle/>
                    <a:p>
                      <a:pPr algn="ctr"/>
                      <a:r>
                        <a:rPr sz="1000" b="1">
                          <a:solidFill>
                            <a:srgbClr val="262626"/>
                          </a:solidFill>
                          <a:latin typeface="游ゴシック"/>
                        </a:rPr>
                        <a:t>時間的余裕がないため</a:t>
                      </a:r>
                    </a:p>
                  </a:txBody>
                  <a:tcPr/>
                </a:tc>
              </a:tr>
              <a:tr h="303052">
                <a:tc>
                  <a:txBody>
                    <a:bodyPr/>
                    <a:lstStyle/>
                    <a:p>
                      <a:pPr algn="ctr"/>
                      <a:r>
                        <a:rPr sz="1000" b="0">
                          <a:solidFill>
                            <a:srgbClr val="262626"/>
                          </a:solidFill>
                          <a:latin typeface="游ゴシック"/>
                        </a:rPr>
                        <a:t>10</a:t>
                      </a:r>
                    </a:p>
                  </a:txBody>
                  <a:tcPr>
                    <a:solidFill>
                      <a:srgbClr val="A8C4C7"/>
                    </a:solidFill>
                  </a:tcPr>
                </a:tc>
                <a:tc>
                  <a:txBody>
                    <a:bodyPr/>
                    <a:lstStyle/>
                    <a:p>
                      <a:pPr algn="ctr"/>
                      <a:r>
                        <a:rPr sz="1000" b="1">
                          <a:solidFill>
                            <a:srgbClr val="262626"/>
                          </a:solidFill>
                          <a:latin typeface="游ゴシック"/>
                        </a:rPr>
                        <a:t>看護師がAMTSを評価してくれるため</a:t>
                      </a:r>
                    </a:p>
                  </a:txBody>
                  <a:tcPr>
                    <a:solidFill>
                      <a:srgbClr val="A8C4C7"/>
                    </a:solidFill>
                  </a:tcPr>
                </a:tc>
              </a:tr>
              <a:tr h="303052">
                <a:tc>
                  <a:txBody>
                    <a:bodyPr/>
                    <a:lstStyle/>
                    <a:p>
                      <a:pPr algn="ctr"/>
                      <a:r>
                        <a:rPr sz="1000" b="0">
                          <a:solidFill>
                            <a:srgbClr val="262626"/>
                          </a:solidFill>
                          <a:latin typeface="游ゴシック"/>
                        </a:rPr>
                        <a:t>11</a:t>
                      </a:r>
                    </a:p>
                  </a:txBody>
                  <a:tcPr/>
                </a:tc>
                <a:tc>
                  <a:txBody>
                    <a:bodyPr/>
                    <a:lstStyle/>
                    <a:p>
                      <a:pPr algn="ctr"/>
                      <a:r>
                        <a:rPr sz="1000" b="1">
                          <a:solidFill>
                            <a:srgbClr val="262626"/>
                          </a:solidFill>
                          <a:latin typeface="游ゴシック"/>
                        </a:rPr>
                        <a:t>看護師がAMTSを評価しているため。</a:t>
                      </a:r>
                    </a:p>
                  </a:txBody>
                  <a:tcPr/>
                </a:tc>
              </a:tr>
              <a:tr h="303052">
                <a:tc>
                  <a:txBody>
                    <a:bodyPr/>
                    <a:lstStyle/>
                    <a:p>
                      <a:pPr algn="ctr"/>
                      <a:r>
                        <a:rPr sz="1000" b="0">
                          <a:solidFill>
                            <a:srgbClr val="262626"/>
                          </a:solidFill>
                          <a:latin typeface="游ゴシック"/>
                        </a:rPr>
                        <a:t>12</a:t>
                      </a:r>
                    </a:p>
                  </a:txBody>
                  <a:tcPr>
                    <a:solidFill>
                      <a:srgbClr val="A8C4C7"/>
                    </a:solidFill>
                  </a:tcPr>
                </a:tc>
                <a:tc>
                  <a:txBody>
                    <a:bodyPr/>
                    <a:lstStyle/>
                    <a:p>
                      <a:pPr algn="ctr"/>
                      <a:r>
                        <a:rPr sz="1000" b="1">
                          <a:solidFill>
                            <a:srgbClr val="262626"/>
                          </a:solidFill>
                          <a:latin typeface="游ゴシック"/>
                        </a:rPr>
                        <a:t>回答なし</a:t>
                      </a:r>
                    </a:p>
                  </a:txBody>
                  <a:tcPr>
                    <a:solidFill>
                      <a:srgbClr val="A8C4C7"/>
                    </a:solidFill>
                  </a:tcPr>
                </a:tc>
              </a:tr>
              <a:tr h="303052">
                <a:tc>
                  <a:txBody>
                    <a:bodyPr/>
                    <a:lstStyle/>
                    <a:p>
                      <a:pPr algn="ctr"/>
                      <a:r>
                        <a:rPr sz="1000" b="0">
                          <a:solidFill>
                            <a:srgbClr val="262626"/>
                          </a:solidFill>
                          <a:latin typeface="游ゴシック"/>
                        </a:rPr>
                        <a:t>13</a:t>
                      </a:r>
                    </a:p>
                  </a:txBody>
                  <a:tcPr/>
                </a:tc>
                <a:tc>
                  <a:txBody>
                    <a:bodyPr/>
                    <a:lstStyle/>
                    <a:p>
                      <a:pPr algn="ctr"/>
                      <a:r>
                        <a:rPr sz="1000" b="1">
                          <a:solidFill>
                            <a:srgbClr val="262626"/>
                          </a:solidFill>
                          <a:latin typeface="游ゴシック"/>
                        </a:rPr>
                        <a:t>関わる職種のほとんどが理学療法士だから。</a:t>
                      </a:r>
                    </a:p>
                  </a:txBody>
                  <a:tcPr/>
                </a:tc>
              </a:tr>
              <a:tr h="303052">
                <a:tc>
                  <a:txBody>
                    <a:bodyPr/>
                    <a:lstStyle/>
                    <a:p>
                      <a:pPr algn="ctr"/>
                      <a:r>
                        <a:rPr sz="1000" b="0">
                          <a:solidFill>
                            <a:srgbClr val="262626"/>
                          </a:solidFill>
                          <a:latin typeface="游ゴシック"/>
                        </a:rPr>
                        <a:t>14</a:t>
                      </a:r>
                    </a:p>
                  </a:txBody>
                  <a:tcPr>
                    <a:solidFill>
                      <a:srgbClr val="A8C4C7"/>
                    </a:solidFill>
                  </a:tcPr>
                </a:tc>
                <a:tc>
                  <a:txBody>
                    <a:bodyPr/>
                    <a:lstStyle/>
                    <a:p>
                      <a:pPr algn="ctr"/>
                      <a:r>
                        <a:rPr sz="1000" b="1">
                          <a:solidFill>
                            <a:srgbClr val="262626"/>
                          </a:solidFill>
                          <a:latin typeface="游ゴシック"/>
                        </a:rPr>
                        <a:t>他部門の情報を参考にするため</a:t>
                      </a:r>
                    </a:p>
                  </a:txBody>
                  <a:tcPr>
                    <a:solidFill>
                      <a:srgbClr val="A8C4C7"/>
                    </a:solidFill>
                  </a:tcPr>
                </a:tc>
              </a:tr>
              <a:tr h="303052">
                <a:tc>
                  <a:txBody>
                    <a:bodyPr/>
                    <a:lstStyle/>
                    <a:p>
                      <a:pPr algn="ctr"/>
                      <a:r>
                        <a:rPr sz="1000" b="0">
                          <a:solidFill>
                            <a:srgbClr val="262626"/>
                          </a:solidFill>
                          <a:latin typeface="游ゴシック"/>
                        </a:rPr>
                        <a:t>15</a:t>
                      </a:r>
                    </a:p>
                  </a:txBody>
                  <a:tcPr/>
                </a:tc>
                <a:tc>
                  <a:txBody>
                    <a:bodyPr/>
                    <a:lstStyle/>
                    <a:p>
                      <a:pPr algn="ctr"/>
                      <a:r>
                        <a:rPr sz="1000" b="1">
                          <a:solidFill>
                            <a:srgbClr val="262626"/>
                          </a:solidFill>
                          <a:latin typeface="游ゴシック"/>
                        </a:rPr>
                        <a:t>簡易的な評価を実施　文書での管理は未実施</a:t>
                      </a:r>
                    </a:p>
                  </a:txBody>
                  <a:tcPr/>
                </a:tc>
              </a:tr>
              <a:tr h="303052">
                <a:tc>
                  <a:txBody>
                    <a:bodyPr/>
                    <a:lstStyle/>
                    <a:p>
                      <a:pPr algn="ctr"/>
                      <a:r>
                        <a:rPr sz="1000" b="0">
                          <a:solidFill>
                            <a:srgbClr val="262626"/>
                          </a:solidFill>
                          <a:latin typeface="游ゴシック"/>
                        </a:rPr>
                        <a:t>16</a:t>
                      </a:r>
                    </a:p>
                  </a:txBody>
                  <a:tcPr>
                    <a:solidFill>
                      <a:srgbClr val="A8C4C7"/>
                    </a:solidFill>
                  </a:tcPr>
                </a:tc>
                <a:tc>
                  <a:txBody>
                    <a:bodyPr/>
                    <a:lstStyle/>
                    <a:p>
                      <a:pPr algn="ctr"/>
                      <a:r>
                        <a:rPr sz="1000" b="1">
                          <a:solidFill>
                            <a:srgbClr val="262626"/>
                          </a:solidFill>
                          <a:latin typeface="游ゴシック"/>
                        </a:rPr>
                        <a:t>業務負担となるため</a:t>
                      </a:r>
                    </a:p>
                  </a:txBody>
                  <a:tcPr>
                    <a:solidFill>
                      <a:srgbClr val="A8C4C7"/>
                    </a:solidFill>
                  </a:tcPr>
                </a:tc>
              </a:tr>
              <a:tr h="303052">
                <a:tc>
                  <a:txBody>
                    <a:bodyPr/>
                    <a:lstStyle/>
                    <a:p>
                      <a:pPr algn="ctr"/>
                      <a:r>
                        <a:rPr sz="1000" b="0">
                          <a:solidFill>
                            <a:srgbClr val="262626"/>
                          </a:solidFill>
                          <a:latin typeface="游ゴシック"/>
                        </a:rPr>
                        <a:t>17</a:t>
                      </a:r>
                    </a:p>
                  </a:txBody>
                  <a:tcPr/>
                </a:tc>
                <a:tc>
                  <a:txBody>
                    <a:bodyPr/>
                    <a:lstStyle/>
                    <a:p>
                      <a:pPr algn="ctr"/>
                      <a:r>
                        <a:rPr sz="1000" b="1">
                          <a:solidFill>
                            <a:srgbClr val="262626"/>
                          </a:solidFill>
                          <a:latin typeface="游ゴシック"/>
                        </a:rPr>
                        <a:t>看護師がAMTSを実施している</a:t>
                      </a:r>
                    </a:p>
                  </a:txBody>
                  <a:tcPr/>
                </a:tc>
              </a:tr>
              <a:tr h="303052">
                <a:tc>
                  <a:txBody>
                    <a:bodyPr/>
                    <a:lstStyle/>
                    <a:p>
                      <a:pPr algn="ctr"/>
                      <a:r>
                        <a:rPr sz="1000" b="0">
                          <a:solidFill>
                            <a:srgbClr val="262626"/>
                          </a:solidFill>
                          <a:latin typeface="游ゴシック"/>
                        </a:rPr>
                        <a:t>18</a:t>
                      </a:r>
                    </a:p>
                  </a:txBody>
                  <a:tcPr>
                    <a:solidFill>
                      <a:srgbClr val="A8C4C7"/>
                    </a:solidFill>
                  </a:tcPr>
                </a:tc>
                <a:tc>
                  <a:txBody>
                    <a:bodyPr/>
                    <a:lstStyle/>
                    <a:p>
                      <a:pPr algn="ctr"/>
                      <a:r>
                        <a:rPr sz="1000" b="1">
                          <a:solidFill>
                            <a:srgbClr val="262626"/>
                          </a:solidFill>
                          <a:latin typeface="游ゴシック"/>
                        </a:rPr>
                        <a:t>看護師が簡易認知症検査を行っているため</a:t>
                      </a:r>
                    </a:p>
                  </a:txBody>
                  <a:tcPr>
                    <a:solidFill>
                      <a:srgbClr val="A8C4C7"/>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800" b="1">
                <a:solidFill>
                  <a:srgbClr val="262626"/>
                </a:solidFill>
                <a:latin typeface="游ゴシック"/>
              </a:rPr>
              <a:t>Q15.  FLS活動における転倒リスク評価項目【複数選択可】</a:t>
            </a:r>
          </a:p>
        </p:txBody>
      </p:sp>
      <p:graphicFrame>
        <p:nvGraphicFramePr>
          <p:cNvPr id="3" name="Chart 2"/>
          <p:cNvGraphicFramePr>
            <a:graphicFrameLocks noGrp="1"/>
          </p:cNvGraphicFramePr>
          <p:nvPr/>
        </p:nvGraphicFramePr>
        <p:xfrm>
          <a:off x="100000" y="900000"/>
          <a:ext cx="76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800000" y="950000"/>
          <a:ext cx="4100000" cy="5757994"/>
        </p:xfrm>
        <a:graphic>
          <a:graphicData uri="http://schemas.openxmlformats.org/drawingml/2006/table">
            <a:tbl>
              <a:tblPr firstRow="1" bandRow="1">
                <a:tableStyleId>{5C22544A-7EE6-4342-B048-85BDC9FD1C3A}</a:tableStyleId>
              </a:tblPr>
              <a:tblGrid>
                <a:gridCol w="2500000"/>
                <a:gridCol w="700000"/>
                <a:gridCol w="900000"/>
              </a:tblGrid>
              <a:tr h="261727">
                <a:tc>
                  <a:txBody>
                    <a:bodyPr/>
                    <a:lstStyle/>
                    <a:p>
                      <a:pPr algn="ctr"/>
                      <a:r>
                        <a:rPr sz="1300" b="1">
                          <a:solidFill>
                            <a:srgbClr val="FFFFFF"/>
                          </a:solidFill>
                          <a:latin typeface="游ゴシック"/>
                        </a:rPr>
                        <a:t>回答</a:t>
                      </a:r>
                    </a:p>
                  </a:txBody>
                  <a:tcPr>
                    <a:solidFill>
                      <a:srgbClr val="397077"/>
                    </a:solidFill>
                  </a:tcPr>
                </a:tc>
                <a:tc>
                  <a:txBody>
                    <a:bodyPr/>
                    <a:lstStyle/>
                    <a:p>
                      <a:pPr algn="ctr"/>
                      <a:r>
                        <a:rPr sz="1300" b="1">
                          <a:solidFill>
                            <a:srgbClr val="FFFFFF"/>
                          </a:solidFill>
                          <a:latin typeface="游ゴシック"/>
                        </a:rPr>
                        <a:t>件数</a:t>
                      </a:r>
                    </a:p>
                  </a:txBody>
                  <a:tcPr>
                    <a:solidFill>
                      <a:srgbClr val="397077"/>
                    </a:solidFill>
                  </a:tcPr>
                </a:tc>
                <a:tc>
                  <a:txBody>
                    <a:bodyPr/>
                    <a:lstStyle/>
                    <a:p>
                      <a:pPr algn="ctr"/>
                      <a:r>
                        <a:rPr sz="1300" b="1">
                          <a:solidFill>
                            <a:srgbClr val="FFFFFF"/>
                          </a:solidFill>
                          <a:latin typeface="游ゴシック"/>
                        </a:rPr>
                        <a:t>割合</a:t>
                      </a:r>
                    </a:p>
                  </a:txBody>
                  <a:tcPr>
                    <a:solidFill>
                      <a:srgbClr val="397077"/>
                    </a:solidFill>
                  </a:tcPr>
                </a:tc>
              </a:tr>
              <a:tr h="261727">
                <a:tc>
                  <a:txBody>
                    <a:bodyPr/>
                    <a:lstStyle/>
                    <a:p>
                      <a:pPr algn="ctr"/>
                      <a:r>
                        <a:rPr sz="950" b="0">
                          <a:solidFill>
                            <a:srgbClr val="262626"/>
                          </a:solidFill>
                          <a:latin typeface="游ゴシック"/>
                        </a:rPr>
                        <a:t>認知機能</a:t>
                      </a:r>
                    </a:p>
                  </a:txBody>
                  <a:tcPr/>
                </a:tc>
                <a:tc>
                  <a:txBody>
                    <a:bodyPr/>
                    <a:lstStyle/>
                    <a:p>
                      <a:pPr algn="ctr"/>
                      <a:r>
                        <a:rPr sz="950" b="1">
                          <a:solidFill>
                            <a:srgbClr val="262626"/>
                          </a:solidFill>
                          <a:latin typeface="游ゴシック"/>
                        </a:rPr>
                        <a:t>144</a:t>
                      </a:r>
                    </a:p>
                  </a:txBody>
                  <a:tcPr/>
                </a:tc>
                <a:tc>
                  <a:txBody>
                    <a:bodyPr/>
                    <a:lstStyle/>
                    <a:p>
                      <a:pPr algn="ctr"/>
                      <a:r>
                        <a:rPr sz="950" b="1">
                          <a:solidFill>
                            <a:srgbClr val="262626"/>
                          </a:solidFill>
                          <a:latin typeface="游ゴシック"/>
                        </a:rPr>
                        <a:t>49.8%</a:t>
                      </a:r>
                    </a:p>
                  </a:txBody>
                  <a:tcPr/>
                </a:tc>
              </a:tr>
              <a:tr h="261727">
                <a:tc>
                  <a:txBody>
                    <a:bodyPr/>
                    <a:lstStyle/>
                    <a:p>
                      <a:pPr algn="ctr"/>
                      <a:r>
                        <a:rPr sz="950" b="0">
                          <a:solidFill>
                            <a:srgbClr val="262626"/>
                          </a:solidFill>
                          <a:latin typeface="游ゴシック"/>
                        </a:rPr>
                        <a:t>過去の転倒歴</a:t>
                      </a:r>
                    </a:p>
                  </a:txBody>
                  <a:tcPr>
                    <a:solidFill>
                      <a:srgbClr val="A8C4C7"/>
                    </a:solidFill>
                  </a:tcPr>
                </a:tc>
                <a:tc>
                  <a:txBody>
                    <a:bodyPr/>
                    <a:lstStyle/>
                    <a:p>
                      <a:pPr algn="ctr"/>
                      <a:r>
                        <a:rPr sz="950" b="1">
                          <a:solidFill>
                            <a:srgbClr val="262626"/>
                          </a:solidFill>
                          <a:latin typeface="游ゴシック"/>
                        </a:rPr>
                        <a:t>105</a:t>
                      </a:r>
                    </a:p>
                  </a:txBody>
                  <a:tcPr>
                    <a:solidFill>
                      <a:srgbClr val="A8C4C7"/>
                    </a:solidFill>
                  </a:tcPr>
                </a:tc>
                <a:tc>
                  <a:txBody>
                    <a:bodyPr/>
                    <a:lstStyle/>
                    <a:p>
                      <a:pPr algn="ctr"/>
                      <a:r>
                        <a:rPr sz="950" b="1">
                          <a:solidFill>
                            <a:srgbClr val="262626"/>
                          </a:solidFill>
                          <a:latin typeface="游ゴシック"/>
                        </a:rPr>
                        <a:t>36.3%</a:t>
                      </a:r>
                    </a:p>
                  </a:txBody>
                  <a:tcPr>
                    <a:solidFill>
                      <a:srgbClr val="A8C4C7"/>
                    </a:solidFill>
                  </a:tcPr>
                </a:tc>
              </a:tr>
              <a:tr h="261727">
                <a:tc>
                  <a:txBody>
                    <a:bodyPr/>
                    <a:lstStyle/>
                    <a:p>
                      <a:pPr algn="ctr"/>
                      <a:r>
                        <a:rPr sz="950" b="0">
                          <a:solidFill>
                            <a:srgbClr val="262626"/>
                          </a:solidFill>
                          <a:latin typeface="游ゴシック"/>
                        </a:rPr>
                        <a:t>TUG</a:t>
                      </a:r>
                    </a:p>
                  </a:txBody>
                  <a:tcPr/>
                </a:tc>
                <a:tc>
                  <a:txBody>
                    <a:bodyPr/>
                    <a:lstStyle/>
                    <a:p>
                      <a:pPr algn="ctr"/>
                      <a:r>
                        <a:rPr sz="950" b="1">
                          <a:solidFill>
                            <a:srgbClr val="262626"/>
                          </a:solidFill>
                          <a:latin typeface="游ゴシック"/>
                        </a:rPr>
                        <a:t>93</a:t>
                      </a:r>
                    </a:p>
                  </a:txBody>
                  <a:tcPr/>
                </a:tc>
                <a:tc>
                  <a:txBody>
                    <a:bodyPr/>
                    <a:lstStyle/>
                    <a:p>
                      <a:pPr algn="ctr"/>
                      <a:r>
                        <a:rPr sz="950" b="1">
                          <a:solidFill>
                            <a:srgbClr val="262626"/>
                          </a:solidFill>
                          <a:latin typeface="游ゴシック"/>
                        </a:rPr>
                        <a:t>32.2%</a:t>
                      </a:r>
                    </a:p>
                  </a:txBody>
                  <a:tcPr/>
                </a:tc>
              </a:tr>
              <a:tr h="261727">
                <a:tc>
                  <a:txBody>
                    <a:bodyPr/>
                    <a:lstStyle/>
                    <a:p>
                      <a:pPr algn="ctr"/>
                      <a:r>
                        <a:rPr sz="950" b="0">
                          <a:solidFill>
                            <a:srgbClr val="262626"/>
                          </a:solidFill>
                          <a:latin typeface="游ゴシック"/>
                        </a:rPr>
                        <a:t>ベッド周囲および病室環境</a:t>
                      </a:r>
                    </a:p>
                  </a:txBody>
                  <a:tcPr>
                    <a:solidFill>
                      <a:srgbClr val="A8C4C7"/>
                    </a:solidFill>
                  </a:tcPr>
                </a:tc>
                <a:tc>
                  <a:txBody>
                    <a:bodyPr/>
                    <a:lstStyle/>
                    <a:p>
                      <a:pPr algn="ctr"/>
                      <a:r>
                        <a:rPr sz="950" b="1">
                          <a:solidFill>
                            <a:srgbClr val="262626"/>
                          </a:solidFill>
                          <a:latin typeface="游ゴシック"/>
                        </a:rPr>
                        <a:t>79</a:t>
                      </a:r>
                    </a:p>
                  </a:txBody>
                  <a:tcPr>
                    <a:solidFill>
                      <a:srgbClr val="A8C4C7"/>
                    </a:solidFill>
                  </a:tcPr>
                </a:tc>
                <a:tc>
                  <a:txBody>
                    <a:bodyPr/>
                    <a:lstStyle/>
                    <a:p>
                      <a:pPr algn="ctr"/>
                      <a:r>
                        <a:rPr sz="950" b="1">
                          <a:solidFill>
                            <a:srgbClr val="262626"/>
                          </a:solidFill>
                          <a:latin typeface="游ゴシック"/>
                        </a:rPr>
                        <a:t>27.3%</a:t>
                      </a:r>
                    </a:p>
                  </a:txBody>
                  <a:tcPr>
                    <a:solidFill>
                      <a:srgbClr val="A8C4C7"/>
                    </a:solidFill>
                  </a:tcPr>
                </a:tc>
              </a:tr>
              <a:tr h="261727">
                <a:tc>
                  <a:txBody>
                    <a:bodyPr/>
                    <a:lstStyle/>
                    <a:p>
                      <a:pPr algn="ctr"/>
                      <a:r>
                        <a:rPr sz="950" b="0">
                          <a:solidFill>
                            <a:srgbClr val="262626"/>
                          </a:solidFill>
                          <a:latin typeface="游ゴシック"/>
                        </a:rPr>
                        <a:t>既往疾患の有無（脳血管疾患、パーキンソン病など）</a:t>
                      </a:r>
                    </a:p>
                  </a:txBody>
                  <a:tcPr/>
                </a:tc>
                <a:tc>
                  <a:txBody>
                    <a:bodyPr/>
                    <a:lstStyle/>
                    <a:p>
                      <a:pPr algn="ctr"/>
                      <a:r>
                        <a:rPr sz="950" b="1">
                          <a:solidFill>
                            <a:srgbClr val="262626"/>
                          </a:solidFill>
                          <a:latin typeface="游ゴシック"/>
                        </a:rPr>
                        <a:t>78</a:t>
                      </a:r>
                    </a:p>
                  </a:txBody>
                  <a:tcPr/>
                </a:tc>
                <a:tc>
                  <a:txBody>
                    <a:bodyPr/>
                    <a:lstStyle/>
                    <a:p>
                      <a:pPr algn="ctr"/>
                      <a:r>
                        <a:rPr sz="950" b="1">
                          <a:solidFill>
                            <a:srgbClr val="262626"/>
                          </a:solidFill>
                          <a:latin typeface="游ゴシック"/>
                        </a:rPr>
                        <a:t>27.0%</a:t>
                      </a:r>
                    </a:p>
                  </a:txBody>
                  <a:tcPr/>
                </a:tc>
              </a:tr>
              <a:tr h="261727">
                <a:tc>
                  <a:txBody>
                    <a:bodyPr/>
                    <a:lstStyle/>
                    <a:p>
                      <a:pPr algn="ctr"/>
                      <a:r>
                        <a:rPr sz="950" b="0">
                          <a:solidFill>
                            <a:srgbClr val="262626"/>
                          </a:solidFill>
                          <a:latin typeface="游ゴシック"/>
                        </a:rPr>
                        <a:t>10m歩行速度</a:t>
                      </a:r>
                    </a:p>
                  </a:txBody>
                  <a:tcPr>
                    <a:solidFill>
                      <a:srgbClr val="A8C4C7"/>
                    </a:solidFill>
                  </a:tcPr>
                </a:tc>
                <a:tc>
                  <a:txBody>
                    <a:bodyPr/>
                    <a:lstStyle/>
                    <a:p>
                      <a:pPr algn="ctr"/>
                      <a:r>
                        <a:rPr sz="950" b="1">
                          <a:solidFill>
                            <a:srgbClr val="262626"/>
                          </a:solidFill>
                          <a:latin typeface="游ゴシック"/>
                        </a:rPr>
                        <a:t>76</a:t>
                      </a:r>
                    </a:p>
                  </a:txBody>
                  <a:tcPr>
                    <a:solidFill>
                      <a:srgbClr val="A8C4C7"/>
                    </a:solidFill>
                  </a:tcPr>
                </a:tc>
                <a:tc>
                  <a:txBody>
                    <a:bodyPr/>
                    <a:lstStyle/>
                    <a:p>
                      <a:pPr algn="ctr"/>
                      <a:r>
                        <a:rPr sz="950" b="1">
                          <a:solidFill>
                            <a:srgbClr val="262626"/>
                          </a:solidFill>
                          <a:latin typeface="游ゴシック"/>
                        </a:rPr>
                        <a:t>26.3%</a:t>
                      </a:r>
                    </a:p>
                  </a:txBody>
                  <a:tcPr>
                    <a:solidFill>
                      <a:srgbClr val="A8C4C7"/>
                    </a:solidFill>
                  </a:tcPr>
                </a:tc>
              </a:tr>
              <a:tr h="261727">
                <a:tc>
                  <a:txBody>
                    <a:bodyPr/>
                    <a:lstStyle/>
                    <a:p>
                      <a:pPr algn="ctr"/>
                      <a:r>
                        <a:rPr sz="950" b="0">
                          <a:solidFill>
                            <a:srgbClr val="262626"/>
                          </a:solidFill>
                          <a:latin typeface="游ゴシック"/>
                        </a:rPr>
                        <a:t>定量的な下肢筋力測定</a:t>
                      </a:r>
                    </a:p>
                  </a:txBody>
                  <a:tcPr/>
                </a:tc>
                <a:tc>
                  <a:txBody>
                    <a:bodyPr/>
                    <a:lstStyle/>
                    <a:p>
                      <a:pPr algn="ctr"/>
                      <a:r>
                        <a:rPr sz="950" b="1">
                          <a:solidFill>
                            <a:srgbClr val="262626"/>
                          </a:solidFill>
                          <a:latin typeface="游ゴシック"/>
                        </a:rPr>
                        <a:t>68</a:t>
                      </a:r>
                    </a:p>
                  </a:txBody>
                  <a:tcPr/>
                </a:tc>
                <a:tc>
                  <a:txBody>
                    <a:bodyPr/>
                    <a:lstStyle/>
                    <a:p>
                      <a:pPr algn="ctr"/>
                      <a:r>
                        <a:rPr sz="950" b="1">
                          <a:solidFill>
                            <a:srgbClr val="262626"/>
                          </a:solidFill>
                          <a:latin typeface="游ゴシック"/>
                        </a:rPr>
                        <a:t>23.5%</a:t>
                      </a:r>
                    </a:p>
                  </a:txBody>
                  <a:tcPr/>
                </a:tc>
              </a:tr>
              <a:tr h="261727">
                <a:tc>
                  <a:txBody>
                    <a:bodyPr/>
                    <a:lstStyle/>
                    <a:p>
                      <a:pPr algn="ctr"/>
                      <a:r>
                        <a:rPr sz="950" b="0">
                          <a:solidFill>
                            <a:srgbClr val="262626"/>
                          </a:solidFill>
                          <a:latin typeface="游ゴシック"/>
                        </a:rPr>
                        <a:t>開眼片脚立位時間</a:t>
                      </a:r>
                    </a:p>
                  </a:txBody>
                  <a:tcPr>
                    <a:solidFill>
                      <a:srgbClr val="A8C4C7"/>
                    </a:solidFill>
                  </a:tcPr>
                </a:tc>
                <a:tc>
                  <a:txBody>
                    <a:bodyPr/>
                    <a:lstStyle/>
                    <a:p>
                      <a:pPr algn="ctr"/>
                      <a:r>
                        <a:rPr sz="950" b="1">
                          <a:solidFill>
                            <a:srgbClr val="262626"/>
                          </a:solidFill>
                          <a:latin typeface="游ゴシック"/>
                        </a:rPr>
                        <a:t>67</a:t>
                      </a:r>
                    </a:p>
                  </a:txBody>
                  <a:tcPr>
                    <a:solidFill>
                      <a:srgbClr val="A8C4C7"/>
                    </a:solidFill>
                  </a:tcPr>
                </a:tc>
                <a:tc>
                  <a:txBody>
                    <a:bodyPr/>
                    <a:lstStyle/>
                    <a:p>
                      <a:pPr algn="ctr"/>
                      <a:r>
                        <a:rPr sz="950" b="1">
                          <a:solidFill>
                            <a:srgbClr val="262626"/>
                          </a:solidFill>
                          <a:latin typeface="游ゴシック"/>
                        </a:rPr>
                        <a:t>23.2%</a:t>
                      </a:r>
                    </a:p>
                  </a:txBody>
                  <a:tcPr>
                    <a:solidFill>
                      <a:srgbClr val="A8C4C7"/>
                    </a:solidFill>
                  </a:tcPr>
                </a:tc>
              </a:tr>
              <a:tr h="261727">
                <a:tc>
                  <a:txBody>
                    <a:bodyPr/>
                    <a:lstStyle/>
                    <a:p>
                      <a:pPr algn="ctr"/>
                      <a:r>
                        <a:rPr sz="950" b="0">
                          <a:solidFill>
                            <a:srgbClr val="262626"/>
                          </a:solidFill>
                          <a:latin typeface="游ゴシック"/>
                        </a:rPr>
                        <a:t>実施していない</a:t>
                      </a:r>
                    </a:p>
                  </a:txBody>
                  <a:tcPr/>
                </a:tc>
                <a:tc>
                  <a:txBody>
                    <a:bodyPr/>
                    <a:lstStyle/>
                    <a:p>
                      <a:pPr algn="ctr"/>
                      <a:r>
                        <a:rPr sz="950" b="1">
                          <a:solidFill>
                            <a:srgbClr val="262626"/>
                          </a:solidFill>
                          <a:latin typeface="游ゴシック"/>
                        </a:rPr>
                        <a:t>64</a:t>
                      </a:r>
                    </a:p>
                  </a:txBody>
                  <a:tcPr/>
                </a:tc>
                <a:tc>
                  <a:txBody>
                    <a:bodyPr/>
                    <a:lstStyle/>
                    <a:p>
                      <a:pPr algn="ctr"/>
                      <a:r>
                        <a:rPr sz="950" b="1">
                          <a:solidFill>
                            <a:srgbClr val="262626"/>
                          </a:solidFill>
                          <a:latin typeface="游ゴシック"/>
                        </a:rPr>
                        <a:t>22.1%</a:t>
                      </a:r>
                    </a:p>
                  </a:txBody>
                  <a:tcPr/>
                </a:tc>
              </a:tr>
              <a:tr h="261727">
                <a:tc>
                  <a:txBody>
                    <a:bodyPr/>
                    <a:lstStyle/>
                    <a:p>
                      <a:pPr algn="ctr"/>
                      <a:r>
                        <a:rPr sz="950" b="0">
                          <a:solidFill>
                            <a:srgbClr val="262626"/>
                          </a:solidFill>
                          <a:latin typeface="游ゴシック"/>
                        </a:rPr>
                        <a:t>SPPB、Functional Reach Test（FRT）</a:t>
                      </a:r>
                    </a:p>
                  </a:txBody>
                  <a:tcPr>
                    <a:solidFill>
                      <a:srgbClr val="A8C4C7"/>
                    </a:solidFill>
                  </a:tcPr>
                </a:tc>
                <a:tc>
                  <a:txBody>
                    <a:bodyPr/>
                    <a:lstStyle/>
                    <a:p>
                      <a:pPr algn="ctr"/>
                      <a:r>
                        <a:rPr sz="950" b="1">
                          <a:solidFill>
                            <a:srgbClr val="262626"/>
                          </a:solidFill>
                          <a:latin typeface="游ゴシック"/>
                        </a:rPr>
                        <a:t>56</a:t>
                      </a:r>
                    </a:p>
                  </a:txBody>
                  <a:tcPr>
                    <a:solidFill>
                      <a:srgbClr val="A8C4C7"/>
                    </a:solidFill>
                  </a:tcPr>
                </a:tc>
                <a:tc>
                  <a:txBody>
                    <a:bodyPr/>
                    <a:lstStyle/>
                    <a:p>
                      <a:pPr algn="ctr"/>
                      <a:r>
                        <a:rPr sz="950" b="1">
                          <a:solidFill>
                            <a:srgbClr val="262626"/>
                          </a:solidFill>
                          <a:latin typeface="游ゴシック"/>
                        </a:rPr>
                        <a:t>19.4%</a:t>
                      </a:r>
                    </a:p>
                  </a:txBody>
                  <a:tcPr>
                    <a:solidFill>
                      <a:srgbClr val="A8C4C7"/>
                    </a:solidFill>
                  </a:tcPr>
                </a:tc>
              </a:tr>
              <a:tr h="261727">
                <a:tc>
                  <a:txBody>
                    <a:bodyPr/>
                    <a:lstStyle/>
                    <a:p>
                      <a:pPr algn="ctr"/>
                      <a:r>
                        <a:rPr sz="950" b="0">
                          <a:solidFill>
                            <a:srgbClr val="262626"/>
                          </a:solidFill>
                          <a:latin typeface="游ゴシック"/>
                        </a:rPr>
                        <a:t>5回椅子立ち上がりテスト</a:t>
                      </a:r>
                    </a:p>
                  </a:txBody>
                  <a:tcPr/>
                </a:tc>
                <a:tc>
                  <a:txBody>
                    <a:bodyPr/>
                    <a:lstStyle/>
                    <a:p>
                      <a:pPr algn="ctr"/>
                      <a:r>
                        <a:rPr sz="950" b="1">
                          <a:solidFill>
                            <a:srgbClr val="262626"/>
                          </a:solidFill>
                          <a:latin typeface="游ゴシック"/>
                        </a:rPr>
                        <a:t>51</a:t>
                      </a:r>
                    </a:p>
                  </a:txBody>
                  <a:tcPr/>
                </a:tc>
                <a:tc>
                  <a:txBody>
                    <a:bodyPr/>
                    <a:lstStyle/>
                    <a:p>
                      <a:pPr algn="ctr"/>
                      <a:r>
                        <a:rPr sz="950" b="1">
                          <a:solidFill>
                            <a:srgbClr val="262626"/>
                          </a:solidFill>
                          <a:latin typeface="游ゴシック"/>
                        </a:rPr>
                        <a:t>17.6%</a:t>
                      </a:r>
                    </a:p>
                  </a:txBody>
                  <a:tcPr/>
                </a:tc>
              </a:tr>
              <a:tr h="261727">
                <a:tc>
                  <a:txBody>
                    <a:bodyPr/>
                    <a:lstStyle/>
                    <a:p>
                      <a:pPr algn="ctr"/>
                      <a:r>
                        <a:rPr sz="950" b="0">
                          <a:solidFill>
                            <a:srgbClr val="262626"/>
                          </a:solidFill>
                          <a:latin typeface="游ゴシック"/>
                        </a:rPr>
                        <a:t>薬剤（向精神薬、降圧薬、利尿薬、ポリファーマシーなど）</a:t>
                      </a:r>
                    </a:p>
                  </a:txBody>
                  <a:tcPr>
                    <a:solidFill>
                      <a:srgbClr val="A8C4C7"/>
                    </a:solidFill>
                  </a:tcPr>
                </a:tc>
                <a:tc>
                  <a:txBody>
                    <a:bodyPr/>
                    <a:lstStyle/>
                    <a:p>
                      <a:pPr algn="ctr"/>
                      <a:r>
                        <a:rPr sz="950" b="1">
                          <a:solidFill>
                            <a:srgbClr val="262626"/>
                          </a:solidFill>
                          <a:latin typeface="游ゴシック"/>
                        </a:rPr>
                        <a:t>49</a:t>
                      </a:r>
                    </a:p>
                  </a:txBody>
                  <a:tcPr>
                    <a:solidFill>
                      <a:srgbClr val="A8C4C7"/>
                    </a:solidFill>
                  </a:tcPr>
                </a:tc>
                <a:tc>
                  <a:txBody>
                    <a:bodyPr/>
                    <a:lstStyle/>
                    <a:p>
                      <a:pPr algn="ctr"/>
                      <a:r>
                        <a:rPr sz="950" b="1">
                          <a:solidFill>
                            <a:srgbClr val="262626"/>
                          </a:solidFill>
                          <a:latin typeface="游ゴシック"/>
                        </a:rPr>
                        <a:t>17.0%</a:t>
                      </a:r>
                    </a:p>
                  </a:txBody>
                  <a:tcPr>
                    <a:solidFill>
                      <a:srgbClr val="A8C4C7"/>
                    </a:solidFill>
                  </a:tcPr>
                </a:tc>
              </a:tr>
              <a:tr h="261727">
                <a:tc>
                  <a:txBody>
                    <a:bodyPr/>
                    <a:lstStyle/>
                    <a:p>
                      <a:pPr algn="ctr"/>
                      <a:r>
                        <a:rPr sz="950" b="0">
                          <a:solidFill>
                            <a:srgbClr val="262626"/>
                          </a:solidFill>
                          <a:latin typeface="游ゴシック"/>
                        </a:rPr>
                        <a:t>せん妄</a:t>
                      </a:r>
                    </a:p>
                  </a:txBody>
                  <a:tcPr/>
                </a:tc>
                <a:tc>
                  <a:txBody>
                    <a:bodyPr/>
                    <a:lstStyle/>
                    <a:p>
                      <a:pPr algn="ctr"/>
                      <a:r>
                        <a:rPr sz="950" b="1">
                          <a:solidFill>
                            <a:srgbClr val="262626"/>
                          </a:solidFill>
                          <a:latin typeface="游ゴシック"/>
                        </a:rPr>
                        <a:t>41</a:t>
                      </a:r>
                    </a:p>
                  </a:txBody>
                  <a:tcPr/>
                </a:tc>
                <a:tc>
                  <a:txBody>
                    <a:bodyPr/>
                    <a:lstStyle/>
                    <a:p>
                      <a:pPr algn="ctr"/>
                      <a:r>
                        <a:rPr sz="950" b="1">
                          <a:solidFill>
                            <a:srgbClr val="262626"/>
                          </a:solidFill>
                          <a:latin typeface="游ゴシック"/>
                        </a:rPr>
                        <a:t>14.2%</a:t>
                      </a:r>
                    </a:p>
                  </a:txBody>
                  <a:tcPr/>
                </a:tc>
              </a:tr>
              <a:tr h="261727">
                <a:tc>
                  <a:txBody>
                    <a:bodyPr/>
                    <a:lstStyle/>
                    <a:p>
                      <a:pPr algn="ctr"/>
                      <a:r>
                        <a:rPr sz="950" b="0">
                          <a:solidFill>
                            <a:srgbClr val="262626"/>
                          </a:solidFill>
                          <a:latin typeface="游ゴシック"/>
                        </a:rPr>
                        <a:t>Berg Balance Scale（BBS）</a:t>
                      </a:r>
                    </a:p>
                  </a:txBody>
                  <a:tcPr>
                    <a:solidFill>
                      <a:srgbClr val="A8C4C7"/>
                    </a:solidFill>
                  </a:tcPr>
                </a:tc>
                <a:tc>
                  <a:txBody>
                    <a:bodyPr/>
                    <a:lstStyle/>
                    <a:p>
                      <a:pPr algn="ctr"/>
                      <a:r>
                        <a:rPr sz="950" b="1">
                          <a:solidFill>
                            <a:srgbClr val="262626"/>
                          </a:solidFill>
                          <a:latin typeface="游ゴシック"/>
                        </a:rPr>
                        <a:t>40</a:t>
                      </a:r>
                    </a:p>
                  </a:txBody>
                  <a:tcPr>
                    <a:solidFill>
                      <a:srgbClr val="A8C4C7"/>
                    </a:solidFill>
                  </a:tcPr>
                </a:tc>
                <a:tc>
                  <a:txBody>
                    <a:bodyPr/>
                    <a:lstStyle/>
                    <a:p>
                      <a:pPr algn="ctr"/>
                      <a:r>
                        <a:rPr sz="950" b="1">
                          <a:solidFill>
                            <a:srgbClr val="262626"/>
                          </a:solidFill>
                          <a:latin typeface="游ゴシック"/>
                        </a:rPr>
                        <a:t>13.8%</a:t>
                      </a:r>
                    </a:p>
                  </a:txBody>
                  <a:tcPr>
                    <a:solidFill>
                      <a:srgbClr val="A8C4C7"/>
                    </a:solidFill>
                  </a:tcPr>
                </a:tc>
              </a:tr>
              <a:tr h="261727">
                <a:tc>
                  <a:txBody>
                    <a:bodyPr/>
                    <a:lstStyle/>
                    <a:p>
                      <a:pPr algn="ctr"/>
                      <a:r>
                        <a:rPr sz="950" b="0">
                          <a:solidFill>
                            <a:srgbClr val="262626"/>
                          </a:solidFill>
                          <a:latin typeface="游ゴシック"/>
                        </a:rPr>
                        <a:t>注意障害</a:t>
                      </a:r>
                    </a:p>
                  </a:txBody>
                  <a:tcPr/>
                </a:tc>
                <a:tc>
                  <a:txBody>
                    <a:bodyPr/>
                    <a:lstStyle/>
                    <a:p>
                      <a:pPr algn="ctr"/>
                      <a:r>
                        <a:rPr sz="950" b="1">
                          <a:solidFill>
                            <a:srgbClr val="262626"/>
                          </a:solidFill>
                          <a:latin typeface="游ゴシック"/>
                        </a:rPr>
                        <a:t>28</a:t>
                      </a:r>
                    </a:p>
                  </a:txBody>
                  <a:tcPr/>
                </a:tc>
                <a:tc>
                  <a:txBody>
                    <a:bodyPr/>
                    <a:lstStyle/>
                    <a:p>
                      <a:pPr algn="ctr"/>
                      <a:r>
                        <a:rPr sz="950" b="1">
                          <a:solidFill>
                            <a:srgbClr val="262626"/>
                          </a:solidFill>
                          <a:latin typeface="游ゴシック"/>
                        </a:rPr>
                        <a:t>9.7%</a:t>
                      </a:r>
                    </a:p>
                  </a:txBody>
                  <a:tcPr/>
                </a:tc>
              </a:tr>
              <a:tr h="261727">
                <a:tc>
                  <a:txBody>
                    <a:bodyPr/>
                    <a:lstStyle/>
                    <a:p>
                      <a:pPr algn="ctr"/>
                      <a:r>
                        <a:rPr sz="950" b="0">
                          <a:solidFill>
                            <a:srgbClr val="262626"/>
                          </a:solidFill>
                          <a:latin typeface="游ゴシック"/>
                        </a:rPr>
                        <a:t>転倒恐怖感</a:t>
                      </a:r>
                    </a:p>
                  </a:txBody>
                  <a:tcPr>
                    <a:solidFill>
                      <a:srgbClr val="A8C4C7"/>
                    </a:solidFill>
                  </a:tcPr>
                </a:tc>
                <a:tc>
                  <a:txBody>
                    <a:bodyPr/>
                    <a:lstStyle/>
                    <a:p>
                      <a:pPr algn="ctr"/>
                      <a:r>
                        <a:rPr sz="950" b="1">
                          <a:solidFill>
                            <a:srgbClr val="262626"/>
                          </a:solidFill>
                          <a:latin typeface="游ゴシック"/>
                        </a:rPr>
                        <a:t>24</a:t>
                      </a:r>
                    </a:p>
                  </a:txBody>
                  <a:tcPr>
                    <a:solidFill>
                      <a:srgbClr val="A8C4C7"/>
                    </a:solidFill>
                  </a:tcPr>
                </a:tc>
                <a:tc>
                  <a:txBody>
                    <a:bodyPr/>
                    <a:lstStyle/>
                    <a:p>
                      <a:pPr algn="ctr"/>
                      <a:r>
                        <a:rPr sz="950" b="1">
                          <a:solidFill>
                            <a:srgbClr val="262626"/>
                          </a:solidFill>
                          <a:latin typeface="游ゴシック"/>
                        </a:rPr>
                        <a:t>8.3%</a:t>
                      </a:r>
                    </a:p>
                  </a:txBody>
                  <a:tcPr>
                    <a:solidFill>
                      <a:srgbClr val="A8C4C7"/>
                    </a:solidFill>
                  </a:tcPr>
                </a:tc>
              </a:tr>
              <a:tr h="261727">
                <a:tc>
                  <a:txBody>
                    <a:bodyPr/>
                    <a:lstStyle/>
                    <a:p>
                      <a:pPr algn="ctr"/>
                      <a:r>
                        <a:rPr sz="950" b="0">
                          <a:solidFill>
                            <a:srgbClr val="262626"/>
                          </a:solidFill>
                          <a:latin typeface="游ゴシック"/>
                        </a:rPr>
                        <a:t>深部感覚評価</a:t>
                      </a:r>
                    </a:p>
                  </a:txBody>
                  <a:tcPr/>
                </a:tc>
                <a:tc>
                  <a:txBody>
                    <a:bodyPr/>
                    <a:lstStyle/>
                    <a:p>
                      <a:pPr algn="ctr"/>
                      <a:r>
                        <a:rPr sz="950" b="1">
                          <a:solidFill>
                            <a:srgbClr val="262626"/>
                          </a:solidFill>
                          <a:latin typeface="游ゴシック"/>
                        </a:rPr>
                        <a:t>19</a:t>
                      </a:r>
                    </a:p>
                  </a:txBody>
                  <a:tcPr/>
                </a:tc>
                <a:tc>
                  <a:txBody>
                    <a:bodyPr/>
                    <a:lstStyle/>
                    <a:p>
                      <a:pPr algn="ctr"/>
                      <a:r>
                        <a:rPr sz="950" b="1">
                          <a:solidFill>
                            <a:srgbClr val="262626"/>
                          </a:solidFill>
                          <a:latin typeface="游ゴシック"/>
                        </a:rPr>
                        <a:t>6.6%</a:t>
                      </a:r>
                    </a:p>
                  </a:txBody>
                  <a:tcPr/>
                </a:tc>
              </a:tr>
              <a:tr h="261727">
                <a:tc>
                  <a:txBody>
                    <a:bodyPr/>
                    <a:lstStyle/>
                    <a:p>
                      <a:pPr algn="ctr"/>
                      <a:r>
                        <a:rPr sz="950" b="0">
                          <a:solidFill>
                            <a:srgbClr val="262626"/>
                          </a:solidFill>
                          <a:latin typeface="游ゴシック"/>
                        </a:rPr>
                        <a:t>遂行機能</a:t>
                      </a:r>
                    </a:p>
                  </a:txBody>
                  <a:tcPr>
                    <a:solidFill>
                      <a:srgbClr val="A8C4C7"/>
                    </a:solidFill>
                  </a:tcPr>
                </a:tc>
                <a:tc>
                  <a:txBody>
                    <a:bodyPr/>
                    <a:lstStyle/>
                    <a:p>
                      <a:pPr algn="ctr"/>
                      <a:r>
                        <a:rPr sz="950" b="1">
                          <a:solidFill>
                            <a:srgbClr val="262626"/>
                          </a:solidFill>
                          <a:latin typeface="游ゴシック"/>
                        </a:rPr>
                        <a:t>12</a:t>
                      </a:r>
                    </a:p>
                  </a:txBody>
                  <a:tcPr>
                    <a:solidFill>
                      <a:srgbClr val="A8C4C7"/>
                    </a:solidFill>
                  </a:tcPr>
                </a:tc>
                <a:tc>
                  <a:txBody>
                    <a:bodyPr/>
                    <a:lstStyle/>
                    <a:p>
                      <a:pPr algn="ctr"/>
                      <a:r>
                        <a:rPr sz="950" b="1">
                          <a:solidFill>
                            <a:srgbClr val="262626"/>
                          </a:solidFill>
                          <a:latin typeface="游ゴシック"/>
                        </a:rPr>
                        <a:t>4.2%</a:t>
                      </a:r>
                    </a:p>
                  </a:txBody>
                  <a:tcPr>
                    <a:solidFill>
                      <a:srgbClr val="A8C4C7"/>
                    </a:solidFill>
                  </a:tcPr>
                </a:tc>
              </a:tr>
              <a:tr h="261727">
                <a:tc>
                  <a:txBody>
                    <a:bodyPr/>
                    <a:lstStyle/>
                    <a:p>
                      <a:pPr algn="ctr"/>
                      <a:r>
                        <a:rPr sz="950" b="0">
                          <a:solidFill>
                            <a:srgbClr val="262626"/>
                          </a:solidFill>
                          <a:latin typeface="游ゴシック"/>
                        </a:rPr>
                        <a:t>Fall Risk Index</a:t>
                      </a:r>
                    </a:p>
                  </a:txBody>
                  <a:tcPr/>
                </a:tc>
                <a:tc>
                  <a:txBody>
                    <a:bodyPr/>
                    <a:lstStyle/>
                    <a:p>
                      <a:pPr algn="ctr"/>
                      <a:r>
                        <a:rPr sz="950" b="1">
                          <a:solidFill>
                            <a:srgbClr val="262626"/>
                          </a:solidFill>
                          <a:latin typeface="游ゴシック"/>
                        </a:rPr>
                        <a:t>7</a:t>
                      </a:r>
                    </a:p>
                  </a:txBody>
                  <a:tcPr/>
                </a:tc>
                <a:tc>
                  <a:txBody>
                    <a:bodyPr/>
                    <a:lstStyle/>
                    <a:p>
                      <a:pPr algn="ctr"/>
                      <a:r>
                        <a:rPr sz="950" b="1">
                          <a:solidFill>
                            <a:srgbClr val="262626"/>
                          </a:solidFill>
                          <a:latin typeface="游ゴシック"/>
                        </a:rPr>
                        <a:t>2.4%</a:t>
                      </a:r>
                    </a:p>
                  </a:txBody>
                  <a:tcPr/>
                </a:tc>
              </a:tr>
              <a:tr h="261727">
                <a:tc>
                  <a:txBody>
                    <a:bodyPr/>
                    <a:lstStyle/>
                    <a:p>
                      <a:pPr algn="ctr"/>
                      <a:r>
                        <a:rPr sz="950" b="0">
                          <a:solidFill>
                            <a:srgbClr val="262626"/>
                          </a:solidFill>
                          <a:latin typeface="游ゴシック"/>
                        </a:rPr>
                        <a:t>SIDE</a:t>
                      </a:r>
                    </a:p>
                  </a:txBody>
                  <a:tcPr>
                    <a:solidFill>
                      <a:srgbClr val="A8C4C7"/>
                    </a:solidFill>
                  </a:tcPr>
                </a:tc>
                <a:tc>
                  <a:txBody>
                    <a:bodyPr/>
                    <a:lstStyle/>
                    <a:p>
                      <a:pPr algn="ctr"/>
                      <a:r>
                        <a:rPr sz="950" b="1">
                          <a:solidFill>
                            <a:srgbClr val="262626"/>
                          </a:solidFill>
                          <a:latin typeface="游ゴシック"/>
                        </a:rPr>
                        <a:t>4</a:t>
                      </a:r>
                    </a:p>
                  </a:txBody>
                  <a:tcPr>
                    <a:solidFill>
                      <a:srgbClr val="A8C4C7"/>
                    </a:solidFill>
                  </a:tcPr>
                </a:tc>
                <a:tc>
                  <a:txBody>
                    <a:bodyPr/>
                    <a:lstStyle/>
                    <a:p>
                      <a:pPr algn="ctr"/>
                      <a:r>
                        <a:rPr sz="950" b="1">
                          <a:solidFill>
                            <a:srgbClr val="262626"/>
                          </a:solidFill>
                          <a:latin typeface="游ゴシック"/>
                        </a:rPr>
                        <a:t>1.4%</a:t>
                      </a:r>
                    </a:p>
                  </a:txBody>
                  <a:tcPr>
                    <a:solidFill>
                      <a:srgbClr val="A8C4C7"/>
                    </a:solidFill>
                  </a:tcPr>
                </a:tc>
              </a:tr>
              <a:tr h="261727">
                <a:tc>
                  <a:txBody>
                    <a:bodyPr/>
                    <a:lstStyle/>
                    <a:p>
                      <a:pPr algn="ctr"/>
                      <a:r>
                        <a:rPr sz="950" b="1">
                          <a:solidFill>
                            <a:srgbClr val="262626"/>
                          </a:solidFill>
                          <a:latin typeface="游ゴシック"/>
                        </a:rPr>
                        <a:t>※複数選択のため合計は
有効回答数を超える</a:t>
                      </a:r>
                    </a:p>
                  </a:txBody>
                  <a:tcPr/>
                </a:tc>
                <a:tc>
                  <a:txBody>
                    <a:bodyPr/>
                    <a:lstStyle/>
                    <a:p>
                      <a:pPr algn="ctr"/>
                      <a:r>
                        <a:rPr sz="950" b="1">
                          <a:solidFill>
                            <a:srgbClr val="262626"/>
                          </a:solidFill>
                          <a:latin typeface="游ゴシック"/>
                        </a:rPr>
                        <a:t/>
                      </a:r>
                    </a:p>
                  </a:txBody>
                  <a:tcPr/>
                </a:tc>
                <a:tc>
                  <a:txBody>
                    <a:bodyPr/>
                    <a:lstStyle/>
                    <a:p>
                      <a:pPr algn="ctr"/>
                      <a:r>
                        <a:rPr sz="950" b="1">
                          <a:solidFill>
                            <a:srgbClr val="262626"/>
                          </a:solidFill>
                          <a:latin typeface="游ゴシック"/>
                        </a:rPr>
                        <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有効回答数 n=289（複数選択可）</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Q15-1.  「実施していない」を選択した方の理由【自由記述】  (1/4)</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リハビリ対象の患者が高齢のため大半の患者が転倒リスクが高い</a:t>
                      </a:r>
                    </a:p>
                  </a:txBody>
                  <a:tcPr/>
                </a:tc>
              </a:tr>
              <a:tr h="303052">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各セラピストが評価を行い訓練を実施していますが、特定の評価を必須にはしてません。</a:t>
                      </a:r>
                    </a:p>
                  </a:txBody>
                  <a:tcPr>
                    <a:solidFill>
                      <a:srgbClr val="A8C4C7"/>
                    </a:solidFill>
                  </a:tcPr>
                </a:tc>
              </a:tr>
              <a:tr h="303052">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片脚立位等，各々で評価はしているが，施設して定められた評価は無い</a:t>
                      </a:r>
                    </a:p>
                  </a:txBody>
                  <a:tcPr/>
                </a:tc>
              </a:tr>
              <a:tr h="303052">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患者によって、必要な評価を選定して行っている。</a:t>
                      </a:r>
                    </a:p>
                  </a:txBody>
                  <a:tcPr>
                    <a:solidFill>
                      <a:srgbClr val="A8C4C7"/>
                    </a:solidFill>
                  </a:tcPr>
                </a:tc>
              </a:tr>
              <a:tr h="303052">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活動の一環としては評価は実施していない　各症例に必要な評価を実施している</a:t>
                      </a:r>
                    </a:p>
                  </a:txBody>
                  <a:tcPr/>
                </a:tc>
              </a:tr>
              <a:tr h="303052">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通常の評価として実施している</a:t>
                      </a:r>
                    </a:p>
                  </a:txBody>
                  <a:tcPr>
                    <a:solidFill>
                      <a:srgbClr val="A8C4C7"/>
                    </a:solidFill>
                  </a:tcPr>
                </a:tc>
              </a:tr>
              <a:tr h="303052">
                <a:tc>
                  <a:txBody>
                    <a:bodyPr/>
                    <a:lstStyle/>
                    <a:p>
                      <a:pPr algn="ctr"/>
                      <a:r>
                        <a:rPr sz="1000" b="0">
                          <a:solidFill>
                            <a:srgbClr val="262626"/>
                          </a:solidFill>
                          <a:latin typeface="游ゴシック"/>
                        </a:rPr>
                        <a:t>7</a:t>
                      </a:r>
                    </a:p>
                  </a:txBody>
                  <a:tcPr/>
                </a:tc>
                <a:tc>
                  <a:txBody>
                    <a:bodyPr/>
                    <a:lstStyle/>
                    <a:p>
                      <a:pPr algn="ctr"/>
                      <a:r>
                        <a:rPr sz="1000" b="1">
                          <a:solidFill>
                            <a:srgbClr val="262626"/>
                          </a:solidFill>
                          <a:latin typeface="游ゴシック"/>
                        </a:rPr>
                        <a:t>あえて、決まった評価は実施していない。必要性に応じて個別で実施。</a:t>
                      </a:r>
                    </a:p>
                  </a:txBody>
                  <a:tcPr/>
                </a:tc>
              </a:tr>
              <a:tr h="303052">
                <a:tc>
                  <a:txBody>
                    <a:bodyPr/>
                    <a:lstStyle/>
                    <a:p>
                      <a:pPr algn="ctr"/>
                      <a:r>
                        <a:rPr sz="1000" b="0">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FLS活動の一環として実施していないため。能力把握で評価はしている項目あり。</a:t>
                      </a:r>
                    </a:p>
                  </a:txBody>
                  <a:tcPr>
                    <a:solidFill>
                      <a:srgbClr val="A8C4C7"/>
                    </a:solidFill>
                  </a:tcPr>
                </a:tc>
              </a:tr>
              <a:tr h="303052">
                <a:tc>
                  <a:txBody>
                    <a:bodyPr/>
                    <a:lstStyle/>
                    <a:p>
                      <a:pPr algn="ctr"/>
                      <a:r>
                        <a:rPr sz="1000" b="0">
                          <a:solidFill>
                            <a:srgbClr val="262626"/>
                          </a:solidFill>
                          <a:latin typeface="游ゴシック"/>
                        </a:rPr>
                        <a:t>9</a:t>
                      </a:r>
                    </a:p>
                  </a:txBody>
                  <a:tcPr/>
                </a:tc>
                <a:tc>
                  <a:txBody>
                    <a:bodyPr/>
                    <a:lstStyle/>
                    <a:p>
                      <a:pPr algn="ctr"/>
                      <a:r>
                        <a:rPr sz="1000" b="1">
                          <a:solidFill>
                            <a:srgbClr val="262626"/>
                          </a:solidFill>
                          <a:latin typeface="游ゴシック"/>
                        </a:rPr>
                        <a:t>施設内で定めている評価はないが、FBS、TUG、FRIや環境調整などを適時スタッフが個別に実施している</a:t>
                      </a:r>
                    </a:p>
                  </a:txBody>
                  <a:tcPr/>
                </a:tc>
              </a:tr>
              <a:tr h="303052">
                <a:tc>
                  <a:txBody>
                    <a:bodyPr/>
                    <a:lstStyle/>
                    <a:p>
                      <a:pPr algn="ctr"/>
                      <a:r>
                        <a:rPr sz="1000" b="0">
                          <a:solidFill>
                            <a:srgbClr val="262626"/>
                          </a:solidFill>
                          <a:latin typeface="游ゴシック"/>
                        </a:rPr>
                        <a:t>10</a:t>
                      </a:r>
                    </a:p>
                  </a:txBody>
                  <a:tcPr>
                    <a:solidFill>
                      <a:srgbClr val="A8C4C7"/>
                    </a:solidFill>
                  </a:tcPr>
                </a:tc>
                <a:tc>
                  <a:txBody>
                    <a:bodyPr/>
                    <a:lstStyle/>
                    <a:p>
                      <a:pPr algn="ctr"/>
                      <a:r>
                        <a:rPr sz="1000" b="1">
                          <a:solidFill>
                            <a:srgbClr val="262626"/>
                          </a:solidFill>
                          <a:latin typeface="游ゴシック"/>
                        </a:rPr>
                        <a:t>必要があれば実施しているが、実施することが定められてはいない。</a:t>
                      </a:r>
                    </a:p>
                  </a:txBody>
                  <a:tcPr>
                    <a:solidFill>
                      <a:srgbClr val="A8C4C7"/>
                    </a:solidFill>
                  </a:tcPr>
                </a:tc>
              </a:tr>
              <a:tr h="303052">
                <a:tc>
                  <a:txBody>
                    <a:bodyPr/>
                    <a:lstStyle/>
                    <a:p>
                      <a:pPr algn="ctr"/>
                      <a:r>
                        <a:rPr sz="1000" b="0">
                          <a:solidFill>
                            <a:srgbClr val="262626"/>
                          </a:solidFill>
                          <a:latin typeface="游ゴシック"/>
                        </a:rPr>
                        <a:t>11</a:t>
                      </a:r>
                    </a:p>
                  </a:txBody>
                  <a:tcPr/>
                </a:tc>
                <a:tc>
                  <a:txBody>
                    <a:bodyPr/>
                    <a:lstStyle/>
                    <a:p>
                      <a:pPr algn="ctr"/>
                      <a:r>
                        <a:rPr sz="1000" b="1">
                          <a:solidFill>
                            <a:srgbClr val="262626"/>
                          </a:solidFill>
                          <a:latin typeface="游ゴシック"/>
                        </a:rPr>
                        <a:t>転棟があったケースについては原因確認し、対策を検討するがすべてのケースに決まった評価は実施できていない。</a:t>
                      </a:r>
                    </a:p>
                  </a:txBody>
                  <a:tcPr/>
                </a:tc>
              </a:tr>
              <a:tr h="303052">
                <a:tc>
                  <a:txBody>
                    <a:bodyPr/>
                    <a:lstStyle/>
                    <a:p>
                      <a:pPr algn="ctr"/>
                      <a:r>
                        <a:rPr sz="1000" b="0">
                          <a:solidFill>
                            <a:srgbClr val="262626"/>
                          </a:solidFill>
                          <a:latin typeface="游ゴシック"/>
                        </a:rPr>
                        <a:t>12</a:t>
                      </a:r>
                    </a:p>
                  </a:txBody>
                  <a:tcPr>
                    <a:solidFill>
                      <a:srgbClr val="A8C4C7"/>
                    </a:solidFill>
                  </a:tcPr>
                </a:tc>
                <a:tc>
                  <a:txBody>
                    <a:bodyPr/>
                    <a:lstStyle/>
                    <a:p>
                      <a:pPr algn="ctr"/>
                      <a:r>
                        <a:rPr sz="1000" b="1">
                          <a:solidFill>
                            <a:srgbClr val="262626"/>
                          </a:solidFill>
                          <a:latin typeface="游ゴシック"/>
                        </a:rPr>
                        <a:t>組織的活動を実施していない。存じあげなかった。</a:t>
                      </a:r>
                    </a:p>
                  </a:txBody>
                  <a:tcPr>
                    <a:solidFill>
                      <a:srgbClr val="A8C4C7"/>
                    </a:solidFill>
                  </a:tcPr>
                </a:tc>
              </a:tr>
              <a:tr h="303052">
                <a:tc>
                  <a:txBody>
                    <a:bodyPr/>
                    <a:lstStyle/>
                    <a:p>
                      <a:pPr algn="ctr"/>
                      <a:r>
                        <a:rPr sz="1000" b="0">
                          <a:solidFill>
                            <a:srgbClr val="262626"/>
                          </a:solidFill>
                          <a:latin typeface="游ゴシック"/>
                        </a:rPr>
                        <a:t>13</a:t>
                      </a:r>
                    </a:p>
                  </a:txBody>
                  <a:tcPr/>
                </a:tc>
                <a:tc>
                  <a:txBody>
                    <a:bodyPr/>
                    <a:lstStyle/>
                    <a:p>
                      <a:pPr algn="ctr"/>
                      <a:r>
                        <a:rPr sz="1000" b="1">
                          <a:solidFill>
                            <a:srgbClr val="262626"/>
                          </a:solidFill>
                          <a:latin typeface="游ゴシック"/>
                        </a:rPr>
                        <a:t>各担当療法士が患者の状態やADLに合わせて適宜転倒リスク評価を行っていました。</a:t>
                      </a:r>
                    </a:p>
                  </a:txBody>
                  <a:tcPr/>
                </a:tc>
              </a:tr>
              <a:tr h="303052">
                <a:tc>
                  <a:txBody>
                    <a:bodyPr/>
                    <a:lstStyle/>
                    <a:p>
                      <a:pPr algn="ctr"/>
                      <a:r>
                        <a:rPr sz="1000" b="0">
                          <a:solidFill>
                            <a:srgbClr val="262626"/>
                          </a:solidFill>
                          <a:latin typeface="游ゴシック"/>
                        </a:rPr>
                        <a:t>14</a:t>
                      </a:r>
                    </a:p>
                  </a:txBody>
                  <a:tcPr>
                    <a:solidFill>
                      <a:srgbClr val="A8C4C7"/>
                    </a:solidFill>
                  </a:tcPr>
                </a:tc>
                <a:tc>
                  <a:txBody>
                    <a:bodyPr/>
                    <a:lstStyle/>
                    <a:p>
                      <a:pPr algn="ctr"/>
                      <a:r>
                        <a:rPr sz="1000" b="1">
                          <a:solidFill>
                            <a:srgbClr val="262626"/>
                          </a:solidFill>
                          <a:latin typeface="游ゴシック"/>
                        </a:rPr>
                        <a:t>「施設内で定められている」ではなく、患者の状況により判断している</a:t>
                      </a:r>
                    </a:p>
                  </a:txBody>
                  <a:tcPr>
                    <a:solidFill>
                      <a:srgbClr val="A8C4C7"/>
                    </a:solidFill>
                  </a:tcPr>
                </a:tc>
              </a:tr>
              <a:tr h="303052">
                <a:tc>
                  <a:txBody>
                    <a:bodyPr/>
                    <a:lstStyle/>
                    <a:p>
                      <a:pPr algn="ctr"/>
                      <a:r>
                        <a:rPr sz="1000" b="0">
                          <a:solidFill>
                            <a:srgbClr val="262626"/>
                          </a:solidFill>
                          <a:latin typeface="游ゴシック"/>
                        </a:rPr>
                        <a:t>15</a:t>
                      </a:r>
                    </a:p>
                  </a:txBody>
                  <a:tcPr/>
                </a:tc>
                <a:tc>
                  <a:txBody>
                    <a:bodyPr/>
                    <a:lstStyle/>
                    <a:p>
                      <a:pPr algn="ctr"/>
                      <a:r>
                        <a:rPr sz="1000" b="1">
                          <a:solidFill>
                            <a:srgbClr val="262626"/>
                          </a:solidFill>
                          <a:latin typeface="游ゴシック"/>
                        </a:rPr>
                        <a:t>特に決まりがない為</a:t>
                      </a:r>
                    </a:p>
                  </a:txBody>
                  <a:tcPr/>
                </a:tc>
              </a:tr>
              <a:tr h="303052">
                <a:tc>
                  <a:txBody>
                    <a:bodyPr/>
                    <a:lstStyle/>
                    <a:p>
                      <a:pPr algn="ctr"/>
                      <a:r>
                        <a:rPr sz="1000" b="0">
                          <a:solidFill>
                            <a:srgbClr val="262626"/>
                          </a:solidFill>
                          <a:latin typeface="游ゴシック"/>
                        </a:rPr>
                        <a:t>16</a:t>
                      </a:r>
                    </a:p>
                  </a:txBody>
                  <a:tcPr>
                    <a:solidFill>
                      <a:srgbClr val="A8C4C7"/>
                    </a:solidFill>
                  </a:tcPr>
                </a:tc>
                <a:tc>
                  <a:txBody>
                    <a:bodyPr/>
                    <a:lstStyle/>
                    <a:p>
                      <a:pPr algn="ctr"/>
                      <a:r>
                        <a:rPr sz="1000" b="1">
                          <a:solidFill>
                            <a:srgbClr val="262626"/>
                          </a:solidFill>
                          <a:latin typeface="游ゴシック"/>
                        </a:rPr>
                        <a:t>理学療法士、作業療法士が個々に実施しており、FLS活動の一環としては行なっていません</a:t>
                      </a:r>
                    </a:p>
                  </a:txBody>
                  <a:tcPr>
                    <a:solidFill>
                      <a:srgbClr val="A8C4C7"/>
                    </a:solidFill>
                  </a:tcPr>
                </a:tc>
              </a:tr>
              <a:tr h="303052">
                <a:tc>
                  <a:txBody>
                    <a:bodyPr/>
                    <a:lstStyle/>
                    <a:p>
                      <a:pPr algn="ctr"/>
                      <a:r>
                        <a:rPr sz="1000" b="0">
                          <a:solidFill>
                            <a:srgbClr val="262626"/>
                          </a:solidFill>
                          <a:latin typeface="游ゴシック"/>
                        </a:rPr>
                        <a:t>17</a:t>
                      </a:r>
                    </a:p>
                  </a:txBody>
                  <a:tcPr/>
                </a:tc>
                <a:tc>
                  <a:txBody>
                    <a:bodyPr/>
                    <a:lstStyle/>
                    <a:p>
                      <a:pPr algn="ctr"/>
                      <a:r>
                        <a:rPr sz="1000" b="1">
                          <a:solidFill>
                            <a:srgbClr val="262626"/>
                          </a:solidFill>
                          <a:latin typeface="游ゴシック"/>
                        </a:rPr>
                        <a:t>FLS活動の一環として実施することを定めた評価はない。FLSに関係なく転倒リスクの評価は行っているが、何を行うかは個々の判断にゆだねられている。</a:t>
                      </a:r>
                    </a:p>
                  </a:txBody>
                  <a:tcPr/>
                </a:tc>
              </a:tr>
              <a:tr h="303052">
                <a:tc>
                  <a:txBody>
                    <a:bodyPr/>
                    <a:lstStyle/>
                    <a:p>
                      <a:pPr algn="ctr"/>
                      <a:r>
                        <a:rPr sz="1000" b="0">
                          <a:solidFill>
                            <a:srgbClr val="262626"/>
                          </a:solidFill>
                          <a:latin typeface="游ゴシック"/>
                        </a:rPr>
                        <a:t>18</a:t>
                      </a:r>
                    </a:p>
                  </a:txBody>
                  <a:tcPr>
                    <a:solidFill>
                      <a:srgbClr val="A8C4C7"/>
                    </a:solidFill>
                  </a:tcPr>
                </a:tc>
                <a:tc>
                  <a:txBody>
                    <a:bodyPr/>
                    <a:lstStyle/>
                    <a:p>
                      <a:pPr algn="ctr"/>
                      <a:r>
                        <a:rPr sz="1000" b="1">
                          <a:solidFill>
                            <a:srgbClr val="262626"/>
                          </a:solidFill>
                          <a:latin typeface="游ゴシック"/>
                        </a:rPr>
                        <a:t>転倒リスクの評価を当院では看護師が行うこととなっている。行っている評価はあるが、あえて転倒リスク評価としては行っていない。</a:t>
                      </a:r>
                    </a:p>
                  </a:txBody>
                  <a:tcPr>
                    <a:solidFill>
                      <a:srgbClr val="A8C4C7"/>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Q15-1.  「実施していない」を選択した方の理由【自由記述】  (2/4)</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19</a:t>
                      </a:r>
                    </a:p>
                  </a:txBody>
                  <a:tcPr/>
                </a:tc>
                <a:tc>
                  <a:txBody>
                    <a:bodyPr/>
                    <a:lstStyle/>
                    <a:p>
                      <a:pPr algn="ctr"/>
                      <a:r>
                        <a:rPr sz="1000" b="1">
                          <a:solidFill>
                            <a:srgbClr val="262626"/>
                          </a:solidFill>
                          <a:latin typeface="游ゴシック"/>
                        </a:rPr>
                        <a:t>決まった評価項目を設けていない</a:t>
                      </a:r>
                    </a:p>
                  </a:txBody>
                  <a:tcPr/>
                </a:tc>
              </a:tr>
              <a:tr h="303052">
                <a:tc>
                  <a:txBody>
                    <a:bodyPr/>
                    <a:lstStyle/>
                    <a:p>
                      <a:pPr algn="ctr"/>
                      <a:r>
                        <a:rPr sz="1000" b="0">
                          <a:solidFill>
                            <a:srgbClr val="262626"/>
                          </a:solidFill>
                          <a:latin typeface="游ゴシック"/>
                        </a:rPr>
                        <a:t>20</a:t>
                      </a:r>
                    </a:p>
                  </a:txBody>
                  <a:tcPr>
                    <a:solidFill>
                      <a:srgbClr val="A8C4C7"/>
                    </a:solidFill>
                  </a:tcPr>
                </a:tc>
                <a:tc>
                  <a:txBody>
                    <a:bodyPr/>
                    <a:lstStyle/>
                    <a:p>
                      <a:pPr algn="ctr"/>
                      <a:r>
                        <a:rPr sz="1000" b="1">
                          <a:solidFill>
                            <a:srgbClr val="262626"/>
                          </a:solidFill>
                          <a:latin typeface="游ゴシック"/>
                        </a:rPr>
                        <a:t>職場としての取り組みはないが、担当者の判断で実施することがある</a:t>
                      </a:r>
                    </a:p>
                  </a:txBody>
                  <a:tcPr>
                    <a:solidFill>
                      <a:srgbClr val="A8C4C7"/>
                    </a:solidFill>
                  </a:tcPr>
                </a:tc>
              </a:tr>
              <a:tr h="303052">
                <a:tc>
                  <a:txBody>
                    <a:bodyPr/>
                    <a:lstStyle/>
                    <a:p>
                      <a:pPr algn="ctr"/>
                      <a:r>
                        <a:rPr sz="1000" b="0">
                          <a:solidFill>
                            <a:srgbClr val="262626"/>
                          </a:solidFill>
                          <a:latin typeface="游ゴシック"/>
                        </a:rPr>
                        <a:t>21</a:t>
                      </a:r>
                    </a:p>
                  </a:txBody>
                  <a:tcPr/>
                </a:tc>
                <a:tc>
                  <a:txBody>
                    <a:bodyPr/>
                    <a:lstStyle/>
                    <a:p>
                      <a:pPr algn="ctr"/>
                      <a:r>
                        <a:rPr sz="1000" b="1">
                          <a:solidFill>
                            <a:srgbClr val="262626"/>
                          </a:solidFill>
                          <a:latin typeface="游ゴシック"/>
                        </a:rPr>
                        <a:t>施設としての定めではなく、FLS個人活動としてSPPB、10ｍ歩行テストなどを実施している。</a:t>
                      </a:r>
                    </a:p>
                  </a:txBody>
                  <a:tcPr/>
                </a:tc>
              </a:tr>
              <a:tr h="303052">
                <a:tc>
                  <a:txBody>
                    <a:bodyPr/>
                    <a:lstStyle/>
                    <a:p>
                      <a:pPr algn="ctr"/>
                      <a:r>
                        <a:rPr sz="1000" b="0">
                          <a:solidFill>
                            <a:srgbClr val="262626"/>
                          </a:solidFill>
                          <a:latin typeface="游ゴシック"/>
                        </a:rPr>
                        <a:t>22</a:t>
                      </a:r>
                    </a:p>
                  </a:txBody>
                  <a:tcPr>
                    <a:solidFill>
                      <a:srgbClr val="A8C4C7"/>
                    </a:solidFill>
                  </a:tcPr>
                </a:tc>
                <a:tc>
                  <a:txBody>
                    <a:bodyPr/>
                    <a:lstStyle/>
                    <a:p>
                      <a:pPr algn="ctr"/>
                      <a:r>
                        <a:rPr sz="1000" b="1">
                          <a:solidFill>
                            <a:srgbClr val="262626"/>
                          </a:solidFill>
                          <a:latin typeface="游ゴシック"/>
                        </a:rPr>
                        <a:t>理由は特にありません。</a:t>
                      </a:r>
                    </a:p>
                  </a:txBody>
                  <a:tcPr>
                    <a:solidFill>
                      <a:srgbClr val="A8C4C7"/>
                    </a:solidFill>
                  </a:tcPr>
                </a:tc>
              </a:tr>
              <a:tr h="303052">
                <a:tc>
                  <a:txBody>
                    <a:bodyPr/>
                    <a:lstStyle/>
                    <a:p>
                      <a:pPr algn="ctr"/>
                      <a:r>
                        <a:rPr sz="1000" b="0">
                          <a:solidFill>
                            <a:srgbClr val="262626"/>
                          </a:solidFill>
                          <a:latin typeface="游ゴシック"/>
                        </a:rPr>
                        <a:t>23</a:t>
                      </a:r>
                    </a:p>
                  </a:txBody>
                  <a:tcPr/>
                </a:tc>
                <a:tc>
                  <a:txBody>
                    <a:bodyPr/>
                    <a:lstStyle/>
                    <a:p>
                      <a:pPr algn="ctr"/>
                      <a:r>
                        <a:rPr sz="1000" b="1">
                          <a:solidFill>
                            <a:srgbClr val="262626"/>
                          </a:solidFill>
                          <a:latin typeface="游ゴシック"/>
                        </a:rPr>
                        <a:t>看護部門にて実施されているため</a:t>
                      </a:r>
                    </a:p>
                  </a:txBody>
                  <a:tcPr/>
                </a:tc>
              </a:tr>
              <a:tr h="303052">
                <a:tc>
                  <a:txBody>
                    <a:bodyPr/>
                    <a:lstStyle/>
                    <a:p>
                      <a:pPr algn="ctr"/>
                      <a:r>
                        <a:rPr sz="1000" b="0">
                          <a:solidFill>
                            <a:srgbClr val="262626"/>
                          </a:solidFill>
                          <a:latin typeface="游ゴシック"/>
                        </a:rPr>
                        <a:t>24</a:t>
                      </a:r>
                    </a:p>
                  </a:txBody>
                  <a:tcPr>
                    <a:solidFill>
                      <a:srgbClr val="A8C4C7"/>
                    </a:solidFill>
                  </a:tcPr>
                </a:tc>
                <a:tc>
                  <a:txBody>
                    <a:bodyPr/>
                    <a:lstStyle/>
                    <a:p>
                      <a:pPr algn="ctr"/>
                      <a:r>
                        <a:rPr sz="1000" b="1">
                          <a:solidFill>
                            <a:srgbClr val="262626"/>
                          </a:solidFill>
                          <a:latin typeface="游ゴシック"/>
                        </a:rPr>
                        <a:t>院内で定められているものはない</a:t>
                      </a:r>
                    </a:p>
                  </a:txBody>
                  <a:tcPr>
                    <a:solidFill>
                      <a:srgbClr val="A8C4C7"/>
                    </a:solidFill>
                  </a:tcPr>
                </a:tc>
              </a:tr>
              <a:tr h="303052">
                <a:tc>
                  <a:txBody>
                    <a:bodyPr/>
                    <a:lstStyle/>
                    <a:p>
                      <a:pPr algn="ctr"/>
                      <a:r>
                        <a:rPr sz="1000" b="0">
                          <a:solidFill>
                            <a:srgbClr val="262626"/>
                          </a:solidFill>
                          <a:latin typeface="游ゴシック"/>
                        </a:rPr>
                        <a:t>25</a:t>
                      </a:r>
                    </a:p>
                  </a:txBody>
                  <a:tcPr/>
                </a:tc>
                <a:tc>
                  <a:txBody>
                    <a:bodyPr/>
                    <a:lstStyle/>
                    <a:p>
                      <a:pPr algn="ctr"/>
                      <a:r>
                        <a:rPr sz="1000" b="1">
                          <a:solidFill>
                            <a:srgbClr val="262626"/>
                          </a:solidFill>
                          <a:latin typeface="游ゴシック"/>
                        </a:rPr>
                        <a:t>転倒転落カンファレンスは実施しているが、FLS活動としては機能していないため</a:t>
                      </a:r>
                    </a:p>
                  </a:txBody>
                  <a:tcPr/>
                </a:tc>
              </a:tr>
              <a:tr h="303052">
                <a:tc>
                  <a:txBody>
                    <a:bodyPr/>
                    <a:lstStyle/>
                    <a:p>
                      <a:pPr algn="ctr"/>
                      <a:r>
                        <a:rPr sz="1000" b="0">
                          <a:solidFill>
                            <a:srgbClr val="262626"/>
                          </a:solidFill>
                          <a:latin typeface="游ゴシック"/>
                        </a:rPr>
                        <a:t>26</a:t>
                      </a:r>
                    </a:p>
                  </a:txBody>
                  <a:tcPr>
                    <a:solidFill>
                      <a:srgbClr val="A8C4C7"/>
                    </a:solidFill>
                  </a:tcPr>
                </a:tc>
                <a:tc>
                  <a:txBody>
                    <a:bodyPr/>
                    <a:lstStyle/>
                    <a:p>
                      <a:pPr algn="ctr"/>
                      <a:r>
                        <a:rPr sz="1000" b="1">
                          <a:solidFill>
                            <a:srgbClr val="262626"/>
                          </a:solidFill>
                          <a:latin typeface="游ゴシック"/>
                        </a:rPr>
                        <a:t>FLS活動をまだ行っていないため</a:t>
                      </a:r>
                    </a:p>
                  </a:txBody>
                  <a:tcPr>
                    <a:solidFill>
                      <a:srgbClr val="A8C4C7"/>
                    </a:solidFill>
                  </a:tcPr>
                </a:tc>
              </a:tr>
              <a:tr h="303052">
                <a:tc>
                  <a:txBody>
                    <a:bodyPr/>
                    <a:lstStyle/>
                    <a:p>
                      <a:pPr algn="ctr"/>
                      <a:r>
                        <a:rPr sz="1000" b="0">
                          <a:solidFill>
                            <a:srgbClr val="262626"/>
                          </a:solidFill>
                          <a:latin typeface="游ゴシック"/>
                        </a:rPr>
                        <a:t>27</a:t>
                      </a:r>
                    </a:p>
                  </a:txBody>
                  <a:tcPr/>
                </a:tc>
                <a:tc>
                  <a:txBody>
                    <a:bodyPr/>
                    <a:lstStyle/>
                    <a:p>
                      <a:pPr algn="ctr"/>
                      <a:r>
                        <a:rPr sz="1000" b="1">
                          <a:solidFill>
                            <a:srgbClr val="262626"/>
                          </a:solidFill>
                          <a:latin typeface="游ゴシック"/>
                        </a:rPr>
                        <a:t>活動を行っていない</a:t>
                      </a:r>
                    </a:p>
                  </a:txBody>
                  <a:tcPr/>
                </a:tc>
              </a:tr>
              <a:tr h="303052">
                <a:tc>
                  <a:txBody>
                    <a:bodyPr/>
                    <a:lstStyle/>
                    <a:p>
                      <a:pPr algn="ctr"/>
                      <a:r>
                        <a:rPr sz="1000" b="0">
                          <a:solidFill>
                            <a:srgbClr val="262626"/>
                          </a:solidFill>
                          <a:latin typeface="游ゴシック"/>
                        </a:rPr>
                        <a:t>28</a:t>
                      </a:r>
                    </a:p>
                  </a:txBody>
                  <a:tcPr>
                    <a:solidFill>
                      <a:srgbClr val="A8C4C7"/>
                    </a:solidFill>
                  </a:tcPr>
                </a:tc>
                <a:tc>
                  <a:txBody>
                    <a:bodyPr/>
                    <a:lstStyle/>
                    <a:p>
                      <a:pPr algn="ctr"/>
                      <a:r>
                        <a:rPr sz="1000" b="1">
                          <a:solidFill>
                            <a:srgbClr val="262626"/>
                          </a:solidFill>
                          <a:latin typeface="游ゴシック"/>
                        </a:rPr>
                        <a:t>基準を設けていない</a:t>
                      </a:r>
                    </a:p>
                  </a:txBody>
                  <a:tcPr>
                    <a:solidFill>
                      <a:srgbClr val="A8C4C7"/>
                    </a:solidFill>
                  </a:tcPr>
                </a:tc>
              </a:tr>
              <a:tr h="303052">
                <a:tc>
                  <a:txBody>
                    <a:bodyPr/>
                    <a:lstStyle/>
                    <a:p>
                      <a:pPr algn="ctr"/>
                      <a:r>
                        <a:rPr sz="1000" b="0">
                          <a:solidFill>
                            <a:srgbClr val="262626"/>
                          </a:solidFill>
                          <a:latin typeface="游ゴシック"/>
                        </a:rPr>
                        <a:t>29</a:t>
                      </a:r>
                    </a:p>
                  </a:txBody>
                  <a:tcPr/>
                </a:tc>
                <a:tc>
                  <a:txBody>
                    <a:bodyPr/>
                    <a:lstStyle/>
                    <a:p>
                      <a:pPr algn="ctr"/>
                      <a:r>
                        <a:rPr sz="1000" b="1">
                          <a:solidFill>
                            <a:srgbClr val="262626"/>
                          </a:solidFill>
                          <a:latin typeface="游ゴシック"/>
                        </a:rPr>
                        <a:t>現状は個々のセラピストが評価を行っており、定められた評価は行っていない。</a:t>
                      </a:r>
                    </a:p>
                  </a:txBody>
                  <a:tcPr/>
                </a:tc>
              </a:tr>
              <a:tr h="303052">
                <a:tc>
                  <a:txBody>
                    <a:bodyPr/>
                    <a:lstStyle/>
                    <a:p>
                      <a:pPr algn="ctr"/>
                      <a:r>
                        <a:rPr sz="1000" b="0">
                          <a:solidFill>
                            <a:srgbClr val="262626"/>
                          </a:solidFill>
                          <a:latin typeface="游ゴシック"/>
                        </a:rPr>
                        <a:t>30</a:t>
                      </a:r>
                    </a:p>
                  </a:txBody>
                  <a:tcPr>
                    <a:solidFill>
                      <a:srgbClr val="A8C4C7"/>
                    </a:solidFill>
                  </a:tcPr>
                </a:tc>
                <a:tc>
                  <a:txBody>
                    <a:bodyPr/>
                    <a:lstStyle/>
                    <a:p>
                      <a:pPr algn="ctr"/>
                      <a:r>
                        <a:rPr sz="1000" b="1">
                          <a:solidFill>
                            <a:srgbClr val="262626"/>
                          </a:solidFill>
                          <a:latin typeface="游ゴシック"/>
                        </a:rPr>
                        <a:t>部内ではしているが、施設内の定めはない</a:t>
                      </a:r>
                    </a:p>
                  </a:txBody>
                  <a:tcPr>
                    <a:solidFill>
                      <a:srgbClr val="A8C4C7"/>
                    </a:solidFill>
                  </a:tcPr>
                </a:tc>
              </a:tr>
              <a:tr h="303052">
                <a:tc>
                  <a:txBody>
                    <a:bodyPr/>
                    <a:lstStyle/>
                    <a:p>
                      <a:pPr algn="ctr"/>
                      <a:r>
                        <a:rPr sz="1000" b="0">
                          <a:solidFill>
                            <a:srgbClr val="262626"/>
                          </a:solidFill>
                          <a:latin typeface="游ゴシック"/>
                        </a:rPr>
                        <a:t>31</a:t>
                      </a:r>
                    </a:p>
                  </a:txBody>
                  <a:tcPr/>
                </a:tc>
                <a:tc>
                  <a:txBody>
                    <a:bodyPr/>
                    <a:lstStyle/>
                    <a:p>
                      <a:pPr algn="ctr"/>
                      <a:r>
                        <a:rPr sz="1000" b="1">
                          <a:solidFill>
                            <a:srgbClr val="262626"/>
                          </a:solidFill>
                          <a:latin typeface="游ゴシック"/>
                        </a:rPr>
                        <a:t>FLS活動の一環としては実施していないが、通常の理学療法の一環としては実施している項目はある</a:t>
                      </a:r>
                    </a:p>
                  </a:txBody>
                  <a:tcPr/>
                </a:tc>
              </a:tr>
              <a:tr h="303052">
                <a:tc>
                  <a:txBody>
                    <a:bodyPr/>
                    <a:lstStyle/>
                    <a:p>
                      <a:pPr algn="ctr"/>
                      <a:r>
                        <a:rPr sz="1000" b="0">
                          <a:solidFill>
                            <a:srgbClr val="262626"/>
                          </a:solidFill>
                          <a:latin typeface="游ゴシック"/>
                        </a:rPr>
                        <a:t>32</a:t>
                      </a:r>
                    </a:p>
                  </a:txBody>
                  <a:tcPr>
                    <a:solidFill>
                      <a:srgbClr val="A8C4C7"/>
                    </a:solidFill>
                  </a:tcPr>
                </a:tc>
                <a:tc>
                  <a:txBody>
                    <a:bodyPr/>
                    <a:lstStyle/>
                    <a:p>
                      <a:pPr algn="ctr"/>
                      <a:r>
                        <a:rPr sz="1000" b="1">
                          <a:solidFill>
                            <a:srgbClr val="262626"/>
                          </a:solidFill>
                          <a:latin typeface="游ゴシック"/>
                        </a:rPr>
                        <a:t>施設内での定義なし</a:t>
                      </a:r>
                    </a:p>
                  </a:txBody>
                  <a:tcPr>
                    <a:solidFill>
                      <a:srgbClr val="A8C4C7"/>
                    </a:solidFill>
                  </a:tcPr>
                </a:tc>
              </a:tr>
              <a:tr h="303052">
                <a:tc>
                  <a:txBody>
                    <a:bodyPr/>
                    <a:lstStyle/>
                    <a:p>
                      <a:pPr algn="ctr"/>
                      <a:r>
                        <a:rPr sz="1000" b="0">
                          <a:solidFill>
                            <a:srgbClr val="262626"/>
                          </a:solidFill>
                          <a:latin typeface="游ゴシック"/>
                        </a:rPr>
                        <a:t>33</a:t>
                      </a:r>
                    </a:p>
                  </a:txBody>
                  <a:tcPr/>
                </a:tc>
                <a:tc>
                  <a:txBody>
                    <a:bodyPr/>
                    <a:lstStyle/>
                    <a:p>
                      <a:pPr algn="ctr"/>
                      <a:r>
                        <a:rPr sz="1000" b="1">
                          <a:solidFill>
                            <a:srgbClr val="262626"/>
                          </a:solidFill>
                          <a:latin typeface="游ゴシック"/>
                        </a:rPr>
                        <a:t>施設内で取り決めされていない。</a:t>
                      </a:r>
                    </a:p>
                  </a:txBody>
                  <a:tcPr/>
                </a:tc>
              </a:tr>
              <a:tr h="303052">
                <a:tc>
                  <a:txBody>
                    <a:bodyPr/>
                    <a:lstStyle/>
                    <a:p>
                      <a:pPr algn="ctr"/>
                      <a:r>
                        <a:rPr sz="1000" b="0">
                          <a:solidFill>
                            <a:srgbClr val="262626"/>
                          </a:solidFill>
                          <a:latin typeface="游ゴシック"/>
                        </a:rPr>
                        <a:t>34</a:t>
                      </a:r>
                    </a:p>
                  </a:txBody>
                  <a:tcPr>
                    <a:solidFill>
                      <a:srgbClr val="A8C4C7"/>
                    </a:solidFill>
                  </a:tcPr>
                </a:tc>
                <a:tc>
                  <a:txBody>
                    <a:bodyPr/>
                    <a:lstStyle/>
                    <a:p>
                      <a:pPr algn="ctr"/>
                      <a:r>
                        <a:rPr sz="1000" b="1">
                          <a:solidFill>
                            <a:srgbClr val="262626"/>
                          </a:solidFill>
                          <a:latin typeface="游ゴシック"/>
                        </a:rPr>
                        <a:t>FLS活動の一環として実施しているわけではない。実施項目は該当するものあり。</a:t>
                      </a:r>
                    </a:p>
                  </a:txBody>
                  <a:tcPr>
                    <a:solidFill>
                      <a:srgbClr val="A8C4C7"/>
                    </a:solidFill>
                  </a:tcPr>
                </a:tc>
              </a:tr>
              <a:tr h="303052">
                <a:tc>
                  <a:txBody>
                    <a:bodyPr/>
                    <a:lstStyle/>
                    <a:p>
                      <a:pPr algn="ctr"/>
                      <a:r>
                        <a:rPr sz="1000" b="0">
                          <a:solidFill>
                            <a:srgbClr val="262626"/>
                          </a:solidFill>
                          <a:latin typeface="游ゴシック"/>
                        </a:rPr>
                        <a:t>35</a:t>
                      </a:r>
                    </a:p>
                  </a:txBody>
                  <a:tcPr/>
                </a:tc>
                <a:tc>
                  <a:txBody>
                    <a:bodyPr/>
                    <a:lstStyle/>
                    <a:p>
                      <a:pPr algn="ctr"/>
                      <a:r>
                        <a:rPr sz="1000" b="1">
                          <a:solidFill>
                            <a:srgbClr val="262626"/>
                          </a:solidFill>
                          <a:latin typeface="游ゴシック"/>
                        </a:rPr>
                        <a:t>理由なし</a:t>
                      </a:r>
                    </a:p>
                  </a:txBody>
                  <a:tcPr/>
                </a:tc>
              </a:tr>
              <a:tr h="303052">
                <a:tc>
                  <a:txBody>
                    <a:bodyPr/>
                    <a:lstStyle/>
                    <a:p>
                      <a:pPr algn="ctr"/>
                      <a:r>
                        <a:rPr sz="1000" b="0">
                          <a:solidFill>
                            <a:srgbClr val="262626"/>
                          </a:solidFill>
                          <a:latin typeface="游ゴシック"/>
                        </a:rPr>
                        <a:t>36</a:t>
                      </a:r>
                    </a:p>
                  </a:txBody>
                  <a:tcPr>
                    <a:solidFill>
                      <a:srgbClr val="A8C4C7"/>
                    </a:solidFill>
                  </a:tcPr>
                </a:tc>
                <a:tc>
                  <a:txBody>
                    <a:bodyPr/>
                    <a:lstStyle/>
                    <a:p>
                      <a:pPr algn="ctr"/>
                      <a:r>
                        <a:rPr sz="1000" b="1">
                          <a:solidFill>
                            <a:srgbClr val="262626"/>
                          </a:solidFill>
                          <a:latin typeface="游ゴシック"/>
                        </a:rPr>
                        <a:t>定めていないが、各個人の判断で適宜実施している</a:t>
                      </a:r>
                    </a:p>
                  </a:txBody>
                  <a:tcPr>
                    <a:solidFill>
                      <a:srgbClr val="A8C4C7"/>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Q15-1.  「実施していない」を選択した方の理由【自由記述】  (3/4)</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37</a:t>
                      </a:r>
                    </a:p>
                  </a:txBody>
                  <a:tcPr/>
                </a:tc>
                <a:tc>
                  <a:txBody>
                    <a:bodyPr/>
                    <a:lstStyle/>
                    <a:p>
                      <a:pPr algn="ctr"/>
                      <a:r>
                        <a:rPr sz="1000" b="1">
                          <a:solidFill>
                            <a:srgbClr val="262626"/>
                          </a:solidFill>
                          <a:latin typeface="游ゴシック"/>
                        </a:rPr>
                        <a:t>各スタッフ理学療法としての評価は実施しているがＦＬＳの一環としては実施していない。ＦＬＳとしては患者教育（再発予防）を実施している。</a:t>
                      </a:r>
                    </a:p>
                  </a:txBody>
                  <a:tcPr/>
                </a:tc>
              </a:tr>
              <a:tr h="303052">
                <a:tc>
                  <a:txBody>
                    <a:bodyPr/>
                    <a:lstStyle/>
                    <a:p>
                      <a:pPr algn="ctr"/>
                      <a:r>
                        <a:rPr sz="1000" b="0">
                          <a:solidFill>
                            <a:srgbClr val="262626"/>
                          </a:solidFill>
                          <a:latin typeface="游ゴシック"/>
                        </a:rPr>
                        <a:t>38</a:t>
                      </a:r>
                    </a:p>
                  </a:txBody>
                  <a:tcPr>
                    <a:solidFill>
                      <a:srgbClr val="A8C4C7"/>
                    </a:solidFill>
                  </a:tcPr>
                </a:tc>
                <a:tc>
                  <a:txBody>
                    <a:bodyPr/>
                    <a:lstStyle/>
                    <a:p>
                      <a:pPr algn="ctr"/>
                      <a:r>
                        <a:rPr sz="1000" b="1">
                          <a:solidFill>
                            <a:srgbClr val="262626"/>
                          </a:solidFill>
                          <a:latin typeface="游ゴシック"/>
                        </a:rPr>
                        <a:t>患者ごとに情報収集するため、一律の評価は行っていない</a:t>
                      </a:r>
                    </a:p>
                  </a:txBody>
                  <a:tcPr>
                    <a:solidFill>
                      <a:srgbClr val="A8C4C7"/>
                    </a:solidFill>
                  </a:tcPr>
                </a:tc>
              </a:tr>
              <a:tr h="303052">
                <a:tc>
                  <a:txBody>
                    <a:bodyPr/>
                    <a:lstStyle/>
                    <a:p>
                      <a:pPr algn="ctr"/>
                      <a:r>
                        <a:rPr sz="1000" b="0">
                          <a:solidFill>
                            <a:srgbClr val="262626"/>
                          </a:solidFill>
                          <a:latin typeface="游ゴシック"/>
                        </a:rPr>
                        <a:t>39</a:t>
                      </a:r>
                    </a:p>
                  </a:txBody>
                  <a:tcPr/>
                </a:tc>
                <a:tc>
                  <a:txBody>
                    <a:bodyPr/>
                    <a:lstStyle/>
                    <a:p>
                      <a:pPr algn="ctr"/>
                      <a:r>
                        <a:rPr sz="1000" b="1">
                          <a:solidFill>
                            <a:srgbClr val="262626"/>
                          </a:solidFill>
                          <a:latin typeface="游ゴシック"/>
                        </a:rPr>
                        <a:t>明確なFLS活動がない</a:t>
                      </a:r>
                    </a:p>
                  </a:txBody>
                  <a:tcPr/>
                </a:tc>
              </a:tr>
              <a:tr h="303052">
                <a:tc>
                  <a:txBody>
                    <a:bodyPr/>
                    <a:lstStyle/>
                    <a:p>
                      <a:pPr algn="ctr"/>
                      <a:r>
                        <a:rPr sz="1000" b="0">
                          <a:solidFill>
                            <a:srgbClr val="262626"/>
                          </a:solidFill>
                          <a:latin typeface="游ゴシック"/>
                        </a:rPr>
                        <a:t>40</a:t>
                      </a:r>
                    </a:p>
                  </a:txBody>
                  <a:tcPr>
                    <a:solidFill>
                      <a:srgbClr val="A8C4C7"/>
                    </a:solidFill>
                  </a:tcPr>
                </a:tc>
                <a:tc>
                  <a:txBody>
                    <a:bodyPr/>
                    <a:lstStyle/>
                    <a:p>
                      <a:pPr algn="ctr"/>
                      <a:r>
                        <a:rPr sz="1000" b="1">
                          <a:solidFill>
                            <a:srgbClr val="262626"/>
                          </a:solidFill>
                          <a:latin typeface="游ゴシック"/>
                        </a:rPr>
                        <a:t>術後は定期検査としては指定していない、各自評価による</a:t>
                      </a:r>
                    </a:p>
                  </a:txBody>
                  <a:tcPr>
                    <a:solidFill>
                      <a:srgbClr val="A8C4C7"/>
                    </a:solidFill>
                  </a:tcPr>
                </a:tc>
              </a:tr>
              <a:tr h="303052">
                <a:tc>
                  <a:txBody>
                    <a:bodyPr/>
                    <a:lstStyle/>
                    <a:p>
                      <a:pPr algn="ctr"/>
                      <a:r>
                        <a:rPr sz="1000" b="0">
                          <a:solidFill>
                            <a:srgbClr val="262626"/>
                          </a:solidFill>
                          <a:latin typeface="游ゴシック"/>
                        </a:rPr>
                        <a:t>41</a:t>
                      </a:r>
                    </a:p>
                  </a:txBody>
                  <a:tcPr/>
                </a:tc>
                <a:tc>
                  <a:txBody>
                    <a:bodyPr/>
                    <a:lstStyle/>
                    <a:p>
                      <a:pPr algn="ctr"/>
                      <a:r>
                        <a:rPr sz="1000" b="1">
                          <a:solidFill>
                            <a:srgbClr val="262626"/>
                          </a:solidFill>
                          <a:latin typeface="游ゴシック"/>
                        </a:rPr>
                        <a:t>各々ので評価しているものの、実施を施設内で定めてはいない</a:t>
                      </a:r>
                    </a:p>
                  </a:txBody>
                  <a:tcPr/>
                </a:tc>
              </a:tr>
              <a:tr h="303052">
                <a:tc>
                  <a:txBody>
                    <a:bodyPr/>
                    <a:lstStyle/>
                    <a:p>
                      <a:pPr algn="ctr"/>
                      <a:r>
                        <a:rPr sz="1000" b="0">
                          <a:solidFill>
                            <a:srgbClr val="262626"/>
                          </a:solidFill>
                          <a:latin typeface="游ゴシック"/>
                        </a:rPr>
                        <a:t>42</a:t>
                      </a:r>
                    </a:p>
                  </a:txBody>
                  <a:tcPr>
                    <a:solidFill>
                      <a:srgbClr val="A8C4C7"/>
                    </a:solidFill>
                  </a:tcPr>
                </a:tc>
                <a:tc>
                  <a:txBody>
                    <a:bodyPr/>
                    <a:lstStyle/>
                    <a:p>
                      <a:pPr algn="ctr"/>
                      <a:r>
                        <a:rPr sz="1000" b="1">
                          <a:solidFill>
                            <a:srgbClr val="262626"/>
                          </a:solidFill>
                          <a:latin typeface="游ゴシック"/>
                        </a:rPr>
                        <a:t>活動の一環としては実施していない。患者状態によって評価項目を選択して実施している</a:t>
                      </a:r>
                    </a:p>
                  </a:txBody>
                  <a:tcPr>
                    <a:solidFill>
                      <a:srgbClr val="A8C4C7"/>
                    </a:solidFill>
                  </a:tcPr>
                </a:tc>
              </a:tr>
              <a:tr h="303052">
                <a:tc>
                  <a:txBody>
                    <a:bodyPr/>
                    <a:lstStyle/>
                    <a:p>
                      <a:pPr algn="ctr"/>
                      <a:r>
                        <a:rPr sz="1000" b="0">
                          <a:solidFill>
                            <a:srgbClr val="262626"/>
                          </a:solidFill>
                          <a:latin typeface="游ゴシック"/>
                        </a:rPr>
                        <a:t>43</a:t>
                      </a:r>
                    </a:p>
                  </a:txBody>
                  <a:tcPr/>
                </a:tc>
                <a:tc>
                  <a:txBody>
                    <a:bodyPr/>
                    <a:lstStyle/>
                    <a:p>
                      <a:pPr algn="ctr"/>
                      <a:r>
                        <a:rPr sz="1000" b="1">
                          <a:solidFill>
                            <a:srgbClr val="262626"/>
                          </a:solidFill>
                          <a:latin typeface="游ゴシック"/>
                        </a:rPr>
                        <a:t>個々での評価は行っているが、FLS活動として決められた項目がない</a:t>
                      </a:r>
                    </a:p>
                  </a:txBody>
                  <a:tcPr/>
                </a:tc>
              </a:tr>
              <a:tr h="303052">
                <a:tc>
                  <a:txBody>
                    <a:bodyPr/>
                    <a:lstStyle/>
                    <a:p>
                      <a:pPr algn="ctr"/>
                      <a:r>
                        <a:rPr sz="1000" b="0">
                          <a:solidFill>
                            <a:srgbClr val="262626"/>
                          </a:solidFill>
                          <a:latin typeface="游ゴシック"/>
                        </a:rPr>
                        <a:t>44</a:t>
                      </a:r>
                    </a:p>
                  </a:txBody>
                  <a:tcPr>
                    <a:solidFill>
                      <a:srgbClr val="A8C4C7"/>
                    </a:solidFill>
                  </a:tcPr>
                </a:tc>
                <a:tc>
                  <a:txBody>
                    <a:bodyPr/>
                    <a:lstStyle/>
                    <a:p>
                      <a:pPr algn="ctr"/>
                      <a:r>
                        <a:rPr sz="1000" b="1">
                          <a:solidFill>
                            <a:srgbClr val="262626"/>
                          </a:solidFill>
                          <a:latin typeface="游ゴシック"/>
                        </a:rPr>
                        <a:t>FLS活動の一環として、施設内で定めているものがないため</a:t>
                      </a:r>
                    </a:p>
                  </a:txBody>
                  <a:tcPr>
                    <a:solidFill>
                      <a:srgbClr val="A8C4C7"/>
                    </a:solidFill>
                  </a:tcPr>
                </a:tc>
              </a:tr>
              <a:tr h="303052">
                <a:tc>
                  <a:txBody>
                    <a:bodyPr/>
                    <a:lstStyle/>
                    <a:p>
                      <a:pPr algn="ctr"/>
                      <a:r>
                        <a:rPr sz="1000" b="0">
                          <a:solidFill>
                            <a:srgbClr val="262626"/>
                          </a:solidFill>
                          <a:latin typeface="游ゴシック"/>
                        </a:rPr>
                        <a:t>45</a:t>
                      </a:r>
                    </a:p>
                  </a:txBody>
                  <a:tcPr/>
                </a:tc>
                <a:tc>
                  <a:txBody>
                    <a:bodyPr/>
                    <a:lstStyle/>
                    <a:p>
                      <a:pPr algn="ctr"/>
                      <a:r>
                        <a:rPr sz="1000" b="1">
                          <a:solidFill>
                            <a:srgbClr val="262626"/>
                          </a:solidFill>
                          <a:latin typeface="游ゴシック"/>
                        </a:rPr>
                        <a:t>FLSの一環としては行っていない</a:t>
                      </a:r>
                    </a:p>
                  </a:txBody>
                  <a:tcPr/>
                </a:tc>
              </a:tr>
              <a:tr h="303052">
                <a:tc>
                  <a:txBody>
                    <a:bodyPr/>
                    <a:lstStyle/>
                    <a:p>
                      <a:pPr algn="ctr"/>
                      <a:r>
                        <a:rPr sz="1000" b="0">
                          <a:solidFill>
                            <a:srgbClr val="262626"/>
                          </a:solidFill>
                          <a:latin typeface="游ゴシック"/>
                        </a:rPr>
                        <a:t>46</a:t>
                      </a:r>
                    </a:p>
                  </a:txBody>
                  <a:tcPr>
                    <a:solidFill>
                      <a:srgbClr val="A8C4C7"/>
                    </a:solidFill>
                  </a:tcPr>
                </a:tc>
                <a:tc>
                  <a:txBody>
                    <a:bodyPr/>
                    <a:lstStyle/>
                    <a:p>
                      <a:pPr algn="ctr"/>
                      <a:r>
                        <a:rPr sz="1000" b="1">
                          <a:solidFill>
                            <a:srgbClr val="262626"/>
                          </a:solidFill>
                          <a:latin typeface="游ゴシック"/>
                        </a:rPr>
                        <a:t>それぞれが必要に応じた評価を実施しており定められたものはない。</a:t>
                      </a:r>
                    </a:p>
                  </a:txBody>
                  <a:tcPr>
                    <a:solidFill>
                      <a:srgbClr val="A8C4C7"/>
                    </a:solidFill>
                  </a:tcPr>
                </a:tc>
              </a:tr>
              <a:tr h="303052">
                <a:tc>
                  <a:txBody>
                    <a:bodyPr/>
                    <a:lstStyle/>
                    <a:p>
                      <a:pPr algn="ctr"/>
                      <a:r>
                        <a:rPr sz="1000" b="0">
                          <a:solidFill>
                            <a:srgbClr val="262626"/>
                          </a:solidFill>
                          <a:latin typeface="游ゴシック"/>
                        </a:rPr>
                        <a:t>47</a:t>
                      </a:r>
                    </a:p>
                  </a:txBody>
                  <a:tcPr/>
                </a:tc>
                <a:tc>
                  <a:txBody>
                    <a:bodyPr/>
                    <a:lstStyle/>
                    <a:p>
                      <a:pPr algn="ctr"/>
                      <a:r>
                        <a:rPr sz="1000" b="1">
                          <a:solidFill>
                            <a:srgbClr val="262626"/>
                          </a:solidFill>
                          <a:latin typeface="游ゴシック"/>
                        </a:rPr>
                        <a:t>認知症患者が半数以上を占めており、評価が難しいため。</a:t>
                      </a:r>
                    </a:p>
                  </a:txBody>
                  <a:tcPr/>
                </a:tc>
              </a:tr>
              <a:tr h="303052">
                <a:tc>
                  <a:txBody>
                    <a:bodyPr/>
                    <a:lstStyle/>
                    <a:p>
                      <a:pPr algn="ctr"/>
                      <a:r>
                        <a:rPr sz="1000" b="0">
                          <a:solidFill>
                            <a:srgbClr val="262626"/>
                          </a:solidFill>
                          <a:latin typeface="游ゴシック"/>
                        </a:rPr>
                        <a:t>48</a:t>
                      </a:r>
                    </a:p>
                  </a:txBody>
                  <a:tcPr>
                    <a:solidFill>
                      <a:srgbClr val="A8C4C7"/>
                    </a:solidFill>
                  </a:tcPr>
                </a:tc>
                <a:tc>
                  <a:txBody>
                    <a:bodyPr/>
                    <a:lstStyle/>
                    <a:p>
                      <a:pPr algn="ctr"/>
                      <a:r>
                        <a:rPr sz="1000" b="1">
                          <a:solidFill>
                            <a:srgbClr val="262626"/>
                          </a:solidFill>
                          <a:latin typeface="游ゴシック"/>
                        </a:rPr>
                        <a:t>人員不足のため</a:t>
                      </a:r>
                    </a:p>
                  </a:txBody>
                  <a:tcPr>
                    <a:solidFill>
                      <a:srgbClr val="A8C4C7"/>
                    </a:solidFill>
                  </a:tcPr>
                </a:tc>
              </a:tr>
              <a:tr h="303052">
                <a:tc>
                  <a:txBody>
                    <a:bodyPr/>
                    <a:lstStyle/>
                    <a:p>
                      <a:pPr algn="ctr"/>
                      <a:r>
                        <a:rPr sz="1000" b="0">
                          <a:solidFill>
                            <a:srgbClr val="262626"/>
                          </a:solidFill>
                          <a:latin typeface="游ゴシック"/>
                        </a:rPr>
                        <a:t>49</a:t>
                      </a:r>
                    </a:p>
                  </a:txBody>
                  <a:tcPr/>
                </a:tc>
                <a:tc>
                  <a:txBody>
                    <a:bodyPr/>
                    <a:lstStyle/>
                    <a:p>
                      <a:pPr algn="ctr"/>
                      <a:r>
                        <a:rPr sz="1000" b="1">
                          <a:solidFill>
                            <a:srgbClr val="262626"/>
                          </a:solidFill>
                          <a:latin typeface="游ゴシック"/>
                        </a:rPr>
                        <a:t>「FLS活動」としての院内取り決めがないから</a:t>
                      </a:r>
                    </a:p>
                  </a:txBody>
                  <a:tcPr/>
                </a:tc>
              </a:tr>
              <a:tr h="303052">
                <a:tc>
                  <a:txBody>
                    <a:bodyPr/>
                    <a:lstStyle/>
                    <a:p>
                      <a:pPr algn="ctr"/>
                      <a:r>
                        <a:rPr sz="1000" b="0">
                          <a:solidFill>
                            <a:srgbClr val="262626"/>
                          </a:solidFill>
                          <a:latin typeface="游ゴシック"/>
                        </a:rPr>
                        <a:t>50</a:t>
                      </a:r>
                    </a:p>
                  </a:txBody>
                  <a:tcPr>
                    <a:solidFill>
                      <a:srgbClr val="A8C4C7"/>
                    </a:solidFill>
                  </a:tcPr>
                </a:tc>
                <a:tc>
                  <a:txBody>
                    <a:bodyPr/>
                    <a:lstStyle/>
                    <a:p>
                      <a:pPr algn="ctr"/>
                      <a:r>
                        <a:rPr sz="1000" b="1">
                          <a:solidFill>
                            <a:srgbClr val="262626"/>
                          </a:solidFill>
                          <a:latin typeface="游ゴシック"/>
                        </a:rPr>
                        <a:t>ＦＬＳチームとして活動を行っていない為</a:t>
                      </a:r>
                    </a:p>
                  </a:txBody>
                  <a:tcPr>
                    <a:solidFill>
                      <a:srgbClr val="A8C4C7"/>
                    </a:solidFill>
                  </a:tcPr>
                </a:tc>
              </a:tr>
              <a:tr h="303052">
                <a:tc>
                  <a:txBody>
                    <a:bodyPr/>
                    <a:lstStyle/>
                    <a:p>
                      <a:pPr algn="ctr"/>
                      <a:r>
                        <a:rPr sz="1000" b="0">
                          <a:solidFill>
                            <a:srgbClr val="262626"/>
                          </a:solidFill>
                          <a:latin typeface="游ゴシック"/>
                        </a:rPr>
                        <a:t>51</a:t>
                      </a:r>
                    </a:p>
                  </a:txBody>
                  <a:tcPr/>
                </a:tc>
                <a:tc>
                  <a:txBody>
                    <a:bodyPr/>
                    <a:lstStyle/>
                    <a:p>
                      <a:pPr algn="ctr"/>
                      <a:r>
                        <a:rPr sz="1000" b="1">
                          <a:solidFill>
                            <a:srgbClr val="262626"/>
                          </a:solidFill>
                          <a:latin typeface="游ゴシック"/>
                        </a:rPr>
                        <a:t>施設内でのルールとしては設けられていない</a:t>
                      </a:r>
                    </a:p>
                  </a:txBody>
                  <a:tcPr/>
                </a:tc>
              </a:tr>
              <a:tr h="303052">
                <a:tc>
                  <a:txBody>
                    <a:bodyPr/>
                    <a:lstStyle/>
                    <a:p>
                      <a:pPr algn="ctr"/>
                      <a:r>
                        <a:rPr sz="1000" b="0">
                          <a:solidFill>
                            <a:srgbClr val="262626"/>
                          </a:solidFill>
                          <a:latin typeface="游ゴシック"/>
                        </a:rPr>
                        <a:t>52</a:t>
                      </a:r>
                    </a:p>
                  </a:txBody>
                  <a:tcPr>
                    <a:solidFill>
                      <a:srgbClr val="A8C4C7"/>
                    </a:solidFill>
                  </a:tcPr>
                </a:tc>
                <a:tc>
                  <a:txBody>
                    <a:bodyPr/>
                    <a:lstStyle/>
                    <a:p>
                      <a:pPr algn="ctr"/>
                      <a:r>
                        <a:rPr sz="1000" b="1">
                          <a:solidFill>
                            <a:srgbClr val="262626"/>
                          </a:solidFill>
                          <a:latin typeface="游ゴシック"/>
                        </a:rPr>
                        <a:t>施設では個人の個人の判断でSPPBやBBSなどを行っている</a:t>
                      </a:r>
                    </a:p>
                  </a:txBody>
                  <a:tcPr>
                    <a:solidFill>
                      <a:srgbClr val="A8C4C7"/>
                    </a:solidFill>
                  </a:tcPr>
                </a:tc>
              </a:tr>
              <a:tr h="303052">
                <a:tc>
                  <a:txBody>
                    <a:bodyPr/>
                    <a:lstStyle/>
                    <a:p>
                      <a:pPr algn="ctr"/>
                      <a:r>
                        <a:rPr sz="1000" b="0">
                          <a:solidFill>
                            <a:srgbClr val="262626"/>
                          </a:solidFill>
                          <a:latin typeface="游ゴシック"/>
                        </a:rPr>
                        <a:t>53</a:t>
                      </a:r>
                    </a:p>
                  </a:txBody>
                  <a:tcPr/>
                </a:tc>
                <a:tc>
                  <a:txBody>
                    <a:bodyPr/>
                    <a:lstStyle/>
                    <a:p>
                      <a:pPr algn="ctr"/>
                      <a:r>
                        <a:rPr sz="1000" b="1">
                          <a:solidFill>
                            <a:srgbClr val="262626"/>
                          </a:solidFill>
                          <a:latin typeface="游ゴシック"/>
                        </a:rPr>
                        <a:t>決まった項目はなく、随時看護師と情報共有を行っている。</a:t>
                      </a:r>
                    </a:p>
                  </a:txBody>
                  <a:tcPr/>
                </a:tc>
              </a:tr>
              <a:tr h="303052">
                <a:tc>
                  <a:txBody>
                    <a:bodyPr/>
                    <a:lstStyle/>
                    <a:p>
                      <a:pPr algn="ctr"/>
                      <a:r>
                        <a:rPr sz="1000" b="0">
                          <a:solidFill>
                            <a:srgbClr val="262626"/>
                          </a:solidFill>
                          <a:latin typeface="游ゴシック"/>
                        </a:rPr>
                        <a:t>54</a:t>
                      </a:r>
                    </a:p>
                  </a:txBody>
                  <a:tcPr>
                    <a:solidFill>
                      <a:srgbClr val="A8C4C7"/>
                    </a:solidFill>
                  </a:tcPr>
                </a:tc>
                <a:tc>
                  <a:txBody>
                    <a:bodyPr/>
                    <a:lstStyle/>
                    <a:p>
                      <a:pPr algn="ctr"/>
                      <a:r>
                        <a:rPr sz="1000" b="1">
                          <a:solidFill>
                            <a:srgbClr val="262626"/>
                          </a:solidFill>
                          <a:latin typeface="游ゴシック"/>
                        </a:rPr>
                        <a:t>施設内では定めておらず、各スタッフが患者毎に適切な評価を実施するように取り組んでいる</a:t>
                      </a:r>
                    </a:p>
                  </a:txBody>
                  <a:tcPr>
                    <a:solidFill>
                      <a:srgbClr val="A8C4C7"/>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Q15-1.  「実施していない」を選択した方の理由【自由記述】  (4/4)</a:t>
            </a:r>
          </a:p>
        </p:txBody>
      </p:sp>
      <p:graphicFrame>
        <p:nvGraphicFramePr>
          <p:cNvPr id="3" name="Table 2"/>
          <p:cNvGraphicFramePr>
            <a:graphicFrameLocks noGrp="1"/>
          </p:cNvGraphicFramePr>
          <p:nvPr/>
        </p:nvGraphicFramePr>
        <p:xfrm>
          <a:off x="200000" y="950000"/>
          <a:ext cx="11377800" cy="1296000"/>
        </p:xfrm>
        <a:graphic>
          <a:graphicData uri="http://schemas.openxmlformats.org/drawingml/2006/table">
            <a:tbl>
              <a:tblPr firstRow="1" bandRow="1">
                <a:tableStyleId>{5C22544A-7EE6-4342-B048-85BDC9FD1C3A}</a:tableStyleId>
              </a:tblPr>
              <a:tblGrid>
                <a:gridCol w="685800"/>
                <a:gridCol w="10692000"/>
              </a:tblGrid>
              <a:tr h="432000">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432000">
                <a:tc>
                  <a:txBody>
                    <a:bodyPr/>
                    <a:lstStyle/>
                    <a:p>
                      <a:pPr algn="ctr"/>
                      <a:r>
                        <a:rPr sz="1000" b="0">
                          <a:solidFill>
                            <a:srgbClr val="262626"/>
                          </a:solidFill>
                          <a:latin typeface="游ゴシック"/>
                        </a:rPr>
                        <a:t>55</a:t>
                      </a:r>
                    </a:p>
                  </a:txBody>
                  <a:tcPr/>
                </a:tc>
                <a:tc>
                  <a:txBody>
                    <a:bodyPr/>
                    <a:lstStyle/>
                    <a:p>
                      <a:pPr algn="ctr"/>
                      <a:r>
                        <a:rPr sz="1000" b="1">
                          <a:solidFill>
                            <a:srgbClr val="262626"/>
                          </a:solidFill>
                          <a:latin typeface="游ゴシック"/>
                        </a:rPr>
                        <a:t>PT/OTが評価している項目は多数あるが、FLS活動の一環として画一的な評価は実施できていないから。</a:t>
                      </a:r>
                    </a:p>
                  </a:txBody>
                  <a:tcPr/>
                </a:tc>
              </a:tr>
              <a:tr h="432000">
                <a:tc>
                  <a:txBody>
                    <a:bodyPr/>
                    <a:lstStyle/>
                    <a:p>
                      <a:pPr algn="ctr"/>
                      <a:r>
                        <a:rPr sz="1000" b="0">
                          <a:solidFill>
                            <a:srgbClr val="262626"/>
                          </a:solidFill>
                          <a:latin typeface="游ゴシック"/>
                        </a:rPr>
                        <a:t>56</a:t>
                      </a:r>
                    </a:p>
                  </a:txBody>
                  <a:tcPr>
                    <a:solidFill>
                      <a:srgbClr val="A8C4C7"/>
                    </a:solidFill>
                  </a:tcPr>
                </a:tc>
                <a:tc>
                  <a:txBody>
                    <a:bodyPr/>
                    <a:lstStyle/>
                    <a:p>
                      <a:pPr algn="ctr"/>
                      <a:r>
                        <a:rPr sz="1000" b="1">
                          <a:solidFill>
                            <a:srgbClr val="262626"/>
                          </a:solidFill>
                          <a:latin typeface="游ゴシック"/>
                        </a:rPr>
                        <a:t>評価している項目はあるが、FLSの一環ではない。</a:t>
                      </a:r>
                    </a:p>
                  </a:txBody>
                  <a:tcPr>
                    <a:solidFill>
                      <a:srgbClr val="A8C4C7"/>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2000" b="1">
                <a:solidFill>
                  <a:srgbClr val="262626"/>
                </a:solidFill>
                <a:latin typeface="游ゴシック"/>
              </a:rPr>
              <a:t>Q15-2.  評価実施時期が決められているか【単一選択】</a:t>
            </a:r>
          </a:p>
        </p:txBody>
      </p:sp>
      <p:graphicFrame>
        <p:nvGraphicFramePr>
          <p:cNvPr id="3" name="Chart 2"/>
          <p:cNvGraphicFramePr>
            <a:graphicFrameLocks noGrp="1"/>
          </p:cNvGraphicFramePr>
          <p:nvPr/>
        </p:nvGraphicFramePr>
        <p:xfrm>
          <a:off x="200000" y="900000"/>
          <a:ext cx="70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200000" y="1100000"/>
          <a:ext cx="4400000" cy="2500000"/>
        </p:xfrm>
        <a:graphic>
          <a:graphicData uri="http://schemas.openxmlformats.org/drawingml/2006/table">
            <a:tbl>
              <a:tblPr firstRow="1" bandRow="1">
                <a:tableStyleId>{5C22544A-7EE6-4342-B048-85BDC9FD1C3A}</a:tableStyleId>
              </a:tblPr>
              <a:tblGrid>
                <a:gridCol w="2800000"/>
                <a:gridCol w="700000"/>
                <a:gridCol w="900000"/>
              </a:tblGrid>
              <a:tr h="500000">
                <a:tc>
                  <a:txBody>
                    <a:bodyPr/>
                    <a:lstStyle/>
                    <a:p>
                      <a:pPr algn="ctr"/>
                      <a:r>
                        <a:rPr sz="1400" b="1">
                          <a:solidFill>
                            <a:srgbClr val="FFFFFF"/>
                          </a:solidFill>
                          <a:latin typeface="游ゴシック"/>
                        </a:rPr>
                        <a:t>回答</a:t>
                      </a:r>
                    </a:p>
                  </a:txBody>
                  <a:tcPr>
                    <a:solidFill>
                      <a:srgbClr val="397077"/>
                    </a:solidFill>
                  </a:tcPr>
                </a:tc>
                <a:tc>
                  <a:txBody>
                    <a:bodyPr/>
                    <a:lstStyle/>
                    <a:p>
                      <a:pPr algn="ctr"/>
                      <a:r>
                        <a:rPr sz="1400" b="1">
                          <a:solidFill>
                            <a:srgbClr val="FFFFFF"/>
                          </a:solidFill>
                          <a:latin typeface="游ゴシック"/>
                        </a:rPr>
                        <a:t>件数</a:t>
                      </a:r>
                    </a:p>
                  </a:txBody>
                  <a:tcPr>
                    <a:solidFill>
                      <a:srgbClr val="397077"/>
                    </a:solidFill>
                  </a:tcPr>
                </a:tc>
                <a:tc>
                  <a:txBody>
                    <a:bodyPr/>
                    <a:lstStyle/>
                    <a:p>
                      <a:pPr algn="ctr"/>
                      <a:r>
                        <a:rPr sz="1400" b="1">
                          <a:solidFill>
                            <a:srgbClr val="FFFFFF"/>
                          </a:solidFill>
                          <a:latin typeface="游ゴシック"/>
                        </a:rPr>
                        <a:t>割合</a:t>
                      </a:r>
                    </a:p>
                  </a:txBody>
                  <a:tcPr>
                    <a:solidFill>
                      <a:srgbClr val="397077"/>
                    </a:solidFill>
                  </a:tcPr>
                </a:tc>
              </a:tr>
              <a:tr h="500000">
                <a:tc>
                  <a:txBody>
                    <a:bodyPr/>
                    <a:lstStyle/>
                    <a:p>
                      <a:pPr algn="ctr"/>
                      <a:r>
                        <a:rPr sz="1100" b="0">
                          <a:solidFill>
                            <a:srgbClr val="262626"/>
                          </a:solidFill>
                          <a:latin typeface="游ゴシック"/>
                        </a:rPr>
                        <a:t>決まっている</a:t>
                      </a:r>
                    </a:p>
                  </a:txBody>
                  <a:tcPr/>
                </a:tc>
                <a:tc>
                  <a:txBody>
                    <a:bodyPr/>
                    <a:lstStyle/>
                    <a:p>
                      <a:pPr algn="ctr"/>
                      <a:r>
                        <a:rPr sz="1100" b="1">
                          <a:solidFill>
                            <a:srgbClr val="262626"/>
                          </a:solidFill>
                          <a:latin typeface="游ゴシック"/>
                        </a:rPr>
                        <a:t>109</a:t>
                      </a:r>
                    </a:p>
                  </a:txBody>
                  <a:tcPr/>
                </a:tc>
                <a:tc>
                  <a:txBody>
                    <a:bodyPr/>
                    <a:lstStyle/>
                    <a:p>
                      <a:pPr algn="ctr"/>
                      <a:r>
                        <a:rPr sz="1100" b="1">
                          <a:solidFill>
                            <a:srgbClr val="262626"/>
                          </a:solidFill>
                          <a:latin typeface="游ゴシック"/>
                        </a:rPr>
                        <a:t>47.6%</a:t>
                      </a:r>
                    </a:p>
                  </a:txBody>
                  <a:tcPr/>
                </a:tc>
              </a:tr>
              <a:tr h="500000">
                <a:tc>
                  <a:txBody>
                    <a:bodyPr/>
                    <a:lstStyle/>
                    <a:p>
                      <a:pPr algn="ctr"/>
                      <a:r>
                        <a:rPr sz="1100" b="0">
                          <a:solidFill>
                            <a:srgbClr val="262626"/>
                          </a:solidFill>
                          <a:latin typeface="游ゴシック"/>
                        </a:rPr>
                        <a:t>決まっていない</a:t>
                      </a:r>
                    </a:p>
                  </a:txBody>
                  <a:tcPr>
                    <a:solidFill>
                      <a:srgbClr val="A8C4C7"/>
                    </a:solidFill>
                  </a:tcPr>
                </a:tc>
                <a:tc>
                  <a:txBody>
                    <a:bodyPr/>
                    <a:lstStyle/>
                    <a:p>
                      <a:pPr algn="ctr"/>
                      <a:r>
                        <a:rPr sz="1100" b="1">
                          <a:solidFill>
                            <a:srgbClr val="262626"/>
                          </a:solidFill>
                          <a:latin typeface="游ゴシック"/>
                        </a:rPr>
                        <a:t>113</a:t>
                      </a:r>
                    </a:p>
                  </a:txBody>
                  <a:tcPr>
                    <a:solidFill>
                      <a:srgbClr val="A8C4C7"/>
                    </a:solidFill>
                  </a:tcPr>
                </a:tc>
                <a:tc>
                  <a:txBody>
                    <a:bodyPr/>
                    <a:lstStyle/>
                    <a:p>
                      <a:pPr algn="ctr"/>
                      <a:r>
                        <a:rPr sz="1100" b="1">
                          <a:solidFill>
                            <a:srgbClr val="262626"/>
                          </a:solidFill>
                          <a:latin typeface="游ゴシック"/>
                        </a:rPr>
                        <a:t>49.3%</a:t>
                      </a:r>
                    </a:p>
                  </a:txBody>
                  <a:tcPr>
                    <a:solidFill>
                      <a:srgbClr val="A8C4C7"/>
                    </a:solidFill>
                  </a:tcPr>
                </a:tc>
              </a:tr>
              <a:tr h="500000">
                <a:tc>
                  <a:txBody>
                    <a:bodyPr/>
                    <a:lstStyle/>
                    <a:p>
                      <a:pPr algn="ctr"/>
                      <a:r>
                        <a:rPr sz="1100" b="0">
                          <a:solidFill>
                            <a:srgbClr val="262626"/>
                          </a:solidFill>
                          <a:latin typeface="游ゴシック"/>
                        </a:rPr>
                        <a:t>わからない</a:t>
                      </a:r>
                    </a:p>
                  </a:txBody>
                  <a:tcPr/>
                </a:tc>
                <a:tc>
                  <a:txBody>
                    <a:bodyPr/>
                    <a:lstStyle/>
                    <a:p>
                      <a:pPr algn="ctr"/>
                      <a:r>
                        <a:rPr sz="1100" b="1">
                          <a:solidFill>
                            <a:srgbClr val="262626"/>
                          </a:solidFill>
                          <a:latin typeface="游ゴシック"/>
                        </a:rPr>
                        <a:t>7</a:t>
                      </a:r>
                    </a:p>
                  </a:txBody>
                  <a:tcPr/>
                </a:tc>
                <a:tc>
                  <a:txBody>
                    <a:bodyPr/>
                    <a:lstStyle/>
                    <a:p>
                      <a:pPr algn="ctr"/>
                      <a:r>
                        <a:rPr sz="1100" b="1">
                          <a:solidFill>
                            <a:srgbClr val="262626"/>
                          </a:solidFill>
                          <a:latin typeface="游ゴシック"/>
                        </a:rPr>
                        <a:t>3.1%</a:t>
                      </a:r>
                    </a:p>
                  </a:txBody>
                  <a:tcPr/>
                </a:tc>
              </a:tr>
              <a:tr h="500000">
                <a:tc>
                  <a:txBody>
                    <a:bodyPr/>
                    <a:lstStyle/>
                    <a:p>
                      <a:pPr algn="ctr"/>
                      <a:r>
                        <a:rPr sz="1100" b="1">
                          <a:solidFill>
                            <a:srgbClr val="262626"/>
                          </a:solidFill>
                          <a:latin typeface="游ゴシック"/>
                        </a:rPr>
                        <a:t>合計</a:t>
                      </a:r>
                    </a:p>
                  </a:txBody>
                  <a:tcPr/>
                </a:tc>
                <a:tc>
                  <a:txBody>
                    <a:bodyPr/>
                    <a:lstStyle/>
                    <a:p>
                      <a:pPr algn="ctr"/>
                      <a:r>
                        <a:rPr sz="1100" b="1">
                          <a:solidFill>
                            <a:srgbClr val="262626"/>
                          </a:solidFill>
                          <a:latin typeface="游ゴシック"/>
                        </a:rPr>
                        <a:t>229</a:t>
                      </a:r>
                    </a:p>
                  </a:txBody>
                  <a:tcPr/>
                </a:tc>
                <a:tc>
                  <a:txBody>
                    <a:bodyPr/>
                    <a:lstStyle/>
                    <a:p>
                      <a:pPr algn="ctr"/>
                      <a:r>
                        <a:rPr sz="1100" b="1">
                          <a:solidFill>
                            <a:srgbClr val="262626"/>
                          </a:solidFill>
                          <a:latin typeface="游ゴシック"/>
                        </a:rPr>
                        <a:t>100.0%</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n=229（Q15で評価実施している施設）</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Q15-2-1.  「決まっている」を選択した方：術後何日目に実施するか【自由記述】  (1/7)</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１４日目</a:t>
                      </a:r>
                    </a:p>
                  </a:txBody>
                  <a:tcPr/>
                </a:tc>
              </a:tr>
              <a:tr h="303052">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7日目</a:t>
                      </a:r>
                    </a:p>
                  </a:txBody>
                  <a:tcPr>
                    <a:solidFill>
                      <a:srgbClr val="A8C4C7"/>
                    </a:solidFill>
                  </a:tcPr>
                </a:tc>
              </a:tr>
              <a:tr h="303052">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可能となった日</a:t>
                      </a:r>
                    </a:p>
                  </a:txBody>
                  <a:tcPr/>
                </a:tc>
              </a:tr>
              <a:tr h="303052">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14日目</a:t>
                      </a:r>
                    </a:p>
                  </a:txBody>
                  <a:tcPr>
                    <a:solidFill>
                      <a:srgbClr val="A8C4C7"/>
                    </a:solidFill>
                  </a:tcPr>
                </a:tc>
              </a:tr>
              <a:tr h="303052">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術前1日目にAMTS、転倒歴、既往歴など評価し、術後歩行が可能になった時期に応じて歩行速度など実施。</a:t>
                      </a:r>
                    </a:p>
                  </a:txBody>
                  <a:tcPr/>
                </a:tc>
              </a:tr>
              <a:tr h="303052">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認知機能評価は術前とENT・転院前です。</a:t>
                      </a:r>
                    </a:p>
                  </a:txBody>
                  <a:tcPr>
                    <a:solidFill>
                      <a:srgbClr val="A8C4C7"/>
                    </a:solidFill>
                  </a:tcPr>
                </a:tc>
              </a:tr>
              <a:tr h="303052">
                <a:tc>
                  <a:txBody>
                    <a:bodyPr/>
                    <a:lstStyle/>
                    <a:p>
                      <a:pPr algn="ctr"/>
                      <a:r>
                        <a:rPr sz="1000" b="0">
                          <a:solidFill>
                            <a:srgbClr val="262626"/>
                          </a:solidFill>
                          <a:latin typeface="游ゴシック"/>
                        </a:rPr>
                        <a:t>7</a:t>
                      </a:r>
                    </a:p>
                  </a:txBody>
                  <a:tcPr/>
                </a:tc>
                <a:tc>
                  <a:txBody>
                    <a:bodyPr/>
                    <a:lstStyle/>
                    <a:p>
                      <a:pPr algn="ctr"/>
                      <a:r>
                        <a:rPr sz="1000" b="1">
                          <a:solidFill>
                            <a:srgbClr val="262626"/>
                          </a:solidFill>
                          <a:latin typeface="游ゴシック"/>
                        </a:rPr>
                        <a:t>術後７日目</a:t>
                      </a:r>
                    </a:p>
                  </a:txBody>
                  <a:tcPr/>
                </a:tc>
              </a:tr>
              <a:tr h="303052">
                <a:tc>
                  <a:txBody>
                    <a:bodyPr/>
                    <a:lstStyle/>
                    <a:p>
                      <a:pPr algn="ctr"/>
                      <a:r>
                        <a:rPr sz="1000" b="0">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TUGは7POD、AMTSは10POD、それ以外は患者に合わせてできる時期に評価</a:t>
                      </a:r>
                    </a:p>
                  </a:txBody>
                  <a:tcPr>
                    <a:solidFill>
                      <a:srgbClr val="A8C4C7"/>
                    </a:solidFill>
                  </a:tcPr>
                </a:tc>
              </a:tr>
              <a:tr h="303052">
                <a:tc>
                  <a:txBody>
                    <a:bodyPr/>
                    <a:lstStyle/>
                    <a:p>
                      <a:pPr algn="ctr"/>
                      <a:r>
                        <a:rPr sz="1000" b="0">
                          <a:solidFill>
                            <a:srgbClr val="262626"/>
                          </a:solidFill>
                          <a:latin typeface="游ゴシック"/>
                        </a:rPr>
                        <a:t>9</a:t>
                      </a:r>
                    </a:p>
                  </a:txBody>
                  <a:tcPr/>
                </a:tc>
                <a:tc>
                  <a:txBody>
                    <a:bodyPr/>
                    <a:lstStyle/>
                    <a:p>
                      <a:pPr algn="ctr"/>
                      <a:r>
                        <a:rPr sz="1000" b="1">
                          <a:solidFill>
                            <a:srgbClr val="262626"/>
                          </a:solidFill>
                          <a:latin typeface="游ゴシック"/>
                        </a:rPr>
                        <a:t>退院時</a:t>
                      </a:r>
                    </a:p>
                  </a:txBody>
                  <a:tcPr/>
                </a:tc>
              </a:tr>
              <a:tr h="303052">
                <a:tc>
                  <a:txBody>
                    <a:bodyPr/>
                    <a:lstStyle/>
                    <a:p>
                      <a:pPr algn="ctr"/>
                      <a:r>
                        <a:rPr sz="1000" b="0">
                          <a:solidFill>
                            <a:srgbClr val="262626"/>
                          </a:solidFill>
                          <a:latin typeface="游ゴシック"/>
                        </a:rPr>
                        <a:t>10</a:t>
                      </a:r>
                    </a:p>
                  </a:txBody>
                  <a:tcPr>
                    <a:solidFill>
                      <a:srgbClr val="A8C4C7"/>
                    </a:solidFill>
                  </a:tcPr>
                </a:tc>
                <a:tc>
                  <a:txBody>
                    <a:bodyPr/>
                    <a:lstStyle/>
                    <a:p>
                      <a:pPr algn="ctr"/>
                      <a:r>
                        <a:rPr sz="1000" b="1">
                          <a:solidFill>
                            <a:srgbClr val="262626"/>
                          </a:solidFill>
                          <a:latin typeface="游ゴシック"/>
                        </a:rPr>
                        <a:t>術後３日以内</a:t>
                      </a:r>
                    </a:p>
                  </a:txBody>
                  <a:tcPr>
                    <a:solidFill>
                      <a:srgbClr val="A8C4C7"/>
                    </a:solidFill>
                  </a:tcPr>
                </a:tc>
              </a:tr>
              <a:tr h="303052">
                <a:tc>
                  <a:txBody>
                    <a:bodyPr/>
                    <a:lstStyle/>
                    <a:p>
                      <a:pPr algn="ctr"/>
                      <a:r>
                        <a:rPr sz="1000" b="0">
                          <a:solidFill>
                            <a:srgbClr val="262626"/>
                          </a:solidFill>
                          <a:latin typeface="游ゴシック"/>
                        </a:rPr>
                        <a:t>11</a:t>
                      </a:r>
                    </a:p>
                  </a:txBody>
                  <a:tcPr/>
                </a:tc>
                <a:tc>
                  <a:txBody>
                    <a:bodyPr/>
                    <a:lstStyle/>
                    <a:p>
                      <a:pPr algn="ctr"/>
                      <a:r>
                        <a:rPr sz="1000" b="1">
                          <a:solidFill>
                            <a:srgbClr val="262626"/>
                          </a:solidFill>
                          <a:latin typeface="游ゴシック"/>
                        </a:rPr>
                        <a:t>術前もしくは術後１日目</a:t>
                      </a:r>
                    </a:p>
                  </a:txBody>
                  <a:tcPr/>
                </a:tc>
              </a:tr>
              <a:tr h="303052">
                <a:tc>
                  <a:txBody>
                    <a:bodyPr/>
                    <a:lstStyle/>
                    <a:p>
                      <a:pPr algn="ctr"/>
                      <a:r>
                        <a:rPr sz="1000" b="0">
                          <a:solidFill>
                            <a:srgbClr val="262626"/>
                          </a:solidFill>
                          <a:latin typeface="游ゴシック"/>
                        </a:rPr>
                        <a:t>12</a:t>
                      </a:r>
                    </a:p>
                  </a:txBody>
                  <a:tcPr>
                    <a:solidFill>
                      <a:srgbClr val="A8C4C7"/>
                    </a:solidFill>
                  </a:tcPr>
                </a:tc>
                <a:tc>
                  <a:txBody>
                    <a:bodyPr/>
                    <a:lstStyle/>
                    <a:p>
                      <a:pPr algn="ctr"/>
                      <a:r>
                        <a:rPr sz="1000" b="1">
                          <a:solidFill>
                            <a:srgbClr val="262626"/>
                          </a:solidFill>
                          <a:latin typeface="游ゴシック"/>
                        </a:rPr>
                        <a:t>14日目を目安に行っている</a:t>
                      </a:r>
                    </a:p>
                  </a:txBody>
                  <a:tcPr>
                    <a:solidFill>
                      <a:srgbClr val="A8C4C7"/>
                    </a:solidFill>
                  </a:tcPr>
                </a:tc>
              </a:tr>
              <a:tr h="303052">
                <a:tc>
                  <a:txBody>
                    <a:bodyPr/>
                    <a:lstStyle/>
                    <a:p>
                      <a:pPr algn="ctr"/>
                      <a:r>
                        <a:rPr sz="1000" b="0">
                          <a:solidFill>
                            <a:srgbClr val="262626"/>
                          </a:solidFill>
                          <a:latin typeface="游ゴシック"/>
                        </a:rPr>
                        <a:t>13</a:t>
                      </a:r>
                    </a:p>
                  </a:txBody>
                  <a:tcPr/>
                </a:tc>
                <a:tc>
                  <a:txBody>
                    <a:bodyPr/>
                    <a:lstStyle/>
                    <a:p>
                      <a:pPr algn="ctr"/>
                      <a:r>
                        <a:rPr sz="1000" b="1">
                          <a:solidFill>
                            <a:srgbClr val="262626"/>
                          </a:solidFill>
                          <a:latin typeface="游ゴシック"/>
                        </a:rPr>
                        <a:t>術前に実施しています。</a:t>
                      </a:r>
                    </a:p>
                  </a:txBody>
                  <a:tcPr/>
                </a:tc>
              </a:tr>
              <a:tr h="303052">
                <a:tc>
                  <a:txBody>
                    <a:bodyPr/>
                    <a:lstStyle/>
                    <a:p>
                      <a:pPr algn="ctr"/>
                      <a:r>
                        <a:rPr sz="1000" b="0">
                          <a:solidFill>
                            <a:srgbClr val="262626"/>
                          </a:solidFill>
                          <a:latin typeface="游ゴシック"/>
                        </a:rPr>
                        <a:t>14</a:t>
                      </a:r>
                    </a:p>
                  </a:txBody>
                  <a:tcPr>
                    <a:solidFill>
                      <a:srgbClr val="A8C4C7"/>
                    </a:solidFill>
                  </a:tcPr>
                </a:tc>
                <a:tc>
                  <a:txBody>
                    <a:bodyPr/>
                    <a:lstStyle/>
                    <a:p>
                      <a:pPr algn="ctr"/>
                      <a:r>
                        <a:rPr sz="1000" b="1">
                          <a:solidFill>
                            <a:srgbClr val="262626"/>
                          </a:solidFill>
                          <a:latin typeface="游ゴシック"/>
                        </a:rPr>
                        <a:t>退院までの期間</a:t>
                      </a:r>
                    </a:p>
                  </a:txBody>
                  <a:tcPr>
                    <a:solidFill>
                      <a:srgbClr val="A8C4C7"/>
                    </a:solidFill>
                  </a:tcPr>
                </a:tc>
              </a:tr>
              <a:tr h="303052">
                <a:tc>
                  <a:txBody>
                    <a:bodyPr/>
                    <a:lstStyle/>
                    <a:p>
                      <a:pPr algn="ctr"/>
                      <a:r>
                        <a:rPr sz="1000" b="0">
                          <a:solidFill>
                            <a:srgbClr val="262626"/>
                          </a:solidFill>
                          <a:latin typeface="游ゴシック"/>
                        </a:rPr>
                        <a:t>15</a:t>
                      </a:r>
                    </a:p>
                  </a:txBody>
                  <a:tcPr/>
                </a:tc>
                <a:tc>
                  <a:txBody>
                    <a:bodyPr/>
                    <a:lstStyle/>
                    <a:p>
                      <a:pPr algn="ctr"/>
                      <a:r>
                        <a:rPr sz="1000" b="1">
                          <a:solidFill>
                            <a:srgbClr val="262626"/>
                          </a:solidFill>
                          <a:latin typeface="游ゴシック"/>
                        </a:rPr>
                        <a:t>退院前には、評価項目を入力するようになっている。</a:t>
                      </a:r>
                    </a:p>
                  </a:txBody>
                  <a:tcPr/>
                </a:tc>
              </a:tr>
              <a:tr h="303052">
                <a:tc>
                  <a:txBody>
                    <a:bodyPr/>
                    <a:lstStyle/>
                    <a:p>
                      <a:pPr algn="ctr"/>
                      <a:r>
                        <a:rPr sz="1000" b="0">
                          <a:solidFill>
                            <a:srgbClr val="262626"/>
                          </a:solidFill>
                          <a:latin typeface="游ゴシック"/>
                        </a:rPr>
                        <a:t>16</a:t>
                      </a:r>
                    </a:p>
                  </a:txBody>
                  <a:tcPr>
                    <a:solidFill>
                      <a:srgbClr val="A8C4C7"/>
                    </a:solidFill>
                  </a:tcPr>
                </a:tc>
                <a:tc>
                  <a:txBody>
                    <a:bodyPr/>
                    <a:lstStyle/>
                    <a:p>
                      <a:pPr algn="ctr"/>
                      <a:r>
                        <a:rPr sz="1000" b="1">
                          <a:solidFill>
                            <a:srgbClr val="262626"/>
                          </a:solidFill>
                          <a:latin typeface="游ゴシック"/>
                        </a:rPr>
                        <a:t>毎週</a:t>
                      </a:r>
                    </a:p>
                  </a:txBody>
                  <a:tcPr>
                    <a:solidFill>
                      <a:srgbClr val="A8C4C7"/>
                    </a:solidFill>
                  </a:tcPr>
                </a:tc>
              </a:tr>
              <a:tr h="303052">
                <a:tc>
                  <a:txBody>
                    <a:bodyPr/>
                    <a:lstStyle/>
                    <a:p>
                      <a:pPr algn="ctr"/>
                      <a:r>
                        <a:rPr sz="1000" b="0">
                          <a:solidFill>
                            <a:srgbClr val="262626"/>
                          </a:solidFill>
                          <a:latin typeface="游ゴシック"/>
                        </a:rPr>
                        <a:t>17</a:t>
                      </a:r>
                    </a:p>
                  </a:txBody>
                  <a:tcPr/>
                </a:tc>
                <a:tc>
                  <a:txBody>
                    <a:bodyPr/>
                    <a:lstStyle/>
                    <a:p>
                      <a:pPr algn="ctr"/>
                      <a:r>
                        <a:rPr sz="1000" b="1">
                          <a:solidFill>
                            <a:srgbClr val="262626"/>
                          </a:solidFill>
                          <a:latin typeface="游ゴシック"/>
                        </a:rPr>
                        <a:t>1日目</a:t>
                      </a:r>
                    </a:p>
                  </a:txBody>
                  <a:tcPr/>
                </a:tc>
              </a:tr>
              <a:tr h="303052">
                <a:tc>
                  <a:txBody>
                    <a:bodyPr/>
                    <a:lstStyle/>
                    <a:p>
                      <a:pPr algn="ctr"/>
                      <a:r>
                        <a:rPr sz="1000" b="0">
                          <a:solidFill>
                            <a:srgbClr val="262626"/>
                          </a:solidFill>
                          <a:latin typeface="游ゴシック"/>
                        </a:rPr>
                        <a:t>18</a:t>
                      </a:r>
                    </a:p>
                  </a:txBody>
                  <a:tcPr>
                    <a:solidFill>
                      <a:srgbClr val="A8C4C7"/>
                    </a:solidFill>
                  </a:tcPr>
                </a:tc>
                <a:tc>
                  <a:txBody>
                    <a:bodyPr/>
                    <a:lstStyle/>
                    <a:p>
                      <a:pPr algn="ctr"/>
                      <a:r>
                        <a:rPr sz="1000" b="1">
                          <a:solidFill>
                            <a:srgbClr val="262626"/>
                          </a:solidFill>
                          <a:latin typeface="游ゴシック"/>
                        </a:rPr>
                        <a:t>術後２週間後、退院時</a:t>
                      </a:r>
                    </a:p>
                  </a:txBody>
                  <a:tcPr>
                    <a:solidFill>
                      <a:srgbClr val="A8C4C7"/>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Q15-2-1.  「決まっている」を選択した方：術後何日目に実施するか【自由記述】  (2/7)</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19</a:t>
                      </a:r>
                    </a:p>
                  </a:txBody>
                  <a:tcPr/>
                </a:tc>
                <a:tc>
                  <a:txBody>
                    <a:bodyPr/>
                    <a:lstStyle/>
                    <a:p>
                      <a:pPr algn="ctr"/>
                      <a:r>
                        <a:rPr sz="1000" b="1">
                          <a:solidFill>
                            <a:srgbClr val="262626"/>
                          </a:solidFill>
                          <a:latin typeface="游ゴシック"/>
                        </a:rPr>
                        <a:t>術後14日、30日、90日、120日、365日</a:t>
                      </a:r>
                    </a:p>
                  </a:txBody>
                  <a:tcPr/>
                </a:tc>
              </a:tr>
              <a:tr h="303052">
                <a:tc>
                  <a:txBody>
                    <a:bodyPr/>
                    <a:lstStyle/>
                    <a:p>
                      <a:pPr algn="ctr"/>
                      <a:r>
                        <a:rPr sz="1000" b="0">
                          <a:solidFill>
                            <a:srgbClr val="262626"/>
                          </a:solidFill>
                          <a:latin typeface="游ゴシック"/>
                        </a:rPr>
                        <a:t>20</a:t>
                      </a:r>
                    </a:p>
                  </a:txBody>
                  <a:tcPr>
                    <a:solidFill>
                      <a:srgbClr val="A8C4C7"/>
                    </a:solidFill>
                  </a:tcPr>
                </a:tc>
                <a:tc>
                  <a:txBody>
                    <a:bodyPr/>
                    <a:lstStyle/>
                    <a:p>
                      <a:pPr algn="ctr"/>
                      <a:r>
                        <a:rPr sz="1000" b="1">
                          <a:solidFill>
                            <a:srgbClr val="262626"/>
                          </a:solidFill>
                          <a:latin typeface="游ゴシック"/>
                        </a:rPr>
                        <a:t>退院前日</a:t>
                      </a:r>
                    </a:p>
                  </a:txBody>
                  <a:tcPr>
                    <a:solidFill>
                      <a:srgbClr val="A8C4C7"/>
                    </a:solidFill>
                  </a:tcPr>
                </a:tc>
              </a:tr>
              <a:tr h="303052">
                <a:tc>
                  <a:txBody>
                    <a:bodyPr/>
                    <a:lstStyle/>
                    <a:p>
                      <a:pPr algn="ctr"/>
                      <a:r>
                        <a:rPr sz="1000" b="0">
                          <a:solidFill>
                            <a:srgbClr val="262626"/>
                          </a:solidFill>
                          <a:latin typeface="游ゴシック"/>
                        </a:rPr>
                        <a:t>21</a:t>
                      </a:r>
                    </a:p>
                  </a:txBody>
                  <a:tcPr/>
                </a:tc>
                <a:tc>
                  <a:txBody>
                    <a:bodyPr/>
                    <a:lstStyle/>
                    <a:p>
                      <a:pPr algn="ctr"/>
                      <a:r>
                        <a:rPr sz="1000" b="1">
                          <a:solidFill>
                            <a:srgbClr val="262626"/>
                          </a:solidFill>
                          <a:latin typeface="游ゴシック"/>
                        </a:rPr>
                        <a:t>術後10日</a:t>
                      </a:r>
                    </a:p>
                  </a:txBody>
                  <a:tcPr/>
                </a:tc>
              </a:tr>
              <a:tr h="303052">
                <a:tc>
                  <a:txBody>
                    <a:bodyPr/>
                    <a:lstStyle/>
                    <a:p>
                      <a:pPr algn="ctr"/>
                      <a:r>
                        <a:rPr sz="1000" b="0">
                          <a:solidFill>
                            <a:srgbClr val="262626"/>
                          </a:solidFill>
                          <a:latin typeface="游ゴシック"/>
                        </a:rPr>
                        <a:t>22</a:t>
                      </a:r>
                    </a:p>
                  </a:txBody>
                  <a:tcPr>
                    <a:solidFill>
                      <a:srgbClr val="A8C4C7"/>
                    </a:solidFill>
                  </a:tcPr>
                </a:tc>
                <a:tc>
                  <a:txBody>
                    <a:bodyPr/>
                    <a:lstStyle/>
                    <a:p>
                      <a:pPr algn="ctr"/>
                      <a:r>
                        <a:rPr sz="1000" b="1">
                          <a:solidFill>
                            <a:srgbClr val="262626"/>
                          </a:solidFill>
                          <a:latin typeface="游ゴシック"/>
                        </a:rPr>
                        <a:t>退院前日</a:t>
                      </a:r>
                    </a:p>
                  </a:txBody>
                  <a:tcPr>
                    <a:solidFill>
                      <a:srgbClr val="A8C4C7"/>
                    </a:solidFill>
                  </a:tcPr>
                </a:tc>
              </a:tr>
              <a:tr h="303052">
                <a:tc>
                  <a:txBody>
                    <a:bodyPr/>
                    <a:lstStyle/>
                    <a:p>
                      <a:pPr algn="ctr"/>
                      <a:r>
                        <a:rPr sz="1000" b="0">
                          <a:solidFill>
                            <a:srgbClr val="262626"/>
                          </a:solidFill>
                          <a:latin typeface="游ゴシック"/>
                        </a:rPr>
                        <a:t>23</a:t>
                      </a:r>
                    </a:p>
                  </a:txBody>
                  <a:tcPr/>
                </a:tc>
                <a:tc>
                  <a:txBody>
                    <a:bodyPr/>
                    <a:lstStyle/>
                    <a:p>
                      <a:pPr algn="ctr"/>
                      <a:r>
                        <a:rPr sz="1000" b="1">
                          <a:solidFill>
                            <a:srgbClr val="262626"/>
                          </a:solidFill>
                          <a:latin typeface="游ゴシック"/>
                        </a:rPr>
                        <a:t>30日、120日、180日、365日</a:t>
                      </a:r>
                    </a:p>
                  </a:txBody>
                  <a:tcPr/>
                </a:tc>
              </a:tr>
              <a:tr h="303052">
                <a:tc>
                  <a:txBody>
                    <a:bodyPr/>
                    <a:lstStyle/>
                    <a:p>
                      <a:pPr algn="ctr"/>
                      <a:r>
                        <a:rPr sz="1000" b="0">
                          <a:solidFill>
                            <a:srgbClr val="262626"/>
                          </a:solidFill>
                          <a:latin typeface="游ゴシック"/>
                        </a:rPr>
                        <a:t>24</a:t>
                      </a:r>
                    </a:p>
                  </a:txBody>
                  <a:tcPr>
                    <a:solidFill>
                      <a:srgbClr val="A8C4C7"/>
                    </a:solidFill>
                  </a:tcPr>
                </a:tc>
                <a:tc>
                  <a:txBody>
                    <a:bodyPr/>
                    <a:lstStyle/>
                    <a:p>
                      <a:pPr algn="ctr"/>
                      <a:r>
                        <a:rPr sz="1000" b="1">
                          <a:solidFill>
                            <a:srgbClr val="262626"/>
                          </a:solidFill>
                          <a:latin typeface="游ゴシック"/>
                        </a:rPr>
                        <a:t>術後14日目</a:t>
                      </a:r>
                    </a:p>
                  </a:txBody>
                  <a:tcPr>
                    <a:solidFill>
                      <a:srgbClr val="A8C4C7"/>
                    </a:solidFill>
                  </a:tcPr>
                </a:tc>
              </a:tr>
              <a:tr h="303052">
                <a:tc>
                  <a:txBody>
                    <a:bodyPr/>
                    <a:lstStyle/>
                    <a:p>
                      <a:pPr algn="ctr"/>
                      <a:r>
                        <a:rPr sz="1000" b="0">
                          <a:solidFill>
                            <a:srgbClr val="262626"/>
                          </a:solidFill>
                          <a:latin typeface="游ゴシック"/>
                        </a:rPr>
                        <a:t>25</a:t>
                      </a:r>
                    </a:p>
                  </a:txBody>
                  <a:tcPr/>
                </a:tc>
                <a:tc>
                  <a:txBody>
                    <a:bodyPr/>
                    <a:lstStyle/>
                    <a:p>
                      <a:pPr algn="ctr"/>
                      <a:r>
                        <a:rPr sz="1000" b="1">
                          <a:solidFill>
                            <a:srgbClr val="262626"/>
                          </a:solidFill>
                          <a:latin typeface="游ゴシック"/>
                        </a:rPr>
                        <a:t>術後1日目，術後14日目</a:t>
                      </a:r>
                    </a:p>
                  </a:txBody>
                  <a:tcPr/>
                </a:tc>
              </a:tr>
              <a:tr h="303052">
                <a:tc>
                  <a:txBody>
                    <a:bodyPr/>
                    <a:lstStyle/>
                    <a:p>
                      <a:pPr algn="ctr"/>
                      <a:r>
                        <a:rPr sz="1000" b="0">
                          <a:solidFill>
                            <a:srgbClr val="262626"/>
                          </a:solidFill>
                          <a:latin typeface="游ゴシック"/>
                        </a:rPr>
                        <a:t>26</a:t>
                      </a:r>
                    </a:p>
                  </a:txBody>
                  <a:tcPr>
                    <a:solidFill>
                      <a:srgbClr val="A8C4C7"/>
                    </a:solidFill>
                  </a:tcPr>
                </a:tc>
                <a:tc>
                  <a:txBody>
                    <a:bodyPr/>
                    <a:lstStyle/>
                    <a:p>
                      <a:pPr algn="ctr"/>
                      <a:r>
                        <a:rPr sz="1000" b="1">
                          <a:solidFill>
                            <a:srgbClr val="262626"/>
                          </a:solidFill>
                          <a:latin typeface="游ゴシック"/>
                        </a:rPr>
                        <a:t>14日目にSPPB、MMSE評価</a:t>
                      </a:r>
                    </a:p>
                  </a:txBody>
                  <a:tcPr>
                    <a:solidFill>
                      <a:srgbClr val="A8C4C7"/>
                    </a:solidFill>
                  </a:tcPr>
                </a:tc>
              </a:tr>
              <a:tr h="303052">
                <a:tc>
                  <a:txBody>
                    <a:bodyPr/>
                    <a:lstStyle/>
                    <a:p>
                      <a:pPr algn="ctr"/>
                      <a:r>
                        <a:rPr sz="1000" b="0">
                          <a:solidFill>
                            <a:srgbClr val="262626"/>
                          </a:solidFill>
                          <a:latin typeface="游ゴシック"/>
                        </a:rPr>
                        <a:t>27</a:t>
                      </a:r>
                    </a:p>
                  </a:txBody>
                  <a:tcPr/>
                </a:tc>
                <a:tc>
                  <a:txBody>
                    <a:bodyPr/>
                    <a:lstStyle/>
                    <a:p>
                      <a:pPr algn="ctr"/>
                      <a:r>
                        <a:rPr sz="1000" b="1">
                          <a:solidFill>
                            <a:srgbClr val="262626"/>
                          </a:solidFill>
                          <a:latin typeface="游ゴシック"/>
                        </a:rPr>
                        <a:t>術後１ＷＥＥＫ，退院日含めた３日間</a:t>
                      </a:r>
                    </a:p>
                  </a:txBody>
                  <a:tcPr/>
                </a:tc>
              </a:tr>
              <a:tr h="303052">
                <a:tc>
                  <a:txBody>
                    <a:bodyPr/>
                    <a:lstStyle/>
                    <a:p>
                      <a:pPr algn="ctr"/>
                      <a:r>
                        <a:rPr sz="1000" b="0">
                          <a:solidFill>
                            <a:srgbClr val="262626"/>
                          </a:solidFill>
                          <a:latin typeface="游ゴシック"/>
                        </a:rPr>
                        <a:t>28</a:t>
                      </a:r>
                    </a:p>
                  </a:txBody>
                  <a:tcPr>
                    <a:solidFill>
                      <a:srgbClr val="A8C4C7"/>
                    </a:solidFill>
                  </a:tcPr>
                </a:tc>
                <a:tc>
                  <a:txBody>
                    <a:bodyPr/>
                    <a:lstStyle/>
                    <a:p>
                      <a:pPr algn="ctr"/>
                      <a:r>
                        <a:rPr sz="1000" b="1">
                          <a:solidFill>
                            <a:srgbClr val="262626"/>
                          </a:solidFill>
                          <a:latin typeface="游ゴシック"/>
                        </a:rPr>
                        <a:t>認知機能は術後4～6日。TUG、10m歩行は術後13～15日。</a:t>
                      </a:r>
                    </a:p>
                  </a:txBody>
                  <a:tcPr>
                    <a:solidFill>
                      <a:srgbClr val="A8C4C7"/>
                    </a:solidFill>
                  </a:tcPr>
                </a:tc>
              </a:tr>
              <a:tr h="303052">
                <a:tc>
                  <a:txBody>
                    <a:bodyPr/>
                    <a:lstStyle/>
                    <a:p>
                      <a:pPr algn="ctr"/>
                      <a:r>
                        <a:rPr sz="1000" b="0">
                          <a:solidFill>
                            <a:srgbClr val="262626"/>
                          </a:solidFill>
                          <a:latin typeface="游ゴシック"/>
                        </a:rPr>
                        <a:t>29</a:t>
                      </a:r>
                    </a:p>
                  </a:txBody>
                  <a:tcPr/>
                </a:tc>
                <a:tc>
                  <a:txBody>
                    <a:bodyPr/>
                    <a:lstStyle/>
                    <a:p>
                      <a:pPr algn="ctr"/>
                      <a:r>
                        <a:rPr sz="1000" b="1">
                          <a:solidFill>
                            <a:srgbClr val="262626"/>
                          </a:solidFill>
                          <a:latin typeface="游ゴシック"/>
                        </a:rPr>
                        <a:t>過去の転倒歴、既往歴は術前に聴取、把握
認知機能は術後2週間で実施</a:t>
                      </a:r>
                    </a:p>
                  </a:txBody>
                  <a:tcPr/>
                </a:tc>
              </a:tr>
              <a:tr h="303052">
                <a:tc>
                  <a:txBody>
                    <a:bodyPr/>
                    <a:lstStyle/>
                    <a:p>
                      <a:pPr algn="ctr"/>
                      <a:r>
                        <a:rPr sz="1000" b="0">
                          <a:solidFill>
                            <a:srgbClr val="262626"/>
                          </a:solidFill>
                          <a:latin typeface="游ゴシック"/>
                        </a:rPr>
                        <a:t>30</a:t>
                      </a:r>
                    </a:p>
                  </a:txBody>
                  <a:tcPr>
                    <a:solidFill>
                      <a:srgbClr val="A8C4C7"/>
                    </a:solidFill>
                  </a:tcPr>
                </a:tc>
                <a:tc>
                  <a:txBody>
                    <a:bodyPr/>
                    <a:lstStyle/>
                    <a:p>
                      <a:pPr algn="ctr"/>
                      <a:r>
                        <a:rPr sz="1000" b="1">
                          <a:solidFill>
                            <a:srgbClr val="262626"/>
                          </a:solidFill>
                          <a:latin typeface="游ゴシック"/>
                        </a:rPr>
                        <a:t>術後７日目、14日目</a:t>
                      </a:r>
                    </a:p>
                  </a:txBody>
                  <a:tcPr>
                    <a:solidFill>
                      <a:srgbClr val="A8C4C7"/>
                    </a:solidFill>
                  </a:tcPr>
                </a:tc>
              </a:tr>
              <a:tr h="303052">
                <a:tc>
                  <a:txBody>
                    <a:bodyPr/>
                    <a:lstStyle/>
                    <a:p>
                      <a:pPr algn="ctr"/>
                      <a:r>
                        <a:rPr sz="1000" b="0">
                          <a:solidFill>
                            <a:srgbClr val="262626"/>
                          </a:solidFill>
                          <a:latin typeface="游ゴシック"/>
                        </a:rPr>
                        <a:t>31</a:t>
                      </a:r>
                    </a:p>
                  </a:txBody>
                  <a:tcPr/>
                </a:tc>
                <a:tc>
                  <a:txBody>
                    <a:bodyPr/>
                    <a:lstStyle/>
                    <a:p>
                      <a:pPr algn="ctr"/>
                      <a:r>
                        <a:rPr sz="1000" b="1">
                          <a:solidFill>
                            <a:srgbClr val="262626"/>
                          </a:solidFill>
                          <a:latin typeface="游ゴシック"/>
                        </a:rPr>
                        <a:t>1週間毎　退院時</a:t>
                      </a:r>
                    </a:p>
                  </a:txBody>
                  <a:tcPr/>
                </a:tc>
              </a:tr>
              <a:tr h="303052">
                <a:tc>
                  <a:txBody>
                    <a:bodyPr/>
                    <a:lstStyle/>
                    <a:p>
                      <a:pPr algn="ctr"/>
                      <a:r>
                        <a:rPr sz="1000" b="0">
                          <a:solidFill>
                            <a:srgbClr val="262626"/>
                          </a:solidFill>
                          <a:latin typeface="游ゴシック"/>
                        </a:rPr>
                        <a:t>32</a:t>
                      </a:r>
                    </a:p>
                  </a:txBody>
                  <a:tcPr>
                    <a:solidFill>
                      <a:srgbClr val="A8C4C7"/>
                    </a:solidFill>
                  </a:tcPr>
                </a:tc>
                <a:tc>
                  <a:txBody>
                    <a:bodyPr/>
                    <a:lstStyle/>
                    <a:p>
                      <a:pPr algn="ctr"/>
                      <a:r>
                        <a:rPr sz="1000" b="1">
                          <a:solidFill>
                            <a:srgbClr val="262626"/>
                          </a:solidFill>
                          <a:latin typeface="游ゴシック"/>
                        </a:rPr>
                        <a:t>１週間以内</a:t>
                      </a:r>
                    </a:p>
                  </a:txBody>
                  <a:tcPr>
                    <a:solidFill>
                      <a:srgbClr val="A8C4C7"/>
                    </a:solidFill>
                  </a:tcPr>
                </a:tc>
              </a:tr>
              <a:tr h="303052">
                <a:tc>
                  <a:txBody>
                    <a:bodyPr/>
                    <a:lstStyle/>
                    <a:p>
                      <a:pPr algn="ctr"/>
                      <a:r>
                        <a:rPr sz="1000" b="0">
                          <a:solidFill>
                            <a:srgbClr val="262626"/>
                          </a:solidFill>
                          <a:latin typeface="游ゴシック"/>
                        </a:rPr>
                        <a:t>33</a:t>
                      </a:r>
                    </a:p>
                  </a:txBody>
                  <a:tcPr/>
                </a:tc>
                <a:tc>
                  <a:txBody>
                    <a:bodyPr/>
                    <a:lstStyle/>
                    <a:p>
                      <a:pPr algn="ctr"/>
                      <a:r>
                        <a:rPr sz="1000" b="1">
                          <a:solidFill>
                            <a:srgbClr val="262626"/>
                          </a:solidFill>
                          <a:latin typeface="游ゴシック"/>
                        </a:rPr>
                        <a:t>7日目</a:t>
                      </a:r>
                    </a:p>
                  </a:txBody>
                  <a:tcPr/>
                </a:tc>
              </a:tr>
              <a:tr h="303052">
                <a:tc>
                  <a:txBody>
                    <a:bodyPr/>
                    <a:lstStyle/>
                    <a:p>
                      <a:pPr algn="ctr"/>
                      <a:r>
                        <a:rPr sz="1000" b="0">
                          <a:solidFill>
                            <a:srgbClr val="262626"/>
                          </a:solidFill>
                          <a:latin typeface="游ゴシック"/>
                        </a:rPr>
                        <a:t>34</a:t>
                      </a:r>
                    </a:p>
                  </a:txBody>
                  <a:tcPr>
                    <a:solidFill>
                      <a:srgbClr val="A8C4C7"/>
                    </a:solidFill>
                  </a:tcPr>
                </a:tc>
                <a:tc>
                  <a:txBody>
                    <a:bodyPr/>
                    <a:lstStyle/>
                    <a:p>
                      <a:pPr algn="ctr"/>
                      <a:r>
                        <a:rPr sz="1000" b="1">
                          <a:solidFill>
                            <a:srgbClr val="262626"/>
                          </a:solidFill>
                          <a:latin typeface="游ゴシック"/>
                        </a:rPr>
                        <a:t>退院時、転院時、外来時</a:t>
                      </a:r>
                    </a:p>
                  </a:txBody>
                  <a:tcPr>
                    <a:solidFill>
                      <a:srgbClr val="A8C4C7"/>
                    </a:solidFill>
                  </a:tcPr>
                </a:tc>
              </a:tr>
              <a:tr h="303052">
                <a:tc>
                  <a:txBody>
                    <a:bodyPr/>
                    <a:lstStyle/>
                    <a:p>
                      <a:pPr algn="ctr"/>
                      <a:r>
                        <a:rPr sz="1000" b="0">
                          <a:solidFill>
                            <a:srgbClr val="262626"/>
                          </a:solidFill>
                          <a:latin typeface="游ゴシック"/>
                        </a:rPr>
                        <a:t>35</a:t>
                      </a:r>
                    </a:p>
                  </a:txBody>
                  <a:tcPr/>
                </a:tc>
                <a:tc>
                  <a:txBody>
                    <a:bodyPr/>
                    <a:lstStyle/>
                    <a:p>
                      <a:pPr algn="ctr"/>
                      <a:r>
                        <a:rPr sz="1000" b="1">
                          <a:solidFill>
                            <a:srgbClr val="262626"/>
                          </a:solidFill>
                          <a:latin typeface="游ゴシック"/>
                        </a:rPr>
                        <a:t>翌日</a:t>
                      </a:r>
                    </a:p>
                  </a:txBody>
                  <a:tcPr/>
                </a:tc>
              </a:tr>
              <a:tr h="303052">
                <a:tc>
                  <a:txBody>
                    <a:bodyPr/>
                    <a:lstStyle/>
                    <a:p>
                      <a:pPr algn="ctr"/>
                      <a:r>
                        <a:rPr sz="1000" b="0">
                          <a:solidFill>
                            <a:srgbClr val="262626"/>
                          </a:solidFill>
                          <a:latin typeface="游ゴシック"/>
                        </a:rPr>
                        <a:t>36</a:t>
                      </a:r>
                    </a:p>
                  </a:txBody>
                  <a:tcPr>
                    <a:solidFill>
                      <a:srgbClr val="A8C4C7"/>
                    </a:solidFill>
                  </a:tcPr>
                </a:tc>
                <a:tc>
                  <a:txBody>
                    <a:bodyPr/>
                    <a:lstStyle/>
                    <a:p>
                      <a:pPr algn="ctr"/>
                      <a:r>
                        <a:rPr sz="1000" b="1">
                          <a:solidFill>
                            <a:srgbClr val="262626"/>
                          </a:solidFill>
                          <a:latin typeface="游ゴシック"/>
                        </a:rPr>
                        <a:t>術後1週間以内を目処に各自で取り組んでいる。術前に可能な評価は術前に実施。評価結果はカンファレンスで報告し、多職種と情報共有を行っている。</a:t>
                      </a:r>
                    </a:p>
                  </a:txBody>
                  <a:tcPr>
                    <a:solidFill>
                      <a:srgbClr val="A8C4C7"/>
                    </a:solidFill>
                  </a:tcPr>
                </a:tc>
              </a:tr>
            </a:tbl>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Q15-2-1.  「決まっている」を選択した方：術後何日目に実施するか【自由記述】  (3/7)</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37</a:t>
                      </a:r>
                    </a:p>
                  </a:txBody>
                  <a:tcPr/>
                </a:tc>
                <a:tc>
                  <a:txBody>
                    <a:bodyPr/>
                    <a:lstStyle/>
                    <a:p>
                      <a:pPr algn="ctr"/>
                      <a:r>
                        <a:rPr sz="1000" b="1">
                          <a:solidFill>
                            <a:srgbClr val="262626"/>
                          </a:solidFill>
                          <a:latin typeface="游ゴシック"/>
                        </a:rPr>
                        <a:t>質問表による評価は術前に実施、その他の動的な評価は術後1週、2週、4週、退院前に実施しています。</a:t>
                      </a:r>
                    </a:p>
                  </a:txBody>
                  <a:tcPr/>
                </a:tc>
              </a:tr>
              <a:tr h="303052">
                <a:tc>
                  <a:txBody>
                    <a:bodyPr/>
                    <a:lstStyle/>
                    <a:p>
                      <a:pPr algn="ctr"/>
                      <a:r>
                        <a:rPr sz="1000" b="0">
                          <a:solidFill>
                            <a:srgbClr val="262626"/>
                          </a:solidFill>
                          <a:latin typeface="游ゴシック"/>
                        </a:rPr>
                        <a:t>38</a:t>
                      </a:r>
                    </a:p>
                  </a:txBody>
                  <a:tcPr>
                    <a:solidFill>
                      <a:srgbClr val="A8C4C7"/>
                    </a:solidFill>
                  </a:tcPr>
                </a:tc>
                <a:tc>
                  <a:txBody>
                    <a:bodyPr/>
                    <a:lstStyle/>
                    <a:p>
                      <a:pPr algn="ctr"/>
                      <a:r>
                        <a:rPr sz="1000" b="1">
                          <a:solidFill>
                            <a:srgbClr val="262626"/>
                          </a:solidFill>
                          <a:latin typeface="游ゴシック"/>
                        </a:rPr>
                        <a:t>術前から術後2日目の間</a:t>
                      </a:r>
                    </a:p>
                  </a:txBody>
                  <a:tcPr>
                    <a:solidFill>
                      <a:srgbClr val="A8C4C7"/>
                    </a:solidFill>
                  </a:tcPr>
                </a:tc>
              </a:tr>
              <a:tr h="303052">
                <a:tc>
                  <a:txBody>
                    <a:bodyPr/>
                    <a:lstStyle/>
                    <a:p>
                      <a:pPr algn="ctr"/>
                      <a:r>
                        <a:rPr sz="1000" b="0">
                          <a:solidFill>
                            <a:srgbClr val="262626"/>
                          </a:solidFill>
                          <a:latin typeface="游ゴシック"/>
                        </a:rPr>
                        <a:t>39</a:t>
                      </a:r>
                    </a:p>
                  </a:txBody>
                  <a:tcPr/>
                </a:tc>
                <a:tc>
                  <a:txBody>
                    <a:bodyPr/>
                    <a:lstStyle/>
                    <a:p>
                      <a:pPr algn="ctr"/>
                      <a:r>
                        <a:rPr sz="1000" b="1">
                          <a:solidFill>
                            <a:srgbClr val="262626"/>
                          </a:solidFill>
                          <a:latin typeface="游ゴシック"/>
                        </a:rPr>
                        <a:t>14日目</a:t>
                      </a:r>
                    </a:p>
                  </a:txBody>
                  <a:tcPr/>
                </a:tc>
              </a:tr>
              <a:tr h="303052">
                <a:tc>
                  <a:txBody>
                    <a:bodyPr/>
                    <a:lstStyle/>
                    <a:p>
                      <a:pPr algn="ctr"/>
                      <a:r>
                        <a:rPr sz="1000" b="0">
                          <a:solidFill>
                            <a:srgbClr val="262626"/>
                          </a:solidFill>
                          <a:latin typeface="游ゴシック"/>
                        </a:rPr>
                        <a:t>40</a:t>
                      </a:r>
                    </a:p>
                  </a:txBody>
                  <a:tcPr>
                    <a:solidFill>
                      <a:srgbClr val="A8C4C7"/>
                    </a:solidFill>
                  </a:tcPr>
                </a:tc>
                <a:tc>
                  <a:txBody>
                    <a:bodyPr/>
                    <a:lstStyle/>
                    <a:p>
                      <a:pPr algn="ctr"/>
                      <a:r>
                        <a:rPr sz="1000" b="1">
                          <a:solidFill>
                            <a:srgbClr val="262626"/>
                          </a:solidFill>
                          <a:latin typeface="游ゴシック"/>
                        </a:rPr>
                        <a:t>１週間以内</a:t>
                      </a:r>
                    </a:p>
                  </a:txBody>
                  <a:tcPr>
                    <a:solidFill>
                      <a:srgbClr val="A8C4C7"/>
                    </a:solidFill>
                  </a:tcPr>
                </a:tc>
              </a:tr>
              <a:tr h="303052">
                <a:tc>
                  <a:txBody>
                    <a:bodyPr/>
                    <a:lstStyle/>
                    <a:p>
                      <a:pPr algn="ctr"/>
                      <a:r>
                        <a:rPr sz="1000" b="0">
                          <a:solidFill>
                            <a:srgbClr val="262626"/>
                          </a:solidFill>
                          <a:latin typeface="游ゴシック"/>
                        </a:rPr>
                        <a:t>41</a:t>
                      </a:r>
                    </a:p>
                  </a:txBody>
                  <a:tcPr/>
                </a:tc>
                <a:tc>
                  <a:txBody>
                    <a:bodyPr/>
                    <a:lstStyle/>
                    <a:p>
                      <a:pPr algn="ctr"/>
                      <a:r>
                        <a:rPr sz="1000" b="1">
                          <a:solidFill>
                            <a:srgbClr val="262626"/>
                          </a:solidFill>
                          <a:latin typeface="游ゴシック"/>
                        </a:rPr>
                        <a:t>歩行開始期から毎日</a:t>
                      </a:r>
                    </a:p>
                  </a:txBody>
                  <a:tcPr/>
                </a:tc>
              </a:tr>
              <a:tr h="303052">
                <a:tc>
                  <a:txBody>
                    <a:bodyPr/>
                    <a:lstStyle/>
                    <a:p>
                      <a:pPr algn="ctr"/>
                      <a:r>
                        <a:rPr sz="1000" b="0">
                          <a:solidFill>
                            <a:srgbClr val="262626"/>
                          </a:solidFill>
                          <a:latin typeface="游ゴシック"/>
                        </a:rPr>
                        <a:t>42</a:t>
                      </a:r>
                    </a:p>
                  </a:txBody>
                  <a:tcPr>
                    <a:solidFill>
                      <a:srgbClr val="A8C4C7"/>
                    </a:solidFill>
                  </a:tcPr>
                </a:tc>
                <a:tc>
                  <a:txBody>
                    <a:bodyPr/>
                    <a:lstStyle/>
                    <a:p>
                      <a:pPr algn="ctr"/>
                      <a:r>
                        <a:rPr sz="1000" b="1">
                          <a:solidFill>
                            <a:srgbClr val="262626"/>
                          </a:solidFill>
                          <a:latin typeface="游ゴシック"/>
                        </a:rPr>
                        <a:t>3ヶ月、6ヶ月、1年の再診時</a:t>
                      </a:r>
                    </a:p>
                  </a:txBody>
                  <a:tcPr>
                    <a:solidFill>
                      <a:srgbClr val="A8C4C7"/>
                    </a:solidFill>
                  </a:tcPr>
                </a:tc>
              </a:tr>
              <a:tr h="303052">
                <a:tc>
                  <a:txBody>
                    <a:bodyPr/>
                    <a:lstStyle/>
                    <a:p>
                      <a:pPr algn="ctr"/>
                      <a:r>
                        <a:rPr sz="1000" b="0">
                          <a:solidFill>
                            <a:srgbClr val="262626"/>
                          </a:solidFill>
                          <a:latin typeface="游ゴシック"/>
                        </a:rPr>
                        <a:t>43</a:t>
                      </a:r>
                    </a:p>
                  </a:txBody>
                  <a:tcPr/>
                </a:tc>
                <a:tc>
                  <a:txBody>
                    <a:bodyPr/>
                    <a:lstStyle/>
                    <a:p>
                      <a:pPr algn="ctr"/>
                      <a:r>
                        <a:rPr sz="1000" b="1">
                          <a:solidFill>
                            <a:srgbClr val="262626"/>
                          </a:solidFill>
                          <a:latin typeface="游ゴシック"/>
                        </a:rPr>
                        <a:t>14日目</a:t>
                      </a:r>
                    </a:p>
                  </a:txBody>
                  <a:tcPr/>
                </a:tc>
              </a:tr>
              <a:tr h="303052">
                <a:tc>
                  <a:txBody>
                    <a:bodyPr/>
                    <a:lstStyle/>
                    <a:p>
                      <a:pPr algn="ctr"/>
                      <a:r>
                        <a:rPr sz="1000" b="0">
                          <a:solidFill>
                            <a:srgbClr val="262626"/>
                          </a:solidFill>
                          <a:latin typeface="游ゴシック"/>
                        </a:rPr>
                        <a:t>44</a:t>
                      </a:r>
                    </a:p>
                  </a:txBody>
                  <a:tcPr>
                    <a:solidFill>
                      <a:srgbClr val="A8C4C7"/>
                    </a:solidFill>
                  </a:tcPr>
                </a:tc>
                <a:tc>
                  <a:txBody>
                    <a:bodyPr/>
                    <a:lstStyle/>
                    <a:p>
                      <a:pPr algn="ctr"/>
                      <a:r>
                        <a:rPr sz="1000" b="1">
                          <a:solidFill>
                            <a:srgbClr val="262626"/>
                          </a:solidFill>
                          <a:latin typeface="游ゴシック"/>
                        </a:rPr>
                        <a:t>項目によって違い、
握力や認知機能は遅くても7日目以内、
10メートル歩行やTUGは14日目以内（転院前、杖歩行以上可能な方に限定）</a:t>
                      </a:r>
                    </a:p>
                  </a:txBody>
                  <a:tcPr>
                    <a:solidFill>
                      <a:srgbClr val="A8C4C7"/>
                    </a:solidFill>
                  </a:tcPr>
                </a:tc>
              </a:tr>
              <a:tr h="303052">
                <a:tc>
                  <a:txBody>
                    <a:bodyPr/>
                    <a:lstStyle/>
                    <a:p>
                      <a:pPr algn="ctr"/>
                      <a:r>
                        <a:rPr sz="1000" b="0">
                          <a:solidFill>
                            <a:srgbClr val="262626"/>
                          </a:solidFill>
                          <a:latin typeface="游ゴシック"/>
                        </a:rPr>
                        <a:t>45</a:t>
                      </a:r>
                    </a:p>
                  </a:txBody>
                  <a:tcPr/>
                </a:tc>
                <a:tc>
                  <a:txBody>
                    <a:bodyPr/>
                    <a:lstStyle/>
                    <a:p>
                      <a:pPr algn="ctr"/>
                      <a:r>
                        <a:rPr sz="1000" b="1">
                          <a:solidFill>
                            <a:srgbClr val="262626"/>
                          </a:solidFill>
                          <a:latin typeface="游ゴシック"/>
                        </a:rPr>
                        <a:t>術後１週間以内、術後１か月、退院前、退院後初回外来</a:t>
                      </a:r>
                    </a:p>
                  </a:txBody>
                  <a:tcPr/>
                </a:tc>
              </a:tr>
              <a:tr h="303052">
                <a:tc>
                  <a:txBody>
                    <a:bodyPr/>
                    <a:lstStyle/>
                    <a:p>
                      <a:pPr algn="ctr"/>
                      <a:r>
                        <a:rPr sz="1000" b="0">
                          <a:solidFill>
                            <a:srgbClr val="262626"/>
                          </a:solidFill>
                          <a:latin typeface="游ゴシック"/>
                        </a:rPr>
                        <a:t>46</a:t>
                      </a:r>
                    </a:p>
                  </a:txBody>
                  <a:tcPr>
                    <a:solidFill>
                      <a:srgbClr val="A8C4C7"/>
                    </a:solidFill>
                  </a:tcPr>
                </a:tc>
                <a:tc>
                  <a:txBody>
                    <a:bodyPr/>
                    <a:lstStyle/>
                    <a:p>
                      <a:pPr algn="ctr"/>
                      <a:r>
                        <a:rPr sz="1000" b="1">
                          <a:solidFill>
                            <a:srgbClr val="262626"/>
                          </a:solidFill>
                          <a:latin typeface="游ゴシック"/>
                        </a:rPr>
                        <a:t>初期評価は術語3日目でその後治療が継続していれば、１か月目、３か月目、６か月目</a:t>
                      </a:r>
                    </a:p>
                  </a:txBody>
                  <a:tcPr>
                    <a:solidFill>
                      <a:srgbClr val="A8C4C7"/>
                    </a:solidFill>
                  </a:tcPr>
                </a:tc>
              </a:tr>
              <a:tr h="303052">
                <a:tc>
                  <a:txBody>
                    <a:bodyPr/>
                    <a:lstStyle/>
                    <a:p>
                      <a:pPr algn="ctr"/>
                      <a:r>
                        <a:rPr sz="1000" b="0">
                          <a:solidFill>
                            <a:srgbClr val="262626"/>
                          </a:solidFill>
                          <a:latin typeface="游ゴシック"/>
                        </a:rPr>
                        <a:t>47</a:t>
                      </a:r>
                    </a:p>
                  </a:txBody>
                  <a:tcPr/>
                </a:tc>
                <a:tc>
                  <a:txBody>
                    <a:bodyPr/>
                    <a:lstStyle/>
                    <a:p>
                      <a:pPr algn="ctr"/>
                      <a:r>
                        <a:rPr sz="1000" b="1">
                          <a:solidFill>
                            <a:srgbClr val="262626"/>
                          </a:solidFill>
                          <a:latin typeface="游ゴシック"/>
                        </a:rPr>
                        <a:t>1年ごと</a:t>
                      </a:r>
                    </a:p>
                  </a:txBody>
                  <a:tcPr/>
                </a:tc>
              </a:tr>
              <a:tr h="303052">
                <a:tc>
                  <a:txBody>
                    <a:bodyPr/>
                    <a:lstStyle/>
                    <a:p>
                      <a:pPr algn="ctr"/>
                      <a:r>
                        <a:rPr sz="1000" b="0">
                          <a:solidFill>
                            <a:srgbClr val="262626"/>
                          </a:solidFill>
                          <a:latin typeface="游ゴシック"/>
                        </a:rPr>
                        <a:t>48</a:t>
                      </a:r>
                    </a:p>
                  </a:txBody>
                  <a:tcPr>
                    <a:solidFill>
                      <a:srgbClr val="A8C4C7"/>
                    </a:solidFill>
                  </a:tcPr>
                </a:tc>
                <a:tc>
                  <a:txBody>
                    <a:bodyPr/>
                    <a:lstStyle/>
                    <a:p>
                      <a:pPr algn="ctr"/>
                      <a:r>
                        <a:rPr sz="1000" b="1">
                          <a:solidFill>
                            <a:srgbClr val="262626"/>
                          </a:solidFill>
                          <a:latin typeface="游ゴシック"/>
                        </a:rPr>
                        <a:t>術後７日目</a:t>
                      </a:r>
                    </a:p>
                  </a:txBody>
                  <a:tcPr>
                    <a:solidFill>
                      <a:srgbClr val="A8C4C7"/>
                    </a:solidFill>
                  </a:tcPr>
                </a:tc>
              </a:tr>
              <a:tr h="303052">
                <a:tc>
                  <a:txBody>
                    <a:bodyPr/>
                    <a:lstStyle/>
                    <a:p>
                      <a:pPr algn="ctr"/>
                      <a:r>
                        <a:rPr sz="1000" b="0">
                          <a:solidFill>
                            <a:srgbClr val="262626"/>
                          </a:solidFill>
                          <a:latin typeface="游ゴシック"/>
                        </a:rPr>
                        <a:t>49</a:t>
                      </a:r>
                    </a:p>
                  </a:txBody>
                  <a:tcPr/>
                </a:tc>
                <a:tc>
                  <a:txBody>
                    <a:bodyPr/>
                    <a:lstStyle/>
                    <a:p>
                      <a:pPr algn="ctr"/>
                      <a:r>
                        <a:rPr sz="1000" b="1">
                          <a:solidFill>
                            <a:srgbClr val="262626"/>
                          </a:solidFill>
                          <a:latin typeface="游ゴシック"/>
                        </a:rPr>
                        <a:t>１週間以内</a:t>
                      </a:r>
                    </a:p>
                  </a:txBody>
                  <a:tcPr/>
                </a:tc>
              </a:tr>
              <a:tr h="303052">
                <a:tc>
                  <a:txBody>
                    <a:bodyPr/>
                    <a:lstStyle/>
                    <a:p>
                      <a:pPr algn="ctr"/>
                      <a:r>
                        <a:rPr sz="1000" b="0">
                          <a:solidFill>
                            <a:srgbClr val="262626"/>
                          </a:solidFill>
                          <a:latin typeface="游ゴシック"/>
                        </a:rPr>
                        <a:t>50</a:t>
                      </a:r>
                    </a:p>
                  </a:txBody>
                  <a:tcPr>
                    <a:solidFill>
                      <a:srgbClr val="A8C4C7"/>
                    </a:solidFill>
                  </a:tcPr>
                </a:tc>
                <a:tc>
                  <a:txBody>
                    <a:bodyPr/>
                    <a:lstStyle/>
                    <a:p>
                      <a:pPr algn="ctr"/>
                      <a:r>
                        <a:rPr sz="1000" b="1">
                          <a:solidFill>
                            <a:srgbClr val="262626"/>
                          </a:solidFill>
                          <a:latin typeface="游ゴシック"/>
                        </a:rPr>
                        <a:t>可能であれば初日</a:t>
                      </a:r>
                    </a:p>
                  </a:txBody>
                  <a:tcPr>
                    <a:solidFill>
                      <a:srgbClr val="A8C4C7"/>
                    </a:solidFill>
                  </a:tcPr>
                </a:tc>
              </a:tr>
              <a:tr h="303052">
                <a:tc>
                  <a:txBody>
                    <a:bodyPr/>
                    <a:lstStyle/>
                    <a:p>
                      <a:pPr algn="ctr"/>
                      <a:r>
                        <a:rPr sz="1000" b="0">
                          <a:solidFill>
                            <a:srgbClr val="262626"/>
                          </a:solidFill>
                          <a:latin typeface="游ゴシック"/>
                        </a:rPr>
                        <a:t>51</a:t>
                      </a:r>
                    </a:p>
                  </a:txBody>
                  <a:tcPr/>
                </a:tc>
                <a:tc>
                  <a:txBody>
                    <a:bodyPr/>
                    <a:lstStyle/>
                    <a:p>
                      <a:pPr algn="ctr"/>
                      <a:r>
                        <a:rPr sz="1000" b="1">
                          <a:solidFill>
                            <a:srgbClr val="262626"/>
                          </a:solidFill>
                          <a:latin typeface="游ゴシック"/>
                        </a:rPr>
                        <a:t>認知機能は原則術前。
バランス評価項目は、安全管理（トイレ歩行などの移動手段）を変更する際の評価として実施している。</a:t>
                      </a:r>
                    </a:p>
                  </a:txBody>
                  <a:tcPr/>
                </a:tc>
              </a:tr>
              <a:tr h="303052">
                <a:tc>
                  <a:txBody>
                    <a:bodyPr/>
                    <a:lstStyle/>
                    <a:p>
                      <a:pPr algn="ctr"/>
                      <a:r>
                        <a:rPr sz="1000" b="0">
                          <a:solidFill>
                            <a:srgbClr val="262626"/>
                          </a:solidFill>
                          <a:latin typeface="游ゴシック"/>
                        </a:rPr>
                        <a:t>52</a:t>
                      </a:r>
                    </a:p>
                  </a:txBody>
                  <a:tcPr>
                    <a:solidFill>
                      <a:srgbClr val="A8C4C7"/>
                    </a:solidFill>
                  </a:tcPr>
                </a:tc>
                <a:tc>
                  <a:txBody>
                    <a:bodyPr/>
                    <a:lstStyle/>
                    <a:p>
                      <a:pPr algn="ctr"/>
                      <a:r>
                        <a:rPr sz="1000" b="1">
                          <a:solidFill>
                            <a:srgbClr val="262626"/>
                          </a:solidFill>
                          <a:latin typeface="游ゴシック"/>
                        </a:rPr>
                        <a:t>下肢であれば術後３０日、９０日。脊椎疾患であれば術後１週間、３０日、６０日、９０日。</a:t>
                      </a:r>
                    </a:p>
                  </a:txBody>
                  <a:tcPr>
                    <a:solidFill>
                      <a:srgbClr val="A8C4C7"/>
                    </a:solidFill>
                  </a:tcPr>
                </a:tc>
              </a:tr>
              <a:tr h="303052">
                <a:tc>
                  <a:txBody>
                    <a:bodyPr/>
                    <a:lstStyle/>
                    <a:p>
                      <a:pPr algn="ctr"/>
                      <a:r>
                        <a:rPr sz="1000" b="0">
                          <a:solidFill>
                            <a:srgbClr val="262626"/>
                          </a:solidFill>
                          <a:latin typeface="游ゴシック"/>
                        </a:rPr>
                        <a:t>53</a:t>
                      </a:r>
                    </a:p>
                  </a:txBody>
                  <a:tcPr/>
                </a:tc>
                <a:tc>
                  <a:txBody>
                    <a:bodyPr/>
                    <a:lstStyle/>
                    <a:p>
                      <a:pPr algn="ctr"/>
                      <a:r>
                        <a:rPr sz="1000" b="1">
                          <a:solidFill>
                            <a:srgbClr val="262626"/>
                          </a:solidFill>
                          <a:latin typeface="游ゴシック"/>
                        </a:rPr>
                        <a:t>AMTSは可能な限り術前、MMSE-Jは術後2日目に実施</a:t>
                      </a:r>
                    </a:p>
                  </a:txBody>
                  <a:tcPr/>
                </a:tc>
              </a:tr>
              <a:tr h="303052">
                <a:tc>
                  <a:txBody>
                    <a:bodyPr/>
                    <a:lstStyle/>
                    <a:p>
                      <a:pPr algn="ctr"/>
                      <a:r>
                        <a:rPr sz="1000" b="0">
                          <a:solidFill>
                            <a:srgbClr val="262626"/>
                          </a:solidFill>
                          <a:latin typeface="游ゴシック"/>
                        </a:rPr>
                        <a:t>54</a:t>
                      </a:r>
                    </a:p>
                  </a:txBody>
                  <a:tcPr>
                    <a:solidFill>
                      <a:srgbClr val="A8C4C7"/>
                    </a:solidFill>
                  </a:tcPr>
                </a:tc>
                <a:tc>
                  <a:txBody>
                    <a:bodyPr/>
                    <a:lstStyle/>
                    <a:p>
                      <a:pPr algn="ctr"/>
                      <a:r>
                        <a:rPr sz="1000" b="1">
                          <a:solidFill>
                            <a:srgbClr val="262626"/>
                          </a:solidFill>
                          <a:latin typeface="游ゴシック"/>
                        </a:rPr>
                        <a:t>1日目</a:t>
                      </a:r>
                    </a:p>
                  </a:txBody>
                  <a:tcPr>
                    <a:solidFill>
                      <a:srgbClr val="A8C4C7"/>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Q15-2-1.  「決まっている」を選択した方：術後何日目に実施するか【自由記述】  (4/7)</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55</a:t>
                      </a:r>
                    </a:p>
                  </a:txBody>
                  <a:tcPr/>
                </a:tc>
                <a:tc>
                  <a:txBody>
                    <a:bodyPr/>
                    <a:lstStyle/>
                    <a:p>
                      <a:pPr algn="ctr"/>
                      <a:r>
                        <a:rPr sz="1000" b="1">
                          <a:solidFill>
                            <a:srgbClr val="262626"/>
                          </a:solidFill>
                          <a:latin typeface="游ゴシック"/>
                        </a:rPr>
                        <a:t>7,14</a:t>
                      </a:r>
                    </a:p>
                  </a:txBody>
                  <a:tcPr/>
                </a:tc>
              </a:tr>
              <a:tr h="303052">
                <a:tc>
                  <a:txBody>
                    <a:bodyPr/>
                    <a:lstStyle/>
                    <a:p>
                      <a:pPr algn="ctr"/>
                      <a:r>
                        <a:rPr sz="1000" b="0">
                          <a:solidFill>
                            <a:srgbClr val="262626"/>
                          </a:solidFill>
                          <a:latin typeface="游ゴシック"/>
                        </a:rPr>
                        <a:t>56</a:t>
                      </a:r>
                    </a:p>
                  </a:txBody>
                  <a:tcPr>
                    <a:solidFill>
                      <a:srgbClr val="A8C4C7"/>
                    </a:solidFill>
                  </a:tcPr>
                </a:tc>
                <a:tc>
                  <a:txBody>
                    <a:bodyPr/>
                    <a:lstStyle/>
                    <a:p>
                      <a:pPr algn="ctr"/>
                      <a:r>
                        <a:rPr sz="1000" b="1">
                          <a:solidFill>
                            <a:srgbClr val="262626"/>
                          </a:solidFill>
                          <a:latin typeface="游ゴシック"/>
                        </a:rPr>
                        <a:t>7日目</a:t>
                      </a:r>
                    </a:p>
                  </a:txBody>
                  <a:tcPr>
                    <a:solidFill>
                      <a:srgbClr val="A8C4C7"/>
                    </a:solidFill>
                  </a:tcPr>
                </a:tc>
              </a:tr>
              <a:tr h="303052">
                <a:tc>
                  <a:txBody>
                    <a:bodyPr/>
                    <a:lstStyle/>
                    <a:p>
                      <a:pPr algn="ctr"/>
                      <a:r>
                        <a:rPr sz="1000" b="0">
                          <a:solidFill>
                            <a:srgbClr val="262626"/>
                          </a:solidFill>
                          <a:latin typeface="游ゴシック"/>
                        </a:rPr>
                        <a:t>57</a:t>
                      </a:r>
                    </a:p>
                  </a:txBody>
                  <a:tcPr/>
                </a:tc>
                <a:tc>
                  <a:txBody>
                    <a:bodyPr/>
                    <a:lstStyle/>
                    <a:p>
                      <a:pPr algn="ctr"/>
                      <a:r>
                        <a:rPr sz="1000" b="1">
                          <a:solidFill>
                            <a:srgbClr val="262626"/>
                          </a:solidFill>
                          <a:latin typeface="游ゴシック"/>
                        </a:rPr>
                        <a:t>術後７日以内</a:t>
                      </a:r>
                    </a:p>
                  </a:txBody>
                  <a:tcPr/>
                </a:tc>
              </a:tr>
              <a:tr h="303052">
                <a:tc>
                  <a:txBody>
                    <a:bodyPr/>
                    <a:lstStyle/>
                    <a:p>
                      <a:pPr algn="ctr"/>
                      <a:r>
                        <a:rPr sz="1000" b="0">
                          <a:solidFill>
                            <a:srgbClr val="262626"/>
                          </a:solidFill>
                          <a:latin typeface="游ゴシック"/>
                        </a:rPr>
                        <a:t>58</a:t>
                      </a:r>
                    </a:p>
                  </a:txBody>
                  <a:tcPr>
                    <a:solidFill>
                      <a:srgbClr val="A8C4C7"/>
                    </a:solidFill>
                  </a:tcPr>
                </a:tc>
                <a:tc>
                  <a:txBody>
                    <a:bodyPr/>
                    <a:lstStyle/>
                    <a:p>
                      <a:pPr algn="ctr"/>
                      <a:r>
                        <a:rPr sz="1000" b="1">
                          <a:solidFill>
                            <a:srgbClr val="262626"/>
                          </a:solidFill>
                          <a:latin typeface="游ゴシック"/>
                        </a:rPr>
                        <a:t>術後2週間以内</a:t>
                      </a:r>
                    </a:p>
                  </a:txBody>
                  <a:tcPr>
                    <a:solidFill>
                      <a:srgbClr val="A8C4C7"/>
                    </a:solidFill>
                  </a:tcPr>
                </a:tc>
              </a:tr>
              <a:tr h="303052">
                <a:tc>
                  <a:txBody>
                    <a:bodyPr/>
                    <a:lstStyle/>
                    <a:p>
                      <a:pPr algn="ctr"/>
                      <a:r>
                        <a:rPr sz="1000" b="0">
                          <a:solidFill>
                            <a:srgbClr val="262626"/>
                          </a:solidFill>
                          <a:latin typeface="游ゴシック"/>
                        </a:rPr>
                        <a:t>59</a:t>
                      </a:r>
                    </a:p>
                  </a:txBody>
                  <a:tcPr/>
                </a:tc>
                <a:tc>
                  <a:txBody>
                    <a:bodyPr/>
                    <a:lstStyle/>
                    <a:p>
                      <a:pPr algn="ctr"/>
                      <a:r>
                        <a:rPr sz="1000" b="1">
                          <a:solidFill>
                            <a:srgbClr val="262626"/>
                          </a:solidFill>
                          <a:latin typeface="游ゴシック"/>
                        </a:rPr>
                        <a:t>術後1週間以内</a:t>
                      </a:r>
                    </a:p>
                  </a:txBody>
                  <a:tcPr/>
                </a:tc>
              </a:tr>
              <a:tr h="303052">
                <a:tc>
                  <a:txBody>
                    <a:bodyPr/>
                    <a:lstStyle/>
                    <a:p>
                      <a:pPr algn="ctr"/>
                      <a:r>
                        <a:rPr sz="1000" b="0">
                          <a:solidFill>
                            <a:srgbClr val="262626"/>
                          </a:solidFill>
                          <a:latin typeface="游ゴシック"/>
                        </a:rPr>
                        <a:t>60</a:t>
                      </a:r>
                    </a:p>
                  </a:txBody>
                  <a:tcPr>
                    <a:solidFill>
                      <a:srgbClr val="A8C4C7"/>
                    </a:solidFill>
                  </a:tcPr>
                </a:tc>
                <a:tc>
                  <a:txBody>
                    <a:bodyPr/>
                    <a:lstStyle/>
                    <a:p>
                      <a:pPr algn="ctr"/>
                      <a:r>
                        <a:rPr sz="1000" b="1">
                          <a:solidFill>
                            <a:srgbClr val="262626"/>
                          </a:solidFill>
                          <a:latin typeface="游ゴシック"/>
                        </a:rPr>
                        <a:t>術前、もしくは術後1日目</a:t>
                      </a:r>
                    </a:p>
                  </a:txBody>
                  <a:tcPr>
                    <a:solidFill>
                      <a:srgbClr val="A8C4C7"/>
                    </a:solidFill>
                  </a:tcPr>
                </a:tc>
              </a:tr>
              <a:tr h="303052">
                <a:tc>
                  <a:txBody>
                    <a:bodyPr/>
                    <a:lstStyle/>
                    <a:p>
                      <a:pPr algn="ctr"/>
                      <a:r>
                        <a:rPr sz="1000" b="0">
                          <a:solidFill>
                            <a:srgbClr val="262626"/>
                          </a:solidFill>
                          <a:latin typeface="游ゴシック"/>
                        </a:rPr>
                        <a:t>61</a:t>
                      </a:r>
                    </a:p>
                  </a:txBody>
                  <a:tcPr/>
                </a:tc>
                <a:tc>
                  <a:txBody>
                    <a:bodyPr/>
                    <a:lstStyle/>
                    <a:p>
                      <a:pPr algn="ctr"/>
                      <a:r>
                        <a:rPr sz="1000" b="1">
                          <a:solidFill>
                            <a:srgbClr val="262626"/>
                          </a:solidFill>
                          <a:latin typeface="游ゴシック"/>
                        </a:rPr>
                        <a:t>歩行車/歩行器歩行や杖歩行の自立を検討する時期に実施</a:t>
                      </a:r>
                    </a:p>
                  </a:txBody>
                  <a:tcPr/>
                </a:tc>
              </a:tr>
              <a:tr h="303052">
                <a:tc>
                  <a:txBody>
                    <a:bodyPr/>
                    <a:lstStyle/>
                    <a:p>
                      <a:pPr algn="ctr"/>
                      <a:r>
                        <a:rPr sz="1000" b="0">
                          <a:solidFill>
                            <a:srgbClr val="262626"/>
                          </a:solidFill>
                          <a:latin typeface="游ゴシック"/>
                        </a:rPr>
                        <a:t>62</a:t>
                      </a:r>
                    </a:p>
                  </a:txBody>
                  <a:tcPr>
                    <a:solidFill>
                      <a:srgbClr val="A8C4C7"/>
                    </a:solidFill>
                  </a:tcPr>
                </a:tc>
                <a:tc>
                  <a:txBody>
                    <a:bodyPr/>
                    <a:lstStyle/>
                    <a:p>
                      <a:pPr algn="ctr"/>
                      <a:r>
                        <a:rPr sz="1000" b="1">
                          <a:solidFill>
                            <a:srgbClr val="262626"/>
                          </a:solidFill>
                          <a:latin typeface="游ゴシック"/>
                        </a:rPr>
                        <a:t>具体的な日数ではないが、1か月程度を目処に評価している。</a:t>
                      </a:r>
                    </a:p>
                  </a:txBody>
                  <a:tcPr>
                    <a:solidFill>
                      <a:srgbClr val="A8C4C7"/>
                    </a:solidFill>
                  </a:tcPr>
                </a:tc>
              </a:tr>
              <a:tr h="303052">
                <a:tc>
                  <a:txBody>
                    <a:bodyPr/>
                    <a:lstStyle/>
                    <a:p>
                      <a:pPr algn="ctr"/>
                      <a:r>
                        <a:rPr sz="1000" b="0">
                          <a:solidFill>
                            <a:srgbClr val="262626"/>
                          </a:solidFill>
                          <a:latin typeface="游ゴシック"/>
                        </a:rPr>
                        <a:t>63</a:t>
                      </a:r>
                    </a:p>
                  </a:txBody>
                  <a:tcPr/>
                </a:tc>
                <a:tc>
                  <a:txBody>
                    <a:bodyPr/>
                    <a:lstStyle/>
                    <a:p>
                      <a:pPr algn="ctr"/>
                      <a:r>
                        <a:rPr sz="1000" b="1">
                          <a:solidFill>
                            <a:srgbClr val="262626"/>
                          </a:solidFill>
                          <a:latin typeface="游ゴシック"/>
                        </a:rPr>
                        <a:t>認知機能については、せん妄等がなく座位にて可能となった段階で行っている。下肢筋力は術後２週時点、SPPBは退院時に実施。</a:t>
                      </a:r>
                    </a:p>
                  </a:txBody>
                  <a:tcPr/>
                </a:tc>
              </a:tr>
              <a:tr h="303052">
                <a:tc>
                  <a:txBody>
                    <a:bodyPr/>
                    <a:lstStyle/>
                    <a:p>
                      <a:pPr algn="ctr"/>
                      <a:r>
                        <a:rPr sz="1000" b="0">
                          <a:solidFill>
                            <a:srgbClr val="262626"/>
                          </a:solidFill>
                          <a:latin typeface="游ゴシック"/>
                        </a:rPr>
                        <a:t>64</a:t>
                      </a:r>
                    </a:p>
                  </a:txBody>
                  <a:tcPr>
                    <a:solidFill>
                      <a:srgbClr val="A8C4C7"/>
                    </a:solidFill>
                  </a:tcPr>
                </a:tc>
                <a:tc>
                  <a:txBody>
                    <a:bodyPr/>
                    <a:lstStyle/>
                    <a:p>
                      <a:pPr algn="ctr"/>
                      <a:r>
                        <a:rPr sz="1000" b="1">
                          <a:solidFill>
                            <a:srgbClr val="262626"/>
                          </a:solidFill>
                          <a:latin typeface="游ゴシック"/>
                        </a:rPr>
                        <a:t>MMSEを術後7日目に評価</a:t>
                      </a:r>
                    </a:p>
                  </a:txBody>
                  <a:tcPr>
                    <a:solidFill>
                      <a:srgbClr val="A8C4C7"/>
                    </a:solidFill>
                  </a:tcPr>
                </a:tc>
              </a:tr>
              <a:tr h="303052">
                <a:tc>
                  <a:txBody>
                    <a:bodyPr/>
                    <a:lstStyle/>
                    <a:p>
                      <a:pPr algn="ctr"/>
                      <a:r>
                        <a:rPr sz="1000" b="0">
                          <a:solidFill>
                            <a:srgbClr val="262626"/>
                          </a:solidFill>
                          <a:latin typeface="游ゴシック"/>
                        </a:rPr>
                        <a:t>65</a:t>
                      </a:r>
                    </a:p>
                  </a:txBody>
                  <a:tcPr/>
                </a:tc>
                <a:tc>
                  <a:txBody>
                    <a:bodyPr/>
                    <a:lstStyle/>
                    <a:p>
                      <a:pPr algn="ctr"/>
                      <a:r>
                        <a:rPr sz="1000" b="1">
                          <a:solidFill>
                            <a:srgbClr val="262626"/>
                          </a:solidFill>
                          <a:latin typeface="游ゴシック"/>
                        </a:rPr>
                        <a:t>項目によって違うが、
初回と、最終で評価</a:t>
                      </a:r>
                    </a:p>
                  </a:txBody>
                  <a:tcPr/>
                </a:tc>
              </a:tr>
              <a:tr h="303052">
                <a:tc>
                  <a:txBody>
                    <a:bodyPr/>
                    <a:lstStyle/>
                    <a:p>
                      <a:pPr algn="ctr"/>
                      <a:r>
                        <a:rPr sz="1000" b="0">
                          <a:solidFill>
                            <a:srgbClr val="262626"/>
                          </a:solidFill>
                          <a:latin typeface="游ゴシック"/>
                        </a:rPr>
                        <a:t>66</a:t>
                      </a:r>
                    </a:p>
                  </a:txBody>
                  <a:tcPr>
                    <a:solidFill>
                      <a:srgbClr val="A8C4C7"/>
                    </a:solidFill>
                  </a:tcPr>
                </a:tc>
                <a:tc>
                  <a:txBody>
                    <a:bodyPr/>
                    <a:lstStyle/>
                    <a:p>
                      <a:pPr algn="ctr"/>
                      <a:r>
                        <a:rPr sz="1000" b="1">
                          <a:solidFill>
                            <a:srgbClr val="262626"/>
                          </a:solidFill>
                          <a:latin typeface="游ゴシック"/>
                        </a:rPr>
                        <a:t>術後7日±1日、術後30日、術後120日、術後365日</a:t>
                      </a:r>
                    </a:p>
                  </a:txBody>
                  <a:tcPr>
                    <a:solidFill>
                      <a:srgbClr val="A8C4C7"/>
                    </a:solidFill>
                  </a:tcPr>
                </a:tc>
              </a:tr>
              <a:tr h="303052">
                <a:tc>
                  <a:txBody>
                    <a:bodyPr/>
                    <a:lstStyle/>
                    <a:p>
                      <a:pPr algn="ctr"/>
                      <a:r>
                        <a:rPr sz="1000" b="0">
                          <a:solidFill>
                            <a:srgbClr val="262626"/>
                          </a:solidFill>
                          <a:latin typeface="游ゴシック"/>
                        </a:rPr>
                        <a:t>67</a:t>
                      </a:r>
                    </a:p>
                  </a:txBody>
                  <a:tcPr/>
                </a:tc>
                <a:tc>
                  <a:txBody>
                    <a:bodyPr/>
                    <a:lstStyle/>
                    <a:p>
                      <a:pPr algn="ctr"/>
                      <a:r>
                        <a:rPr sz="1000" b="1">
                          <a:solidFill>
                            <a:srgbClr val="262626"/>
                          </a:solidFill>
                          <a:latin typeface="游ゴシック"/>
                        </a:rPr>
                        <a:t>退院時</a:t>
                      </a:r>
                    </a:p>
                  </a:txBody>
                  <a:tcPr/>
                </a:tc>
              </a:tr>
              <a:tr h="303052">
                <a:tc>
                  <a:txBody>
                    <a:bodyPr/>
                    <a:lstStyle/>
                    <a:p>
                      <a:pPr algn="ctr"/>
                      <a:r>
                        <a:rPr sz="1000" b="0">
                          <a:solidFill>
                            <a:srgbClr val="262626"/>
                          </a:solidFill>
                          <a:latin typeface="游ゴシック"/>
                        </a:rPr>
                        <a:t>68</a:t>
                      </a:r>
                    </a:p>
                  </a:txBody>
                  <a:tcPr>
                    <a:solidFill>
                      <a:srgbClr val="A8C4C7"/>
                    </a:solidFill>
                  </a:tcPr>
                </a:tc>
                <a:tc>
                  <a:txBody>
                    <a:bodyPr/>
                    <a:lstStyle/>
                    <a:p>
                      <a:pPr algn="ctr"/>
                      <a:r>
                        <a:rPr sz="1000" b="1">
                          <a:solidFill>
                            <a:srgbClr val="262626"/>
                          </a:solidFill>
                          <a:latin typeface="游ゴシック"/>
                        </a:rPr>
                        <a:t>初回は術後７日目。以後4週まで1週ごとに評価。</a:t>
                      </a:r>
                    </a:p>
                  </a:txBody>
                  <a:tcPr>
                    <a:solidFill>
                      <a:srgbClr val="A8C4C7"/>
                    </a:solidFill>
                  </a:tcPr>
                </a:tc>
              </a:tr>
              <a:tr h="303052">
                <a:tc>
                  <a:txBody>
                    <a:bodyPr/>
                    <a:lstStyle/>
                    <a:p>
                      <a:pPr algn="ctr"/>
                      <a:r>
                        <a:rPr sz="1000" b="0">
                          <a:solidFill>
                            <a:srgbClr val="262626"/>
                          </a:solidFill>
                          <a:latin typeface="游ゴシック"/>
                        </a:rPr>
                        <a:t>69</a:t>
                      </a:r>
                    </a:p>
                  </a:txBody>
                  <a:tcPr/>
                </a:tc>
                <a:tc>
                  <a:txBody>
                    <a:bodyPr/>
                    <a:lstStyle/>
                    <a:p>
                      <a:pPr algn="ctr"/>
                      <a:r>
                        <a:rPr sz="1000" b="1">
                          <a:solidFill>
                            <a:srgbClr val="262626"/>
                          </a:solidFill>
                          <a:latin typeface="游ゴシック"/>
                        </a:rPr>
                        <a:t>術翌日と退院前</a:t>
                      </a:r>
                    </a:p>
                  </a:txBody>
                  <a:tcPr/>
                </a:tc>
              </a:tr>
              <a:tr h="303052">
                <a:tc>
                  <a:txBody>
                    <a:bodyPr/>
                    <a:lstStyle/>
                    <a:p>
                      <a:pPr algn="ctr"/>
                      <a:r>
                        <a:rPr sz="1000" b="0">
                          <a:solidFill>
                            <a:srgbClr val="262626"/>
                          </a:solidFill>
                          <a:latin typeface="游ゴシック"/>
                        </a:rPr>
                        <a:t>70</a:t>
                      </a:r>
                    </a:p>
                  </a:txBody>
                  <a:tcPr>
                    <a:solidFill>
                      <a:srgbClr val="A8C4C7"/>
                    </a:solidFill>
                  </a:tcPr>
                </a:tc>
                <a:tc>
                  <a:txBody>
                    <a:bodyPr/>
                    <a:lstStyle/>
                    <a:p>
                      <a:pPr algn="ctr"/>
                      <a:r>
                        <a:rPr sz="1000" b="1">
                          <a:solidFill>
                            <a:srgbClr val="262626"/>
                          </a:solidFill>
                          <a:latin typeface="游ゴシック"/>
                        </a:rPr>
                        <a:t>4～5日以内</a:t>
                      </a:r>
                    </a:p>
                  </a:txBody>
                  <a:tcPr>
                    <a:solidFill>
                      <a:srgbClr val="A8C4C7"/>
                    </a:solidFill>
                  </a:tcPr>
                </a:tc>
              </a:tr>
              <a:tr h="303052">
                <a:tc>
                  <a:txBody>
                    <a:bodyPr/>
                    <a:lstStyle/>
                    <a:p>
                      <a:pPr algn="ctr"/>
                      <a:r>
                        <a:rPr sz="1000" b="0">
                          <a:solidFill>
                            <a:srgbClr val="262626"/>
                          </a:solidFill>
                          <a:latin typeface="游ゴシック"/>
                        </a:rPr>
                        <a:t>71</a:t>
                      </a:r>
                    </a:p>
                  </a:txBody>
                  <a:tcPr/>
                </a:tc>
                <a:tc>
                  <a:txBody>
                    <a:bodyPr/>
                    <a:lstStyle/>
                    <a:p>
                      <a:pPr algn="ctr"/>
                      <a:r>
                        <a:rPr sz="1000" b="1">
                          <a:solidFill>
                            <a:srgbClr val="262626"/>
                          </a:solidFill>
                          <a:latin typeface="游ゴシック"/>
                        </a:rPr>
                        <a:t>術後1日目に行い、その後1週間毎に行う。</a:t>
                      </a:r>
                    </a:p>
                  </a:txBody>
                  <a:tcPr/>
                </a:tc>
              </a:tr>
              <a:tr h="303052">
                <a:tc>
                  <a:txBody>
                    <a:bodyPr/>
                    <a:lstStyle/>
                    <a:p>
                      <a:pPr algn="ctr"/>
                      <a:r>
                        <a:rPr sz="1000" b="0">
                          <a:solidFill>
                            <a:srgbClr val="262626"/>
                          </a:solidFill>
                          <a:latin typeface="游ゴシック"/>
                        </a:rPr>
                        <a:t>72</a:t>
                      </a:r>
                    </a:p>
                  </a:txBody>
                  <a:tcPr>
                    <a:solidFill>
                      <a:srgbClr val="A8C4C7"/>
                    </a:solidFill>
                  </a:tcPr>
                </a:tc>
                <a:tc>
                  <a:txBody>
                    <a:bodyPr/>
                    <a:lstStyle/>
                    <a:p>
                      <a:pPr algn="ctr"/>
                      <a:r>
                        <a:rPr sz="1000" b="1">
                          <a:solidFill>
                            <a:srgbClr val="262626"/>
                          </a:solidFill>
                          <a:latin typeface="游ゴシック"/>
                        </a:rPr>
                        <a:t>術後7日目、14日目、以降は2週間毎</a:t>
                      </a:r>
                    </a:p>
                  </a:txBody>
                  <a:tcPr>
                    <a:solidFill>
                      <a:srgbClr val="A8C4C7"/>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Q15-2-1.  「決まっている」を選択した方：術後何日目に実施するか【自由記述】  (5/7)</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73</a:t>
                      </a:r>
                    </a:p>
                  </a:txBody>
                  <a:tcPr/>
                </a:tc>
                <a:tc>
                  <a:txBody>
                    <a:bodyPr/>
                    <a:lstStyle/>
                    <a:p>
                      <a:pPr algn="ctr"/>
                      <a:r>
                        <a:rPr sz="1000" b="1">
                          <a:solidFill>
                            <a:srgbClr val="262626"/>
                          </a:solidFill>
                          <a:latin typeface="游ゴシック"/>
                        </a:rPr>
                        <a:t>術後10日目</a:t>
                      </a:r>
                    </a:p>
                  </a:txBody>
                  <a:tcPr/>
                </a:tc>
              </a:tr>
              <a:tr h="303052">
                <a:tc>
                  <a:txBody>
                    <a:bodyPr/>
                    <a:lstStyle/>
                    <a:p>
                      <a:pPr algn="ctr"/>
                      <a:r>
                        <a:rPr sz="1000" b="0">
                          <a:solidFill>
                            <a:srgbClr val="262626"/>
                          </a:solidFill>
                          <a:latin typeface="游ゴシック"/>
                        </a:rPr>
                        <a:t>74</a:t>
                      </a:r>
                    </a:p>
                  </a:txBody>
                  <a:tcPr>
                    <a:solidFill>
                      <a:srgbClr val="A8C4C7"/>
                    </a:solidFill>
                  </a:tcPr>
                </a:tc>
                <a:tc>
                  <a:txBody>
                    <a:bodyPr/>
                    <a:lstStyle/>
                    <a:p>
                      <a:pPr algn="ctr"/>
                      <a:r>
                        <a:rPr sz="1000" b="1">
                          <a:solidFill>
                            <a:srgbClr val="262626"/>
                          </a:solidFill>
                          <a:latin typeface="游ゴシック"/>
                        </a:rPr>
                        <a:t>術前にAMTS実施。薬剤は薬剤師が入院したら骨粗鬆症薬や転倒リスクが高くなる薬などをチェックするようにしている。</a:t>
                      </a:r>
                    </a:p>
                  </a:txBody>
                  <a:tcPr>
                    <a:solidFill>
                      <a:srgbClr val="A8C4C7"/>
                    </a:solidFill>
                  </a:tcPr>
                </a:tc>
              </a:tr>
              <a:tr h="303052">
                <a:tc>
                  <a:txBody>
                    <a:bodyPr/>
                    <a:lstStyle/>
                    <a:p>
                      <a:pPr algn="ctr"/>
                      <a:r>
                        <a:rPr sz="1000" b="0">
                          <a:solidFill>
                            <a:srgbClr val="262626"/>
                          </a:solidFill>
                          <a:latin typeface="游ゴシック"/>
                        </a:rPr>
                        <a:t>75</a:t>
                      </a:r>
                    </a:p>
                  </a:txBody>
                  <a:tcPr/>
                </a:tc>
                <a:tc>
                  <a:txBody>
                    <a:bodyPr/>
                    <a:lstStyle/>
                    <a:p>
                      <a:pPr algn="ctr"/>
                      <a:r>
                        <a:rPr sz="1000" b="1">
                          <a:solidFill>
                            <a:srgbClr val="262626"/>
                          </a:solidFill>
                          <a:latin typeface="游ゴシック"/>
                        </a:rPr>
                        <a:t>術後2週に認知機能評価、術後4週に運動機能評価を行う。</a:t>
                      </a:r>
                    </a:p>
                  </a:txBody>
                  <a:tcPr/>
                </a:tc>
              </a:tr>
              <a:tr h="303052">
                <a:tc>
                  <a:txBody>
                    <a:bodyPr/>
                    <a:lstStyle/>
                    <a:p>
                      <a:pPr algn="ctr"/>
                      <a:r>
                        <a:rPr sz="1000" b="0">
                          <a:solidFill>
                            <a:srgbClr val="262626"/>
                          </a:solidFill>
                          <a:latin typeface="游ゴシック"/>
                        </a:rPr>
                        <a:t>76</a:t>
                      </a:r>
                    </a:p>
                  </a:txBody>
                  <a:tcPr>
                    <a:solidFill>
                      <a:srgbClr val="A8C4C7"/>
                    </a:solidFill>
                  </a:tcPr>
                </a:tc>
                <a:tc>
                  <a:txBody>
                    <a:bodyPr/>
                    <a:lstStyle/>
                    <a:p>
                      <a:pPr algn="ctr"/>
                      <a:r>
                        <a:rPr sz="1000" b="1">
                          <a:solidFill>
                            <a:srgbClr val="262626"/>
                          </a:solidFill>
                          <a:latin typeface="游ゴシック"/>
                        </a:rPr>
                        <a:t>認知機能、転倒歴、既往の有無は入院時　　他は必要に応じ随時評価を実施している</a:t>
                      </a:r>
                    </a:p>
                  </a:txBody>
                  <a:tcPr>
                    <a:solidFill>
                      <a:srgbClr val="A8C4C7"/>
                    </a:solidFill>
                  </a:tcPr>
                </a:tc>
              </a:tr>
              <a:tr h="303052">
                <a:tc>
                  <a:txBody>
                    <a:bodyPr/>
                    <a:lstStyle/>
                    <a:p>
                      <a:pPr algn="ctr"/>
                      <a:r>
                        <a:rPr sz="1000" b="0">
                          <a:solidFill>
                            <a:srgbClr val="262626"/>
                          </a:solidFill>
                          <a:latin typeface="游ゴシック"/>
                        </a:rPr>
                        <a:t>77</a:t>
                      </a:r>
                    </a:p>
                  </a:txBody>
                  <a:tcPr/>
                </a:tc>
                <a:tc>
                  <a:txBody>
                    <a:bodyPr/>
                    <a:lstStyle/>
                    <a:p>
                      <a:pPr algn="ctr"/>
                      <a:r>
                        <a:rPr sz="1000" b="1">
                          <a:solidFill>
                            <a:srgbClr val="262626"/>
                          </a:solidFill>
                          <a:latin typeface="游ゴシック"/>
                        </a:rPr>
                        <a:t>回答なし</a:t>
                      </a:r>
                    </a:p>
                  </a:txBody>
                  <a:tcPr/>
                </a:tc>
              </a:tr>
              <a:tr h="303052">
                <a:tc>
                  <a:txBody>
                    <a:bodyPr/>
                    <a:lstStyle/>
                    <a:p>
                      <a:pPr algn="ctr"/>
                      <a:r>
                        <a:rPr sz="1000" b="0">
                          <a:solidFill>
                            <a:srgbClr val="262626"/>
                          </a:solidFill>
                          <a:latin typeface="游ゴシック"/>
                        </a:rPr>
                        <a:t>78</a:t>
                      </a:r>
                    </a:p>
                  </a:txBody>
                  <a:tcPr>
                    <a:solidFill>
                      <a:srgbClr val="A8C4C7"/>
                    </a:solidFill>
                  </a:tcPr>
                </a:tc>
                <a:tc>
                  <a:txBody>
                    <a:bodyPr/>
                    <a:lstStyle/>
                    <a:p>
                      <a:pPr algn="ctr"/>
                      <a:r>
                        <a:rPr sz="1000" b="1">
                          <a:solidFill>
                            <a:srgbClr val="262626"/>
                          </a:solidFill>
                          <a:latin typeface="游ゴシック"/>
                        </a:rPr>
                        <a:t>入院時、入院後２日後、状態変化時</a:t>
                      </a:r>
                    </a:p>
                  </a:txBody>
                  <a:tcPr>
                    <a:solidFill>
                      <a:srgbClr val="A8C4C7"/>
                    </a:solidFill>
                  </a:tcPr>
                </a:tc>
              </a:tr>
              <a:tr h="303052">
                <a:tc>
                  <a:txBody>
                    <a:bodyPr/>
                    <a:lstStyle/>
                    <a:p>
                      <a:pPr algn="ctr"/>
                      <a:r>
                        <a:rPr sz="1000" b="0">
                          <a:solidFill>
                            <a:srgbClr val="262626"/>
                          </a:solidFill>
                          <a:latin typeface="游ゴシック"/>
                        </a:rPr>
                        <a:t>79</a:t>
                      </a:r>
                    </a:p>
                  </a:txBody>
                  <a:tcPr/>
                </a:tc>
                <a:tc>
                  <a:txBody>
                    <a:bodyPr/>
                    <a:lstStyle/>
                    <a:p>
                      <a:pPr algn="ctr"/>
                      <a:r>
                        <a:rPr sz="1000" b="1">
                          <a:solidFill>
                            <a:srgbClr val="262626"/>
                          </a:solidFill>
                          <a:latin typeface="游ゴシック"/>
                        </a:rPr>
                        <a:t>おおよそ、2週間以内</a:t>
                      </a:r>
                    </a:p>
                  </a:txBody>
                  <a:tcPr/>
                </a:tc>
              </a:tr>
              <a:tr h="303052">
                <a:tc>
                  <a:txBody>
                    <a:bodyPr/>
                    <a:lstStyle/>
                    <a:p>
                      <a:pPr algn="ctr"/>
                      <a:r>
                        <a:rPr sz="1000" b="0">
                          <a:solidFill>
                            <a:srgbClr val="262626"/>
                          </a:solidFill>
                          <a:latin typeface="游ゴシック"/>
                        </a:rPr>
                        <a:t>80</a:t>
                      </a:r>
                    </a:p>
                  </a:txBody>
                  <a:tcPr>
                    <a:solidFill>
                      <a:srgbClr val="A8C4C7"/>
                    </a:solidFill>
                  </a:tcPr>
                </a:tc>
                <a:tc>
                  <a:txBody>
                    <a:bodyPr/>
                    <a:lstStyle/>
                    <a:p>
                      <a:pPr algn="ctr"/>
                      <a:r>
                        <a:rPr sz="1000" b="1">
                          <a:solidFill>
                            <a:srgbClr val="262626"/>
                          </a:solidFill>
                          <a:latin typeface="游ゴシック"/>
                        </a:rPr>
                        <a:t>FLSカンファレンスで対象となった患者に対し実施する。術後２週間以内</a:t>
                      </a:r>
                    </a:p>
                  </a:txBody>
                  <a:tcPr>
                    <a:solidFill>
                      <a:srgbClr val="A8C4C7"/>
                    </a:solidFill>
                  </a:tcPr>
                </a:tc>
              </a:tr>
              <a:tr h="303052">
                <a:tc>
                  <a:txBody>
                    <a:bodyPr/>
                    <a:lstStyle/>
                    <a:p>
                      <a:pPr algn="ctr"/>
                      <a:r>
                        <a:rPr sz="1000" b="0">
                          <a:solidFill>
                            <a:srgbClr val="262626"/>
                          </a:solidFill>
                          <a:latin typeface="游ゴシック"/>
                        </a:rPr>
                        <a:t>81</a:t>
                      </a:r>
                    </a:p>
                  </a:txBody>
                  <a:tcPr/>
                </a:tc>
                <a:tc>
                  <a:txBody>
                    <a:bodyPr/>
                    <a:lstStyle/>
                    <a:p>
                      <a:pPr algn="ctr"/>
                      <a:r>
                        <a:rPr sz="1000" b="1">
                          <a:solidFill>
                            <a:srgbClr val="262626"/>
                          </a:solidFill>
                          <a:latin typeface="游ゴシック"/>
                        </a:rPr>
                        <a:t>HDS-R、AMTSは手術前に極力評価する。困難な場合は、手術後1週間以内に実施する。</a:t>
                      </a:r>
                    </a:p>
                  </a:txBody>
                  <a:tcPr/>
                </a:tc>
              </a:tr>
              <a:tr h="303052">
                <a:tc>
                  <a:txBody>
                    <a:bodyPr/>
                    <a:lstStyle/>
                    <a:p>
                      <a:pPr algn="ctr"/>
                      <a:r>
                        <a:rPr sz="1000" b="0">
                          <a:solidFill>
                            <a:srgbClr val="262626"/>
                          </a:solidFill>
                          <a:latin typeface="游ゴシック"/>
                        </a:rPr>
                        <a:t>82</a:t>
                      </a:r>
                    </a:p>
                  </a:txBody>
                  <a:tcPr>
                    <a:solidFill>
                      <a:srgbClr val="A8C4C7"/>
                    </a:solidFill>
                  </a:tcPr>
                </a:tc>
                <a:tc>
                  <a:txBody>
                    <a:bodyPr/>
                    <a:lstStyle/>
                    <a:p>
                      <a:pPr algn="ctr"/>
                      <a:r>
                        <a:rPr sz="1000" b="1">
                          <a:solidFill>
                            <a:srgbClr val="262626"/>
                          </a:solidFill>
                          <a:latin typeface="游ゴシック"/>
                        </a:rPr>
                        <a:t>初日に行い、１週間ずつで再評価</a:t>
                      </a:r>
                    </a:p>
                  </a:txBody>
                  <a:tcPr>
                    <a:solidFill>
                      <a:srgbClr val="A8C4C7"/>
                    </a:solidFill>
                  </a:tcPr>
                </a:tc>
              </a:tr>
              <a:tr h="303052">
                <a:tc>
                  <a:txBody>
                    <a:bodyPr/>
                    <a:lstStyle/>
                    <a:p>
                      <a:pPr algn="ctr"/>
                      <a:r>
                        <a:rPr sz="1000" b="0">
                          <a:solidFill>
                            <a:srgbClr val="262626"/>
                          </a:solidFill>
                          <a:latin typeface="游ゴシック"/>
                        </a:rPr>
                        <a:t>83</a:t>
                      </a:r>
                    </a:p>
                  </a:txBody>
                  <a:tcPr/>
                </a:tc>
                <a:tc>
                  <a:txBody>
                    <a:bodyPr/>
                    <a:lstStyle/>
                    <a:p>
                      <a:pPr algn="ctr"/>
                      <a:r>
                        <a:rPr sz="1000" b="1">
                          <a:solidFill>
                            <a:srgbClr val="262626"/>
                          </a:solidFill>
                          <a:latin typeface="游ゴシック"/>
                        </a:rPr>
                        <a:t>術後10～14日</a:t>
                      </a:r>
                    </a:p>
                  </a:txBody>
                  <a:tcPr/>
                </a:tc>
              </a:tr>
              <a:tr h="303052">
                <a:tc>
                  <a:txBody>
                    <a:bodyPr/>
                    <a:lstStyle/>
                    <a:p>
                      <a:pPr algn="ctr"/>
                      <a:r>
                        <a:rPr sz="1000" b="0">
                          <a:solidFill>
                            <a:srgbClr val="262626"/>
                          </a:solidFill>
                          <a:latin typeface="游ゴシック"/>
                        </a:rPr>
                        <a:t>84</a:t>
                      </a:r>
                    </a:p>
                  </a:txBody>
                  <a:tcPr>
                    <a:solidFill>
                      <a:srgbClr val="A8C4C7"/>
                    </a:solidFill>
                  </a:tcPr>
                </a:tc>
                <a:tc>
                  <a:txBody>
                    <a:bodyPr/>
                    <a:lstStyle/>
                    <a:p>
                      <a:pPr algn="ctr"/>
                      <a:r>
                        <a:rPr sz="1000" b="1">
                          <a:solidFill>
                            <a:srgbClr val="262626"/>
                          </a:solidFill>
                          <a:latin typeface="游ゴシック"/>
                        </a:rPr>
                        <a:t>急性期退院時</a:t>
                      </a:r>
                    </a:p>
                  </a:txBody>
                  <a:tcPr>
                    <a:solidFill>
                      <a:srgbClr val="A8C4C7"/>
                    </a:solidFill>
                  </a:tcPr>
                </a:tc>
              </a:tr>
              <a:tr h="303052">
                <a:tc>
                  <a:txBody>
                    <a:bodyPr/>
                    <a:lstStyle/>
                    <a:p>
                      <a:pPr algn="ctr"/>
                      <a:r>
                        <a:rPr sz="1000" b="0">
                          <a:solidFill>
                            <a:srgbClr val="262626"/>
                          </a:solidFill>
                          <a:latin typeface="游ゴシック"/>
                        </a:rPr>
                        <a:t>85</a:t>
                      </a:r>
                    </a:p>
                  </a:txBody>
                  <a:tcPr/>
                </a:tc>
                <a:tc>
                  <a:txBody>
                    <a:bodyPr/>
                    <a:lstStyle/>
                    <a:p>
                      <a:pPr algn="ctr"/>
                      <a:r>
                        <a:rPr sz="1000" b="1">
                          <a:solidFill>
                            <a:srgbClr val="262626"/>
                          </a:solidFill>
                          <a:latin typeface="游ゴシック"/>
                        </a:rPr>
                        <a:t>初回と最終日</a:t>
                      </a:r>
                    </a:p>
                  </a:txBody>
                  <a:tcPr/>
                </a:tc>
              </a:tr>
              <a:tr h="303052">
                <a:tc>
                  <a:txBody>
                    <a:bodyPr/>
                    <a:lstStyle/>
                    <a:p>
                      <a:pPr algn="ctr"/>
                      <a:r>
                        <a:rPr sz="1000" b="0">
                          <a:solidFill>
                            <a:srgbClr val="262626"/>
                          </a:solidFill>
                          <a:latin typeface="游ゴシック"/>
                        </a:rPr>
                        <a:t>86</a:t>
                      </a:r>
                    </a:p>
                  </a:txBody>
                  <a:tcPr>
                    <a:solidFill>
                      <a:srgbClr val="A8C4C7"/>
                    </a:solidFill>
                  </a:tcPr>
                </a:tc>
                <a:tc>
                  <a:txBody>
                    <a:bodyPr/>
                    <a:lstStyle/>
                    <a:p>
                      <a:pPr algn="ctr"/>
                      <a:r>
                        <a:rPr sz="1000" b="1">
                          <a:solidFill>
                            <a:srgbClr val="262626"/>
                          </a:solidFill>
                          <a:latin typeface="游ゴシック"/>
                        </a:rPr>
                        <a:t>10日目</a:t>
                      </a:r>
                    </a:p>
                  </a:txBody>
                  <a:tcPr>
                    <a:solidFill>
                      <a:srgbClr val="A8C4C7"/>
                    </a:solidFill>
                  </a:tcPr>
                </a:tc>
              </a:tr>
              <a:tr h="303052">
                <a:tc>
                  <a:txBody>
                    <a:bodyPr/>
                    <a:lstStyle/>
                    <a:p>
                      <a:pPr algn="ctr"/>
                      <a:r>
                        <a:rPr sz="1000" b="0">
                          <a:solidFill>
                            <a:srgbClr val="262626"/>
                          </a:solidFill>
                          <a:latin typeface="游ゴシック"/>
                        </a:rPr>
                        <a:t>87</a:t>
                      </a:r>
                    </a:p>
                  </a:txBody>
                  <a:tcPr/>
                </a:tc>
                <a:tc>
                  <a:txBody>
                    <a:bodyPr/>
                    <a:lstStyle/>
                    <a:p>
                      <a:pPr algn="ctr"/>
                      <a:r>
                        <a:rPr sz="1000" b="1">
                          <a:solidFill>
                            <a:srgbClr val="262626"/>
                          </a:solidFill>
                          <a:latin typeface="游ゴシック"/>
                        </a:rPr>
                        <a:t>術後3日、術後2週</a:t>
                      </a:r>
                    </a:p>
                  </a:txBody>
                  <a:tcPr/>
                </a:tc>
              </a:tr>
              <a:tr h="303052">
                <a:tc>
                  <a:txBody>
                    <a:bodyPr/>
                    <a:lstStyle/>
                    <a:p>
                      <a:pPr algn="ctr"/>
                      <a:r>
                        <a:rPr sz="1000" b="0">
                          <a:solidFill>
                            <a:srgbClr val="262626"/>
                          </a:solidFill>
                          <a:latin typeface="游ゴシック"/>
                        </a:rPr>
                        <a:t>88</a:t>
                      </a:r>
                    </a:p>
                  </a:txBody>
                  <a:tcPr>
                    <a:solidFill>
                      <a:srgbClr val="A8C4C7"/>
                    </a:solidFill>
                  </a:tcPr>
                </a:tc>
                <a:tc>
                  <a:txBody>
                    <a:bodyPr/>
                    <a:lstStyle/>
                    <a:p>
                      <a:pPr algn="ctr"/>
                      <a:r>
                        <a:rPr sz="1000" b="1">
                          <a:solidFill>
                            <a:srgbClr val="262626"/>
                          </a:solidFill>
                          <a:latin typeface="游ゴシック"/>
                        </a:rPr>
                        <a:t>術後2週、退院前日、初回外来診療時、術後120日、術後365日</a:t>
                      </a:r>
                    </a:p>
                  </a:txBody>
                  <a:tcPr>
                    <a:solidFill>
                      <a:srgbClr val="A8C4C7"/>
                    </a:solidFill>
                  </a:tcPr>
                </a:tc>
              </a:tr>
              <a:tr h="303052">
                <a:tc>
                  <a:txBody>
                    <a:bodyPr/>
                    <a:lstStyle/>
                    <a:p>
                      <a:pPr algn="ctr"/>
                      <a:r>
                        <a:rPr sz="1000" b="0">
                          <a:solidFill>
                            <a:srgbClr val="262626"/>
                          </a:solidFill>
                          <a:latin typeface="游ゴシック"/>
                        </a:rPr>
                        <a:t>89</a:t>
                      </a:r>
                    </a:p>
                  </a:txBody>
                  <a:tcPr/>
                </a:tc>
                <a:tc>
                  <a:txBody>
                    <a:bodyPr/>
                    <a:lstStyle/>
                    <a:p>
                      <a:pPr algn="ctr"/>
                      <a:r>
                        <a:rPr sz="1000" b="1">
                          <a:solidFill>
                            <a:srgbClr val="262626"/>
                          </a:solidFill>
                          <a:latin typeface="游ゴシック"/>
                        </a:rPr>
                        <a:t>1、3、5、7日目</a:t>
                      </a:r>
                    </a:p>
                  </a:txBody>
                  <a:tcPr/>
                </a:tc>
              </a:tr>
              <a:tr h="303052">
                <a:tc>
                  <a:txBody>
                    <a:bodyPr/>
                    <a:lstStyle/>
                    <a:p>
                      <a:pPr algn="ctr"/>
                      <a:r>
                        <a:rPr sz="1000" b="0">
                          <a:solidFill>
                            <a:srgbClr val="262626"/>
                          </a:solidFill>
                          <a:latin typeface="游ゴシック"/>
                        </a:rPr>
                        <a:t>90</a:t>
                      </a:r>
                    </a:p>
                  </a:txBody>
                  <a:tcPr>
                    <a:solidFill>
                      <a:srgbClr val="A8C4C7"/>
                    </a:solidFill>
                  </a:tcPr>
                </a:tc>
                <a:tc>
                  <a:txBody>
                    <a:bodyPr/>
                    <a:lstStyle/>
                    <a:p>
                      <a:pPr algn="ctr"/>
                      <a:r>
                        <a:rPr sz="1000" b="1">
                          <a:solidFill>
                            <a:srgbClr val="262626"/>
                          </a:solidFill>
                          <a:latin typeface="游ゴシック"/>
                        </a:rPr>
                        <a:t>8日目</a:t>
                      </a:r>
                    </a:p>
                  </a:txBody>
                  <a:tcPr>
                    <a:solidFill>
                      <a:srgbClr val="A8C4C7"/>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Q15-2-1.  「決まっている」を選択した方：術後何日目に実施するか【自由記述】  (6/7)</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91</a:t>
                      </a:r>
                    </a:p>
                  </a:txBody>
                  <a:tcPr/>
                </a:tc>
                <a:tc>
                  <a:txBody>
                    <a:bodyPr/>
                    <a:lstStyle/>
                    <a:p>
                      <a:pPr algn="ctr"/>
                      <a:r>
                        <a:rPr sz="1000" b="1">
                          <a:solidFill>
                            <a:srgbClr val="262626"/>
                          </a:solidFill>
                          <a:latin typeface="游ゴシック"/>
                        </a:rPr>
                        <a:t>術後７日目までに実施。</a:t>
                      </a:r>
                    </a:p>
                  </a:txBody>
                  <a:tcPr/>
                </a:tc>
              </a:tr>
              <a:tr h="303052">
                <a:tc>
                  <a:txBody>
                    <a:bodyPr/>
                    <a:lstStyle/>
                    <a:p>
                      <a:pPr algn="ctr"/>
                      <a:r>
                        <a:rPr sz="1000" b="0">
                          <a:solidFill>
                            <a:srgbClr val="262626"/>
                          </a:solidFill>
                          <a:latin typeface="游ゴシック"/>
                        </a:rPr>
                        <a:t>92</a:t>
                      </a:r>
                    </a:p>
                  </a:txBody>
                  <a:tcPr>
                    <a:solidFill>
                      <a:srgbClr val="A8C4C7"/>
                    </a:solidFill>
                  </a:tcPr>
                </a:tc>
                <a:tc>
                  <a:txBody>
                    <a:bodyPr/>
                    <a:lstStyle/>
                    <a:p>
                      <a:pPr algn="ctr"/>
                      <a:r>
                        <a:rPr sz="1000" b="1">
                          <a:solidFill>
                            <a:srgbClr val="262626"/>
                          </a:solidFill>
                          <a:latin typeface="游ゴシック"/>
                        </a:rPr>
                        <a:t>認知機能評価－術後3日以内　運動機能評価ー術後14日目</a:t>
                      </a:r>
                    </a:p>
                  </a:txBody>
                  <a:tcPr>
                    <a:solidFill>
                      <a:srgbClr val="A8C4C7"/>
                    </a:solidFill>
                  </a:tcPr>
                </a:tc>
              </a:tr>
              <a:tr h="303052">
                <a:tc>
                  <a:txBody>
                    <a:bodyPr/>
                    <a:lstStyle/>
                    <a:p>
                      <a:pPr algn="ctr"/>
                      <a:r>
                        <a:rPr sz="1000" b="0">
                          <a:solidFill>
                            <a:srgbClr val="262626"/>
                          </a:solidFill>
                          <a:latin typeface="游ゴシック"/>
                        </a:rPr>
                        <a:t>93</a:t>
                      </a:r>
                    </a:p>
                  </a:txBody>
                  <a:tcPr/>
                </a:tc>
                <a:tc>
                  <a:txBody>
                    <a:bodyPr/>
                    <a:lstStyle/>
                    <a:p>
                      <a:pPr algn="ctr"/>
                      <a:r>
                        <a:rPr sz="1000" b="1">
                          <a:solidFill>
                            <a:srgbClr val="262626"/>
                          </a:solidFill>
                          <a:latin typeface="游ゴシック"/>
                        </a:rPr>
                        <a:t>術後1日目</a:t>
                      </a:r>
                    </a:p>
                  </a:txBody>
                  <a:tcPr/>
                </a:tc>
              </a:tr>
              <a:tr h="303052">
                <a:tc>
                  <a:txBody>
                    <a:bodyPr/>
                    <a:lstStyle/>
                    <a:p>
                      <a:pPr algn="ctr"/>
                      <a:r>
                        <a:rPr sz="1000" b="0">
                          <a:solidFill>
                            <a:srgbClr val="262626"/>
                          </a:solidFill>
                          <a:latin typeface="游ゴシック"/>
                        </a:rPr>
                        <a:t>94</a:t>
                      </a:r>
                    </a:p>
                  </a:txBody>
                  <a:tcPr>
                    <a:solidFill>
                      <a:srgbClr val="A8C4C7"/>
                    </a:solidFill>
                  </a:tcPr>
                </a:tc>
                <a:tc>
                  <a:txBody>
                    <a:bodyPr/>
                    <a:lstStyle/>
                    <a:p>
                      <a:pPr algn="ctr"/>
                      <a:r>
                        <a:rPr sz="1000" b="1">
                          <a:solidFill>
                            <a:srgbClr val="262626"/>
                          </a:solidFill>
                          <a:latin typeface="游ゴシック"/>
                        </a:rPr>
                        <a:t>7日以内</a:t>
                      </a:r>
                    </a:p>
                  </a:txBody>
                  <a:tcPr>
                    <a:solidFill>
                      <a:srgbClr val="A8C4C7"/>
                    </a:solidFill>
                  </a:tcPr>
                </a:tc>
              </a:tr>
              <a:tr h="303052">
                <a:tc>
                  <a:txBody>
                    <a:bodyPr/>
                    <a:lstStyle/>
                    <a:p>
                      <a:pPr algn="ctr"/>
                      <a:r>
                        <a:rPr sz="1000" b="0">
                          <a:solidFill>
                            <a:srgbClr val="262626"/>
                          </a:solidFill>
                          <a:latin typeface="游ゴシック"/>
                        </a:rPr>
                        <a:t>95</a:t>
                      </a:r>
                    </a:p>
                  </a:txBody>
                  <a:tcPr/>
                </a:tc>
                <a:tc>
                  <a:txBody>
                    <a:bodyPr/>
                    <a:lstStyle/>
                    <a:p>
                      <a:pPr algn="ctr"/>
                      <a:r>
                        <a:rPr sz="1000" b="1">
                          <a:solidFill>
                            <a:srgbClr val="262626"/>
                          </a:solidFill>
                          <a:latin typeface="游ゴシック"/>
                        </a:rPr>
                        <a:t>認知機能評価は術後４日目、運動機能は術後1週、2週と1週ごとに評価している。</a:t>
                      </a:r>
                    </a:p>
                  </a:txBody>
                  <a:tcPr/>
                </a:tc>
              </a:tr>
              <a:tr h="303052">
                <a:tc>
                  <a:txBody>
                    <a:bodyPr/>
                    <a:lstStyle/>
                    <a:p>
                      <a:pPr algn="ctr"/>
                      <a:r>
                        <a:rPr sz="1000" b="0">
                          <a:solidFill>
                            <a:srgbClr val="262626"/>
                          </a:solidFill>
                          <a:latin typeface="游ゴシック"/>
                        </a:rPr>
                        <a:t>96</a:t>
                      </a:r>
                    </a:p>
                  </a:txBody>
                  <a:tcPr>
                    <a:solidFill>
                      <a:srgbClr val="A8C4C7"/>
                    </a:solidFill>
                  </a:tcPr>
                </a:tc>
                <a:tc>
                  <a:txBody>
                    <a:bodyPr/>
                    <a:lstStyle/>
                    <a:p>
                      <a:pPr algn="ctr"/>
                      <a:r>
                        <a:rPr sz="1000" b="1">
                          <a:solidFill>
                            <a:srgbClr val="262626"/>
                          </a:solidFill>
                          <a:latin typeface="游ゴシック"/>
                        </a:rPr>
                        <a:t>退院前日に評価　術後2〜3週程度</a:t>
                      </a:r>
                    </a:p>
                  </a:txBody>
                  <a:tcPr>
                    <a:solidFill>
                      <a:srgbClr val="A8C4C7"/>
                    </a:solidFill>
                  </a:tcPr>
                </a:tc>
              </a:tr>
              <a:tr h="303052">
                <a:tc>
                  <a:txBody>
                    <a:bodyPr/>
                    <a:lstStyle/>
                    <a:p>
                      <a:pPr algn="ctr"/>
                      <a:r>
                        <a:rPr sz="1000" b="0">
                          <a:solidFill>
                            <a:srgbClr val="262626"/>
                          </a:solidFill>
                          <a:latin typeface="游ゴシック"/>
                        </a:rPr>
                        <a:t>97</a:t>
                      </a:r>
                    </a:p>
                  </a:txBody>
                  <a:tcPr/>
                </a:tc>
                <a:tc>
                  <a:txBody>
                    <a:bodyPr/>
                    <a:lstStyle/>
                    <a:p>
                      <a:pPr algn="ctr"/>
                      <a:r>
                        <a:rPr sz="1000" b="1">
                          <a:solidFill>
                            <a:srgbClr val="262626"/>
                          </a:solidFill>
                          <a:latin typeface="游ゴシック"/>
                        </a:rPr>
                        <a:t>術後４日以内</a:t>
                      </a:r>
                    </a:p>
                  </a:txBody>
                  <a:tcPr/>
                </a:tc>
              </a:tr>
              <a:tr h="303052">
                <a:tc>
                  <a:txBody>
                    <a:bodyPr/>
                    <a:lstStyle/>
                    <a:p>
                      <a:pPr algn="ctr"/>
                      <a:r>
                        <a:rPr sz="1000" b="0">
                          <a:solidFill>
                            <a:srgbClr val="262626"/>
                          </a:solidFill>
                          <a:latin typeface="游ゴシック"/>
                        </a:rPr>
                        <a:t>98</a:t>
                      </a:r>
                    </a:p>
                  </a:txBody>
                  <a:tcPr>
                    <a:solidFill>
                      <a:srgbClr val="A8C4C7"/>
                    </a:solidFill>
                  </a:tcPr>
                </a:tc>
                <a:tc>
                  <a:txBody>
                    <a:bodyPr/>
                    <a:lstStyle/>
                    <a:p>
                      <a:pPr algn="ctr"/>
                      <a:r>
                        <a:rPr sz="1000" b="1">
                          <a:solidFill>
                            <a:srgbClr val="262626"/>
                          </a:solidFill>
                          <a:latin typeface="游ゴシック"/>
                        </a:rPr>
                        <a:t>術前、術翌日、術後4週、退院時</a:t>
                      </a:r>
                    </a:p>
                  </a:txBody>
                  <a:tcPr>
                    <a:solidFill>
                      <a:srgbClr val="A8C4C7"/>
                    </a:solidFill>
                  </a:tcPr>
                </a:tc>
              </a:tr>
              <a:tr h="303052">
                <a:tc>
                  <a:txBody>
                    <a:bodyPr/>
                    <a:lstStyle/>
                    <a:p>
                      <a:pPr algn="ctr"/>
                      <a:r>
                        <a:rPr sz="1000" b="0">
                          <a:solidFill>
                            <a:srgbClr val="262626"/>
                          </a:solidFill>
                          <a:latin typeface="游ゴシック"/>
                        </a:rPr>
                        <a:t>99</a:t>
                      </a:r>
                    </a:p>
                  </a:txBody>
                  <a:tcPr/>
                </a:tc>
                <a:tc>
                  <a:txBody>
                    <a:bodyPr/>
                    <a:lstStyle/>
                    <a:p>
                      <a:pPr algn="ctr"/>
                      <a:r>
                        <a:rPr sz="1000" b="1">
                          <a:solidFill>
                            <a:srgbClr val="262626"/>
                          </a:solidFill>
                          <a:latin typeface="游ゴシック"/>
                        </a:rPr>
                        <a:t>7.14日目</a:t>
                      </a:r>
                    </a:p>
                  </a:txBody>
                  <a:tcPr/>
                </a:tc>
              </a:tr>
              <a:tr h="303052">
                <a:tc>
                  <a:txBody>
                    <a:bodyPr/>
                    <a:lstStyle/>
                    <a:p>
                      <a:pPr algn="ctr"/>
                      <a:r>
                        <a:rPr sz="1000" b="0">
                          <a:solidFill>
                            <a:srgbClr val="262626"/>
                          </a:solidFill>
                          <a:latin typeface="游ゴシック"/>
                        </a:rPr>
                        <a:t>100</a:t>
                      </a:r>
                    </a:p>
                  </a:txBody>
                  <a:tcPr>
                    <a:solidFill>
                      <a:srgbClr val="A8C4C7"/>
                    </a:solidFill>
                  </a:tcPr>
                </a:tc>
                <a:tc>
                  <a:txBody>
                    <a:bodyPr/>
                    <a:lstStyle/>
                    <a:p>
                      <a:pPr algn="ctr"/>
                      <a:r>
                        <a:rPr sz="1000" b="1">
                          <a:solidFill>
                            <a:srgbClr val="262626"/>
                          </a:solidFill>
                          <a:latin typeface="游ゴシック"/>
                        </a:rPr>
                        <a:t>病棟内ADL設定を決定する時（ほぼ常時評価）</a:t>
                      </a:r>
                    </a:p>
                  </a:txBody>
                  <a:tcPr>
                    <a:solidFill>
                      <a:srgbClr val="A8C4C7"/>
                    </a:solidFill>
                  </a:tcPr>
                </a:tc>
              </a:tr>
              <a:tr h="303052">
                <a:tc>
                  <a:txBody>
                    <a:bodyPr/>
                    <a:lstStyle/>
                    <a:p>
                      <a:pPr algn="ctr"/>
                      <a:r>
                        <a:rPr sz="1000" b="0">
                          <a:solidFill>
                            <a:srgbClr val="262626"/>
                          </a:solidFill>
                          <a:latin typeface="游ゴシック"/>
                        </a:rPr>
                        <a:t>101</a:t>
                      </a:r>
                    </a:p>
                  </a:txBody>
                  <a:tcPr/>
                </a:tc>
                <a:tc>
                  <a:txBody>
                    <a:bodyPr/>
                    <a:lstStyle/>
                    <a:p>
                      <a:pPr algn="ctr"/>
                      <a:r>
                        <a:rPr sz="1000" b="1">
                          <a:solidFill>
                            <a:srgbClr val="262626"/>
                          </a:solidFill>
                          <a:latin typeface="游ゴシック"/>
                        </a:rPr>
                        <a:t>リハビリ初回(概ね術後1日目)</a:t>
                      </a:r>
                    </a:p>
                  </a:txBody>
                  <a:tcPr/>
                </a:tc>
              </a:tr>
              <a:tr h="303052">
                <a:tc>
                  <a:txBody>
                    <a:bodyPr/>
                    <a:lstStyle/>
                    <a:p>
                      <a:pPr algn="ctr"/>
                      <a:r>
                        <a:rPr sz="1000" b="0">
                          <a:solidFill>
                            <a:srgbClr val="262626"/>
                          </a:solidFill>
                          <a:latin typeface="游ゴシック"/>
                        </a:rPr>
                        <a:t>102</a:t>
                      </a:r>
                    </a:p>
                  </a:txBody>
                  <a:tcPr>
                    <a:solidFill>
                      <a:srgbClr val="A8C4C7"/>
                    </a:solidFill>
                  </a:tcPr>
                </a:tc>
                <a:tc>
                  <a:txBody>
                    <a:bodyPr/>
                    <a:lstStyle/>
                    <a:p>
                      <a:pPr algn="ctr"/>
                      <a:r>
                        <a:rPr sz="1000" b="1">
                          <a:solidFill>
                            <a:srgbClr val="262626"/>
                          </a:solidFill>
                          <a:latin typeface="游ゴシック"/>
                        </a:rPr>
                        <a:t>術翌日</a:t>
                      </a:r>
                    </a:p>
                  </a:txBody>
                  <a:tcPr>
                    <a:solidFill>
                      <a:srgbClr val="A8C4C7"/>
                    </a:solidFill>
                  </a:tcPr>
                </a:tc>
              </a:tr>
              <a:tr h="303052">
                <a:tc>
                  <a:txBody>
                    <a:bodyPr/>
                    <a:lstStyle/>
                    <a:p>
                      <a:pPr algn="ctr"/>
                      <a:r>
                        <a:rPr sz="1000" b="0">
                          <a:solidFill>
                            <a:srgbClr val="262626"/>
                          </a:solidFill>
                          <a:latin typeface="游ゴシック"/>
                        </a:rPr>
                        <a:t>103</a:t>
                      </a:r>
                    </a:p>
                  </a:txBody>
                  <a:tcPr/>
                </a:tc>
                <a:tc>
                  <a:txBody>
                    <a:bodyPr/>
                    <a:lstStyle/>
                    <a:p>
                      <a:pPr algn="ctr"/>
                      <a:r>
                        <a:rPr sz="1000" b="1">
                          <a:solidFill>
                            <a:srgbClr val="262626"/>
                          </a:solidFill>
                          <a:latin typeface="游ゴシック"/>
                        </a:rPr>
                        <a:t>リハビリ介入日か翌日</a:t>
                      </a:r>
                    </a:p>
                  </a:txBody>
                  <a:tcPr/>
                </a:tc>
              </a:tr>
              <a:tr h="303052">
                <a:tc>
                  <a:txBody>
                    <a:bodyPr/>
                    <a:lstStyle/>
                    <a:p>
                      <a:pPr algn="ctr"/>
                      <a:r>
                        <a:rPr sz="1000" b="0">
                          <a:solidFill>
                            <a:srgbClr val="262626"/>
                          </a:solidFill>
                          <a:latin typeface="游ゴシック"/>
                        </a:rPr>
                        <a:t>104</a:t>
                      </a:r>
                    </a:p>
                  </a:txBody>
                  <a:tcPr>
                    <a:solidFill>
                      <a:srgbClr val="A8C4C7"/>
                    </a:solidFill>
                  </a:tcPr>
                </a:tc>
                <a:tc>
                  <a:txBody>
                    <a:bodyPr/>
                    <a:lstStyle/>
                    <a:p>
                      <a:pPr algn="ctr"/>
                      <a:r>
                        <a:rPr sz="1000" b="1">
                          <a:solidFill>
                            <a:srgbClr val="262626"/>
                          </a:solidFill>
                          <a:latin typeface="游ゴシック"/>
                        </a:rPr>
                        <a:t>初回介入時及び介入前カルテチェック時</a:t>
                      </a:r>
                    </a:p>
                  </a:txBody>
                  <a:tcPr>
                    <a:solidFill>
                      <a:srgbClr val="A8C4C7"/>
                    </a:solidFill>
                  </a:tcPr>
                </a:tc>
              </a:tr>
              <a:tr h="303052">
                <a:tc>
                  <a:txBody>
                    <a:bodyPr/>
                    <a:lstStyle/>
                    <a:p>
                      <a:pPr algn="ctr"/>
                      <a:r>
                        <a:rPr sz="1000" b="0">
                          <a:solidFill>
                            <a:srgbClr val="262626"/>
                          </a:solidFill>
                          <a:latin typeface="游ゴシック"/>
                        </a:rPr>
                        <a:t>105</a:t>
                      </a:r>
                    </a:p>
                  </a:txBody>
                  <a:tcPr/>
                </a:tc>
                <a:tc>
                  <a:txBody>
                    <a:bodyPr/>
                    <a:lstStyle/>
                    <a:p>
                      <a:pPr algn="ctr"/>
                      <a:r>
                        <a:rPr sz="1000" b="1">
                          <a:solidFill>
                            <a:srgbClr val="262626"/>
                          </a:solidFill>
                          <a:latin typeface="游ゴシック"/>
                        </a:rPr>
                        <a:t>術後14日目</a:t>
                      </a:r>
                    </a:p>
                  </a:txBody>
                  <a:tcPr/>
                </a:tc>
              </a:tr>
              <a:tr h="303052">
                <a:tc>
                  <a:txBody>
                    <a:bodyPr/>
                    <a:lstStyle/>
                    <a:p>
                      <a:pPr algn="ctr"/>
                      <a:r>
                        <a:rPr sz="1000" b="0">
                          <a:solidFill>
                            <a:srgbClr val="262626"/>
                          </a:solidFill>
                          <a:latin typeface="游ゴシック"/>
                        </a:rPr>
                        <a:t>106</a:t>
                      </a:r>
                    </a:p>
                  </a:txBody>
                  <a:tcPr>
                    <a:solidFill>
                      <a:srgbClr val="A8C4C7"/>
                    </a:solidFill>
                  </a:tcPr>
                </a:tc>
                <a:tc>
                  <a:txBody>
                    <a:bodyPr/>
                    <a:lstStyle/>
                    <a:p>
                      <a:pPr algn="ctr"/>
                      <a:r>
                        <a:rPr sz="1000" b="1">
                          <a:solidFill>
                            <a:srgbClr val="262626"/>
                          </a:solidFill>
                          <a:latin typeface="游ゴシック"/>
                        </a:rPr>
                        <a:t>①退院後、外来初回時　②外来再診時</a:t>
                      </a:r>
                    </a:p>
                  </a:txBody>
                  <a:tcPr>
                    <a:solidFill>
                      <a:srgbClr val="A8C4C7"/>
                    </a:solidFill>
                  </a:tcPr>
                </a:tc>
              </a:tr>
              <a:tr h="303052">
                <a:tc>
                  <a:txBody>
                    <a:bodyPr/>
                    <a:lstStyle/>
                    <a:p>
                      <a:pPr algn="ctr"/>
                      <a:r>
                        <a:rPr sz="1000" b="0">
                          <a:solidFill>
                            <a:srgbClr val="262626"/>
                          </a:solidFill>
                          <a:latin typeface="游ゴシック"/>
                        </a:rPr>
                        <a:t>107</a:t>
                      </a:r>
                    </a:p>
                  </a:txBody>
                  <a:tcPr/>
                </a:tc>
                <a:tc>
                  <a:txBody>
                    <a:bodyPr/>
                    <a:lstStyle/>
                    <a:p>
                      <a:pPr algn="ctr"/>
                      <a:r>
                        <a:rPr sz="1000" b="1">
                          <a:solidFill>
                            <a:srgbClr val="262626"/>
                          </a:solidFill>
                          <a:latin typeface="游ゴシック"/>
                        </a:rPr>
                        <a:t>術後1～2週間</a:t>
                      </a:r>
                    </a:p>
                  </a:txBody>
                  <a:tcPr/>
                </a:tc>
              </a:tr>
              <a:tr h="303052">
                <a:tc>
                  <a:txBody>
                    <a:bodyPr/>
                    <a:lstStyle/>
                    <a:p>
                      <a:pPr algn="ctr"/>
                      <a:r>
                        <a:rPr sz="1000" b="0">
                          <a:solidFill>
                            <a:srgbClr val="262626"/>
                          </a:solidFill>
                          <a:latin typeface="游ゴシック"/>
                        </a:rPr>
                        <a:t>108</a:t>
                      </a:r>
                    </a:p>
                  </a:txBody>
                  <a:tcPr>
                    <a:solidFill>
                      <a:srgbClr val="A8C4C7"/>
                    </a:solidFill>
                  </a:tcPr>
                </a:tc>
                <a:tc>
                  <a:txBody>
                    <a:bodyPr/>
                    <a:lstStyle/>
                    <a:p>
                      <a:pPr algn="ctr"/>
                      <a:r>
                        <a:rPr sz="1000" b="1">
                          <a:solidFill>
                            <a:srgbClr val="262626"/>
                          </a:solidFill>
                          <a:latin typeface="游ゴシック"/>
                        </a:rPr>
                        <a:t>3週間目</a:t>
                      </a:r>
                    </a:p>
                  </a:txBody>
                  <a:tcPr>
                    <a:solidFill>
                      <a:srgbClr val="A8C4C7"/>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Q15-2-1.  「決まっている」を選択した方：術後何日目に実施するか【自由記述】  (7/7)</a:t>
            </a:r>
          </a:p>
        </p:txBody>
      </p:sp>
      <p:graphicFrame>
        <p:nvGraphicFramePr>
          <p:cNvPr id="3" name="Table 2"/>
          <p:cNvGraphicFramePr>
            <a:graphicFrameLocks noGrp="1"/>
          </p:cNvGraphicFramePr>
          <p:nvPr/>
        </p:nvGraphicFramePr>
        <p:xfrm>
          <a:off x="200000" y="950000"/>
          <a:ext cx="11377800" cy="864000"/>
        </p:xfrm>
        <a:graphic>
          <a:graphicData uri="http://schemas.openxmlformats.org/drawingml/2006/table">
            <a:tbl>
              <a:tblPr firstRow="1" bandRow="1">
                <a:tableStyleId>{5C22544A-7EE6-4342-B048-85BDC9FD1C3A}</a:tableStyleId>
              </a:tblPr>
              <a:tblGrid>
                <a:gridCol w="685800"/>
                <a:gridCol w="10692000"/>
              </a:tblGrid>
              <a:tr h="432000">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432000">
                <a:tc>
                  <a:txBody>
                    <a:bodyPr/>
                    <a:lstStyle/>
                    <a:p>
                      <a:pPr algn="ctr"/>
                      <a:r>
                        <a:rPr sz="1000" b="0">
                          <a:solidFill>
                            <a:srgbClr val="262626"/>
                          </a:solidFill>
                          <a:latin typeface="游ゴシック"/>
                        </a:rPr>
                        <a:t>109</a:t>
                      </a:r>
                    </a:p>
                  </a:txBody>
                  <a:tcPr/>
                </a:tc>
                <a:tc>
                  <a:txBody>
                    <a:bodyPr/>
                    <a:lstStyle/>
                    <a:p>
                      <a:pPr algn="ctr"/>
                      <a:r>
                        <a:rPr sz="1000" b="1">
                          <a:solidFill>
                            <a:srgbClr val="262626"/>
                          </a:solidFill>
                          <a:latin typeface="游ゴシック"/>
                        </a:rPr>
                        <a:t>術後7日目　術後14日目</a:t>
                      </a:r>
                    </a:p>
                  </a:txBody>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Q15-2-2.  「決まっていない」を選択した方：決まっていない理由【自由記述】  (1/6)</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特に理由はない</a:t>
                      </a:r>
                    </a:p>
                  </a:txBody>
                  <a:tcPr/>
                </a:tc>
              </a:tr>
              <a:tr h="303052">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各患者状態が違うため。退院1週前～で評価することが多いです</a:t>
                      </a:r>
                    </a:p>
                  </a:txBody>
                  <a:tcPr>
                    <a:solidFill>
                      <a:srgbClr val="A8C4C7"/>
                    </a:solidFill>
                  </a:tcPr>
                </a:tc>
              </a:tr>
              <a:tr h="303052">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疼痛により個人差があるため</a:t>
                      </a:r>
                    </a:p>
                  </a:txBody>
                  <a:tcPr/>
                </a:tc>
              </a:tr>
              <a:tr h="303052">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Q15-1の回答と同様</a:t>
                      </a:r>
                    </a:p>
                  </a:txBody>
                  <a:tcPr>
                    <a:solidFill>
                      <a:srgbClr val="A8C4C7"/>
                    </a:solidFill>
                  </a:tcPr>
                </a:tc>
              </a:tr>
              <a:tr h="303052">
                <a:tc>
                  <a:txBody>
                    <a:bodyPr/>
                    <a:lstStyle/>
                    <a:p>
                      <a:pPr algn="ctr"/>
                      <a:r>
                        <a:rPr sz="1000" b="0">
                          <a:solidFill>
                            <a:srgbClr val="262626"/>
                          </a:solidFill>
                          <a:latin typeface="游ゴシック"/>
                        </a:rPr>
                        <a:t>5</a:t>
                      </a:r>
                    </a:p>
                  </a:txBody>
                  <a:tcPr/>
                </a:tc>
                <a:tc>
                  <a:txBody>
                    <a:bodyPr/>
                    <a:lstStyle/>
                    <a:p>
                      <a:pPr algn="ctr"/>
                      <a:r>
                        <a:rPr sz="1000" b="1">
                          <a:solidFill>
                            <a:srgbClr val="262626"/>
                          </a:solidFill>
                          <a:latin typeface="游ゴシック"/>
                        </a:rPr>
                        <a:t>症例数が多すぎるので、院内転倒リスクが高いとnsかリハでおもったひとを抽出して井戸端会議したり転んでしまった人は事案発覚からすぐに集まってカンファします。これも病棟でまちまちなこともあります。</a:t>
                      </a:r>
                    </a:p>
                  </a:txBody>
                  <a:tcPr/>
                </a:tc>
              </a:tr>
              <a:tr h="303052">
                <a:tc>
                  <a:txBody>
                    <a:bodyPr/>
                    <a:lstStyle/>
                    <a:p>
                      <a:pPr algn="ctr"/>
                      <a:r>
                        <a:rPr sz="1000" b="0">
                          <a:solidFill>
                            <a:srgbClr val="262626"/>
                          </a:solidFill>
                          <a:latin typeface="游ゴシック"/>
                        </a:rPr>
                        <a:t>6</a:t>
                      </a:r>
                    </a:p>
                  </a:txBody>
                  <a:tcPr>
                    <a:solidFill>
                      <a:srgbClr val="A8C4C7"/>
                    </a:solidFill>
                  </a:tcPr>
                </a:tc>
                <a:tc>
                  <a:txBody>
                    <a:bodyPr/>
                    <a:lstStyle/>
                    <a:p>
                      <a:pPr algn="ctr"/>
                      <a:r>
                        <a:rPr sz="1000" b="1">
                          <a:solidFill>
                            <a:srgbClr val="262626"/>
                          </a:solidFill>
                          <a:latin typeface="游ゴシック"/>
                        </a:rPr>
                        <a:t>実際の患者に合わせて可能かどうかを各自判断している</a:t>
                      </a:r>
                    </a:p>
                  </a:txBody>
                  <a:tcPr>
                    <a:solidFill>
                      <a:srgbClr val="A8C4C7"/>
                    </a:solidFill>
                  </a:tcPr>
                </a:tc>
              </a:tr>
              <a:tr h="303052">
                <a:tc>
                  <a:txBody>
                    <a:bodyPr/>
                    <a:lstStyle/>
                    <a:p>
                      <a:pPr algn="ctr"/>
                      <a:r>
                        <a:rPr sz="1000" b="0">
                          <a:solidFill>
                            <a:srgbClr val="262626"/>
                          </a:solidFill>
                          <a:latin typeface="游ゴシック"/>
                        </a:rPr>
                        <a:t>7</a:t>
                      </a:r>
                    </a:p>
                  </a:txBody>
                  <a:tcPr/>
                </a:tc>
                <a:tc>
                  <a:txBody>
                    <a:bodyPr/>
                    <a:lstStyle/>
                    <a:p>
                      <a:pPr algn="ctr"/>
                      <a:r>
                        <a:rPr sz="1000" b="1">
                          <a:solidFill>
                            <a:srgbClr val="262626"/>
                          </a:solidFill>
                          <a:latin typeface="游ゴシック"/>
                        </a:rPr>
                        <a:t>通常の理学療法評価の中で行うため、特に決まっていません。</a:t>
                      </a:r>
                    </a:p>
                  </a:txBody>
                  <a:tcPr/>
                </a:tc>
              </a:tr>
              <a:tr h="303052">
                <a:tc>
                  <a:txBody>
                    <a:bodyPr/>
                    <a:lstStyle/>
                    <a:p>
                      <a:pPr algn="ctr"/>
                      <a:r>
                        <a:rPr sz="1000" b="0">
                          <a:solidFill>
                            <a:srgbClr val="262626"/>
                          </a:solidFill>
                          <a:latin typeface="游ゴシック"/>
                        </a:rPr>
                        <a:t>8</a:t>
                      </a:r>
                    </a:p>
                  </a:txBody>
                  <a:tcPr>
                    <a:solidFill>
                      <a:srgbClr val="A8C4C7"/>
                    </a:solidFill>
                  </a:tcPr>
                </a:tc>
                <a:tc>
                  <a:txBody>
                    <a:bodyPr/>
                    <a:lstStyle/>
                    <a:p>
                      <a:pPr algn="ctr"/>
                      <a:r>
                        <a:rPr sz="1000" b="1">
                          <a:solidFill>
                            <a:srgbClr val="262626"/>
                          </a:solidFill>
                          <a:latin typeface="游ゴシック"/>
                        </a:rPr>
                        <a:t>退院前に一回実施するため、患者によって実施するタイミングが異なるから</a:t>
                      </a:r>
                    </a:p>
                  </a:txBody>
                  <a:tcPr>
                    <a:solidFill>
                      <a:srgbClr val="A8C4C7"/>
                    </a:solidFill>
                  </a:tcPr>
                </a:tc>
              </a:tr>
              <a:tr h="303052">
                <a:tc>
                  <a:txBody>
                    <a:bodyPr/>
                    <a:lstStyle/>
                    <a:p>
                      <a:pPr algn="ctr"/>
                      <a:r>
                        <a:rPr sz="1000" b="0">
                          <a:solidFill>
                            <a:srgbClr val="262626"/>
                          </a:solidFill>
                          <a:latin typeface="游ゴシック"/>
                        </a:rPr>
                        <a:t>9</a:t>
                      </a:r>
                    </a:p>
                  </a:txBody>
                  <a:tcPr/>
                </a:tc>
                <a:tc>
                  <a:txBody>
                    <a:bodyPr/>
                    <a:lstStyle/>
                    <a:p>
                      <a:pPr algn="ctr"/>
                      <a:r>
                        <a:rPr sz="1000" b="1">
                          <a:solidFill>
                            <a:srgbClr val="262626"/>
                          </a:solidFill>
                          <a:latin typeface="游ゴシック"/>
                        </a:rPr>
                        <a:t>患者様により立位や歩行できる時期が異なる為</a:t>
                      </a:r>
                    </a:p>
                  </a:txBody>
                  <a:tcPr/>
                </a:tc>
              </a:tr>
              <a:tr h="303052">
                <a:tc>
                  <a:txBody>
                    <a:bodyPr/>
                    <a:lstStyle/>
                    <a:p>
                      <a:pPr algn="ctr"/>
                      <a:r>
                        <a:rPr sz="1000" b="0">
                          <a:solidFill>
                            <a:srgbClr val="262626"/>
                          </a:solidFill>
                          <a:latin typeface="游ゴシック"/>
                        </a:rPr>
                        <a:t>10</a:t>
                      </a:r>
                    </a:p>
                  </a:txBody>
                  <a:tcPr>
                    <a:solidFill>
                      <a:srgbClr val="A8C4C7"/>
                    </a:solidFill>
                  </a:tcPr>
                </a:tc>
                <a:tc>
                  <a:txBody>
                    <a:bodyPr/>
                    <a:lstStyle/>
                    <a:p>
                      <a:pPr algn="ctr"/>
                      <a:r>
                        <a:rPr sz="1000" b="1">
                          <a:solidFill>
                            <a:srgbClr val="262626"/>
                          </a:solidFill>
                          <a:latin typeface="游ゴシック"/>
                        </a:rPr>
                        <a:t>動作獲得に個人差があるため、立位・歩行が可能となったタイミングで実施</a:t>
                      </a:r>
                    </a:p>
                  </a:txBody>
                  <a:tcPr>
                    <a:solidFill>
                      <a:srgbClr val="A8C4C7"/>
                    </a:solidFill>
                  </a:tcPr>
                </a:tc>
              </a:tr>
              <a:tr h="303052">
                <a:tc>
                  <a:txBody>
                    <a:bodyPr/>
                    <a:lstStyle/>
                    <a:p>
                      <a:pPr algn="ctr"/>
                      <a:r>
                        <a:rPr sz="1000" b="0">
                          <a:solidFill>
                            <a:srgbClr val="262626"/>
                          </a:solidFill>
                          <a:latin typeface="游ゴシック"/>
                        </a:rPr>
                        <a:t>11</a:t>
                      </a:r>
                    </a:p>
                  </a:txBody>
                  <a:tcPr/>
                </a:tc>
                <a:tc>
                  <a:txBody>
                    <a:bodyPr/>
                    <a:lstStyle/>
                    <a:p>
                      <a:pPr algn="ctr"/>
                      <a:r>
                        <a:rPr sz="1000" b="1">
                          <a:solidFill>
                            <a:srgbClr val="262626"/>
                          </a:solidFill>
                          <a:latin typeface="游ゴシック"/>
                        </a:rPr>
                        <a:t>同じ病名でも、年齢や性別等患者背景が異なるため。</a:t>
                      </a:r>
                    </a:p>
                  </a:txBody>
                  <a:tcPr/>
                </a:tc>
              </a:tr>
              <a:tr h="303052">
                <a:tc>
                  <a:txBody>
                    <a:bodyPr/>
                    <a:lstStyle/>
                    <a:p>
                      <a:pPr algn="ctr"/>
                      <a:r>
                        <a:rPr sz="1000" b="0">
                          <a:solidFill>
                            <a:srgbClr val="262626"/>
                          </a:solidFill>
                          <a:latin typeface="游ゴシック"/>
                        </a:rPr>
                        <a:t>12</a:t>
                      </a:r>
                    </a:p>
                  </a:txBody>
                  <a:tcPr>
                    <a:solidFill>
                      <a:srgbClr val="A8C4C7"/>
                    </a:solidFill>
                  </a:tcPr>
                </a:tc>
                <a:tc>
                  <a:txBody>
                    <a:bodyPr/>
                    <a:lstStyle/>
                    <a:p>
                      <a:pPr algn="ctr"/>
                      <a:r>
                        <a:rPr sz="1000" b="1">
                          <a:solidFill>
                            <a:srgbClr val="262626"/>
                          </a:solidFill>
                          <a:latin typeface="游ゴシック"/>
                        </a:rPr>
                        <a:t>患者の状況に応じて評価を実施している</a:t>
                      </a:r>
                    </a:p>
                  </a:txBody>
                  <a:tcPr>
                    <a:solidFill>
                      <a:srgbClr val="A8C4C7"/>
                    </a:solidFill>
                  </a:tcPr>
                </a:tc>
              </a:tr>
              <a:tr h="303052">
                <a:tc>
                  <a:txBody>
                    <a:bodyPr/>
                    <a:lstStyle/>
                    <a:p>
                      <a:pPr algn="ctr"/>
                      <a:r>
                        <a:rPr sz="1000" b="0">
                          <a:solidFill>
                            <a:srgbClr val="262626"/>
                          </a:solidFill>
                          <a:latin typeface="游ゴシック"/>
                        </a:rPr>
                        <a:t>13</a:t>
                      </a:r>
                    </a:p>
                  </a:txBody>
                  <a:tcPr/>
                </a:tc>
                <a:tc>
                  <a:txBody>
                    <a:bodyPr/>
                    <a:lstStyle/>
                    <a:p>
                      <a:pPr algn="ctr"/>
                      <a:r>
                        <a:rPr sz="1000" b="1">
                          <a:solidFill>
                            <a:srgbClr val="262626"/>
                          </a:solidFill>
                          <a:latin typeface="游ゴシック"/>
                        </a:rPr>
                        <a:t>もともとの診療活動として行っているため、FLS活動として改めて決め直していない。</a:t>
                      </a:r>
                    </a:p>
                  </a:txBody>
                  <a:tcPr/>
                </a:tc>
              </a:tr>
              <a:tr h="303052">
                <a:tc>
                  <a:txBody>
                    <a:bodyPr/>
                    <a:lstStyle/>
                    <a:p>
                      <a:pPr algn="ctr"/>
                      <a:r>
                        <a:rPr sz="1000" b="0">
                          <a:solidFill>
                            <a:srgbClr val="262626"/>
                          </a:solidFill>
                          <a:latin typeface="游ゴシック"/>
                        </a:rPr>
                        <a:t>14</a:t>
                      </a:r>
                    </a:p>
                  </a:txBody>
                  <a:tcPr>
                    <a:solidFill>
                      <a:srgbClr val="A8C4C7"/>
                    </a:solidFill>
                  </a:tcPr>
                </a:tc>
                <a:tc>
                  <a:txBody>
                    <a:bodyPr/>
                    <a:lstStyle/>
                    <a:p>
                      <a:pPr algn="ctr"/>
                      <a:r>
                        <a:rPr sz="1000" b="1">
                          <a:solidFill>
                            <a:srgbClr val="262626"/>
                          </a:solidFill>
                          <a:latin typeface="游ゴシック"/>
                        </a:rPr>
                        <a:t>症状を基準に評価しており、業務フローは未整備である</a:t>
                      </a:r>
                    </a:p>
                  </a:txBody>
                  <a:tcPr>
                    <a:solidFill>
                      <a:srgbClr val="A8C4C7"/>
                    </a:solidFill>
                  </a:tcPr>
                </a:tc>
              </a:tr>
              <a:tr h="303052">
                <a:tc>
                  <a:txBody>
                    <a:bodyPr/>
                    <a:lstStyle/>
                    <a:p>
                      <a:pPr algn="ctr"/>
                      <a:r>
                        <a:rPr sz="1000" b="0">
                          <a:solidFill>
                            <a:srgbClr val="262626"/>
                          </a:solidFill>
                          <a:latin typeface="游ゴシック"/>
                        </a:rPr>
                        <a:t>15</a:t>
                      </a:r>
                    </a:p>
                  </a:txBody>
                  <a:tcPr/>
                </a:tc>
                <a:tc>
                  <a:txBody>
                    <a:bodyPr/>
                    <a:lstStyle/>
                    <a:p>
                      <a:pPr algn="ctr"/>
                      <a:r>
                        <a:rPr sz="1000" b="1">
                          <a:solidFill>
                            <a:srgbClr val="262626"/>
                          </a:solidFill>
                          <a:latin typeface="游ゴシック"/>
                        </a:rPr>
                        <a:t>日にちではなく、機能状態の改善程度を参考に決めています。</a:t>
                      </a:r>
                    </a:p>
                  </a:txBody>
                  <a:tcPr/>
                </a:tc>
              </a:tr>
              <a:tr h="303052">
                <a:tc>
                  <a:txBody>
                    <a:bodyPr/>
                    <a:lstStyle/>
                    <a:p>
                      <a:pPr algn="ctr"/>
                      <a:r>
                        <a:rPr sz="1000" b="0">
                          <a:solidFill>
                            <a:srgbClr val="262626"/>
                          </a:solidFill>
                          <a:latin typeface="游ゴシック"/>
                        </a:rPr>
                        <a:t>16</a:t>
                      </a:r>
                    </a:p>
                  </a:txBody>
                  <a:tcPr>
                    <a:solidFill>
                      <a:srgbClr val="A8C4C7"/>
                    </a:solidFill>
                  </a:tcPr>
                </a:tc>
                <a:tc>
                  <a:txBody>
                    <a:bodyPr/>
                    <a:lstStyle/>
                    <a:p>
                      <a:pPr algn="ctr"/>
                      <a:r>
                        <a:rPr sz="1000" b="1">
                          <a:solidFill>
                            <a:srgbClr val="262626"/>
                          </a:solidFill>
                          <a:latin typeface="游ゴシック"/>
                        </a:rPr>
                        <a:t>術後ADLに準じて適宜実施している</a:t>
                      </a:r>
                    </a:p>
                  </a:txBody>
                  <a:tcPr>
                    <a:solidFill>
                      <a:srgbClr val="A8C4C7"/>
                    </a:solidFill>
                  </a:tcPr>
                </a:tc>
              </a:tr>
              <a:tr h="303052">
                <a:tc>
                  <a:txBody>
                    <a:bodyPr/>
                    <a:lstStyle/>
                    <a:p>
                      <a:pPr algn="ctr"/>
                      <a:r>
                        <a:rPr sz="1000" b="0">
                          <a:solidFill>
                            <a:srgbClr val="262626"/>
                          </a:solidFill>
                          <a:latin typeface="游ゴシック"/>
                        </a:rPr>
                        <a:t>17</a:t>
                      </a:r>
                    </a:p>
                  </a:txBody>
                  <a:tcPr/>
                </a:tc>
                <a:tc>
                  <a:txBody>
                    <a:bodyPr/>
                    <a:lstStyle/>
                    <a:p>
                      <a:pPr algn="ctr"/>
                      <a:r>
                        <a:rPr sz="1000" b="1">
                          <a:solidFill>
                            <a:srgbClr val="262626"/>
                          </a:solidFill>
                          <a:latin typeface="游ゴシック"/>
                        </a:rPr>
                        <a:t>ケースによる</a:t>
                      </a:r>
                    </a:p>
                  </a:txBody>
                  <a:tcPr/>
                </a:tc>
              </a:tr>
              <a:tr h="303052">
                <a:tc>
                  <a:txBody>
                    <a:bodyPr/>
                    <a:lstStyle/>
                    <a:p>
                      <a:pPr algn="ctr"/>
                      <a:r>
                        <a:rPr sz="1000" b="0">
                          <a:solidFill>
                            <a:srgbClr val="262626"/>
                          </a:solidFill>
                          <a:latin typeface="游ゴシック"/>
                        </a:rPr>
                        <a:t>18</a:t>
                      </a:r>
                    </a:p>
                  </a:txBody>
                  <a:tcPr>
                    <a:solidFill>
                      <a:srgbClr val="A8C4C7"/>
                    </a:solidFill>
                  </a:tcPr>
                </a:tc>
                <a:tc>
                  <a:txBody>
                    <a:bodyPr/>
                    <a:lstStyle/>
                    <a:p>
                      <a:pPr algn="ctr"/>
                      <a:r>
                        <a:rPr sz="1000" b="1">
                          <a:solidFill>
                            <a:srgbClr val="262626"/>
                          </a:solidFill>
                          <a:latin typeface="游ゴシック"/>
                        </a:rPr>
                        <a:t>術後2週間以内にとしており、疼痛など患者によりかなり違いがあるため、何日目とはしていないではばをもたせている</a:t>
                      </a:r>
                    </a:p>
                  </a:txBody>
                  <a:tcPr>
                    <a:solidFill>
                      <a:srgbClr val="A8C4C7"/>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Q15-2-2.  「決まっていない」を選択した方：決まっていない理由【自由記述】  (2/6)</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19</a:t>
                      </a:r>
                    </a:p>
                  </a:txBody>
                  <a:tcPr/>
                </a:tc>
                <a:tc>
                  <a:txBody>
                    <a:bodyPr/>
                    <a:lstStyle/>
                    <a:p>
                      <a:pPr algn="ctr"/>
                      <a:r>
                        <a:rPr sz="1000" b="1">
                          <a:solidFill>
                            <a:srgbClr val="262626"/>
                          </a:solidFill>
                          <a:latin typeface="游ゴシック"/>
                        </a:rPr>
                        <a:t>決まっていない理由は特にありません。特別事前にルールも設けてはいません。
ただし、全ての評価を同日日に実施する事が時間的に制約を受けることはあります。</a:t>
                      </a:r>
                    </a:p>
                  </a:txBody>
                  <a:tcPr/>
                </a:tc>
              </a:tr>
              <a:tr h="303052">
                <a:tc>
                  <a:txBody>
                    <a:bodyPr/>
                    <a:lstStyle/>
                    <a:p>
                      <a:pPr algn="ctr"/>
                      <a:r>
                        <a:rPr sz="1000" b="0">
                          <a:solidFill>
                            <a:srgbClr val="262626"/>
                          </a:solidFill>
                          <a:latin typeface="游ゴシック"/>
                        </a:rPr>
                        <a:t>20</a:t>
                      </a:r>
                    </a:p>
                  </a:txBody>
                  <a:tcPr>
                    <a:solidFill>
                      <a:srgbClr val="A8C4C7"/>
                    </a:solidFill>
                  </a:tcPr>
                </a:tc>
                <a:tc>
                  <a:txBody>
                    <a:bodyPr/>
                    <a:lstStyle/>
                    <a:p>
                      <a:pPr algn="ctr"/>
                      <a:r>
                        <a:rPr sz="1000" b="1">
                          <a:solidFill>
                            <a:srgbClr val="262626"/>
                          </a:solidFill>
                          <a:latin typeface="游ゴシック"/>
                        </a:rPr>
                        <a:t>病棟の安静度を決める際に評価するため、日にちは個人差があり決めてない。</a:t>
                      </a:r>
                    </a:p>
                  </a:txBody>
                  <a:tcPr>
                    <a:solidFill>
                      <a:srgbClr val="A8C4C7"/>
                    </a:solidFill>
                  </a:tcPr>
                </a:tc>
              </a:tr>
              <a:tr h="303052">
                <a:tc>
                  <a:txBody>
                    <a:bodyPr/>
                    <a:lstStyle/>
                    <a:p>
                      <a:pPr algn="ctr"/>
                      <a:r>
                        <a:rPr sz="1000" b="0">
                          <a:solidFill>
                            <a:srgbClr val="262626"/>
                          </a:solidFill>
                          <a:latin typeface="游ゴシック"/>
                        </a:rPr>
                        <a:t>21</a:t>
                      </a:r>
                    </a:p>
                  </a:txBody>
                  <a:tcPr/>
                </a:tc>
                <a:tc>
                  <a:txBody>
                    <a:bodyPr/>
                    <a:lstStyle/>
                    <a:p>
                      <a:pPr algn="ctr"/>
                      <a:r>
                        <a:rPr sz="1000" b="1">
                          <a:solidFill>
                            <a:srgbClr val="262626"/>
                          </a:solidFill>
                          <a:latin typeface="游ゴシック"/>
                        </a:rPr>
                        <a:t>科内として定期的な取り決めはあるが，施設FLS活動として具体的には決めてはいない．術前の認知機能検査，握力測定は極力実施するよう決めている．</a:t>
                      </a:r>
                    </a:p>
                  </a:txBody>
                  <a:tcPr/>
                </a:tc>
              </a:tr>
              <a:tr h="303052">
                <a:tc>
                  <a:txBody>
                    <a:bodyPr/>
                    <a:lstStyle/>
                    <a:p>
                      <a:pPr algn="ctr"/>
                      <a:r>
                        <a:rPr sz="1000" b="0">
                          <a:solidFill>
                            <a:srgbClr val="262626"/>
                          </a:solidFill>
                          <a:latin typeface="游ゴシック"/>
                        </a:rPr>
                        <a:t>22</a:t>
                      </a:r>
                    </a:p>
                  </a:txBody>
                  <a:tcPr>
                    <a:solidFill>
                      <a:srgbClr val="A8C4C7"/>
                    </a:solidFill>
                  </a:tcPr>
                </a:tc>
                <a:tc>
                  <a:txBody>
                    <a:bodyPr/>
                    <a:lstStyle/>
                    <a:p>
                      <a:pPr algn="ctr"/>
                      <a:r>
                        <a:rPr sz="1000" b="1">
                          <a:solidFill>
                            <a:srgbClr val="262626"/>
                          </a:solidFill>
                          <a:latin typeface="游ゴシック"/>
                        </a:rPr>
                        <a:t>適宜となります。</a:t>
                      </a:r>
                    </a:p>
                  </a:txBody>
                  <a:tcPr>
                    <a:solidFill>
                      <a:srgbClr val="A8C4C7"/>
                    </a:solidFill>
                  </a:tcPr>
                </a:tc>
              </a:tr>
              <a:tr h="303052">
                <a:tc>
                  <a:txBody>
                    <a:bodyPr/>
                    <a:lstStyle/>
                    <a:p>
                      <a:pPr algn="ctr"/>
                      <a:r>
                        <a:rPr sz="1000" b="0">
                          <a:solidFill>
                            <a:srgbClr val="262626"/>
                          </a:solidFill>
                          <a:latin typeface="游ゴシック"/>
                        </a:rPr>
                        <a:t>23</a:t>
                      </a:r>
                    </a:p>
                  </a:txBody>
                  <a:tcPr/>
                </a:tc>
                <a:tc>
                  <a:txBody>
                    <a:bodyPr/>
                    <a:lstStyle/>
                    <a:p>
                      <a:pPr algn="ctr"/>
                      <a:r>
                        <a:rPr sz="1000" b="1">
                          <a:solidFill>
                            <a:srgbClr val="262626"/>
                          </a:solidFill>
                          <a:latin typeface="游ゴシック"/>
                        </a:rPr>
                        <a:t>多様な疾患の方が入院してくる施設であり、統一することが難しい</a:t>
                      </a:r>
                    </a:p>
                  </a:txBody>
                  <a:tcPr/>
                </a:tc>
              </a:tr>
              <a:tr h="303052">
                <a:tc>
                  <a:txBody>
                    <a:bodyPr/>
                    <a:lstStyle/>
                    <a:p>
                      <a:pPr algn="ctr"/>
                      <a:r>
                        <a:rPr sz="1000" b="0">
                          <a:solidFill>
                            <a:srgbClr val="262626"/>
                          </a:solidFill>
                          <a:latin typeface="游ゴシック"/>
                        </a:rPr>
                        <a:t>24</a:t>
                      </a:r>
                    </a:p>
                  </a:txBody>
                  <a:tcPr>
                    <a:solidFill>
                      <a:srgbClr val="A8C4C7"/>
                    </a:solidFill>
                  </a:tcPr>
                </a:tc>
                <a:tc>
                  <a:txBody>
                    <a:bodyPr/>
                    <a:lstStyle/>
                    <a:p>
                      <a:pPr algn="ctr"/>
                      <a:r>
                        <a:rPr sz="1000" b="1">
                          <a:solidFill>
                            <a:srgbClr val="262626"/>
                          </a:solidFill>
                          <a:latin typeface="游ゴシック"/>
                        </a:rPr>
                        <a:t>必要があれば実施しているが、全症例に共通した評価をする時間が取れない</a:t>
                      </a:r>
                    </a:p>
                  </a:txBody>
                  <a:tcPr>
                    <a:solidFill>
                      <a:srgbClr val="A8C4C7"/>
                    </a:solidFill>
                  </a:tcPr>
                </a:tc>
              </a:tr>
              <a:tr h="303052">
                <a:tc>
                  <a:txBody>
                    <a:bodyPr/>
                    <a:lstStyle/>
                    <a:p>
                      <a:pPr algn="ctr"/>
                      <a:r>
                        <a:rPr sz="1000" b="0">
                          <a:solidFill>
                            <a:srgbClr val="262626"/>
                          </a:solidFill>
                          <a:latin typeface="游ゴシック"/>
                        </a:rPr>
                        <a:t>25</a:t>
                      </a:r>
                    </a:p>
                  </a:txBody>
                  <a:tcPr/>
                </a:tc>
                <a:tc>
                  <a:txBody>
                    <a:bodyPr/>
                    <a:lstStyle/>
                    <a:p>
                      <a:pPr algn="ctr"/>
                      <a:r>
                        <a:rPr sz="1000" b="1">
                          <a:solidFill>
                            <a:srgbClr val="262626"/>
                          </a:solidFill>
                          <a:latin typeface="游ゴシック"/>
                        </a:rPr>
                        <a:t>FLSとしての活動が不十分だから</a:t>
                      </a:r>
                    </a:p>
                  </a:txBody>
                  <a:tcPr/>
                </a:tc>
              </a:tr>
              <a:tr h="303052">
                <a:tc>
                  <a:txBody>
                    <a:bodyPr/>
                    <a:lstStyle/>
                    <a:p>
                      <a:pPr algn="ctr"/>
                      <a:r>
                        <a:rPr sz="1000" b="0">
                          <a:solidFill>
                            <a:srgbClr val="262626"/>
                          </a:solidFill>
                          <a:latin typeface="游ゴシック"/>
                        </a:rPr>
                        <a:t>26</a:t>
                      </a:r>
                    </a:p>
                  </a:txBody>
                  <a:tcPr>
                    <a:solidFill>
                      <a:srgbClr val="A8C4C7"/>
                    </a:solidFill>
                  </a:tcPr>
                </a:tc>
                <a:tc>
                  <a:txBody>
                    <a:bodyPr/>
                    <a:lstStyle/>
                    <a:p>
                      <a:pPr algn="ctr"/>
                      <a:r>
                        <a:rPr sz="1000" b="1">
                          <a:solidFill>
                            <a:srgbClr val="262626"/>
                          </a:solidFill>
                          <a:latin typeface="游ゴシック"/>
                        </a:rPr>
                        <a:t>必要に応じて（対象者に応じて）実施する為</a:t>
                      </a:r>
                    </a:p>
                  </a:txBody>
                  <a:tcPr>
                    <a:solidFill>
                      <a:srgbClr val="A8C4C7"/>
                    </a:solidFill>
                  </a:tcPr>
                </a:tc>
              </a:tr>
              <a:tr h="303052">
                <a:tc>
                  <a:txBody>
                    <a:bodyPr/>
                    <a:lstStyle/>
                    <a:p>
                      <a:pPr algn="ctr"/>
                      <a:r>
                        <a:rPr sz="1000" b="0">
                          <a:solidFill>
                            <a:srgbClr val="262626"/>
                          </a:solidFill>
                          <a:latin typeface="游ゴシック"/>
                        </a:rPr>
                        <a:t>27</a:t>
                      </a:r>
                    </a:p>
                  </a:txBody>
                  <a:tcPr/>
                </a:tc>
                <a:tc>
                  <a:txBody>
                    <a:bodyPr/>
                    <a:lstStyle/>
                    <a:p>
                      <a:pPr algn="ctr"/>
                      <a:r>
                        <a:rPr sz="1000" b="1">
                          <a:solidFill>
                            <a:srgbClr val="262626"/>
                          </a:solidFill>
                          <a:latin typeface="游ゴシック"/>
                        </a:rPr>
                        <a:t>日にちまでは具体的に決めていない。1週のうちに行うようにしている。</a:t>
                      </a:r>
                    </a:p>
                  </a:txBody>
                  <a:tcPr/>
                </a:tc>
              </a:tr>
              <a:tr h="303052">
                <a:tc>
                  <a:txBody>
                    <a:bodyPr/>
                    <a:lstStyle/>
                    <a:p>
                      <a:pPr algn="ctr"/>
                      <a:r>
                        <a:rPr sz="1000" b="0">
                          <a:solidFill>
                            <a:srgbClr val="262626"/>
                          </a:solidFill>
                          <a:latin typeface="游ゴシック"/>
                        </a:rPr>
                        <a:t>28</a:t>
                      </a:r>
                    </a:p>
                  </a:txBody>
                  <a:tcPr>
                    <a:solidFill>
                      <a:srgbClr val="A8C4C7"/>
                    </a:solidFill>
                  </a:tcPr>
                </a:tc>
                <a:tc>
                  <a:txBody>
                    <a:bodyPr/>
                    <a:lstStyle/>
                    <a:p>
                      <a:pPr algn="ctr"/>
                      <a:r>
                        <a:rPr sz="1000" b="1">
                          <a:solidFill>
                            <a:srgbClr val="262626"/>
                          </a:solidFill>
                          <a:latin typeface="游ゴシック"/>
                        </a:rPr>
                        <a:t>特になし</a:t>
                      </a:r>
                    </a:p>
                  </a:txBody>
                  <a:tcPr>
                    <a:solidFill>
                      <a:srgbClr val="A8C4C7"/>
                    </a:solidFill>
                  </a:tcPr>
                </a:tc>
              </a:tr>
              <a:tr h="303052">
                <a:tc>
                  <a:txBody>
                    <a:bodyPr/>
                    <a:lstStyle/>
                    <a:p>
                      <a:pPr algn="ctr"/>
                      <a:r>
                        <a:rPr sz="1000" b="0">
                          <a:solidFill>
                            <a:srgbClr val="262626"/>
                          </a:solidFill>
                          <a:latin typeface="游ゴシック"/>
                        </a:rPr>
                        <a:t>29</a:t>
                      </a:r>
                    </a:p>
                  </a:txBody>
                  <a:tcPr/>
                </a:tc>
                <a:tc>
                  <a:txBody>
                    <a:bodyPr/>
                    <a:lstStyle/>
                    <a:p>
                      <a:pPr algn="ctr"/>
                      <a:r>
                        <a:rPr sz="1000" b="1">
                          <a:solidFill>
                            <a:srgbClr val="262626"/>
                          </a:solidFill>
                          <a:latin typeface="游ゴシック"/>
                        </a:rPr>
                        <a:t>術後せん妄等あり、患者一人一人に応じて実施。できるだけ長期評価を心がけている。</a:t>
                      </a:r>
                    </a:p>
                  </a:txBody>
                  <a:tcPr/>
                </a:tc>
              </a:tr>
              <a:tr h="303052">
                <a:tc>
                  <a:txBody>
                    <a:bodyPr/>
                    <a:lstStyle/>
                    <a:p>
                      <a:pPr algn="ctr"/>
                      <a:r>
                        <a:rPr sz="1000" b="0">
                          <a:solidFill>
                            <a:srgbClr val="262626"/>
                          </a:solidFill>
                          <a:latin typeface="游ゴシック"/>
                        </a:rPr>
                        <a:t>30</a:t>
                      </a:r>
                    </a:p>
                  </a:txBody>
                  <a:tcPr>
                    <a:solidFill>
                      <a:srgbClr val="A8C4C7"/>
                    </a:solidFill>
                  </a:tcPr>
                </a:tc>
                <a:tc>
                  <a:txBody>
                    <a:bodyPr/>
                    <a:lstStyle/>
                    <a:p>
                      <a:pPr algn="ctr"/>
                      <a:r>
                        <a:rPr sz="1000" b="1">
                          <a:solidFill>
                            <a:srgbClr val="262626"/>
                          </a:solidFill>
                          <a:latin typeface="游ゴシック"/>
                        </a:rPr>
                        <a:t>荷重制限・患者の歩行獲得時期の差のため</a:t>
                      </a:r>
                    </a:p>
                  </a:txBody>
                  <a:tcPr>
                    <a:solidFill>
                      <a:srgbClr val="A8C4C7"/>
                    </a:solidFill>
                  </a:tcPr>
                </a:tc>
              </a:tr>
              <a:tr h="303052">
                <a:tc>
                  <a:txBody>
                    <a:bodyPr/>
                    <a:lstStyle/>
                    <a:p>
                      <a:pPr algn="ctr"/>
                      <a:r>
                        <a:rPr sz="1000" b="0">
                          <a:solidFill>
                            <a:srgbClr val="262626"/>
                          </a:solidFill>
                          <a:latin typeface="游ゴシック"/>
                        </a:rPr>
                        <a:t>31</a:t>
                      </a:r>
                    </a:p>
                  </a:txBody>
                  <a:tcPr/>
                </a:tc>
                <a:tc>
                  <a:txBody>
                    <a:bodyPr/>
                    <a:lstStyle/>
                    <a:p>
                      <a:pPr algn="ctr"/>
                      <a:r>
                        <a:rPr sz="1000" b="1">
                          <a:solidFill>
                            <a:srgbClr val="262626"/>
                          </a:solidFill>
                          <a:latin typeface="游ゴシック"/>
                        </a:rPr>
                        <a:t>なるべく初回介入時に評価をしているが、明確にいつ評価を行うかは決まっていない</a:t>
                      </a:r>
                    </a:p>
                  </a:txBody>
                  <a:tcPr/>
                </a:tc>
              </a:tr>
              <a:tr h="303052">
                <a:tc>
                  <a:txBody>
                    <a:bodyPr/>
                    <a:lstStyle/>
                    <a:p>
                      <a:pPr algn="ctr"/>
                      <a:r>
                        <a:rPr sz="1000" b="0">
                          <a:solidFill>
                            <a:srgbClr val="262626"/>
                          </a:solidFill>
                          <a:latin typeface="游ゴシック"/>
                        </a:rPr>
                        <a:t>32</a:t>
                      </a:r>
                    </a:p>
                  </a:txBody>
                  <a:tcPr>
                    <a:solidFill>
                      <a:srgbClr val="A8C4C7"/>
                    </a:solidFill>
                  </a:tcPr>
                </a:tc>
                <a:tc>
                  <a:txBody>
                    <a:bodyPr/>
                    <a:lstStyle/>
                    <a:p>
                      <a:pPr algn="ctr"/>
                      <a:r>
                        <a:rPr sz="1000" b="1">
                          <a:solidFill>
                            <a:srgbClr val="262626"/>
                          </a:solidFill>
                          <a:latin typeface="游ゴシック"/>
                        </a:rPr>
                        <a:t>特になし</a:t>
                      </a:r>
                    </a:p>
                  </a:txBody>
                  <a:tcPr>
                    <a:solidFill>
                      <a:srgbClr val="A8C4C7"/>
                    </a:solidFill>
                  </a:tcPr>
                </a:tc>
              </a:tr>
              <a:tr h="303052">
                <a:tc>
                  <a:txBody>
                    <a:bodyPr/>
                    <a:lstStyle/>
                    <a:p>
                      <a:pPr algn="ctr"/>
                      <a:r>
                        <a:rPr sz="1000" b="0">
                          <a:solidFill>
                            <a:srgbClr val="262626"/>
                          </a:solidFill>
                          <a:latin typeface="游ゴシック"/>
                        </a:rPr>
                        <a:t>33</a:t>
                      </a:r>
                    </a:p>
                  </a:txBody>
                  <a:tcPr/>
                </a:tc>
                <a:tc>
                  <a:txBody>
                    <a:bodyPr/>
                    <a:lstStyle/>
                    <a:p>
                      <a:pPr algn="ctr"/>
                      <a:r>
                        <a:rPr sz="1000" b="1">
                          <a:solidFill>
                            <a:srgbClr val="262626"/>
                          </a:solidFill>
                          <a:latin typeface="游ゴシック"/>
                        </a:rPr>
                        <a:t>全身状態や離床状況によって、実施できる時期が異なるため。</a:t>
                      </a:r>
                    </a:p>
                  </a:txBody>
                  <a:tcPr/>
                </a:tc>
              </a:tr>
              <a:tr h="303052">
                <a:tc>
                  <a:txBody>
                    <a:bodyPr/>
                    <a:lstStyle/>
                    <a:p>
                      <a:pPr algn="ctr"/>
                      <a:r>
                        <a:rPr sz="1000" b="0">
                          <a:solidFill>
                            <a:srgbClr val="262626"/>
                          </a:solidFill>
                          <a:latin typeface="游ゴシック"/>
                        </a:rPr>
                        <a:t>34</a:t>
                      </a:r>
                    </a:p>
                  </a:txBody>
                  <a:tcPr>
                    <a:solidFill>
                      <a:srgbClr val="A8C4C7"/>
                    </a:solidFill>
                  </a:tcPr>
                </a:tc>
                <a:tc>
                  <a:txBody>
                    <a:bodyPr/>
                    <a:lstStyle/>
                    <a:p>
                      <a:pPr algn="ctr"/>
                      <a:r>
                        <a:rPr sz="1000" b="1">
                          <a:solidFill>
                            <a:srgbClr val="262626"/>
                          </a:solidFill>
                          <a:latin typeface="游ゴシック"/>
                        </a:rPr>
                        <a:t>看護部が主体であり、転倒に関しても別の委員会主体で評価を行っているため</a:t>
                      </a:r>
                    </a:p>
                  </a:txBody>
                  <a:tcPr>
                    <a:solidFill>
                      <a:srgbClr val="A8C4C7"/>
                    </a:solidFill>
                  </a:tcPr>
                </a:tc>
              </a:tr>
              <a:tr h="303052">
                <a:tc>
                  <a:txBody>
                    <a:bodyPr/>
                    <a:lstStyle/>
                    <a:p>
                      <a:pPr algn="ctr"/>
                      <a:r>
                        <a:rPr sz="1000" b="0">
                          <a:solidFill>
                            <a:srgbClr val="262626"/>
                          </a:solidFill>
                          <a:latin typeface="游ゴシック"/>
                        </a:rPr>
                        <a:t>35</a:t>
                      </a:r>
                    </a:p>
                  </a:txBody>
                  <a:tcPr/>
                </a:tc>
                <a:tc>
                  <a:txBody>
                    <a:bodyPr/>
                    <a:lstStyle/>
                    <a:p>
                      <a:pPr algn="ctr"/>
                      <a:r>
                        <a:rPr sz="1000" b="1">
                          <a:solidFill>
                            <a:srgbClr val="262626"/>
                          </a:solidFill>
                          <a:latin typeface="游ゴシック"/>
                        </a:rPr>
                        <a:t>患者さんそれぞれの離床具合で検査時期をそれぞれの療法士が判断し検査を実施している</a:t>
                      </a:r>
                    </a:p>
                  </a:txBody>
                  <a:tcPr/>
                </a:tc>
              </a:tr>
              <a:tr h="303052">
                <a:tc>
                  <a:txBody>
                    <a:bodyPr/>
                    <a:lstStyle/>
                    <a:p>
                      <a:pPr algn="ctr"/>
                      <a:r>
                        <a:rPr sz="1000" b="0">
                          <a:solidFill>
                            <a:srgbClr val="262626"/>
                          </a:solidFill>
                          <a:latin typeface="游ゴシック"/>
                        </a:rPr>
                        <a:t>36</a:t>
                      </a:r>
                    </a:p>
                  </a:txBody>
                  <a:tcPr>
                    <a:solidFill>
                      <a:srgbClr val="A8C4C7"/>
                    </a:solidFill>
                  </a:tcPr>
                </a:tc>
                <a:tc>
                  <a:txBody>
                    <a:bodyPr/>
                    <a:lstStyle/>
                    <a:p>
                      <a:pPr algn="ctr"/>
                      <a:r>
                        <a:rPr sz="1000" b="1">
                          <a:solidFill>
                            <a:srgbClr val="262626"/>
                          </a:solidFill>
                          <a:latin typeface="游ゴシック"/>
                        </a:rPr>
                        <a:t>患者の個別性が高いため。</a:t>
                      </a:r>
                    </a:p>
                  </a:txBody>
                  <a:tcPr>
                    <a:solidFill>
                      <a:srgbClr val="A8C4C7"/>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Q15-2-2.  「決まっていない」を選択した方：決まっていない理由【自由記述】  (3/6)</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37</a:t>
                      </a:r>
                    </a:p>
                  </a:txBody>
                  <a:tcPr/>
                </a:tc>
                <a:tc>
                  <a:txBody>
                    <a:bodyPr/>
                    <a:lstStyle/>
                    <a:p>
                      <a:pPr algn="ctr"/>
                      <a:r>
                        <a:rPr sz="1000" b="1">
                          <a:solidFill>
                            <a:srgbClr val="262626"/>
                          </a:solidFill>
                          <a:latin typeface="游ゴシック"/>
                        </a:rPr>
                        <a:t>循環動態不良の患者さんも多いため</a:t>
                      </a:r>
                    </a:p>
                  </a:txBody>
                  <a:tcPr/>
                </a:tc>
              </a:tr>
              <a:tr h="303052">
                <a:tc>
                  <a:txBody>
                    <a:bodyPr/>
                    <a:lstStyle/>
                    <a:p>
                      <a:pPr algn="ctr"/>
                      <a:r>
                        <a:rPr sz="1000" b="0">
                          <a:solidFill>
                            <a:srgbClr val="262626"/>
                          </a:solidFill>
                          <a:latin typeface="游ゴシック"/>
                        </a:rPr>
                        <a:t>38</a:t>
                      </a:r>
                    </a:p>
                  </a:txBody>
                  <a:tcPr>
                    <a:solidFill>
                      <a:srgbClr val="A8C4C7"/>
                    </a:solidFill>
                  </a:tcPr>
                </a:tc>
                <a:tc>
                  <a:txBody>
                    <a:bodyPr/>
                    <a:lstStyle/>
                    <a:p>
                      <a:pPr algn="ctr"/>
                      <a:r>
                        <a:rPr sz="1000" b="1">
                          <a:solidFill>
                            <a:srgbClr val="262626"/>
                          </a:solidFill>
                          <a:latin typeface="游ゴシック"/>
                        </a:rPr>
                        <a:t>対象者によってことなるため定義できていない</a:t>
                      </a:r>
                    </a:p>
                  </a:txBody>
                  <a:tcPr>
                    <a:solidFill>
                      <a:srgbClr val="A8C4C7"/>
                    </a:solidFill>
                  </a:tcPr>
                </a:tc>
              </a:tr>
              <a:tr h="303052">
                <a:tc>
                  <a:txBody>
                    <a:bodyPr/>
                    <a:lstStyle/>
                    <a:p>
                      <a:pPr algn="ctr"/>
                      <a:r>
                        <a:rPr sz="1000" b="0">
                          <a:solidFill>
                            <a:srgbClr val="262626"/>
                          </a:solidFill>
                          <a:latin typeface="游ゴシック"/>
                        </a:rPr>
                        <a:t>39</a:t>
                      </a:r>
                    </a:p>
                  </a:txBody>
                  <a:tcPr/>
                </a:tc>
                <a:tc>
                  <a:txBody>
                    <a:bodyPr/>
                    <a:lstStyle/>
                    <a:p>
                      <a:pPr algn="ctr"/>
                      <a:r>
                        <a:rPr sz="1000" b="1">
                          <a:solidFill>
                            <a:srgbClr val="262626"/>
                          </a:solidFill>
                          <a:latin typeface="游ゴシック"/>
                        </a:rPr>
                        <a:t>10m以上の歩行が可能で日常の病棟内移動が歩行車以上で自立 or スタッフ監視レベルに到達した患者のみを対象としているため（急性期病院のため多くの患者は基準到達前に転院）</a:t>
                      </a:r>
                    </a:p>
                  </a:txBody>
                  <a:tcPr/>
                </a:tc>
              </a:tr>
              <a:tr h="303052">
                <a:tc>
                  <a:txBody>
                    <a:bodyPr/>
                    <a:lstStyle/>
                    <a:p>
                      <a:pPr algn="ctr"/>
                      <a:r>
                        <a:rPr sz="1000" b="0">
                          <a:solidFill>
                            <a:srgbClr val="262626"/>
                          </a:solidFill>
                          <a:latin typeface="游ゴシック"/>
                        </a:rPr>
                        <a:t>40</a:t>
                      </a:r>
                    </a:p>
                  </a:txBody>
                  <a:tcPr>
                    <a:solidFill>
                      <a:srgbClr val="A8C4C7"/>
                    </a:solidFill>
                  </a:tcPr>
                </a:tc>
                <a:tc>
                  <a:txBody>
                    <a:bodyPr/>
                    <a:lstStyle/>
                    <a:p>
                      <a:pPr algn="ctr"/>
                      <a:r>
                        <a:rPr sz="1000" b="1">
                          <a:solidFill>
                            <a:srgbClr val="262626"/>
                          </a:solidFill>
                          <a:latin typeface="游ゴシック"/>
                        </a:rPr>
                        <a:t>せん妄など全身状態で測れないことがあるため、測れるようになって測定している。</a:t>
                      </a:r>
                    </a:p>
                  </a:txBody>
                  <a:tcPr>
                    <a:solidFill>
                      <a:srgbClr val="A8C4C7"/>
                    </a:solidFill>
                  </a:tcPr>
                </a:tc>
              </a:tr>
              <a:tr h="303052">
                <a:tc>
                  <a:txBody>
                    <a:bodyPr/>
                    <a:lstStyle/>
                    <a:p>
                      <a:pPr algn="ctr"/>
                      <a:r>
                        <a:rPr sz="1000" b="0">
                          <a:solidFill>
                            <a:srgbClr val="262626"/>
                          </a:solidFill>
                          <a:latin typeface="游ゴシック"/>
                        </a:rPr>
                        <a:t>41</a:t>
                      </a:r>
                    </a:p>
                  </a:txBody>
                  <a:tcPr/>
                </a:tc>
                <a:tc>
                  <a:txBody>
                    <a:bodyPr/>
                    <a:lstStyle/>
                    <a:p>
                      <a:pPr algn="ctr"/>
                      <a:r>
                        <a:rPr sz="1000" b="1">
                          <a:solidFill>
                            <a:srgbClr val="262626"/>
                          </a:solidFill>
                          <a:latin typeface="游ゴシック"/>
                        </a:rPr>
                        <a:t>理由は特にありません。</a:t>
                      </a:r>
                    </a:p>
                  </a:txBody>
                  <a:tcPr/>
                </a:tc>
              </a:tr>
              <a:tr h="303052">
                <a:tc>
                  <a:txBody>
                    <a:bodyPr/>
                    <a:lstStyle/>
                    <a:p>
                      <a:pPr algn="ctr"/>
                      <a:r>
                        <a:rPr sz="1000" b="0">
                          <a:solidFill>
                            <a:srgbClr val="262626"/>
                          </a:solidFill>
                          <a:latin typeface="游ゴシック"/>
                        </a:rPr>
                        <a:t>42</a:t>
                      </a:r>
                    </a:p>
                  </a:txBody>
                  <a:tcPr>
                    <a:solidFill>
                      <a:srgbClr val="A8C4C7"/>
                    </a:solidFill>
                  </a:tcPr>
                </a:tc>
                <a:tc>
                  <a:txBody>
                    <a:bodyPr/>
                    <a:lstStyle/>
                    <a:p>
                      <a:pPr algn="ctr"/>
                      <a:r>
                        <a:rPr sz="1000" b="1">
                          <a:solidFill>
                            <a:srgbClr val="262626"/>
                          </a:solidFill>
                          <a:latin typeface="游ゴシック"/>
                        </a:rPr>
                        <a:t>歩行獲得までの日数に個人差があるため、入院中に実施することだけ定めている</a:t>
                      </a:r>
                    </a:p>
                  </a:txBody>
                  <a:tcPr>
                    <a:solidFill>
                      <a:srgbClr val="A8C4C7"/>
                    </a:solidFill>
                  </a:tcPr>
                </a:tc>
              </a:tr>
              <a:tr h="303052">
                <a:tc>
                  <a:txBody>
                    <a:bodyPr/>
                    <a:lstStyle/>
                    <a:p>
                      <a:pPr algn="ctr"/>
                      <a:r>
                        <a:rPr sz="1000" b="0">
                          <a:solidFill>
                            <a:srgbClr val="262626"/>
                          </a:solidFill>
                          <a:latin typeface="游ゴシック"/>
                        </a:rPr>
                        <a:t>43</a:t>
                      </a:r>
                    </a:p>
                  </a:txBody>
                  <a:tcPr/>
                </a:tc>
                <a:tc>
                  <a:txBody>
                    <a:bodyPr/>
                    <a:lstStyle/>
                    <a:p>
                      <a:pPr algn="ctr"/>
                      <a:r>
                        <a:rPr sz="1000" b="1">
                          <a:solidFill>
                            <a:srgbClr val="262626"/>
                          </a:solidFill>
                          <a:latin typeface="游ゴシック"/>
                        </a:rPr>
                        <a:t>実施可能な状態になってから測定するため。主治医と担当が骨粗鬆症に注視しているかどうかによっても異なるため。</a:t>
                      </a:r>
                    </a:p>
                  </a:txBody>
                  <a:tcPr/>
                </a:tc>
              </a:tr>
              <a:tr h="303052">
                <a:tc>
                  <a:txBody>
                    <a:bodyPr/>
                    <a:lstStyle/>
                    <a:p>
                      <a:pPr algn="ctr"/>
                      <a:r>
                        <a:rPr sz="1000" b="0">
                          <a:solidFill>
                            <a:srgbClr val="262626"/>
                          </a:solidFill>
                          <a:latin typeface="游ゴシック"/>
                        </a:rPr>
                        <a:t>44</a:t>
                      </a:r>
                    </a:p>
                  </a:txBody>
                  <a:tcPr>
                    <a:solidFill>
                      <a:srgbClr val="A8C4C7"/>
                    </a:solidFill>
                  </a:tcPr>
                </a:tc>
                <a:tc>
                  <a:txBody>
                    <a:bodyPr/>
                    <a:lstStyle/>
                    <a:p>
                      <a:pPr algn="ctr"/>
                      <a:r>
                        <a:rPr sz="1000" b="1">
                          <a:solidFill>
                            <a:srgbClr val="262626"/>
                          </a:solidFill>
                          <a:latin typeface="游ゴシック"/>
                        </a:rPr>
                        <a:t>転院、転棟前に実施</a:t>
                      </a:r>
                    </a:p>
                  </a:txBody>
                  <a:tcPr>
                    <a:solidFill>
                      <a:srgbClr val="A8C4C7"/>
                    </a:solidFill>
                  </a:tcPr>
                </a:tc>
              </a:tr>
              <a:tr h="303052">
                <a:tc>
                  <a:txBody>
                    <a:bodyPr/>
                    <a:lstStyle/>
                    <a:p>
                      <a:pPr algn="ctr"/>
                      <a:r>
                        <a:rPr sz="1000" b="0">
                          <a:solidFill>
                            <a:srgbClr val="262626"/>
                          </a:solidFill>
                          <a:latin typeface="游ゴシック"/>
                        </a:rPr>
                        <a:t>45</a:t>
                      </a:r>
                    </a:p>
                  </a:txBody>
                  <a:tcPr/>
                </a:tc>
                <a:tc>
                  <a:txBody>
                    <a:bodyPr/>
                    <a:lstStyle/>
                    <a:p>
                      <a:pPr algn="ctr"/>
                      <a:r>
                        <a:rPr sz="1000" b="1">
                          <a:solidFill>
                            <a:srgbClr val="262626"/>
                          </a:solidFill>
                          <a:latin typeface="游ゴシック"/>
                        </a:rPr>
                        <a:t>ベッド周囲の環境評価は入棟時や部屋移動時、歩行形態が変わったときなどその都度行っているため</a:t>
                      </a:r>
                    </a:p>
                  </a:txBody>
                  <a:tcPr/>
                </a:tc>
              </a:tr>
              <a:tr h="303052">
                <a:tc>
                  <a:txBody>
                    <a:bodyPr/>
                    <a:lstStyle/>
                    <a:p>
                      <a:pPr algn="ctr"/>
                      <a:r>
                        <a:rPr sz="1000" b="0">
                          <a:solidFill>
                            <a:srgbClr val="262626"/>
                          </a:solidFill>
                          <a:latin typeface="游ゴシック"/>
                        </a:rPr>
                        <a:t>46</a:t>
                      </a:r>
                    </a:p>
                  </a:txBody>
                  <a:tcPr>
                    <a:solidFill>
                      <a:srgbClr val="A8C4C7"/>
                    </a:solidFill>
                  </a:tcPr>
                </a:tc>
                <a:tc>
                  <a:txBody>
                    <a:bodyPr/>
                    <a:lstStyle/>
                    <a:p>
                      <a:pPr algn="ctr"/>
                      <a:r>
                        <a:rPr sz="1000" b="1">
                          <a:solidFill>
                            <a:srgbClr val="262626"/>
                          </a:solidFill>
                          <a:latin typeface="游ゴシック"/>
                        </a:rPr>
                        <a:t>異動形態変更時に実施するため</a:t>
                      </a:r>
                    </a:p>
                  </a:txBody>
                  <a:tcPr>
                    <a:solidFill>
                      <a:srgbClr val="A8C4C7"/>
                    </a:solidFill>
                  </a:tcPr>
                </a:tc>
              </a:tr>
              <a:tr h="303052">
                <a:tc>
                  <a:txBody>
                    <a:bodyPr/>
                    <a:lstStyle/>
                    <a:p>
                      <a:pPr algn="ctr"/>
                      <a:r>
                        <a:rPr sz="1000" b="0">
                          <a:solidFill>
                            <a:srgbClr val="262626"/>
                          </a:solidFill>
                          <a:latin typeface="游ゴシック"/>
                        </a:rPr>
                        <a:t>47</a:t>
                      </a:r>
                    </a:p>
                  </a:txBody>
                  <a:tcPr/>
                </a:tc>
                <a:tc>
                  <a:txBody>
                    <a:bodyPr/>
                    <a:lstStyle/>
                    <a:p>
                      <a:pPr algn="ctr"/>
                      <a:r>
                        <a:rPr sz="1000" b="1">
                          <a:solidFill>
                            <a:srgbClr val="262626"/>
                          </a:solidFill>
                          <a:latin typeface="游ゴシック"/>
                        </a:rPr>
                        <a:t>特になし</a:t>
                      </a:r>
                    </a:p>
                  </a:txBody>
                  <a:tcPr/>
                </a:tc>
              </a:tr>
              <a:tr h="303052">
                <a:tc>
                  <a:txBody>
                    <a:bodyPr/>
                    <a:lstStyle/>
                    <a:p>
                      <a:pPr algn="ctr"/>
                      <a:r>
                        <a:rPr sz="1000" b="0">
                          <a:solidFill>
                            <a:srgbClr val="262626"/>
                          </a:solidFill>
                          <a:latin typeface="游ゴシック"/>
                        </a:rPr>
                        <a:t>48</a:t>
                      </a:r>
                    </a:p>
                  </a:txBody>
                  <a:tcPr>
                    <a:solidFill>
                      <a:srgbClr val="A8C4C7"/>
                    </a:solidFill>
                  </a:tcPr>
                </a:tc>
                <a:tc>
                  <a:txBody>
                    <a:bodyPr/>
                    <a:lstStyle/>
                    <a:p>
                      <a:pPr algn="ctr"/>
                      <a:r>
                        <a:rPr sz="1000" b="1">
                          <a:solidFill>
                            <a:srgbClr val="262626"/>
                          </a:solidFill>
                          <a:latin typeface="游ゴシック"/>
                        </a:rPr>
                        <a:t>各セラピストの評価に準じている</a:t>
                      </a:r>
                    </a:p>
                  </a:txBody>
                  <a:tcPr>
                    <a:solidFill>
                      <a:srgbClr val="A8C4C7"/>
                    </a:solidFill>
                  </a:tcPr>
                </a:tc>
              </a:tr>
              <a:tr h="303052">
                <a:tc>
                  <a:txBody>
                    <a:bodyPr/>
                    <a:lstStyle/>
                    <a:p>
                      <a:pPr algn="ctr"/>
                      <a:r>
                        <a:rPr sz="1000" b="0">
                          <a:solidFill>
                            <a:srgbClr val="262626"/>
                          </a:solidFill>
                          <a:latin typeface="游ゴシック"/>
                        </a:rPr>
                        <a:t>49</a:t>
                      </a:r>
                    </a:p>
                  </a:txBody>
                  <a:tcPr/>
                </a:tc>
                <a:tc>
                  <a:txBody>
                    <a:bodyPr/>
                    <a:lstStyle/>
                    <a:p>
                      <a:pPr algn="ctr"/>
                      <a:r>
                        <a:rPr sz="1000" b="1">
                          <a:solidFill>
                            <a:srgbClr val="262626"/>
                          </a:solidFill>
                          <a:latin typeface="游ゴシック"/>
                        </a:rPr>
                        <a:t>ベッド周囲及び病室環境の評価は術後３日目に実施するが、それ以外の項目は転院調整以降や退院日直前に実施している。</a:t>
                      </a:r>
                    </a:p>
                  </a:txBody>
                  <a:tcPr/>
                </a:tc>
              </a:tr>
              <a:tr h="303052">
                <a:tc>
                  <a:txBody>
                    <a:bodyPr/>
                    <a:lstStyle/>
                    <a:p>
                      <a:pPr algn="ctr"/>
                      <a:r>
                        <a:rPr sz="1000" b="0">
                          <a:solidFill>
                            <a:srgbClr val="262626"/>
                          </a:solidFill>
                          <a:latin typeface="游ゴシック"/>
                        </a:rPr>
                        <a:t>50</a:t>
                      </a:r>
                    </a:p>
                  </a:txBody>
                  <a:tcPr>
                    <a:solidFill>
                      <a:srgbClr val="A8C4C7"/>
                    </a:solidFill>
                  </a:tcPr>
                </a:tc>
                <a:tc>
                  <a:txBody>
                    <a:bodyPr/>
                    <a:lstStyle/>
                    <a:p>
                      <a:pPr algn="ctr"/>
                      <a:r>
                        <a:rPr sz="1000" b="1">
                          <a:solidFill>
                            <a:srgbClr val="262626"/>
                          </a:solidFill>
                          <a:latin typeface="游ゴシック"/>
                        </a:rPr>
                        <a:t>疼痛や転院時期に応じて実施有無に個人差が大きいため</a:t>
                      </a:r>
                    </a:p>
                  </a:txBody>
                  <a:tcPr>
                    <a:solidFill>
                      <a:srgbClr val="A8C4C7"/>
                    </a:solidFill>
                  </a:tcPr>
                </a:tc>
              </a:tr>
              <a:tr h="303052">
                <a:tc>
                  <a:txBody>
                    <a:bodyPr/>
                    <a:lstStyle/>
                    <a:p>
                      <a:pPr algn="ctr"/>
                      <a:r>
                        <a:rPr sz="1000" b="0">
                          <a:solidFill>
                            <a:srgbClr val="262626"/>
                          </a:solidFill>
                          <a:latin typeface="游ゴシック"/>
                        </a:rPr>
                        <a:t>51</a:t>
                      </a:r>
                    </a:p>
                  </a:txBody>
                  <a:tcPr/>
                </a:tc>
                <a:tc>
                  <a:txBody>
                    <a:bodyPr/>
                    <a:lstStyle/>
                    <a:p>
                      <a:pPr algn="ctr"/>
                      <a:r>
                        <a:rPr sz="1000" b="1">
                          <a:solidFill>
                            <a:srgbClr val="262626"/>
                          </a:solidFill>
                          <a:latin typeface="游ゴシック"/>
                        </a:rPr>
                        <a:t>実施時期に関してはセラピストに一任されているため。</a:t>
                      </a:r>
                    </a:p>
                  </a:txBody>
                  <a:tcPr/>
                </a:tc>
              </a:tr>
              <a:tr h="303052">
                <a:tc>
                  <a:txBody>
                    <a:bodyPr/>
                    <a:lstStyle/>
                    <a:p>
                      <a:pPr algn="ctr"/>
                      <a:r>
                        <a:rPr sz="1000" b="0">
                          <a:solidFill>
                            <a:srgbClr val="262626"/>
                          </a:solidFill>
                          <a:latin typeface="游ゴシック"/>
                        </a:rPr>
                        <a:t>52</a:t>
                      </a:r>
                    </a:p>
                  </a:txBody>
                  <a:tcPr>
                    <a:solidFill>
                      <a:srgbClr val="A8C4C7"/>
                    </a:solidFill>
                  </a:tcPr>
                </a:tc>
                <a:tc>
                  <a:txBody>
                    <a:bodyPr/>
                    <a:lstStyle/>
                    <a:p>
                      <a:pPr algn="ctr"/>
                      <a:r>
                        <a:rPr sz="1000" b="1">
                          <a:solidFill>
                            <a:srgbClr val="262626"/>
                          </a:solidFill>
                          <a:latin typeface="游ゴシック"/>
                        </a:rPr>
                        <a:t>認知機能に関してはせん妄中に検査しても正確な結果が出ないため、症例によってタイミングが異なる。筋力に関しては日々の変化を評価しているため特定の検査日は決まっていない。</a:t>
                      </a:r>
                    </a:p>
                  </a:txBody>
                  <a:tcPr>
                    <a:solidFill>
                      <a:srgbClr val="A8C4C7"/>
                    </a:solidFill>
                  </a:tcPr>
                </a:tc>
              </a:tr>
              <a:tr h="303052">
                <a:tc>
                  <a:txBody>
                    <a:bodyPr/>
                    <a:lstStyle/>
                    <a:p>
                      <a:pPr algn="ctr"/>
                      <a:r>
                        <a:rPr sz="1000" b="0">
                          <a:solidFill>
                            <a:srgbClr val="262626"/>
                          </a:solidFill>
                          <a:latin typeface="游ゴシック"/>
                        </a:rPr>
                        <a:t>53</a:t>
                      </a:r>
                    </a:p>
                  </a:txBody>
                  <a:tcPr/>
                </a:tc>
                <a:tc>
                  <a:txBody>
                    <a:bodyPr/>
                    <a:lstStyle/>
                    <a:p>
                      <a:pPr algn="ctr"/>
                      <a:r>
                        <a:rPr sz="1000" b="1">
                          <a:solidFill>
                            <a:srgbClr val="262626"/>
                          </a:solidFill>
                          <a:latin typeface="游ゴシック"/>
                        </a:rPr>
                        <a:t>患者の病状やセラピストの勤務状況によって決めるため。退院前に測定することは決まっている。</a:t>
                      </a:r>
                    </a:p>
                  </a:txBody>
                  <a:tcPr/>
                </a:tc>
              </a:tr>
              <a:tr h="303052">
                <a:tc>
                  <a:txBody>
                    <a:bodyPr/>
                    <a:lstStyle/>
                    <a:p>
                      <a:pPr algn="ctr"/>
                      <a:r>
                        <a:rPr sz="1000" b="0">
                          <a:solidFill>
                            <a:srgbClr val="262626"/>
                          </a:solidFill>
                          <a:latin typeface="游ゴシック"/>
                        </a:rPr>
                        <a:t>54</a:t>
                      </a:r>
                    </a:p>
                  </a:txBody>
                  <a:tcPr>
                    <a:solidFill>
                      <a:srgbClr val="A8C4C7"/>
                    </a:solidFill>
                  </a:tcPr>
                </a:tc>
                <a:tc>
                  <a:txBody>
                    <a:bodyPr/>
                    <a:lstStyle/>
                    <a:p>
                      <a:pPr algn="ctr"/>
                      <a:r>
                        <a:rPr sz="1000" b="1">
                          <a:solidFill>
                            <a:srgbClr val="262626"/>
                          </a:solidFill>
                          <a:latin typeface="游ゴシック"/>
                        </a:rPr>
                        <a:t>術後１週以内に実施するようにしているがせん妄など実施できない理由もあるため特に期間は定めていない</a:t>
                      </a:r>
                    </a:p>
                  </a:txBody>
                  <a:tcPr>
                    <a:solidFill>
                      <a:srgbClr val="A8C4C7"/>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Q15-2-2.  「決まっていない」を選択した方：決まっていない理由【自由記述】  (4/6)</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55</a:t>
                      </a:r>
                    </a:p>
                  </a:txBody>
                  <a:tcPr/>
                </a:tc>
                <a:tc>
                  <a:txBody>
                    <a:bodyPr/>
                    <a:lstStyle/>
                    <a:p>
                      <a:pPr algn="ctr"/>
                      <a:r>
                        <a:rPr sz="1000" b="1">
                          <a:solidFill>
                            <a:srgbClr val="262626"/>
                          </a:solidFill>
                          <a:latin typeface="游ゴシック"/>
                        </a:rPr>
                        <a:t>転倒リスクがある方に、適宜実施しているため</a:t>
                      </a:r>
                    </a:p>
                  </a:txBody>
                  <a:tcPr/>
                </a:tc>
              </a:tr>
              <a:tr h="303052">
                <a:tc>
                  <a:txBody>
                    <a:bodyPr/>
                    <a:lstStyle/>
                    <a:p>
                      <a:pPr algn="ctr"/>
                      <a:r>
                        <a:rPr sz="1000" b="0">
                          <a:solidFill>
                            <a:srgbClr val="262626"/>
                          </a:solidFill>
                          <a:latin typeface="游ゴシック"/>
                        </a:rPr>
                        <a:t>56</a:t>
                      </a:r>
                    </a:p>
                  </a:txBody>
                  <a:tcPr>
                    <a:solidFill>
                      <a:srgbClr val="A8C4C7"/>
                    </a:solidFill>
                  </a:tcPr>
                </a:tc>
                <a:tc>
                  <a:txBody>
                    <a:bodyPr/>
                    <a:lstStyle/>
                    <a:p>
                      <a:pPr algn="ctr"/>
                      <a:r>
                        <a:rPr sz="1000" b="1">
                          <a:solidFill>
                            <a:srgbClr val="262626"/>
                          </a:solidFill>
                          <a:latin typeface="游ゴシック"/>
                        </a:rPr>
                        <a:t>症例ごとに術後の状況、安静度、元々のADL等が違うため一律の評価は決められない</a:t>
                      </a:r>
                    </a:p>
                  </a:txBody>
                  <a:tcPr>
                    <a:solidFill>
                      <a:srgbClr val="A8C4C7"/>
                    </a:solidFill>
                  </a:tcPr>
                </a:tc>
              </a:tr>
              <a:tr h="303052">
                <a:tc>
                  <a:txBody>
                    <a:bodyPr/>
                    <a:lstStyle/>
                    <a:p>
                      <a:pPr algn="ctr"/>
                      <a:r>
                        <a:rPr sz="1000" b="0">
                          <a:solidFill>
                            <a:srgbClr val="262626"/>
                          </a:solidFill>
                          <a:latin typeface="游ゴシック"/>
                        </a:rPr>
                        <a:t>57</a:t>
                      </a:r>
                    </a:p>
                  </a:txBody>
                  <a:tcPr/>
                </a:tc>
                <a:tc>
                  <a:txBody>
                    <a:bodyPr/>
                    <a:lstStyle/>
                    <a:p>
                      <a:pPr algn="ctr"/>
                      <a:r>
                        <a:rPr sz="1000" b="1">
                          <a:solidFill>
                            <a:srgbClr val="262626"/>
                          </a:solidFill>
                          <a:latin typeface="游ゴシック"/>
                        </a:rPr>
                        <a:t>決まってはいないが、凡そ術後初回に行うことが多い</a:t>
                      </a:r>
                    </a:p>
                  </a:txBody>
                  <a:tcPr/>
                </a:tc>
              </a:tr>
              <a:tr h="303052">
                <a:tc>
                  <a:txBody>
                    <a:bodyPr/>
                    <a:lstStyle/>
                    <a:p>
                      <a:pPr algn="ctr"/>
                      <a:r>
                        <a:rPr sz="1000" b="0">
                          <a:solidFill>
                            <a:srgbClr val="262626"/>
                          </a:solidFill>
                          <a:latin typeface="游ゴシック"/>
                        </a:rPr>
                        <a:t>58</a:t>
                      </a:r>
                    </a:p>
                  </a:txBody>
                  <a:tcPr>
                    <a:solidFill>
                      <a:srgbClr val="A8C4C7"/>
                    </a:solidFill>
                  </a:tcPr>
                </a:tc>
                <a:tc>
                  <a:txBody>
                    <a:bodyPr/>
                    <a:lstStyle/>
                    <a:p>
                      <a:pPr algn="ctr"/>
                      <a:r>
                        <a:rPr sz="1000" b="1">
                          <a:solidFill>
                            <a:srgbClr val="262626"/>
                          </a:solidFill>
                          <a:latin typeface="游ゴシック"/>
                        </a:rPr>
                        <a:t>担当セラピストが必要と感じた時</a:t>
                      </a:r>
                    </a:p>
                  </a:txBody>
                  <a:tcPr>
                    <a:solidFill>
                      <a:srgbClr val="A8C4C7"/>
                    </a:solidFill>
                  </a:tcPr>
                </a:tc>
              </a:tr>
              <a:tr h="303052">
                <a:tc>
                  <a:txBody>
                    <a:bodyPr/>
                    <a:lstStyle/>
                    <a:p>
                      <a:pPr algn="ctr"/>
                      <a:r>
                        <a:rPr sz="1000" b="0">
                          <a:solidFill>
                            <a:srgbClr val="262626"/>
                          </a:solidFill>
                          <a:latin typeface="游ゴシック"/>
                        </a:rPr>
                        <a:t>59</a:t>
                      </a:r>
                    </a:p>
                  </a:txBody>
                  <a:tcPr/>
                </a:tc>
                <a:tc>
                  <a:txBody>
                    <a:bodyPr/>
                    <a:lstStyle/>
                    <a:p>
                      <a:pPr algn="ctr"/>
                      <a:r>
                        <a:rPr sz="1000" b="1">
                          <a:solidFill>
                            <a:srgbClr val="262626"/>
                          </a:solidFill>
                          <a:latin typeface="游ゴシック"/>
                        </a:rPr>
                        <a:t>疼痛や睡眠不足などがあり、評価に応じられない状態があるため体調に合わせて実施する。</a:t>
                      </a:r>
                    </a:p>
                  </a:txBody>
                  <a:tcPr/>
                </a:tc>
              </a:tr>
              <a:tr h="303052">
                <a:tc>
                  <a:txBody>
                    <a:bodyPr/>
                    <a:lstStyle/>
                    <a:p>
                      <a:pPr algn="ctr"/>
                      <a:r>
                        <a:rPr sz="1000" b="0">
                          <a:solidFill>
                            <a:srgbClr val="262626"/>
                          </a:solidFill>
                          <a:latin typeface="游ゴシック"/>
                        </a:rPr>
                        <a:t>60</a:t>
                      </a:r>
                    </a:p>
                  </a:txBody>
                  <a:tcPr>
                    <a:solidFill>
                      <a:srgbClr val="A8C4C7"/>
                    </a:solidFill>
                  </a:tcPr>
                </a:tc>
                <a:tc>
                  <a:txBody>
                    <a:bodyPr/>
                    <a:lstStyle/>
                    <a:p>
                      <a:pPr algn="ctr"/>
                      <a:r>
                        <a:rPr sz="1000" b="1">
                          <a:solidFill>
                            <a:srgbClr val="262626"/>
                          </a:solidFill>
                          <a:latin typeface="游ゴシック"/>
                        </a:rPr>
                        <a:t>病棟歩行が可能かどうかの時に測定するので時期は決まってないです</a:t>
                      </a:r>
                    </a:p>
                  </a:txBody>
                  <a:tcPr>
                    <a:solidFill>
                      <a:srgbClr val="A8C4C7"/>
                    </a:solidFill>
                  </a:tcPr>
                </a:tc>
              </a:tr>
              <a:tr h="303052">
                <a:tc>
                  <a:txBody>
                    <a:bodyPr/>
                    <a:lstStyle/>
                    <a:p>
                      <a:pPr algn="ctr"/>
                      <a:r>
                        <a:rPr sz="1000" b="0">
                          <a:solidFill>
                            <a:srgbClr val="262626"/>
                          </a:solidFill>
                          <a:latin typeface="游ゴシック"/>
                        </a:rPr>
                        <a:t>61</a:t>
                      </a:r>
                    </a:p>
                  </a:txBody>
                  <a:tcPr/>
                </a:tc>
                <a:tc>
                  <a:txBody>
                    <a:bodyPr/>
                    <a:lstStyle/>
                    <a:p>
                      <a:pPr algn="ctr"/>
                      <a:r>
                        <a:rPr sz="1000" b="1">
                          <a:solidFill>
                            <a:srgbClr val="262626"/>
                          </a:solidFill>
                          <a:latin typeface="游ゴシック"/>
                        </a:rPr>
                        <a:t>FLS活動の一環としては実施していない</a:t>
                      </a:r>
                    </a:p>
                  </a:txBody>
                  <a:tcPr/>
                </a:tc>
              </a:tr>
              <a:tr h="303052">
                <a:tc>
                  <a:txBody>
                    <a:bodyPr/>
                    <a:lstStyle/>
                    <a:p>
                      <a:pPr algn="ctr"/>
                      <a:r>
                        <a:rPr sz="1000" b="0">
                          <a:solidFill>
                            <a:srgbClr val="262626"/>
                          </a:solidFill>
                          <a:latin typeface="游ゴシック"/>
                        </a:rPr>
                        <a:t>62</a:t>
                      </a:r>
                    </a:p>
                  </a:txBody>
                  <a:tcPr>
                    <a:solidFill>
                      <a:srgbClr val="A8C4C7"/>
                    </a:solidFill>
                  </a:tcPr>
                </a:tc>
                <a:tc>
                  <a:txBody>
                    <a:bodyPr/>
                    <a:lstStyle/>
                    <a:p>
                      <a:pPr algn="ctr"/>
                      <a:r>
                        <a:rPr sz="1000" b="1">
                          <a:solidFill>
                            <a:srgbClr val="262626"/>
                          </a:solidFill>
                          <a:latin typeface="游ゴシック"/>
                        </a:rPr>
                        <a:t>個々の患者にあわせて担当が決定しているため</a:t>
                      </a:r>
                    </a:p>
                  </a:txBody>
                  <a:tcPr>
                    <a:solidFill>
                      <a:srgbClr val="A8C4C7"/>
                    </a:solidFill>
                  </a:tcPr>
                </a:tc>
              </a:tr>
              <a:tr h="303052">
                <a:tc>
                  <a:txBody>
                    <a:bodyPr/>
                    <a:lstStyle/>
                    <a:p>
                      <a:pPr algn="ctr"/>
                      <a:r>
                        <a:rPr sz="1000" b="0">
                          <a:solidFill>
                            <a:srgbClr val="262626"/>
                          </a:solidFill>
                          <a:latin typeface="游ゴシック"/>
                        </a:rPr>
                        <a:t>63</a:t>
                      </a:r>
                    </a:p>
                  </a:txBody>
                  <a:tcPr/>
                </a:tc>
                <a:tc>
                  <a:txBody>
                    <a:bodyPr/>
                    <a:lstStyle/>
                    <a:p>
                      <a:pPr algn="ctr"/>
                      <a:r>
                        <a:rPr sz="1000" b="1">
                          <a:solidFill>
                            <a:srgbClr val="262626"/>
                          </a:solidFill>
                          <a:latin typeface="游ゴシック"/>
                        </a:rPr>
                        <a:t>術式や、入院前ADLにより回復過程が違うため。退院はどのように決めているか知りたい。</a:t>
                      </a:r>
                    </a:p>
                  </a:txBody>
                  <a:tcPr/>
                </a:tc>
              </a:tr>
              <a:tr h="303052">
                <a:tc>
                  <a:txBody>
                    <a:bodyPr/>
                    <a:lstStyle/>
                    <a:p>
                      <a:pPr algn="ctr"/>
                      <a:r>
                        <a:rPr sz="1000" b="0">
                          <a:solidFill>
                            <a:srgbClr val="262626"/>
                          </a:solidFill>
                          <a:latin typeface="游ゴシック"/>
                        </a:rPr>
                        <a:t>64</a:t>
                      </a:r>
                    </a:p>
                  </a:txBody>
                  <a:tcPr>
                    <a:solidFill>
                      <a:srgbClr val="A8C4C7"/>
                    </a:solidFill>
                  </a:tcPr>
                </a:tc>
                <a:tc>
                  <a:txBody>
                    <a:bodyPr/>
                    <a:lstStyle/>
                    <a:p>
                      <a:pPr algn="ctr"/>
                      <a:r>
                        <a:rPr sz="1000" b="1">
                          <a:solidFill>
                            <a:srgbClr val="262626"/>
                          </a:solidFill>
                          <a:latin typeface="游ゴシック"/>
                        </a:rPr>
                        <a:t>患者の動作能力により評価できるタイミングが変わるため</a:t>
                      </a:r>
                    </a:p>
                  </a:txBody>
                  <a:tcPr>
                    <a:solidFill>
                      <a:srgbClr val="A8C4C7"/>
                    </a:solidFill>
                  </a:tcPr>
                </a:tc>
              </a:tr>
              <a:tr h="303052">
                <a:tc>
                  <a:txBody>
                    <a:bodyPr/>
                    <a:lstStyle/>
                    <a:p>
                      <a:pPr algn="ctr"/>
                      <a:r>
                        <a:rPr sz="1000" b="0">
                          <a:solidFill>
                            <a:srgbClr val="262626"/>
                          </a:solidFill>
                          <a:latin typeface="游ゴシック"/>
                        </a:rPr>
                        <a:t>65</a:t>
                      </a:r>
                    </a:p>
                  </a:txBody>
                  <a:tcPr/>
                </a:tc>
                <a:tc>
                  <a:txBody>
                    <a:bodyPr/>
                    <a:lstStyle/>
                    <a:p>
                      <a:pPr algn="ctr"/>
                      <a:r>
                        <a:rPr sz="1000" b="1">
                          <a:solidFill>
                            <a:srgbClr val="262626"/>
                          </a:solidFill>
                          <a:latin typeface="游ゴシック"/>
                        </a:rPr>
                        <a:t>患者様の機能に応じて実施</a:t>
                      </a:r>
                    </a:p>
                  </a:txBody>
                  <a:tcPr/>
                </a:tc>
              </a:tr>
              <a:tr h="303052">
                <a:tc>
                  <a:txBody>
                    <a:bodyPr/>
                    <a:lstStyle/>
                    <a:p>
                      <a:pPr algn="ctr"/>
                      <a:r>
                        <a:rPr sz="1000" b="0">
                          <a:solidFill>
                            <a:srgbClr val="262626"/>
                          </a:solidFill>
                          <a:latin typeface="游ゴシック"/>
                        </a:rPr>
                        <a:t>66</a:t>
                      </a:r>
                    </a:p>
                  </a:txBody>
                  <a:tcPr>
                    <a:solidFill>
                      <a:srgbClr val="A8C4C7"/>
                    </a:solidFill>
                  </a:tcPr>
                </a:tc>
                <a:tc>
                  <a:txBody>
                    <a:bodyPr/>
                    <a:lstStyle/>
                    <a:p>
                      <a:pPr algn="ctr"/>
                      <a:r>
                        <a:rPr sz="1000" b="1">
                          <a:solidFill>
                            <a:srgbClr val="262626"/>
                          </a:solidFill>
                          <a:latin typeface="游ゴシック"/>
                        </a:rPr>
                        <a:t>統一されていない</a:t>
                      </a:r>
                    </a:p>
                  </a:txBody>
                  <a:tcPr>
                    <a:solidFill>
                      <a:srgbClr val="A8C4C7"/>
                    </a:solidFill>
                  </a:tcPr>
                </a:tc>
              </a:tr>
              <a:tr h="303052">
                <a:tc>
                  <a:txBody>
                    <a:bodyPr/>
                    <a:lstStyle/>
                    <a:p>
                      <a:pPr algn="ctr"/>
                      <a:r>
                        <a:rPr sz="1000" b="0">
                          <a:solidFill>
                            <a:srgbClr val="262626"/>
                          </a:solidFill>
                          <a:latin typeface="游ゴシック"/>
                        </a:rPr>
                        <a:t>67</a:t>
                      </a:r>
                    </a:p>
                  </a:txBody>
                  <a:tcPr/>
                </a:tc>
                <a:tc>
                  <a:txBody>
                    <a:bodyPr/>
                    <a:lstStyle/>
                    <a:p>
                      <a:pPr algn="ctr"/>
                      <a:r>
                        <a:rPr sz="1000" b="1">
                          <a:solidFill>
                            <a:srgbClr val="262626"/>
                          </a:solidFill>
                          <a:latin typeface="游ゴシック"/>
                        </a:rPr>
                        <a:t>入院期間が患者により変動すること、評価可能な時期に差があることから。</a:t>
                      </a:r>
                    </a:p>
                  </a:txBody>
                  <a:tcPr/>
                </a:tc>
              </a:tr>
              <a:tr h="303052">
                <a:tc>
                  <a:txBody>
                    <a:bodyPr/>
                    <a:lstStyle/>
                    <a:p>
                      <a:pPr algn="ctr"/>
                      <a:r>
                        <a:rPr sz="1000" b="0">
                          <a:solidFill>
                            <a:srgbClr val="262626"/>
                          </a:solidFill>
                          <a:latin typeface="游ゴシック"/>
                        </a:rPr>
                        <a:t>68</a:t>
                      </a:r>
                    </a:p>
                  </a:txBody>
                  <a:tcPr>
                    <a:solidFill>
                      <a:srgbClr val="A8C4C7"/>
                    </a:solidFill>
                  </a:tcPr>
                </a:tc>
                <a:tc>
                  <a:txBody>
                    <a:bodyPr/>
                    <a:lstStyle/>
                    <a:p>
                      <a:pPr algn="ctr"/>
                      <a:r>
                        <a:rPr sz="1000" b="1">
                          <a:solidFill>
                            <a:srgbClr val="262626"/>
                          </a:solidFill>
                          <a:latin typeface="游ゴシック"/>
                        </a:rPr>
                        <a:t>患者の状態に幅があり、統一した運動評価が難しい。全スタッフの理解が十分に得られない</a:t>
                      </a:r>
                    </a:p>
                  </a:txBody>
                  <a:tcPr>
                    <a:solidFill>
                      <a:srgbClr val="A8C4C7"/>
                    </a:solidFill>
                  </a:tcPr>
                </a:tc>
              </a:tr>
              <a:tr h="303052">
                <a:tc>
                  <a:txBody>
                    <a:bodyPr/>
                    <a:lstStyle/>
                    <a:p>
                      <a:pPr algn="ctr"/>
                      <a:r>
                        <a:rPr sz="1000" b="0">
                          <a:solidFill>
                            <a:srgbClr val="262626"/>
                          </a:solidFill>
                          <a:latin typeface="游ゴシック"/>
                        </a:rPr>
                        <a:t>69</a:t>
                      </a:r>
                    </a:p>
                  </a:txBody>
                  <a:tcPr/>
                </a:tc>
                <a:tc>
                  <a:txBody>
                    <a:bodyPr/>
                    <a:lstStyle/>
                    <a:p>
                      <a:pPr algn="ctr"/>
                      <a:r>
                        <a:rPr sz="1000" b="1">
                          <a:solidFill>
                            <a:srgbClr val="262626"/>
                          </a:solidFill>
                          <a:latin typeface="游ゴシック"/>
                        </a:rPr>
                        <a:t>評価可能な日　歩行可能になってから</a:t>
                      </a:r>
                    </a:p>
                  </a:txBody>
                  <a:tcPr/>
                </a:tc>
              </a:tr>
              <a:tr h="303052">
                <a:tc>
                  <a:txBody>
                    <a:bodyPr/>
                    <a:lstStyle/>
                    <a:p>
                      <a:pPr algn="ctr"/>
                      <a:r>
                        <a:rPr sz="1000" b="0">
                          <a:solidFill>
                            <a:srgbClr val="262626"/>
                          </a:solidFill>
                          <a:latin typeface="游ゴシック"/>
                        </a:rPr>
                        <a:t>70</a:t>
                      </a:r>
                    </a:p>
                  </a:txBody>
                  <a:tcPr>
                    <a:solidFill>
                      <a:srgbClr val="A8C4C7"/>
                    </a:solidFill>
                  </a:tcPr>
                </a:tc>
                <a:tc>
                  <a:txBody>
                    <a:bodyPr/>
                    <a:lstStyle/>
                    <a:p>
                      <a:pPr algn="ctr"/>
                      <a:r>
                        <a:rPr sz="1000" b="1">
                          <a:solidFill>
                            <a:srgbClr val="262626"/>
                          </a:solidFill>
                          <a:latin typeface="游ゴシック"/>
                        </a:rPr>
                        <a:t>設定していませんでした。</a:t>
                      </a:r>
                    </a:p>
                  </a:txBody>
                  <a:tcPr>
                    <a:solidFill>
                      <a:srgbClr val="A8C4C7"/>
                    </a:solidFill>
                  </a:tcPr>
                </a:tc>
              </a:tr>
              <a:tr h="303052">
                <a:tc>
                  <a:txBody>
                    <a:bodyPr/>
                    <a:lstStyle/>
                    <a:p>
                      <a:pPr algn="ctr"/>
                      <a:r>
                        <a:rPr sz="1000" b="0">
                          <a:solidFill>
                            <a:srgbClr val="262626"/>
                          </a:solidFill>
                          <a:latin typeface="游ゴシック"/>
                        </a:rPr>
                        <a:t>71</a:t>
                      </a:r>
                    </a:p>
                  </a:txBody>
                  <a:tcPr/>
                </a:tc>
                <a:tc>
                  <a:txBody>
                    <a:bodyPr/>
                    <a:lstStyle/>
                    <a:p>
                      <a:pPr algn="ctr"/>
                      <a:r>
                        <a:rPr sz="1000" b="1">
                          <a:solidFill>
                            <a:srgbClr val="262626"/>
                          </a:solidFill>
                          <a:latin typeface="游ゴシック"/>
                        </a:rPr>
                        <a:t>痛みなどの全身状態によるため</a:t>
                      </a:r>
                    </a:p>
                  </a:txBody>
                  <a:tcPr/>
                </a:tc>
              </a:tr>
              <a:tr h="303052">
                <a:tc>
                  <a:txBody>
                    <a:bodyPr/>
                    <a:lstStyle/>
                    <a:p>
                      <a:pPr algn="ctr"/>
                      <a:r>
                        <a:rPr sz="1000" b="0">
                          <a:solidFill>
                            <a:srgbClr val="262626"/>
                          </a:solidFill>
                          <a:latin typeface="游ゴシック"/>
                        </a:rPr>
                        <a:t>72</a:t>
                      </a:r>
                    </a:p>
                  </a:txBody>
                  <a:tcPr>
                    <a:solidFill>
                      <a:srgbClr val="A8C4C7"/>
                    </a:solidFill>
                  </a:tcPr>
                </a:tc>
                <a:tc>
                  <a:txBody>
                    <a:bodyPr/>
                    <a:lstStyle/>
                    <a:p>
                      <a:pPr algn="ctr"/>
                      <a:r>
                        <a:rPr sz="1000" b="1">
                          <a:solidFill>
                            <a:srgbClr val="262626"/>
                          </a:solidFill>
                          <a:latin typeface="游ゴシック"/>
                        </a:rPr>
                        <a:t>患者の状態によって評価の可否が異なるため(せん妄の有無等)、各療法士の判断に委ねているため。</a:t>
                      </a:r>
                    </a:p>
                  </a:txBody>
                  <a:tcPr>
                    <a:solidFill>
                      <a:srgbClr val="A8C4C7"/>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Q15-2-2.  「決まっていない」を選択した方：決まっていない理由【自由記述】  (5/6)</a:t>
            </a:r>
          </a:p>
        </p:txBody>
      </p:sp>
      <p:graphicFrame>
        <p:nvGraphicFramePr>
          <p:cNvPr id="3" name="Table 2"/>
          <p:cNvGraphicFramePr>
            <a:graphicFrameLocks noGrp="1"/>
          </p:cNvGraphicFramePr>
          <p:nvPr/>
        </p:nvGraphicFramePr>
        <p:xfrm>
          <a:off x="200000" y="950000"/>
          <a:ext cx="11377800" cy="5757988"/>
        </p:xfrm>
        <a:graphic>
          <a:graphicData uri="http://schemas.openxmlformats.org/drawingml/2006/table">
            <a:tbl>
              <a:tblPr firstRow="1" bandRow="1">
                <a:tableStyleId>{5C22544A-7EE6-4342-B048-85BDC9FD1C3A}</a:tableStyleId>
              </a:tblPr>
              <a:tblGrid>
                <a:gridCol w="685800"/>
                <a:gridCol w="10692000"/>
              </a:tblGrid>
              <a:tr h="303052">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303052">
                <a:tc>
                  <a:txBody>
                    <a:bodyPr/>
                    <a:lstStyle/>
                    <a:p>
                      <a:pPr algn="ctr"/>
                      <a:r>
                        <a:rPr sz="1000" b="0">
                          <a:solidFill>
                            <a:srgbClr val="262626"/>
                          </a:solidFill>
                          <a:latin typeface="游ゴシック"/>
                        </a:rPr>
                        <a:t>73</a:t>
                      </a:r>
                    </a:p>
                  </a:txBody>
                  <a:tcPr/>
                </a:tc>
                <a:tc>
                  <a:txBody>
                    <a:bodyPr/>
                    <a:lstStyle/>
                    <a:p>
                      <a:pPr algn="ctr"/>
                      <a:r>
                        <a:rPr sz="1000" b="1">
                          <a:solidFill>
                            <a:srgbClr val="262626"/>
                          </a:solidFill>
                          <a:latin typeface="游ゴシック"/>
                        </a:rPr>
                        <a:t>FLS活動の一環ではなく、院内での医療安全委員会（リハ技師長を含む）が週1回で実施しております。</a:t>
                      </a:r>
                    </a:p>
                  </a:txBody>
                  <a:tcPr/>
                </a:tc>
              </a:tr>
              <a:tr h="303052">
                <a:tc>
                  <a:txBody>
                    <a:bodyPr/>
                    <a:lstStyle/>
                    <a:p>
                      <a:pPr algn="ctr"/>
                      <a:r>
                        <a:rPr sz="1000" b="0">
                          <a:solidFill>
                            <a:srgbClr val="262626"/>
                          </a:solidFill>
                          <a:latin typeface="游ゴシック"/>
                        </a:rPr>
                        <a:t>74</a:t>
                      </a:r>
                    </a:p>
                  </a:txBody>
                  <a:tcPr>
                    <a:solidFill>
                      <a:srgbClr val="A8C4C7"/>
                    </a:solidFill>
                  </a:tcPr>
                </a:tc>
                <a:tc>
                  <a:txBody>
                    <a:bodyPr/>
                    <a:lstStyle/>
                    <a:p>
                      <a:pPr algn="ctr"/>
                      <a:r>
                        <a:rPr sz="1000" b="1">
                          <a:solidFill>
                            <a:srgbClr val="262626"/>
                          </a:solidFill>
                          <a:latin typeface="游ゴシック"/>
                        </a:rPr>
                        <a:t>退院前に評価を実施するが、患者により術後の経過日数が異なるため</a:t>
                      </a:r>
                    </a:p>
                  </a:txBody>
                  <a:tcPr>
                    <a:solidFill>
                      <a:srgbClr val="A8C4C7"/>
                    </a:solidFill>
                  </a:tcPr>
                </a:tc>
              </a:tr>
              <a:tr h="303052">
                <a:tc>
                  <a:txBody>
                    <a:bodyPr/>
                    <a:lstStyle/>
                    <a:p>
                      <a:pPr algn="ctr"/>
                      <a:r>
                        <a:rPr sz="1000" b="0">
                          <a:solidFill>
                            <a:srgbClr val="262626"/>
                          </a:solidFill>
                          <a:latin typeface="游ゴシック"/>
                        </a:rPr>
                        <a:t>75</a:t>
                      </a:r>
                    </a:p>
                  </a:txBody>
                  <a:tcPr/>
                </a:tc>
                <a:tc>
                  <a:txBody>
                    <a:bodyPr/>
                    <a:lstStyle/>
                    <a:p>
                      <a:pPr algn="ctr"/>
                      <a:r>
                        <a:rPr sz="1000" b="1">
                          <a:solidFill>
                            <a:srgbClr val="262626"/>
                          </a:solidFill>
                          <a:latin typeface="游ゴシック"/>
                        </a:rPr>
                        <a:t>評価をとれる時期が人によって異なるため</a:t>
                      </a:r>
                    </a:p>
                  </a:txBody>
                  <a:tcPr/>
                </a:tc>
              </a:tr>
              <a:tr h="303052">
                <a:tc>
                  <a:txBody>
                    <a:bodyPr/>
                    <a:lstStyle/>
                    <a:p>
                      <a:pPr algn="ctr"/>
                      <a:r>
                        <a:rPr sz="1000" b="0">
                          <a:solidFill>
                            <a:srgbClr val="262626"/>
                          </a:solidFill>
                          <a:latin typeface="游ゴシック"/>
                        </a:rPr>
                        <a:t>76</a:t>
                      </a:r>
                    </a:p>
                  </a:txBody>
                  <a:tcPr>
                    <a:solidFill>
                      <a:srgbClr val="A8C4C7"/>
                    </a:solidFill>
                  </a:tcPr>
                </a:tc>
                <a:tc>
                  <a:txBody>
                    <a:bodyPr/>
                    <a:lstStyle/>
                    <a:p>
                      <a:pPr algn="ctr"/>
                      <a:r>
                        <a:rPr sz="1000" b="1">
                          <a:solidFill>
                            <a:srgbClr val="262626"/>
                          </a:solidFill>
                          <a:latin typeface="游ゴシック"/>
                        </a:rPr>
                        <a:t>特にない</a:t>
                      </a:r>
                    </a:p>
                  </a:txBody>
                  <a:tcPr>
                    <a:solidFill>
                      <a:srgbClr val="A8C4C7"/>
                    </a:solidFill>
                  </a:tcPr>
                </a:tc>
              </a:tr>
              <a:tr h="303052">
                <a:tc>
                  <a:txBody>
                    <a:bodyPr/>
                    <a:lstStyle/>
                    <a:p>
                      <a:pPr algn="ctr"/>
                      <a:r>
                        <a:rPr sz="1000" b="0">
                          <a:solidFill>
                            <a:srgbClr val="262626"/>
                          </a:solidFill>
                          <a:latin typeface="游ゴシック"/>
                        </a:rPr>
                        <a:t>77</a:t>
                      </a:r>
                    </a:p>
                  </a:txBody>
                  <a:tcPr/>
                </a:tc>
                <a:tc>
                  <a:txBody>
                    <a:bodyPr/>
                    <a:lstStyle/>
                    <a:p>
                      <a:pPr algn="ctr"/>
                      <a:r>
                        <a:rPr sz="1000" b="1">
                          <a:solidFill>
                            <a:srgbClr val="262626"/>
                          </a:solidFill>
                          <a:latin typeface="游ゴシック"/>
                        </a:rPr>
                        <a:t>各担当者の都合に合わせ、実施しているため</a:t>
                      </a:r>
                    </a:p>
                  </a:txBody>
                  <a:tcPr/>
                </a:tc>
              </a:tr>
              <a:tr h="303052">
                <a:tc>
                  <a:txBody>
                    <a:bodyPr/>
                    <a:lstStyle/>
                    <a:p>
                      <a:pPr algn="ctr"/>
                      <a:r>
                        <a:rPr sz="1000" b="0">
                          <a:solidFill>
                            <a:srgbClr val="262626"/>
                          </a:solidFill>
                          <a:latin typeface="游ゴシック"/>
                        </a:rPr>
                        <a:t>78</a:t>
                      </a:r>
                    </a:p>
                  </a:txBody>
                  <a:tcPr>
                    <a:solidFill>
                      <a:srgbClr val="A8C4C7"/>
                    </a:solidFill>
                  </a:tcPr>
                </a:tc>
                <a:tc>
                  <a:txBody>
                    <a:bodyPr/>
                    <a:lstStyle/>
                    <a:p>
                      <a:pPr algn="ctr"/>
                      <a:r>
                        <a:rPr sz="1000" b="1">
                          <a:solidFill>
                            <a:srgbClr val="262626"/>
                          </a:solidFill>
                          <a:latin typeface="游ゴシック"/>
                        </a:rPr>
                        <a:t>各スタッフに評価時期を判断してもらっている。</a:t>
                      </a:r>
                    </a:p>
                  </a:txBody>
                  <a:tcPr>
                    <a:solidFill>
                      <a:srgbClr val="A8C4C7"/>
                    </a:solidFill>
                  </a:tcPr>
                </a:tc>
              </a:tr>
              <a:tr h="303052">
                <a:tc>
                  <a:txBody>
                    <a:bodyPr/>
                    <a:lstStyle/>
                    <a:p>
                      <a:pPr algn="ctr"/>
                      <a:r>
                        <a:rPr sz="1000" b="0">
                          <a:solidFill>
                            <a:srgbClr val="262626"/>
                          </a:solidFill>
                          <a:latin typeface="游ゴシック"/>
                        </a:rPr>
                        <a:t>79</a:t>
                      </a:r>
                    </a:p>
                  </a:txBody>
                  <a:tcPr/>
                </a:tc>
                <a:tc>
                  <a:txBody>
                    <a:bodyPr/>
                    <a:lstStyle/>
                    <a:p>
                      <a:pPr algn="ctr"/>
                      <a:r>
                        <a:rPr sz="1000" b="1">
                          <a:solidFill>
                            <a:srgbClr val="262626"/>
                          </a:solidFill>
                          <a:latin typeface="游ゴシック"/>
                        </a:rPr>
                        <a:t>FLSの一環として評価はとっていない</a:t>
                      </a:r>
                    </a:p>
                  </a:txBody>
                  <a:tcPr/>
                </a:tc>
              </a:tr>
              <a:tr h="303052">
                <a:tc>
                  <a:txBody>
                    <a:bodyPr/>
                    <a:lstStyle/>
                    <a:p>
                      <a:pPr algn="ctr"/>
                      <a:r>
                        <a:rPr sz="1000" b="0">
                          <a:solidFill>
                            <a:srgbClr val="262626"/>
                          </a:solidFill>
                          <a:latin typeface="游ゴシック"/>
                        </a:rPr>
                        <a:t>80</a:t>
                      </a:r>
                    </a:p>
                  </a:txBody>
                  <a:tcPr>
                    <a:solidFill>
                      <a:srgbClr val="A8C4C7"/>
                    </a:solidFill>
                  </a:tcPr>
                </a:tc>
                <a:tc>
                  <a:txBody>
                    <a:bodyPr/>
                    <a:lstStyle/>
                    <a:p>
                      <a:pPr algn="ctr"/>
                      <a:r>
                        <a:rPr sz="1000" b="1">
                          <a:solidFill>
                            <a:srgbClr val="262626"/>
                          </a:solidFill>
                          <a:latin typeface="游ゴシック"/>
                        </a:rPr>
                        <a:t>FLSとしては関わっていない</a:t>
                      </a:r>
                    </a:p>
                  </a:txBody>
                  <a:tcPr>
                    <a:solidFill>
                      <a:srgbClr val="A8C4C7"/>
                    </a:solidFill>
                  </a:tcPr>
                </a:tc>
              </a:tr>
              <a:tr h="303052">
                <a:tc>
                  <a:txBody>
                    <a:bodyPr/>
                    <a:lstStyle/>
                    <a:p>
                      <a:pPr algn="ctr"/>
                      <a:r>
                        <a:rPr sz="1000" b="0">
                          <a:solidFill>
                            <a:srgbClr val="262626"/>
                          </a:solidFill>
                          <a:latin typeface="游ゴシック"/>
                        </a:rPr>
                        <a:t>81</a:t>
                      </a:r>
                    </a:p>
                  </a:txBody>
                  <a:tcPr/>
                </a:tc>
                <a:tc>
                  <a:txBody>
                    <a:bodyPr/>
                    <a:lstStyle/>
                    <a:p>
                      <a:pPr algn="ctr"/>
                      <a:r>
                        <a:rPr sz="1000" b="1">
                          <a:solidFill>
                            <a:srgbClr val="262626"/>
                          </a:solidFill>
                          <a:latin typeface="游ゴシック"/>
                        </a:rPr>
                        <a:t>休日の診療体制が不十分であることから手術後〇日という実施は困難である。実際にはこれらを配慮された上で、評価日は医師の指示によって決定されています。</a:t>
                      </a:r>
                    </a:p>
                  </a:txBody>
                  <a:tcPr/>
                </a:tc>
              </a:tr>
              <a:tr h="303052">
                <a:tc>
                  <a:txBody>
                    <a:bodyPr/>
                    <a:lstStyle/>
                    <a:p>
                      <a:pPr algn="ctr"/>
                      <a:r>
                        <a:rPr sz="1000" b="0">
                          <a:solidFill>
                            <a:srgbClr val="262626"/>
                          </a:solidFill>
                          <a:latin typeface="游ゴシック"/>
                        </a:rPr>
                        <a:t>82</a:t>
                      </a:r>
                    </a:p>
                  </a:txBody>
                  <a:tcPr>
                    <a:solidFill>
                      <a:srgbClr val="A8C4C7"/>
                    </a:solidFill>
                  </a:tcPr>
                </a:tc>
                <a:tc>
                  <a:txBody>
                    <a:bodyPr/>
                    <a:lstStyle/>
                    <a:p>
                      <a:pPr algn="ctr"/>
                      <a:r>
                        <a:rPr sz="1000" b="1">
                          <a:solidFill>
                            <a:srgbClr val="262626"/>
                          </a:solidFill>
                          <a:latin typeface="游ゴシック"/>
                        </a:rPr>
                        <a:t>マニュアルが整備されていない</a:t>
                      </a:r>
                    </a:p>
                  </a:txBody>
                  <a:tcPr>
                    <a:solidFill>
                      <a:srgbClr val="A8C4C7"/>
                    </a:solidFill>
                  </a:tcPr>
                </a:tc>
              </a:tr>
              <a:tr h="303052">
                <a:tc>
                  <a:txBody>
                    <a:bodyPr/>
                    <a:lstStyle/>
                    <a:p>
                      <a:pPr algn="ctr"/>
                      <a:r>
                        <a:rPr sz="1000" b="0">
                          <a:solidFill>
                            <a:srgbClr val="262626"/>
                          </a:solidFill>
                          <a:latin typeface="游ゴシック"/>
                        </a:rPr>
                        <a:t>83</a:t>
                      </a:r>
                    </a:p>
                  </a:txBody>
                  <a:tcPr/>
                </a:tc>
                <a:tc>
                  <a:txBody>
                    <a:bodyPr/>
                    <a:lstStyle/>
                    <a:p>
                      <a:pPr algn="ctr"/>
                      <a:r>
                        <a:rPr sz="1000" b="1">
                          <a:solidFill>
                            <a:srgbClr val="262626"/>
                          </a:solidFill>
                          <a:latin typeface="游ゴシック"/>
                        </a:rPr>
                        <a:t>担当療法士に任されており、時期は決まっていない</a:t>
                      </a:r>
                    </a:p>
                  </a:txBody>
                  <a:tcPr/>
                </a:tc>
              </a:tr>
              <a:tr h="303052">
                <a:tc>
                  <a:txBody>
                    <a:bodyPr/>
                    <a:lstStyle/>
                    <a:p>
                      <a:pPr algn="ctr"/>
                      <a:r>
                        <a:rPr sz="1000" b="0">
                          <a:solidFill>
                            <a:srgbClr val="262626"/>
                          </a:solidFill>
                          <a:latin typeface="游ゴシック"/>
                        </a:rPr>
                        <a:t>84</a:t>
                      </a:r>
                    </a:p>
                  </a:txBody>
                  <a:tcPr>
                    <a:solidFill>
                      <a:srgbClr val="A8C4C7"/>
                    </a:solidFill>
                  </a:tcPr>
                </a:tc>
                <a:tc>
                  <a:txBody>
                    <a:bodyPr/>
                    <a:lstStyle/>
                    <a:p>
                      <a:pPr algn="ctr"/>
                      <a:r>
                        <a:rPr sz="1000" b="1">
                          <a:solidFill>
                            <a:srgbClr val="262626"/>
                          </a:solidFill>
                          <a:latin typeface="游ゴシック"/>
                        </a:rPr>
                        <a:t>歩行補助具変更時に測定</a:t>
                      </a:r>
                    </a:p>
                  </a:txBody>
                  <a:tcPr>
                    <a:solidFill>
                      <a:srgbClr val="A8C4C7"/>
                    </a:solidFill>
                  </a:tcPr>
                </a:tc>
              </a:tr>
              <a:tr h="303052">
                <a:tc>
                  <a:txBody>
                    <a:bodyPr/>
                    <a:lstStyle/>
                    <a:p>
                      <a:pPr algn="ctr"/>
                      <a:r>
                        <a:rPr sz="1000" b="0">
                          <a:solidFill>
                            <a:srgbClr val="262626"/>
                          </a:solidFill>
                          <a:latin typeface="游ゴシック"/>
                        </a:rPr>
                        <a:t>85</a:t>
                      </a:r>
                    </a:p>
                  </a:txBody>
                  <a:tcPr/>
                </a:tc>
                <a:tc>
                  <a:txBody>
                    <a:bodyPr/>
                    <a:lstStyle/>
                    <a:p>
                      <a:pPr algn="ctr"/>
                      <a:r>
                        <a:rPr sz="1000" b="1">
                          <a:solidFill>
                            <a:srgbClr val="262626"/>
                          </a:solidFill>
                          <a:latin typeface="游ゴシック"/>
                        </a:rPr>
                        <a:t>活動の規模がまだ限定的であるため</a:t>
                      </a:r>
                    </a:p>
                  </a:txBody>
                  <a:tcPr/>
                </a:tc>
              </a:tr>
              <a:tr h="303052">
                <a:tc>
                  <a:txBody>
                    <a:bodyPr/>
                    <a:lstStyle/>
                    <a:p>
                      <a:pPr algn="ctr"/>
                      <a:r>
                        <a:rPr sz="1000" b="0">
                          <a:solidFill>
                            <a:srgbClr val="262626"/>
                          </a:solidFill>
                          <a:latin typeface="游ゴシック"/>
                        </a:rPr>
                        <a:t>86</a:t>
                      </a:r>
                    </a:p>
                  </a:txBody>
                  <a:tcPr>
                    <a:solidFill>
                      <a:srgbClr val="A8C4C7"/>
                    </a:solidFill>
                  </a:tcPr>
                </a:tc>
                <a:tc>
                  <a:txBody>
                    <a:bodyPr/>
                    <a:lstStyle/>
                    <a:p>
                      <a:pPr algn="ctr"/>
                      <a:r>
                        <a:rPr sz="1000" b="1">
                          <a:solidFill>
                            <a:srgbClr val="262626"/>
                          </a:solidFill>
                          <a:latin typeface="游ゴシック"/>
                        </a:rPr>
                        <a:t>制度を理解しているものがいない</a:t>
                      </a:r>
                    </a:p>
                  </a:txBody>
                  <a:tcPr>
                    <a:solidFill>
                      <a:srgbClr val="A8C4C7"/>
                    </a:solidFill>
                  </a:tcPr>
                </a:tc>
              </a:tr>
              <a:tr h="303052">
                <a:tc>
                  <a:txBody>
                    <a:bodyPr/>
                    <a:lstStyle/>
                    <a:p>
                      <a:pPr algn="ctr"/>
                      <a:r>
                        <a:rPr sz="1000" b="0">
                          <a:solidFill>
                            <a:srgbClr val="262626"/>
                          </a:solidFill>
                          <a:latin typeface="游ゴシック"/>
                        </a:rPr>
                        <a:t>87</a:t>
                      </a:r>
                    </a:p>
                  </a:txBody>
                  <a:tcPr/>
                </a:tc>
                <a:tc>
                  <a:txBody>
                    <a:bodyPr/>
                    <a:lstStyle/>
                    <a:p>
                      <a:pPr algn="ctr"/>
                      <a:r>
                        <a:rPr sz="1000" b="1">
                          <a:solidFill>
                            <a:srgbClr val="262626"/>
                          </a:solidFill>
                          <a:latin typeface="游ゴシック"/>
                        </a:rPr>
                        <a:t>初期評価に加え、患者の状態に合わせて、必要時評価している</a:t>
                      </a:r>
                    </a:p>
                  </a:txBody>
                  <a:tcPr/>
                </a:tc>
              </a:tr>
              <a:tr h="303052">
                <a:tc>
                  <a:txBody>
                    <a:bodyPr/>
                    <a:lstStyle/>
                    <a:p>
                      <a:pPr algn="ctr"/>
                      <a:r>
                        <a:rPr sz="1000" b="0">
                          <a:solidFill>
                            <a:srgbClr val="262626"/>
                          </a:solidFill>
                          <a:latin typeface="游ゴシック"/>
                        </a:rPr>
                        <a:t>88</a:t>
                      </a:r>
                    </a:p>
                  </a:txBody>
                  <a:tcPr>
                    <a:solidFill>
                      <a:srgbClr val="A8C4C7"/>
                    </a:solidFill>
                  </a:tcPr>
                </a:tc>
                <a:tc>
                  <a:txBody>
                    <a:bodyPr/>
                    <a:lstStyle/>
                    <a:p>
                      <a:pPr algn="ctr"/>
                      <a:r>
                        <a:rPr sz="1000" b="1">
                          <a:solidFill>
                            <a:srgbClr val="262626"/>
                          </a:solidFill>
                          <a:latin typeface="游ゴシック"/>
                        </a:rPr>
                        <a:t>術前や入院日など、活動度評価は行っていますが、術前の何日前までかは決まっていません。また術後も自立できそうな人に評価を行うので、決まった日には評価しておりません。</a:t>
                      </a:r>
                    </a:p>
                  </a:txBody>
                  <a:tcPr>
                    <a:solidFill>
                      <a:srgbClr val="A8C4C7"/>
                    </a:solidFill>
                  </a:tcPr>
                </a:tc>
              </a:tr>
              <a:tr h="303052">
                <a:tc>
                  <a:txBody>
                    <a:bodyPr/>
                    <a:lstStyle/>
                    <a:p>
                      <a:pPr algn="ctr"/>
                      <a:r>
                        <a:rPr sz="1000" b="0">
                          <a:solidFill>
                            <a:srgbClr val="262626"/>
                          </a:solidFill>
                          <a:latin typeface="游ゴシック"/>
                        </a:rPr>
                        <a:t>89</a:t>
                      </a:r>
                    </a:p>
                  </a:txBody>
                  <a:tcPr/>
                </a:tc>
                <a:tc>
                  <a:txBody>
                    <a:bodyPr/>
                    <a:lstStyle/>
                    <a:p>
                      <a:pPr algn="ctr"/>
                      <a:r>
                        <a:rPr sz="1000" b="1">
                          <a:solidFill>
                            <a:srgbClr val="262626"/>
                          </a:solidFill>
                          <a:latin typeface="游ゴシック"/>
                        </a:rPr>
                        <a:t>まだ体系化されてない</a:t>
                      </a:r>
                    </a:p>
                  </a:txBody>
                  <a:tcPr/>
                </a:tc>
              </a:tr>
              <a:tr h="303052">
                <a:tc>
                  <a:txBody>
                    <a:bodyPr/>
                    <a:lstStyle/>
                    <a:p>
                      <a:pPr algn="ctr"/>
                      <a:r>
                        <a:rPr sz="1000" b="0">
                          <a:solidFill>
                            <a:srgbClr val="262626"/>
                          </a:solidFill>
                          <a:latin typeface="游ゴシック"/>
                        </a:rPr>
                        <a:t>90</a:t>
                      </a:r>
                    </a:p>
                  </a:txBody>
                  <a:tcPr>
                    <a:solidFill>
                      <a:srgbClr val="A8C4C7"/>
                    </a:solidFill>
                  </a:tcPr>
                </a:tc>
                <a:tc>
                  <a:txBody>
                    <a:bodyPr/>
                    <a:lstStyle/>
                    <a:p>
                      <a:pPr algn="ctr"/>
                      <a:r>
                        <a:rPr sz="1000" b="1">
                          <a:solidFill>
                            <a:srgbClr val="262626"/>
                          </a:solidFill>
                          <a:latin typeface="游ゴシック"/>
                        </a:rPr>
                        <a:t>科内で統一できていない</a:t>
                      </a:r>
                    </a:p>
                  </a:txBody>
                  <a:tcPr>
                    <a:solidFill>
                      <a:srgbClr val="A8C4C7"/>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Q15-2-2.  「決まっていない」を選択した方：決まっていない理由【自由記述】  (6/6)</a:t>
            </a:r>
          </a:p>
        </p:txBody>
      </p:sp>
      <p:graphicFrame>
        <p:nvGraphicFramePr>
          <p:cNvPr id="3" name="Table 2"/>
          <p:cNvGraphicFramePr>
            <a:graphicFrameLocks noGrp="1"/>
          </p:cNvGraphicFramePr>
          <p:nvPr/>
        </p:nvGraphicFramePr>
        <p:xfrm>
          <a:off x="200000" y="950000"/>
          <a:ext cx="11377800" cy="2592000"/>
        </p:xfrm>
        <a:graphic>
          <a:graphicData uri="http://schemas.openxmlformats.org/drawingml/2006/table">
            <a:tbl>
              <a:tblPr firstRow="1" bandRow="1">
                <a:tableStyleId>{5C22544A-7EE6-4342-B048-85BDC9FD1C3A}</a:tableStyleId>
              </a:tblPr>
              <a:tblGrid>
                <a:gridCol w="685800"/>
                <a:gridCol w="10692000"/>
              </a:tblGrid>
              <a:tr h="432000">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432000">
                <a:tc>
                  <a:txBody>
                    <a:bodyPr/>
                    <a:lstStyle/>
                    <a:p>
                      <a:pPr algn="ctr"/>
                      <a:r>
                        <a:rPr sz="1000" b="0">
                          <a:solidFill>
                            <a:srgbClr val="262626"/>
                          </a:solidFill>
                          <a:latin typeface="游ゴシック"/>
                        </a:rPr>
                        <a:t>91</a:t>
                      </a:r>
                    </a:p>
                  </a:txBody>
                  <a:tcPr/>
                </a:tc>
                <a:tc>
                  <a:txBody>
                    <a:bodyPr/>
                    <a:lstStyle/>
                    <a:p>
                      <a:pPr algn="ctr"/>
                      <a:r>
                        <a:rPr sz="1000" b="1">
                          <a:solidFill>
                            <a:srgbClr val="262626"/>
                          </a:solidFill>
                          <a:latin typeface="游ゴシック"/>
                        </a:rPr>
                        <a:t>初回評価時、歩行の自立度拡大時に実施</a:t>
                      </a:r>
                    </a:p>
                  </a:txBody>
                  <a:tcPr/>
                </a:tc>
              </a:tr>
              <a:tr h="432000">
                <a:tc>
                  <a:txBody>
                    <a:bodyPr/>
                    <a:lstStyle/>
                    <a:p>
                      <a:pPr algn="ctr"/>
                      <a:r>
                        <a:rPr sz="1000" b="0">
                          <a:solidFill>
                            <a:srgbClr val="262626"/>
                          </a:solidFill>
                          <a:latin typeface="游ゴシック"/>
                        </a:rPr>
                        <a:t>92</a:t>
                      </a:r>
                    </a:p>
                  </a:txBody>
                  <a:tcPr>
                    <a:solidFill>
                      <a:srgbClr val="A8C4C7"/>
                    </a:solidFill>
                  </a:tcPr>
                </a:tc>
                <a:tc>
                  <a:txBody>
                    <a:bodyPr/>
                    <a:lstStyle/>
                    <a:p>
                      <a:pPr algn="ctr"/>
                      <a:r>
                        <a:rPr sz="1000" b="1">
                          <a:solidFill>
                            <a:srgbClr val="262626"/>
                          </a:solidFill>
                          <a:latin typeface="游ゴシック"/>
                        </a:rPr>
                        <a:t>術後の経過により全員が同じ日数で評価を行えないため</a:t>
                      </a:r>
                    </a:p>
                  </a:txBody>
                  <a:tcPr>
                    <a:solidFill>
                      <a:srgbClr val="A8C4C7"/>
                    </a:solidFill>
                  </a:tcPr>
                </a:tc>
              </a:tr>
              <a:tr h="432000">
                <a:tc>
                  <a:txBody>
                    <a:bodyPr/>
                    <a:lstStyle/>
                    <a:p>
                      <a:pPr algn="ctr"/>
                      <a:r>
                        <a:rPr sz="1000" b="0">
                          <a:solidFill>
                            <a:srgbClr val="262626"/>
                          </a:solidFill>
                          <a:latin typeface="游ゴシック"/>
                        </a:rPr>
                        <a:t>93</a:t>
                      </a:r>
                    </a:p>
                  </a:txBody>
                  <a:tcPr/>
                </a:tc>
                <a:tc>
                  <a:txBody>
                    <a:bodyPr/>
                    <a:lstStyle/>
                    <a:p>
                      <a:pPr algn="ctr"/>
                      <a:r>
                        <a:rPr sz="1000" b="1">
                          <a:solidFill>
                            <a:srgbClr val="262626"/>
                          </a:solidFill>
                          <a:latin typeface="游ゴシック"/>
                        </a:rPr>
                        <a:t>症例の状況に応じて実施しているため</a:t>
                      </a:r>
                    </a:p>
                  </a:txBody>
                  <a:tcPr/>
                </a:tc>
              </a:tr>
              <a:tr h="432000">
                <a:tc>
                  <a:txBody>
                    <a:bodyPr/>
                    <a:lstStyle/>
                    <a:p>
                      <a:pPr algn="ctr"/>
                      <a:r>
                        <a:rPr sz="1000" b="0">
                          <a:solidFill>
                            <a:srgbClr val="262626"/>
                          </a:solidFill>
                          <a:latin typeface="游ゴシック"/>
                        </a:rPr>
                        <a:t>94</a:t>
                      </a:r>
                    </a:p>
                  </a:txBody>
                  <a:tcPr>
                    <a:solidFill>
                      <a:srgbClr val="A8C4C7"/>
                    </a:solidFill>
                  </a:tcPr>
                </a:tc>
                <a:tc>
                  <a:txBody>
                    <a:bodyPr/>
                    <a:lstStyle/>
                    <a:p>
                      <a:pPr algn="ctr"/>
                      <a:r>
                        <a:rPr sz="1000" b="1">
                          <a:solidFill>
                            <a:srgbClr val="262626"/>
                          </a:solidFill>
                          <a:latin typeface="游ゴシック"/>
                        </a:rPr>
                        <a:t>患者毎に実施可能な評価が異なるため</a:t>
                      </a:r>
                    </a:p>
                  </a:txBody>
                  <a:tcPr>
                    <a:solidFill>
                      <a:srgbClr val="A8C4C7"/>
                    </a:solidFill>
                  </a:tcPr>
                </a:tc>
              </a:tr>
              <a:tr h="432000">
                <a:tc>
                  <a:txBody>
                    <a:bodyPr/>
                    <a:lstStyle/>
                    <a:p>
                      <a:pPr algn="ctr"/>
                      <a:r>
                        <a:rPr sz="1000" b="0">
                          <a:solidFill>
                            <a:srgbClr val="262626"/>
                          </a:solidFill>
                          <a:latin typeface="游ゴシック"/>
                        </a:rPr>
                        <a:t>95</a:t>
                      </a:r>
                    </a:p>
                  </a:txBody>
                  <a:tcPr/>
                </a:tc>
                <a:tc>
                  <a:txBody>
                    <a:bodyPr/>
                    <a:lstStyle/>
                    <a:p>
                      <a:pPr algn="ctr"/>
                      <a:r>
                        <a:rPr sz="1000" b="1">
                          <a:solidFill>
                            <a:srgbClr val="262626"/>
                          </a:solidFill>
                          <a:latin typeface="游ゴシック"/>
                        </a:rPr>
                        <a:t>バランス能力に個人差があるため。</a:t>
                      </a:r>
                    </a:p>
                  </a:txBody>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800" b="1">
                <a:solidFill>
                  <a:srgbClr val="262626"/>
                </a:solidFill>
                <a:latin typeface="游ゴシック"/>
              </a:rPr>
              <a:t>Q16.  理学療法士または作業療法士が実施している転倒予防策【複数選択可】</a:t>
            </a:r>
          </a:p>
        </p:txBody>
      </p:sp>
      <p:graphicFrame>
        <p:nvGraphicFramePr>
          <p:cNvPr id="3" name="Chart 2"/>
          <p:cNvGraphicFramePr>
            <a:graphicFrameLocks noGrp="1"/>
          </p:cNvGraphicFramePr>
          <p:nvPr/>
        </p:nvGraphicFramePr>
        <p:xfrm>
          <a:off x="100000" y="900000"/>
          <a:ext cx="7600000" cy="5600000"/>
        </p:xfrm>
        <a:graphic>
          <a:graphicData uri="http://schemas.openxmlformats.org/drawingml/2006/chart">
            <c:chart xmlns:c="http://schemas.openxmlformats.org/drawingml/2006/chart" r:id="rId2"/>
          </a:graphicData>
        </a:graphic>
      </p:graphicFrame>
      <p:graphicFrame>
        <p:nvGraphicFramePr>
          <p:cNvPr id="4" name="Table 3"/>
          <p:cNvGraphicFramePr>
            <a:graphicFrameLocks noGrp="1"/>
          </p:cNvGraphicFramePr>
          <p:nvPr/>
        </p:nvGraphicFramePr>
        <p:xfrm>
          <a:off x="7800000" y="950000"/>
          <a:ext cx="4100000" cy="5757990"/>
        </p:xfrm>
        <a:graphic>
          <a:graphicData uri="http://schemas.openxmlformats.org/drawingml/2006/table">
            <a:tbl>
              <a:tblPr firstRow="1" bandRow="1">
                <a:tableStyleId>{5C22544A-7EE6-4342-B048-85BDC9FD1C3A}</a:tableStyleId>
              </a:tblPr>
              <a:tblGrid>
                <a:gridCol w="2500000"/>
                <a:gridCol w="700000"/>
                <a:gridCol w="900000"/>
              </a:tblGrid>
              <a:tr h="411285">
                <a:tc>
                  <a:txBody>
                    <a:bodyPr/>
                    <a:lstStyle/>
                    <a:p>
                      <a:pPr algn="ctr"/>
                      <a:r>
                        <a:rPr sz="1300" b="1">
                          <a:solidFill>
                            <a:srgbClr val="FFFFFF"/>
                          </a:solidFill>
                          <a:latin typeface="游ゴシック"/>
                        </a:rPr>
                        <a:t>回答</a:t>
                      </a:r>
                    </a:p>
                  </a:txBody>
                  <a:tcPr>
                    <a:solidFill>
                      <a:srgbClr val="397077"/>
                    </a:solidFill>
                  </a:tcPr>
                </a:tc>
                <a:tc>
                  <a:txBody>
                    <a:bodyPr/>
                    <a:lstStyle/>
                    <a:p>
                      <a:pPr algn="ctr"/>
                      <a:r>
                        <a:rPr sz="1300" b="1">
                          <a:solidFill>
                            <a:srgbClr val="FFFFFF"/>
                          </a:solidFill>
                          <a:latin typeface="游ゴシック"/>
                        </a:rPr>
                        <a:t>件数</a:t>
                      </a:r>
                    </a:p>
                  </a:txBody>
                  <a:tcPr>
                    <a:solidFill>
                      <a:srgbClr val="397077"/>
                    </a:solidFill>
                  </a:tcPr>
                </a:tc>
                <a:tc>
                  <a:txBody>
                    <a:bodyPr/>
                    <a:lstStyle/>
                    <a:p>
                      <a:pPr algn="ctr"/>
                      <a:r>
                        <a:rPr sz="1300" b="1">
                          <a:solidFill>
                            <a:srgbClr val="FFFFFF"/>
                          </a:solidFill>
                          <a:latin typeface="游ゴシック"/>
                        </a:rPr>
                        <a:t>割合</a:t>
                      </a:r>
                    </a:p>
                  </a:txBody>
                  <a:tcPr>
                    <a:solidFill>
                      <a:srgbClr val="397077"/>
                    </a:solidFill>
                  </a:tcPr>
                </a:tc>
              </a:tr>
              <a:tr h="411285">
                <a:tc>
                  <a:txBody>
                    <a:bodyPr/>
                    <a:lstStyle/>
                    <a:p>
                      <a:pPr algn="ctr"/>
                      <a:r>
                        <a:rPr sz="950" b="0">
                          <a:solidFill>
                            <a:srgbClr val="262626"/>
                          </a:solidFill>
                          <a:latin typeface="游ゴシック"/>
                        </a:rPr>
                        <a:t>下肢筋力強化</a:t>
                      </a:r>
                    </a:p>
                  </a:txBody>
                  <a:tcPr/>
                </a:tc>
                <a:tc>
                  <a:txBody>
                    <a:bodyPr/>
                    <a:lstStyle/>
                    <a:p>
                      <a:pPr algn="ctr"/>
                      <a:r>
                        <a:rPr sz="950" b="1">
                          <a:solidFill>
                            <a:srgbClr val="262626"/>
                          </a:solidFill>
                          <a:latin typeface="游ゴシック"/>
                        </a:rPr>
                        <a:t>284</a:t>
                      </a:r>
                    </a:p>
                  </a:txBody>
                  <a:tcPr/>
                </a:tc>
                <a:tc>
                  <a:txBody>
                    <a:bodyPr/>
                    <a:lstStyle/>
                    <a:p>
                      <a:pPr algn="ctr"/>
                      <a:r>
                        <a:rPr sz="950" b="1">
                          <a:solidFill>
                            <a:srgbClr val="262626"/>
                          </a:solidFill>
                          <a:latin typeface="游ゴシック"/>
                        </a:rPr>
                        <a:t>98.3%</a:t>
                      </a:r>
                    </a:p>
                  </a:txBody>
                  <a:tcPr/>
                </a:tc>
              </a:tr>
              <a:tr h="411285">
                <a:tc>
                  <a:txBody>
                    <a:bodyPr/>
                    <a:lstStyle/>
                    <a:p>
                      <a:pPr algn="ctr"/>
                      <a:r>
                        <a:rPr sz="950" b="0">
                          <a:solidFill>
                            <a:srgbClr val="262626"/>
                          </a:solidFill>
                          <a:latin typeface="游ゴシック"/>
                        </a:rPr>
                        <a:t>歩行練習</a:t>
                      </a:r>
                    </a:p>
                  </a:txBody>
                  <a:tcPr>
                    <a:solidFill>
                      <a:srgbClr val="A8C4C7"/>
                    </a:solidFill>
                  </a:tcPr>
                </a:tc>
                <a:tc>
                  <a:txBody>
                    <a:bodyPr/>
                    <a:lstStyle/>
                    <a:p>
                      <a:pPr algn="ctr"/>
                      <a:r>
                        <a:rPr sz="950" b="1">
                          <a:solidFill>
                            <a:srgbClr val="262626"/>
                          </a:solidFill>
                          <a:latin typeface="游ゴシック"/>
                        </a:rPr>
                        <a:t>279</a:t>
                      </a:r>
                    </a:p>
                  </a:txBody>
                  <a:tcPr>
                    <a:solidFill>
                      <a:srgbClr val="A8C4C7"/>
                    </a:solidFill>
                  </a:tcPr>
                </a:tc>
                <a:tc>
                  <a:txBody>
                    <a:bodyPr/>
                    <a:lstStyle/>
                    <a:p>
                      <a:pPr algn="ctr"/>
                      <a:r>
                        <a:rPr sz="950" b="1">
                          <a:solidFill>
                            <a:srgbClr val="262626"/>
                          </a:solidFill>
                          <a:latin typeface="游ゴシック"/>
                        </a:rPr>
                        <a:t>96.5%</a:t>
                      </a:r>
                    </a:p>
                  </a:txBody>
                  <a:tcPr>
                    <a:solidFill>
                      <a:srgbClr val="A8C4C7"/>
                    </a:solidFill>
                  </a:tcPr>
                </a:tc>
              </a:tr>
              <a:tr h="411285">
                <a:tc>
                  <a:txBody>
                    <a:bodyPr/>
                    <a:lstStyle/>
                    <a:p>
                      <a:pPr algn="ctr"/>
                      <a:r>
                        <a:rPr sz="950" b="0">
                          <a:solidFill>
                            <a:srgbClr val="262626"/>
                          </a:solidFill>
                          <a:latin typeface="游ゴシック"/>
                        </a:rPr>
                        <a:t>バランス練習</a:t>
                      </a:r>
                    </a:p>
                  </a:txBody>
                  <a:tcPr/>
                </a:tc>
                <a:tc>
                  <a:txBody>
                    <a:bodyPr/>
                    <a:lstStyle/>
                    <a:p>
                      <a:pPr algn="ctr"/>
                      <a:r>
                        <a:rPr sz="950" b="1">
                          <a:solidFill>
                            <a:srgbClr val="262626"/>
                          </a:solidFill>
                          <a:latin typeface="游ゴシック"/>
                        </a:rPr>
                        <a:t>276</a:t>
                      </a:r>
                    </a:p>
                  </a:txBody>
                  <a:tcPr/>
                </a:tc>
                <a:tc>
                  <a:txBody>
                    <a:bodyPr/>
                    <a:lstStyle/>
                    <a:p>
                      <a:pPr algn="ctr"/>
                      <a:r>
                        <a:rPr sz="950" b="1">
                          <a:solidFill>
                            <a:srgbClr val="262626"/>
                          </a:solidFill>
                          <a:latin typeface="游ゴシック"/>
                        </a:rPr>
                        <a:t>95.5%</a:t>
                      </a:r>
                    </a:p>
                  </a:txBody>
                  <a:tcPr/>
                </a:tc>
              </a:tr>
              <a:tr h="411285">
                <a:tc>
                  <a:txBody>
                    <a:bodyPr/>
                    <a:lstStyle/>
                    <a:p>
                      <a:pPr algn="ctr"/>
                      <a:r>
                        <a:rPr sz="950" b="0">
                          <a:solidFill>
                            <a:srgbClr val="262626"/>
                          </a:solidFill>
                          <a:latin typeface="游ゴシック"/>
                        </a:rPr>
                        <a:t>起立、着座動作練習</a:t>
                      </a:r>
                    </a:p>
                  </a:txBody>
                  <a:tcPr>
                    <a:solidFill>
                      <a:srgbClr val="A8C4C7"/>
                    </a:solidFill>
                  </a:tcPr>
                </a:tc>
                <a:tc>
                  <a:txBody>
                    <a:bodyPr/>
                    <a:lstStyle/>
                    <a:p>
                      <a:pPr algn="ctr"/>
                      <a:r>
                        <a:rPr sz="950" b="1">
                          <a:solidFill>
                            <a:srgbClr val="262626"/>
                          </a:solidFill>
                          <a:latin typeface="游ゴシック"/>
                        </a:rPr>
                        <a:t>259</a:t>
                      </a:r>
                    </a:p>
                  </a:txBody>
                  <a:tcPr>
                    <a:solidFill>
                      <a:srgbClr val="A8C4C7"/>
                    </a:solidFill>
                  </a:tcPr>
                </a:tc>
                <a:tc>
                  <a:txBody>
                    <a:bodyPr/>
                    <a:lstStyle/>
                    <a:p>
                      <a:pPr algn="ctr"/>
                      <a:r>
                        <a:rPr sz="950" b="1">
                          <a:solidFill>
                            <a:srgbClr val="262626"/>
                          </a:solidFill>
                          <a:latin typeface="游ゴシック"/>
                        </a:rPr>
                        <a:t>89.6%</a:t>
                      </a:r>
                    </a:p>
                  </a:txBody>
                  <a:tcPr>
                    <a:solidFill>
                      <a:srgbClr val="A8C4C7"/>
                    </a:solidFill>
                  </a:tcPr>
                </a:tc>
              </a:tr>
              <a:tr h="411285">
                <a:tc>
                  <a:txBody>
                    <a:bodyPr/>
                    <a:lstStyle/>
                    <a:p>
                      <a:pPr algn="ctr"/>
                      <a:r>
                        <a:rPr sz="950" b="0">
                          <a:solidFill>
                            <a:srgbClr val="262626"/>
                          </a:solidFill>
                          <a:latin typeface="游ゴシック"/>
                        </a:rPr>
                        <a:t>環境調整</a:t>
                      </a:r>
                    </a:p>
                  </a:txBody>
                  <a:tcPr/>
                </a:tc>
                <a:tc>
                  <a:txBody>
                    <a:bodyPr/>
                    <a:lstStyle/>
                    <a:p>
                      <a:pPr algn="ctr"/>
                      <a:r>
                        <a:rPr sz="950" b="1">
                          <a:solidFill>
                            <a:srgbClr val="262626"/>
                          </a:solidFill>
                          <a:latin typeface="游ゴシック"/>
                        </a:rPr>
                        <a:t>250</a:t>
                      </a:r>
                    </a:p>
                  </a:txBody>
                  <a:tcPr/>
                </a:tc>
                <a:tc>
                  <a:txBody>
                    <a:bodyPr/>
                    <a:lstStyle/>
                    <a:p>
                      <a:pPr algn="ctr"/>
                      <a:r>
                        <a:rPr sz="950" b="1">
                          <a:solidFill>
                            <a:srgbClr val="262626"/>
                          </a:solidFill>
                          <a:latin typeface="游ゴシック"/>
                        </a:rPr>
                        <a:t>86.5%</a:t>
                      </a:r>
                    </a:p>
                  </a:txBody>
                  <a:tcPr/>
                </a:tc>
              </a:tr>
              <a:tr h="411285">
                <a:tc>
                  <a:txBody>
                    <a:bodyPr/>
                    <a:lstStyle/>
                    <a:p>
                      <a:pPr algn="ctr"/>
                      <a:r>
                        <a:rPr sz="950" b="0">
                          <a:solidFill>
                            <a:srgbClr val="262626"/>
                          </a:solidFill>
                          <a:latin typeface="游ゴシック"/>
                        </a:rPr>
                        <a:t>補助具、装具の適正化</a:t>
                      </a:r>
                    </a:p>
                  </a:txBody>
                  <a:tcPr>
                    <a:solidFill>
                      <a:srgbClr val="A8C4C7"/>
                    </a:solidFill>
                  </a:tcPr>
                </a:tc>
                <a:tc>
                  <a:txBody>
                    <a:bodyPr/>
                    <a:lstStyle/>
                    <a:p>
                      <a:pPr algn="ctr"/>
                      <a:r>
                        <a:rPr sz="950" b="1">
                          <a:solidFill>
                            <a:srgbClr val="262626"/>
                          </a:solidFill>
                          <a:latin typeface="游ゴシック"/>
                        </a:rPr>
                        <a:t>223</a:t>
                      </a:r>
                    </a:p>
                  </a:txBody>
                  <a:tcPr>
                    <a:solidFill>
                      <a:srgbClr val="A8C4C7"/>
                    </a:solidFill>
                  </a:tcPr>
                </a:tc>
                <a:tc>
                  <a:txBody>
                    <a:bodyPr/>
                    <a:lstStyle/>
                    <a:p>
                      <a:pPr algn="ctr"/>
                      <a:r>
                        <a:rPr sz="950" b="1">
                          <a:solidFill>
                            <a:srgbClr val="262626"/>
                          </a:solidFill>
                          <a:latin typeface="游ゴシック"/>
                        </a:rPr>
                        <a:t>77.2%</a:t>
                      </a:r>
                    </a:p>
                  </a:txBody>
                  <a:tcPr>
                    <a:solidFill>
                      <a:srgbClr val="A8C4C7"/>
                    </a:solidFill>
                  </a:tcPr>
                </a:tc>
              </a:tr>
              <a:tr h="411285">
                <a:tc>
                  <a:txBody>
                    <a:bodyPr/>
                    <a:lstStyle/>
                    <a:p>
                      <a:pPr algn="ctr"/>
                      <a:r>
                        <a:rPr sz="950" b="0">
                          <a:solidFill>
                            <a:srgbClr val="262626"/>
                          </a:solidFill>
                          <a:latin typeface="游ゴシック"/>
                        </a:rPr>
                        <a:t>歩容改善</a:t>
                      </a:r>
                    </a:p>
                  </a:txBody>
                  <a:tcPr/>
                </a:tc>
                <a:tc>
                  <a:txBody>
                    <a:bodyPr/>
                    <a:lstStyle/>
                    <a:p>
                      <a:pPr algn="ctr"/>
                      <a:r>
                        <a:rPr sz="950" b="1">
                          <a:solidFill>
                            <a:srgbClr val="262626"/>
                          </a:solidFill>
                          <a:latin typeface="游ゴシック"/>
                        </a:rPr>
                        <a:t>220</a:t>
                      </a:r>
                    </a:p>
                  </a:txBody>
                  <a:tcPr/>
                </a:tc>
                <a:tc>
                  <a:txBody>
                    <a:bodyPr/>
                    <a:lstStyle/>
                    <a:p>
                      <a:pPr algn="ctr"/>
                      <a:r>
                        <a:rPr sz="950" b="1">
                          <a:solidFill>
                            <a:srgbClr val="262626"/>
                          </a:solidFill>
                          <a:latin typeface="游ゴシック"/>
                        </a:rPr>
                        <a:t>76.1%</a:t>
                      </a:r>
                    </a:p>
                  </a:txBody>
                  <a:tcPr/>
                </a:tc>
              </a:tr>
              <a:tr h="411285">
                <a:tc>
                  <a:txBody>
                    <a:bodyPr/>
                    <a:lstStyle/>
                    <a:p>
                      <a:pPr algn="ctr"/>
                      <a:r>
                        <a:rPr sz="950" b="0">
                          <a:solidFill>
                            <a:srgbClr val="262626"/>
                          </a:solidFill>
                          <a:latin typeface="游ゴシック"/>
                        </a:rPr>
                        <a:t>教育、指導</a:t>
                      </a:r>
                    </a:p>
                  </a:txBody>
                  <a:tcPr>
                    <a:solidFill>
                      <a:srgbClr val="A8C4C7"/>
                    </a:solidFill>
                  </a:tcPr>
                </a:tc>
                <a:tc>
                  <a:txBody>
                    <a:bodyPr/>
                    <a:lstStyle/>
                    <a:p>
                      <a:pPr algn="ctr"/>
                      <a:r>
                        <a:rPr sz="950" b="1">
                          <a:solidFill>
                            <a:srgbClr val="262626"/>
                          </a:solidFill>
                          <a:latin typeface="游ゴシック"/>
                        </a:rPr>
                        <a:t>218</a:t>
                      </a:r>
                    </a:p>
                  </a:txBody>
                  <a:tcPr>
                    <a:solidFill>
                      <a:srgbClr val="A8C4C7"/>
                    </a:solidFill>
                  </a:tcPr>
                </a:tc>
                <a:tc>
                  <a:txBody>
                    <a:bodyPr/>
                    <a:lstStyle/>
                    <a:p>
                      <a:pPr algn="ctr"/>
                      <a:r>
                        <a:rPr sz="950" b="1">
                          <a:solidFill>
                            <a:srgbClr val="262626"/>
                          </a:solidFill>
                          <a:latin typeface="游ゴシック"/>
                        </a:rPr>
                        <a:t>75.4%</a:t>
                      </a:r>
                    </a:p>
                  </a:txBody>
                  <a:tcPr>
                    <a:solidFill>
                      <a:srgbClr val="A8C4C7"/>
                    </a:solidFill>
                  </a:tcPr>
                </a:tc>
              </a:tr>
              <a:tr h="411285">
                <a:tc>
                  <a:txBody>
                    <a:bodyPr/>
                    <a:lstStyle/>
                    <a:p>
                      <a:pPr algn="ctr"/>
                      <a:r>
                        <a:rPr sz="950" b="0">
                          <a:solidFill>
                            <a:srgbClr val="262626"/>
                          </a:solidFill>
                          <a:latin typeface="游ゴシック"/>
                        </a:rPr>
                        <a:t>認知面への介入</a:t>
                      </a:r>
                    </a:p>
                  </a:txBody>
                  <a:tcPr/>
                </a:tc>
                <a:tc>
                  <a:txBody>
                    <a:bodyPr/>
                    <a:lstStyle/>
                    <a:p>
                      <a:pPr algn="ctr"/>
                      <a:r>
                        <a:rPr sz="950" b="1">
                          <a:solidFill>
                            <a:srgbClr val="262626"/>
                          </a:solidFill>
                          <a:latin typeface="游ゴシック"/>
                        </a:rPr>
                        <a:t>176</a:t>
                      </a:r>
                    </a:p>
                  </a:txBody>
                  <a:tcPr/>
                </a:tc>
                <a:tc>
                  <a:txBody>
                    <a:bodyPr/>
                    <a:lstStyle/>
                    <a:p>
                      <a:pPr algn="ctr"/>
                      <a:r>
                        <a:rPr sz="950" b="1">
                          <a:solidFill>
                            <a:srgbClr val="262626"/>
                          </a:solidFill>
                          <a:latin typeface="游ゴシック"/>
                        </a:rPr>
                        <a:t>60.9%</a:t>
                      </a:r>
                    </a:p>
                  </a:txBody>
                  <a:tcPr/>
                </a:tc>
              </a:tr>
              <a:tr h="411285">
                <a:tc>
                  <a:txBody>
                    <a:bodyPr/>
                    <a:lstStyle/>
                    <a:p>
                      <a:pPr algn="ctr"/>
                      <a:r>
                        <a:rPr sz="950" b="0">
                          <a:solidFill>
                            <a:srgbClr val="262626"/>
                          </a:solidFill>
                          <a:latin typeface="游ゴシック"/>
                        </a:rPr>
                        <a:t>行動面への介入</a:t>
                      </a:r>
                    </a:p>
                  </a:txBody>
                  <a:tcPr>
                    <a:solidFill>
                      <a:srgbClr val="A8C4C7"/>
                    </a:solidFill>
                  </a:tcPr>
                </a:tc>
                <a:tc>
                  <a:txBody>
                    <a:bodyPr/>
                    <a:lstStyle/>
                    <a:p>
                      <a:pPr algn="ctr"/>
                      <a:r>
                        <a:rPr sz="950" b="1">
                          <a:solidFill>
                            <a:srgbClr val="262626"/>
                          </a:solidFill>
                          <a:latin typeface="游ゴシック"/>
                        </a:rPr>
                        <a:t>125</a:t>
                      </a:r>
                    </a:p>
                  </a:txBody>
                  <a:tcPr>
                    <a:solidFill>
                      <a:srgbClr val="A8C4C7"/>
                    </a:solidFill>
                  </a:tcPr>
                </a:tc>
                <a:tc>
                  <a:txBody>
                    <a:bodyPr/>
                    <a:lstStyle/>
                    <a:p>
                      <a:pPr algn="ctr"/>
                      <a:r>
                        <a:rPr sz="950" b="1">
                          <a:solidFill>
                            <a:srgbClr val="262626"/>
                          </a:solidFill>
                          <a:latin typeface="游ゴシック"/>
                        </a:rPr>
                        <a:t>43.3%</a:t>
                      </a:r>
                    </a:p>
                  </a:txBody>
                  <a:tcPr>
                    <a:solidFill>
                      <a:srgbClr val="A8C4C7"/>
                    </a:solidFill>
                  </a:tcPr>
                </a:tc>
              </a:tr>
              <a:tr h="411285">
                <a:tc>
                  <a:txBody>
                    <a:bodyPr/>
                    <a:lstStyle/>
                    <a:p>
                      <a:pPr algn="ctr"/>
                      <a:r>
                        <a:rPr sz="950" b="0">
                          <a:solidFill>
                            <a:srgbClr val="262626"/>
                          </a:solidFill>
                          <a:latin typeface="游ゴシック"/>
                        </a:rPr>
                        <a:t>薬剤調整</a:t>
                      </a:r>
                    </a:p>
                  </a:txBody>
                  <a:tcPr/>
                </a:tc>
                <a:tc>
                  <a:txBody>
                    <a:bodyPr/>
                    <a:lstStyle/>
                    <a:p>
                      <a:pPr algn="ctr"/>
                      <a:r>
                        <a:rPr sz="950" b="1">
                          <a:solidFill>
                            <a:srgbClr val="262626"/>
                          </a:solidFill>
                          <a:latin typeface="游ゴシック"/>
                        </a:rPr>
                        <a:t>40</a:t>
                      </a:r>
                    </a:p>
                  </a:txBody>
                  <a:tcPr/>
                </a:tc>
                <a:tc>
                  <a:txBody>
                    <a:bodyPr/>
                    <a:lstStyle/>
                    <a:p>
                      <a:pPr algn="ctr"/>
                      <a:r>
                        <a:rPr sz="950" b="1">
                          <a:solidFill>
                            <a:srgbClr val="262626"/>
                          </a:solidFill>
                          <a:latin typeface="游ゴシック"/>
                        </a:rPr>
                        <a:t>13.8%</a:t>
                      </a:r>
                    </a:p>
                  </a:txBody>
                  <a:tcPr/>
                </a:tc>
              </a:tr>
              <a:tr h="411285">
                <a:tc>
                  <a:txBody>
                    <a:bodyPr/>
                    <a:lstStyle/>
                    <a:p>
                      <a:pPr algn="ctr"/>
                      <a:r>
                        <a:rPr sz="950" b="0">
                          <a:solidFill>
                            <a:srgbClr val="262626"/>
                          </a:solidFill>
                          <a:latin typeface="游ゴシック"/>
                        </a:rPr>
                        <a:t>実施していない</a:t>
                      </a:r>
                    </a:p>
                  </a:txBody>
                  <a:tcPr>
                    <a:solidFill>
                      <a:srgbClr val="A8C4C7"/>
                    </a:solidFill>
                  </a:tcPr>
                </a:tc>
                <a:tc>
                  <a:txBody>
                    <a:bodyPr/>
                    <a:lstStyle/>
                    <a:p>
                      <a:pPr algn="ctr"/>
                      <a:r>
                        <a:rPr sz="950" b="1">
                          <a:solidFill>
                            <a:srgbClr val="262626"/>
                          </a:solidFill>
                          <a:latin typeface="游ゴシック"/>
                        </a:rPr>
                        <a:t>2</a:t>
                      </a:r>
                    </a:p>
                  </a:txBody>
                  <a:tcPr>
                    <a:solidFill>
                      <a:srgbClr val="A8C4C7"/>
                    </a:solidFill>
                  </a:tcPr>
                </a:tc>
                <a:tc>
                  <a:txBody>
                    <a:bodyPr/>
                    <a:lstStyle/>
                    <a:p>
                      <a:pPr algn="ctr"/>
                      <a:r>
                        <a:rPr sz="950" b="1">
                          <a:solidFill>
                            <a:srgbClr val="262626"/>
                          </a:solidFill>
                          <a:latin typeface="游ゴシック"/>
                        </a:rPr>
                        <a:t>0.7%</a:t>
                      </a:r>
                    </a:p>
                  </a:txBody>
                  <a:tcPr>
                    <a:solidFill>
                      <a:srgbClr val="A8C4C7"/>
                    </a:solidFill>
                  </a:tcPr>
                </a:tc>
              </a:tr>
              <a:tr h="411285">
                <a:tc>
                  <a:txBody>
                    <a:bodyPr/>
                    <a:lstStyle/>
                    <a:p>
                      <a:pPr algn="ctr"/>
                      <a:r>
                        <a:rPr sz="950" b="1">
                          <a:solidFill>
                            <a:srgbClr val="262626"/>
                          </a:solidFill>
                          <a:latin typeface="游ゴシック"/>
                        </a:rPr>
                        <a:t>※複数選択のため合計は
有効回答数を超える</a:t>
                      </a:r>
                    </a:p>
                  </a:txBody>
                  <a:tcPr/>
                </a:tc>
                <a:tc>
                  <a:txBody>
                    <a:bodyPr/>
                    <a:lstStyle/>
                    <a:p>
                      <a:pPr algn="ctr"/>
                      <a:r>
                        <a:rPr sz="950" b="1">
                          <a:solidFill>
                            <a:srgbClr val="262626"/>
                          </a:solidFill>
                          <a:latin typeface="游ゴシック"/>
                        </a:rPr>
                        <a:t/>
                      </a:r>
                    </a:p>
                  </a:txBody>
                  <a:tcPr/>
                </a:tc>
                <a:tc>
                  <a:txBody>
                    <a:bodyPr/>
                    <a:lstStyle/>
                    <a:p>
                      <a:pPr algn="ctr"/>
                      <a:r>
                        <a:rPr sz="950" b="1">
                          <a:solidFill>
                            <a:srgbClr val="262626"/>
                          </a:solidFill>
                          <a:latin typeface="游ゴシック"/>
                        </a:rPr>
                        <a:t/>
                      </a:r>
                    </a:p>
                  </a:txBody>
                  <a:tcPr/>
                </a:tc>
              </a:tr>
            </a:tbl>
          </a:graphicData>
        </a:graphic>
      </p:graphicFrame>
      <p:sp>
        <p:nvSpPr>
          <p:cNvPr id="5" name="TextBox 4"/>
          <p:cNvSpPr txBox="1"/>
          <p:nvPr/>
        </p:nvSpPr>
        <p:spPr>
          <a:xfrm>
            <a:off x="300000" y="6350000"/>
            <a:ext cx="8000000" cy="350000"/>
          </a:xfrm>
          <a:prstGeom prst="rect">
            <a:avLst/>
          </a:prstGeom>
          <a:noFill/>
        </p:spPr>
        <p:txBody>
          <a:bodyPr wrap="none">
            <a:spAutoFit/>
          </a:bodyPr>
          <a:lstStyle/>
          <a:p>
            <a:r>
              <a:rPr sz="1000">
                <a:solidFill>
                  <a:srgbClr val="262626"/>
                </a:solidFill>
                <a:latin typeface="游ゴシック"/>
              </a:rPr>
              <a:t>有効回答数 n=289（複数選択可）</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00000" y="120000"/>
            <a:ext cx="11500000" cy="750000"/>
          </a:xfrm>
          <a:prstGeom prst="rect">
            <a:avLst/>
          </a:prstGeom>
          <a:noFill/>
        </p:spPr>
        <p:txBody>
          <a:bodyPr wrap="square">
            <a:spAutoFit/>
          </a:bodyPr>
          <a:lstStyle/>
          <a:p>
            <a:pPr algn="ctr"/>
            <a:r>
              <a:rPr sz="1600" b="1">
                <a:solidFill>
                  <a:srgbClr val="262626"/>
                </a:solidFill>
                <a:latin typeface="游ゴシック"/>
              </a:rPr>
              <a:t>Q16-1.  「実施していない」を選択した方の理由【自由記述】</a:t>
            </a:r>
          </a:p>
        </p:txBody>
      </p:sp>
      <p:graphicFrame>
        <p:nvGraphicFramePr>
          <p:cNvPr id="3" name="Table 2"/>
          <p:cNvGraphicFramePr>
            <a:graphicFrameLocks noGrp="1"/>
          </p:cNvGraphicFramePr>
          <p:nvPr/>
        </p:nvGraphicFramePr>
        <p:xfrm>
          <a:off x="200000" y="950000"/>
          <a:ext cx="11377800" cy="2160000"/>
        </p:xfrm>
        <a:graphic>
          <a:graphicData uri="http://schemas.openxmlformats.org/drawingml/2006/table">
            <a:tbl>
              <a:tblPr firstRow="1" bandRow="1">
                <a:tableStyleId>{5C22544A-7EE6-4342-B048-85BDC9FD1C3A}</a:tableStyleId>
              </a:tblPr>
              <a:tblGrid>
                <a:gridCol w="685800"/>
                <a:gridCol w="10692000"/>
              </a:tblGrid>
              <a:tr h="432000">
                <a:tc>
                  <a:txBody>
                    <a:bodyPr/>
                    <a:lstStyle/>
                    <a:p>
                      <a:pPr algn="ctr"/>
                      <a:r>
                        <a:rPr sz="1400" b="1">
                          <a:solidFill>
                            <a:srgbClr val="FFFFFF"/>
                          </a:solidFill>
                          <a:latin typeface="游ゴシック"/>
                        </a:rPr>
                        <a:t>No.</a:t>
                      </a:r>
                    </a:p>
                  </a:txBody>
                  <a:tcPr>
                    <a:solidFill>
                      <a:srgbClr val="397077"/>
                    </a:solidFill>
                  </a:tcPr>
                </a:tc>
                <a:tc>
                  <a:txBody>
                    <a:bodyPr/>
                    <a:lstStyle/>
                    <a:p>
                      <a:pPr algn="ctr"/>
                      <a:r>
                        <a:rPr sz="1400" b="1">
                          <a:solidFill>
                            <a:srgbClr val="FFFFFF"/>
                          </a:solidFill>
                          <a:latin typeface="游ゴシック"/>
                        </a:rPr>
                        <a:t>回答内容</a:t>
                      </a:r>
                    </a:p>
                  </a:txBody>
                  <a:tcPr>
                    <a:solidFill>
                      <a:srgbClr val="397077"/>
                    </a:solidFill>
                  </a:tcPr>
                </a:tc>
              </a:tr>
              <a:tr h="432000">
                <a:tc>
                  <a:txBody>
                    <a:bodyPr/>
                    <a:lstStyle/>
                    <a:p>
                      <a:pPr algn="ctr"/>
                      <a:r>
                        <a:rPr sz="1000" b="0">
                          <a:solidFill>
                            <a:srgbClr val="262626"/>
                          </a:solidFill>
                          <a:latin typeface="游ゴシック"/>
                        </a:rPr>
                        <a:t>1</a:t>
                      </a:r>
                    </a:p>
                  </a:txBody>
                  <a:tcPr/>
                </a:tc>
                <a:tc>
                  <a:txBody>
                    <a:bodyPr/>
                    <a:lstStyle/>
                    <a:p>
                      <a:pPr algn="ctr"/>
                      <a:r>
                        <a:rPr sz="1000" b="1">
                          <a:solidFill>
                            <a:srgbClr val="262626"/>
                          </a:solidFill>
                          <a:latin typeface="游ゴシック"/>
                        </a:rPr>
                        <a:t>転倒予防策として定型的に行っているものはありません。担当者の裁量で行っていることが多く組織的にできていないのは課題と考えます。組織的に行っていないというのがこの設問の行っていないに該当するのであれば行っていません。</a:t>
                      </a:r>
                    </a:p>
                  </a:txBody>
                  <a:tcPr/>
                </a:tc>
              </a:tr>
              <a:tr h="432000">
                <a:tc>
                  <a:txBody>
                    <a:bodyPr/>
                    <a:lstStyle/>
                    <a:p>
                      <a:pPr algn="ctr"/>
                      <a:r>
                        <a:rPr sz="1000" b="0">
                          <a:solidFill>
                            <a:srgbClr val="262626"/>
                          </a:solidFill>
                          <a:latin typeface="游ゴシック"/>
                        </a:rPr>
                        <a:t>2</a:t>
                      </a:r>
                    </a:p>
                  </a:txBody>
                  <a:tcPr>
                    <a:solidFill>
                      <a:srgbClr val="A8C4C7"/>
                    </a:solidFill>
                  </a:tcPr>
                </a:tc>
                <a:tc>
                  <a:txBody>
                    <a:bodyPr/>
                    <a:lstStyle/>
                    <a:p>
                      <a:pPr algn="ctr"/>
                      <a:r>
                        <a:rPr sz="1000" b="1">
                          <a:solidFill>
                            <a:srgbClr val="262626"/>
                          </a:solidFill>
                          <a:latin typeface="游ゴシック"/>
                        </a:rPr>
                        <a:t>自由記述は、各項目だけでなくアンケート自体にあると、意見や質問が寄せられてよいと思います。このアンケートの結果はどこで公表されますでしょうか？</a:t>
                      </a:r>
                    </a:p>
                  </a:txBody>
                  <a:tcPr>
                    <a:solidFill>
                      <a:srgbClr val="A8C4C7"/>
                    </a:solidFill>
                  </a:tcPr>
                </a:tc>
              </a:tr>
              <a:tr h="432000">
                <a:tc>
                  <a:txBody>
                    <a:bodyPr/>
                    <a:lstStyle/>
                    <a:p>
                      <a:pPr algn="ctr"/>
                      <a:r>
                        <a:rPr sz="1000" b="0">
                          <a:solidFill>
                            <a:srgbClr val="262626"/>
                          </a:solidFill>
                          <a:latin typeface="游ゴシック"/>
                        </a:rPr>
                        <a:t>3</a:t>
                      </a:r>
                    </a:p>
                  </a:txBody>
                  <a:tcPr/>
                </a:tc>
                <a:tc>
                  <a:txBody>
                    <a:bodyPr/>
                    <a:lstStyle/>
                    <a:p>
                      <a:pPr algn="ctr"/>
                      <a:r>
                        <a:rPr sz="1000" b="1">
                          <a:solidFill>
                            <a:srgbClr val="262626"/>
                          </a:solidFill>
                          <a:latin typeface="游ゴシック"/>
                        </a:rPr>
                        <a:t>回答なし</a:t>
                      </a:r>
                    </a:p>
                  </a:txBody>
                  <a:tcPr/>
                </a:tc>
              </a:tr>
              <a:tr h="432000">
                <a:tc>
                  <a:txBody>
                    <a:bodyPr/>
                    <a:lstStyle/>
                    <a:p>
                      <a:pPr algn="ctr"/>
                      <a:r>
                        <a:rPr sz="1000" b="0">
                          <a:solidFill>
                            <a:srgbClr val="262626"/>
                          </a:solidFill>
                          <a:latin typeface="游ゴシック"/>
                        </a:rPr>
                        <a:t>4</a:t>
                      </a:r>
                    </a:p>
                  </a:txBody>
                  <a:tcPr>
                    <a:solidFill>
                      <a:srgbClr val="A8C4C7"/>
                    </a:solidFill>
                  </a:tcPr>
                </a:tc>
                <a:tc>
                  <a:txBody>
                    <a:bodyPr/>
                    <a:lstStyle/>
                    <a:p>
                      <a:pPr algn="ctr"/>
                      <a:r>
                        <a:rPr sz="1000" b="1">
                          <a:solidFill>
                            <a:srgbClr val="262626"/>
                          </a:solidFill>
                          <a:latin typeface="游ゴシック"/>
                        </a:rPr>
                        <a:t>明確なFLS活動がない</a:t>
                      </a:r>
                    </a:p>
                  </a:txBody>
                  <a:tcPr>
                    <a:solidFill>
                      <a:srgbClr val="A8C4C7"/>
                    </a:solidFill>
                  </a:tcPr>
                </a:tc>
              </a:tr>
            </a:tbl>
          </a:graphicData>
        </a:graphic>
      </p:graphicFrame>
    </p:spTree>
  </p:cSld>
  <p:clrMapOvr>
    <a:masterClrMapping/>
  </p:clrMapOvr>
</p:sld>
</file>

<file path=ppt/theme/theme1.xml><?xml version="1.0" encoding="utf-8"?>
<a:theme xmlns:a="http://schemas.openxmlformats.org/drawingml/2006/main" name="Office テーマ">
  <a:themeElements>
    <a:clrScheme name="ユーザー定義 1">
      <a:dk1>
        <a:sysClr val="windowText" lastClr="000000"/>
      </a:dk1>
      <a:lt1>
        <a:sysClr val="window" lastClr="FFFFFF"/>
      </a:lt1>
      <a:dk2>
        <a:srgbClr val="44546A"/>
      </a:dk2>
      <a:lt2>
        <a:srgbClr val="E7E6E6"/>
      </a:lt2>
      <a:accent1>
        <a:srgbClr val="397077"/>
      </a:accent1>
      <a:accent2>
        <a:srgbClr val="E86F2D"/>
      </a:accent2>
      <a:accent3>
        <a:srgbClr val="A0C4C4"/>
      </a:accent3>
      <a:accent4>
        <a:srgbClr val="1E3C3C"/>
      </a:accent4>
      <a:accent5>
        <a:srgbClr val="F5E1C0"/>
      </a:accent5>
      <a:accent6>
        <a:srgbClr val="D9D9D9"/>
      </a:accent6>
      <a:hlink>
        <a:srgbClr val="0563C1"/>
      </a:hlink>
      <a:folHlink>
        <a:srgbClr val="954F72"/>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3262</TotalTime>
  <Words>1830</Words>
  <Application>Microsoft Office PowerPoint</Application>
  <PresentationFormat>ワイド画面</PresentationFormat>
  <Paragraphs>551</Paragraphs>
  <Slides>19</Slides>
  <Notes>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ＭＳ Ｐゴシック</vt:lpstr>
      <vt:lpstr>游ゴシック</vt:lpstr>
      <vt:lpstr>游ゴシック</vt:lpstr>
      <vt:lpstr>游ゴシック Light</vt:lpstr>
      <vt:lpstr>Arial</vt:lpstr>
      <vt:lpstr>Office テーマ</vt:lpstr>
      <vt:lpstr>第2回 急性期におけるリハビリテーション 体制および評価・連携に関する調査</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Fujiyama Tomoyuki (External)</dc:creator>
  <cp:lastModifiedBy>心音 河口</cp:lastModifiedBy>
  <cp:revision>4</cp:revision>
  <dcterms:created xsi:type="dcterms:W3CDTF">2025-11-07T03:16:38Z</dcterms:created>
  <dcterms:modified xsi:type="dcterms:W3CDTF">2026-04-02T12:15:42Z</dcterms:modified>
</cp:coreProperties>
</file>